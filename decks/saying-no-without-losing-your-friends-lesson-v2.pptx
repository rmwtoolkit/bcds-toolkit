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it: "Most pressure isn't somebody yelling 'do it.' Nobody says a word, and you still feel like no would cost you something. Today is about why that happens and how to plan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(with the next slide). Collect the cards face down and work out the room's average out loud. Don't ask anyone about their own use, and don't let students guess about specific people. Most rooms guess low. The answer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CDC's 2021 national survey: about 29% of U.S. high school students reported current alcohol use, marijuana use or misuse of prescription opioids. Compare to the room's guess. Then add the Princeton study: students thought they were more uncomfortable with campus drinking than the average student, and most of them felt that way. Psychologists call it pluralistic ignorance. Ask: "If most people are privately less into it, why does it look like everyone is?" (People who are uncomfortable stay quiet; feeds show the party, not the people at home.) If the guess was close, say so honestly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The 2011 Temple study: teens, young adults and adults played a driving game, once alone and once believing friends were watching from the next room. Only the teens took more chances with friends watching, and only the teens' reward regions lit up more. Talking points: the ventral striatum is the reward signal (a laugh, a nod, being in on it). The orbitofrontal cortex puts a price tag on each option and made the risky one look better. The lateral prefrontal cortex is the brakes: plans and rules. It didn't get weaker with friends around. A second study (Gardner and Steinberg, 2005) found the peer effect was strongest at ages 13 to 16. That's this room, which is a fact about brains and says nothing bad about them. Ask: "If the brakes still work, when's the best time to use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 choice made at home, calm and alone, is one your brakes already own. Walk through each. On #1: what you won't do, and what you'd need to see before you'd change your mind. Writing it down helps some people. On #5: peer effects run both ways. One friend who says "same, I'm good" makes the next no easier for everyone. Add the worry students raise most: "They'll stop inviting me." In five experiments with more than 2,000 people, those saying no expected the inviter to be far more upset, and far less likely to ask again, than inviters really were. The researchers note results may differ across cultures.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Pairs. Partner A asks something low-stakes and pushes three times ("Come on, just this once"). Partner B picks a line, says it the same way each time, then offers a swap. Switch. Keep the asks silly or mild (skip a club meeting, try a gross snack); no alcohol or drug role-play. Then say: using a parent, a coach, a job or your faith as the reason is fine. For a lot of students "my parents would never be okay with that" is simply true, and saying so isn't weak. Students who'd rather not perform can write their line and read it. Expect laughs; that's fine, saying it once out loud makes it easier later. What usually makes it harder: over-explaining, lecturing your friends ("you guys are going to get caught" puts people on the defensive), and deciding in the moment.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then report back. Ayesha: for her first six months, Massachusetts law says she can't carry passengers under 18 who aren't immediate family unless a licensed driver 21 or older sits beside her. And risk climbs with each passenger: for a 17-year-old driver, about 2.6 times the risk of dying per trip with two passengers, about 3 times with three or more. Good answers: "Let's take the train in, or ask someone's parent or caregiver to drive." First party: "I'm good," switch to water or soda, find your friend, or text the code word and head out. The hard line: never ride home with someone who has been drinking or using. Dev: "Can't send it, but I'll walk you through my outline on a call." That's the swap: it keeps the friend and keeps both of you out of an academic integrity problem. Students may say "just ignore the text." Leaving it on read usually brings another ask; a short clear answer ends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Explain the plan: you text the code word, they call with an "emergency" and come get you or help you get home, and questions are saved for later or skipped. It doesn't have to be a parent. If home wouldn't be a calm place to make that call, pick an older sibling or cousin, an aunt or uncle, a family friend or a coach. Some adults will want to talk it through the next day; agree on that part ahead of time too. Online, silence is a no: a dare in the chat doesn't need an answer, and nothing gets posted or sent without you. Nobody shares what they wrote.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Read these plainly. On the first: Massachusetts' Good Samaritan law protects the person who calls for help during an overdose, and the person who overdosed, from drug possession charges. A life matters more than getting in trouble. On photos: if anyone asks for a nude or sexual photo, the answer is no, and telling an adult is the right move. Don't take questions about specific incidents in front of the class; offer to talk after, and bring any disclosure to a counselor that 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Private reflection; nobody collects it. Some students will write about parties, some about rides, some about schoolwork or group chats. All count. Share the BVR Diner link on the slide (post it on your class page too). It has the core skills, ways to say no, the code-word plan, a private check-in and who to talk 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Saying No Without Losing Your Friends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why no feels harder with friends watching, that most peers are less into risky plans than they look, and practice a short no, a swap and a code-word exit. Bring index cards, don't ask about anyone's use, and say "an adult you trust" since home may not be the safe call.</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"My parents would never" and faith are real reasons, families draw different lines, and not everyone has a ride, so the train or another family's driver counts.</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The guess (4), gas and brakes (5), say it out loud in pairs (6), code word and link (5). Share the BVR Diner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SAYING NO WITHOUT LOSING YOUR FRIENDS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Saying No Without Losing Your Friends</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Nobody pushed. It still felt like a test.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Out of 10 U.S. high schoolers, how many did none of it last month?</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None of it: no alcohol, no marijuana, no misused prescription pills. Write a number. No names.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ANSWER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About 7 in 10 did none of it.</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Posts show who went out. They don't show who stayed home.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GAS AND BRAKES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Friends turn up the gas. They don't cut the brakes.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WITH FRIENDS WATCHING</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 reward signal fires harder</a:t>
            </a:r>
          </a:p>
          <a:p>
            <a:pPr algn="l">
              <a:spcAft>
                <a:spcPts val="855"/>
              </a:spcAft>
            </a:pPr>
            <a:r>
              <a:rPr sz="1900" b="0" i="0">
                <a:solidFill>
                  <a:srgbClr val="1C1B19"/>
                </a:solidFill>
                <a:latin typeface="Source Serif 4"/>
              </a:rPr>
              <a:t>The payoff looks bigger</a:t>
            </a:r>
          </a:p>
          <a:p>
            <a:pPr algn="l">
              <a:spcAft>
                <a:spcPts val="855"/>
              </a:spcAft>
            </a:pPr>
            <a:r>
              <a:rPr sz="1900" b="0" i="0">
                <a:solidFill>
                  <a:srgbClr val="1C1B19"/>
                </a:solidFill>
                <a:latin typeface="Source Serif 4"/>
              </a:rPr>
              <a:t>Teens took more chances</a:t>
            </a:r>
          </a:p>
          <a:p>
            <a:pPr algn="l">
              <a:spcAft>
                <a:spcPts val="855"/>
              </a:spcAft>
            </a:pPr>
            <a:r>
              <a:rPr sz="1900" b="0" i="0">
                <a:solidFill>
                  <a:srgbClr val="1C1B19"/>
                </a:solidFill>
                <a:latin typeface="Source Serif 4"/>
              </a:rPr>
              <a:t>Adults didn't change</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STAYS THE SAME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Your brakes still work</a:t>
            </a:r>
          </a:p>
          <a:p>
            <a:pPr algn="l">
              <a:spcAft>
                <a:spcPts val="855"/>
              </a:spcAft>
            </a:pPr>
            <a:r>
              <a:rPr sz="1900" b="0" i="0">
                <a:solidFill>
                  <a:srgbClr val="1C1B19"/>
                </a:solidFill>
                <a:latin typeface="Source Serif 4"/>
              </a:rPr>
              <a:t>Your plans and rules are still there</a:t>
            </a:r>
          </a:p>
          <a:p>
            <a:pPr algn="l">
              <a:spcAft>
                <a:spcPts val="855"/>
              </a:spcAft>
            </a:pPr>
            <a:r>
              <a:rPr sz="1900" b="0" i="0">
                <a:solidFill>
                  <a:srgbClr val="1C1B19"/>
                </a:solidFill>
                <a:latin typeface="Source Serif 4"/>
              </a:rPr>
              <a:t>They get outvoted in the moment</a:t>
            </a:r>
          </a:p>
          <a:p>
            <a:pPr algn="l">
              <a:spcAft>
                <a:spcPts val="855"/>
              </a:spcAft>
            </a:pPr>
            <a:r>
              <a:rPr sz="1900" b="0" i="0">
                <a:solidFill>
                  <a:srgbClr val="1C1B19"/>
                </a:solidFill>
                <a:latin typeface="Source Serif 4"/>
              </a:rPr>
              <a:t>An earlier decision holds better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CORE SKILL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Make the call before the moment.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Know your lines now.</a:t>
            </a:r>
          </a:p>
          <a:p>
            <a:pPr algn="l">
              <a:spcAft>
                <a:spcPts val="945"/>
              </a:spcAft>
            </a:pPr>
            <a:r>
              <a:rPr sz="1600" b="0" i="0">
                <a:solidFill>
                  <a:srgbClr val="5D5A54"/>
                </a:solidFill>
                <a:latin typeface="Source Serif 4"/>
              </a:rPr>
              <a:t>Decide once, instead of every Saturday.</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Keep it short.</a:t>
            </a:r>
          </a:p>
          <a:p>
            <a:pPr algn="l">
              <a:spcAft>
                <a:spcPts val="945"/>
              </a:spcAft>
            </a:pPr>
            <a:r>
              <a:rPr sz="1600" b="0" i="0">
                <a:solidFill>
                  <a:srgbClr val="5D5A54"/>
                </a:solidFill>
                <a:latin typeface="Source Serif 4"/>
              </a:rPr>
              <a:t>Long explanations give people something to argue with.</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Repeat, same words.</a:t>
            </a:r>
          </a:p>
          <a:p>
            <a:pPr algn="l">
              <a:spcAft>
                <a:spcPts val="945"/>
              </a:spcAft>
            </a:pPr>
            <a:r>
              <a:rPr sz="1600" b="0" i="0">
                <a:solidFill>
                  <a:srgbClr val="5D5A54"/>
                </a:solidFill>
                <a:latin typeface="Source Serif 4"/>
              </a:rPr>
              <a:t>Calm and a little boring is hard to argue with.</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Offer a swap.</a:t>
            </a:r>
          </a:p>
          <a:p>
            <a:pPr algn="l">
              <a:spcAft>
                <a:spcPts val="945"/>
              </a:spcAft>
            </a:pPr>
            <a:r>
              <a:rPr sz="1600" b="0" i="0">
                <a:solidFill>
                  <a:srgbClr val="5D5A54"/>
                </a:solidFill>
                <a:latin typeface="Source Serif 4"/>
              </a:rPr>
              <a:t>"I'll pass, but I'm down for food after."</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Bring a second.</a:t>
            </a:r>
          </a:p>
          <a:p>
            <a:pPr algn="l">
              <a:spcAft>
                <a:spcPts val="945"/>
              </a:spcAft>
            </a:pPr>
            <a:r>
              <a:rPr sz="1600" b="0" i="0">
                <a:solidFill>
                  <a:srgbClr val="5D5A54"/>
                </a:solidFill>
                <a:latin typeface="Source Serif 4"/>
              </a:rPr>
              <a:t>Agree with one friend before you go.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SAY IT OUT LOUD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"Nah, I'm good" is a full answer.</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SIMPLE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"Nah, I'm good."</a:t>
            </a:r>
          </a:p>
          <a:p>
            <a:pPr algn="l">
              <a:spcAft>
                <a:spcPts val="855"/>
              </a:spcAft>
            </a:pPr>
            <a:r>
              <a:rPr sz="1900" b="0" i="0">
                <a:solidFill>
                  <a:srgbClr val="1C1B19"/>
                </a:solidFill>
                <a:latin typeface="Source Serif 4"/>
              </a:rPr>
              <a:t>"Not tonight."</a:t>
            </a:r>
          </a:p>
          <a:p>
            <a:pPr algn="l">
              <a:spcAft>
                <a:spcPts val="855"/>
              </a:spcAft>
            </a:pPr>
            <a:r>
              <a:rPr sz="1900" b="0" i="0">
                <a:solidFill>
                  <a:srgbClr val="1C1B19"/>
                </a:solidFill>
                <a:latin typeface="Source Serif 4"/>
              </a:rPr>
              <a:t>"I'll pass."</a:t>
            </a:r>
          </a:p>
          <a:p>
            <a:pPr algn="l">
              <a:spcAft>
                <a:spcPts val="855"/>
              </a:spcAft>
            </a:pPr>
            <a:r>
              <a:rPr sz="1900" b="0" i="0">
                <a:solidFill>
                  <a:srgbClr val="1C1B19"/>
                </a:solidFill>
                <a:latin typeface="Source Serif 4"/>
              </a:rPr>
              <a:t>"Same, I'm good."</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WITH A REASON</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"I have a game in the morning."</a:t>
            </a:r>
          </a:p>
          <a:p>
            <a:pPr algn="l">
              <a:spcAft>
                <a:spcPts val="855"/>
              </a:spcAft>
            </a:pPr>
            <a:r>
              <a:rPr sz="1900" b="0" i="0">
                <a:solidFill>
                  <a:srgbClr val="1C1B19"/>
                </a:solidFill>
                <a:latin typeface="Source Serif 4"/>
              </a:rPr>
              <a:t>"I open at work tomorrow."</a:t>
            </a:r>
          </a:p>
          <a:p>
            <a:pPr algn="l">
              <a:spcAft>
                <a:spcPts val="855"/>
              </a:spcAft>
            </a:pPr>
            <a:r>
              <a:rPr sz="1900" b="0" i="0">
                <a:solidFill>
                  <a:srgbClr val="1C1B19"/>
                </a:solidFill>
                <a:latin typeface="Source Serif 4"/>
              </a:rPr>
              <a:t>"My parents would never be okay with that."</a:t>
            </a:r>
          </a:p>
          <a:p>
            <a:pPr algn="l">
              <a:spcAft>
                <a:spcPts val="855"/>
              </a:spcAft>
            </a:pPr>
            <a:r>
              <a:rPr sz="1900" b="0" i="0">
                <a:solidFill>
                  <a:srgbClr val="1C1B19"/>
                </a:solidFill>
                <a:latin typeface="Source Serif 4"/>
              </a:rPr>
              <a:t>"That's not for 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say or do?</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AYESHA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junior on your team got her license two months ago. She offers to drive you and three friends into Boston for a concert.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FIRST PARTY</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new friend group's first party of the year. The host keeps topping off your cup. You've decided you're done.</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friend from your new advisory texts: "can you send your English essay? just want to see how you set it 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 WAY OUT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Who would you set up a code word with?</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Private. Write your code word or emoji, and the adult you'd trust with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GET HELP RIGHT AWAY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Some moments need an adult now.</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Someone is passed out or breathing very slowly.</a:t>
            </a:r>
          </a:p>
          <a:p>
            <a:pPr algn="l">
              <a:spcAft>
                <a:spcPts val="945"/>
              </a:spcAft>
            </a:pPr>
            <a:r>
              <a:rPr sz="1600" b="0" i="0">
                <a:solidFill>
                  <a:srgbClr val="5D5A54"/>
                </a:solidFill>
                <a:latin typeface="Source Serif 4"/>
              </a:rPr>
              <a:t>Call 911 and stay with them.</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Pressure to do anything sexual, or send photos.</a:t>
            </a:r>
          </a:p>
          <a:p>
            <a:pPr algn="l">
              <a:spcAft>
                <a:spcPts val="945"/>
              </a:spcAft>
            </a:pPr>
            <a:r>
              <a:rPr sz="1600" b="0" i="0">
                <a:solidFill>
                  <a:srgbClr val="5D5A54"/>
                </a:solidFill>
                <a:latin typeface="Source Serif 4"/>
              </a:rPr>
              <a:t>The answer is no. Tell an adult.</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Someone threatens you for saying no.</a:t>
            </a:r>
          </a:p>
          <a:p>
            <a:pPr algn="l">
              <a:spcAft>
                <a:spcPts val="945"/>
              </a:spcAft>
            </a:pPr>
            <a:r>
              <a:rPr sz="1600" b="0" i="0">
                <a:solidFill>
                  <a:srgbClr val="5D5A54"/>
                </a:solidFill>
                <a:latin typeface="Source Serif 4"/>
              </a:rPr>
              <a:t>Tell a counselor or an adult you trust.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friend is in trouble with alcohol or drugs.</a:t>
            </a:r>
          </a:p>
          <a:p>
            <a:pPr algn="l">
              <a:spcAft>
                <a:spcPts val="945"/>
              </a:spcAft>
            </a:pPr>
            <a:r>
              <a:rPr sz="1600" b="0" i="0">
                <a:solidFill>
                  <a:srgbClr val="5D5A54"/>
                </a:solidFill>
                <a:latin typeface="Source Serif 4"/>
              </a:rPr>
              <a:t>Getting help is looking out for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Your line</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one thing you've already decided, in your own words. Keep it.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https://rmwtoolkit.github.io/bcds-toolkit/saying-no-without-losing-your-friends-high-school.html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Saying No Without Losing Your Friends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no feels harder with friends watching (the reward signal gets louder, the brakes still work), notice that most peers are less into risky plans than they look, and practice a short no, a swap and a code-word exit. The skill is planning ahead. Nobody should feel judged for a yes they already said.</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opening guess, one per student</a:t>
            </a:r>
          </a:p>
          <a:p>
            <a:pPr algn="l">
              <a:spcAft>
                <a:spcPts val="675"/>
              </a:spcAft>
            </a:pPr>
            <a:r>
              <a:rPr sz="1500" b="0" i="0">
                <a:solidFill>
                  <a:srgbClr val="1C1B19"/>
                </a:solidFill>
                <a:latin typeface="Source Serif 4"/>
              </a:rPr>
              <a:t>Scrap paper for the private code-word plan and exit card</a:t>
            </a:r>
          </a:p>
          <a:p>
            <a:pPr algn="l">
              <a:spcAft>
                <a:spcPts val="675"/>
              </a:spcAft>
            </a:pPr>
            <a:r>
              <a:rPr sz="1500" b="0" i="0">
                <a:solidFill>
                  <a:srgbClr val="1C1B19"/>
                </a:solidFill>
                <a:latin typeface="Source Serif 4"/>
              </a:rPr>
              <a:t>The BVR Diner page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The guess (anonymous tally)</a:t>
            </a:r>
          </a:p>
          <a:p>
            <a:pPr algn="l">
              <a:spcAft>
                <a:spcPts val="630"/>
              </a:spcAft>
            </a:pPr>
            <a:r>
              <a:rPr sz="1300" b="1" i="0">
                <a:solidFill>
                  <a:srgbClr val="F47B20"/>
                </a:solidFill>
                <a:latin typeface="Inter Tight"/>
              </a:rPr>
              <a:t>8 min   </a:t>
            </a:r>
            <a:r>
              <a:rPr sz="1400" b="0" i="0">
                <a:solidFill>
                  <a:srgbClr val="1C1B19"/>
                </a:solidFill>
                <a:latin typeface="Source Serif 4"/>
              </a:rPr>
              <a:t>Gas and brakes: what friends do to the brain</a:t>
            </a:r>
          </a:p>
          <a:p>
            <a:pPr algn="l">
              <a:spcAft>
                <a:spcPts val="630"/>
              </a:spcAft>
            </a:pPr>
            <a:r>
              <a:rPr sz="1300" b="1" i="0">
                <a:solidFill>
                  <a:srgbClr val="F47B20"/>
                </a:solidFill>
                <a:latin typeface="Inter Tight"/>
              </a:rPr>
              <a:t>5 min   </a:t>
            </a:r>
            <a:r>
              <a:rPr sz="1400" b="0" i="0">
                <a:solidFill>
                  <a:srgbClr val="1C1B19"/>
                </a:solidFill>
                <a:latin typeface="Source Serif 4"/>
              </a:rPr>
              <a:t>Make the call before the moment</a:t>
            </a:r>
          </a:p>
          <a:p>
            <a:pPr algn="l">
              <a:spcAft>
                <a:spcPts val="630"/>
              </a:spcAft>
            </a:pPr>
            <a:r>
              <a:rPr sz="1300" b="1" i="0">
                <a:solidFill>
                  <a:srgbClr val="F47B20"/>
                </a:solidFill>
                <a:latin typeface="Inter Tight"/>
              </a:rPr>
              <a:t>7 min   </a:t>
            </a:r>
            <a:r>
              <a:rPr sz="1400" b="0" i="0">
                <a:solidFill>
                  <a:srgbClr val="1C1B19"/>
                </a:solidFill>
                <a:latin typeface="Source Serif 4"/>
              </a:rPr>
              <a:t>Say it out loud (pairs)</a:t>
            </a:r>
          </a:p>
          <a:p>
            <a:pPr algn="l">
              <a:spcAft>
                <a:spcPts val="630"/>
              </a:spcAft>
            </a:pPr>
            <a:r>
              <a:rPr sz="1300" b="1" i="0">
                <a:solidFill>
                  <a:srgbClr val="F47B20"/>
                </a:solidFill>
                <a:latin typeface="Inter Tight"/>
              </a:rPr>
              <a:t>10 min   </a:t>
            </a:r>
            <a:r>
              <a:rPr sz="1400" b="0" i="0">
                <a:solidFill>
                  <a:srgbClr val="1C1B19"/>
                </a:solidFill>
                <a:latin typeface="Source Serif 4"/>
              </a:rPr>
              <a:t>Three moments (small groups)</a:t>
            </a:r>
          </a:p>
          <a:p>
            <a:pPr algn="l">
              <a:spcAft>
                <a:spcPts val="630"/>
              </a:spcAft>
            </a:pPr>
            <a:r>
              <a:rPr sz="1300" b="1" i="0">
                <a:solidFill>
                  <a:srgbClr val="F47B20"/>
                </a:solidFill>
                <a:latin typeface="Inter Tight"/>
              </a:rPr>
              <a:t>6 min   </a:t>
            </a:r>
            <a:r>
              <a:rPr sz="1400" b="0" i="0">
                <a:solidFill>
                  <a:srgbClr val="1C1B19"/>
                </a:solidFill>
                <a:latin typeface="Source Serif 4"/>
              </a:rPr>
              <a:t>A way out, and when to get help right away</a:t>
            </a:r>
          </a:p>
          <a:p>
            <a:pPr algn="l">
              <a:spcAft>
                <a:spcPts val="630"/>
              </a:spcAft>
            </a:pPr>
            <a:r>
              <a:rPr sz="1300" b="1" i="0">
                <a:solidFill>
                  <a:srgbClr val="F47B20"/>
                </a:solidFill>
                <a:latin typeface="Inter Tight"/>
              </a:rPr>
              <a:t>4 min   </a:t>
            </a:r>
            <a:r>
              <a:rPr sz="1400" b="0" i="0">
                <a:solidFill>
                  <a:srgbClr val="1C1B19"/>
                </a:solidFill>
                <a:latin typeface="Source Serif 4"/>
              </a:rPr>
              <a:t>Exit card and the BVR Diner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The guess (4), gas and brakes (5), say it out loud in pairs (6), code word and link (5). Share the BVR Diner link so students get the rest.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Don't ask about anyone's use.</a:t>
            </a:r>
          </a:p>
          <a:p>
            <a:pPr algn="l">
              <a:spcAft>
                <a:spcPts val="585"/>
              </a:spcAft>
            </a:pPr>
            <a:r>
              <a:rPr sz="1300" b="0" i="0">
                <a:solidFill>
                  <a:srgbClr val="1C1B19"/>
                </a:solidFill>
                <a:latin typeface="Source Serif 4"/>
              </a:rPr>
              <a:t>No hands up about drinking, parties or rides. Some students in the room have already said yes to things, and some have a family member who struggles with alcohol or drugs. Talk about the skill, never about who did what.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Skip the lecture.</a:t>
            </a:r>
          </a:p>
          <a:p>
            <a:pPr algn="l">
              <a:spcAft>
                <a:spcPts val="585"/>
              </a:spcAft>
            </a:pPr>
            <a:r>
              <a:rPr sz="1300" b="0" i="0">
                <a:solidFill>
                  <a:srgbClr val="1C1B19"/>
                </a:solidFill>
                <a:latin typeface="Source Serif 4"/>
              </a:rPr>
              <a:t>The lesson itself says lecturing friends backfires, and the same goes for us. Keep the tone practical. A student who said yes last weekend should leave with a plan and without shame.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Sexual pressure and photos.</a:t>
            </a:r>
          </a:p>
          <a:p>
            <a:pPr algn="l">
              <a:spcAft>
                <a:spcPts val="585"/>
              </a:spcAft>
            </a:pPr>
            <a:r>
              <a:rPr sz="1300" b="0" i="0">
                <a:solidFill>
                  <a:srgbClr val="1C1B19"/>
                </a:solidFill>
                <a:latin typeface="Source Serif 4"/>
              </a:rPr>
              <a:t>The page names requests for nude or sexual photos as a hard no to tell an adult about. If a student discloses pressure, threats or a photo already sent, thank them, don't ask for details in class, and walk them to a counselor that day. Know your reporting duty before class.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If a friend is in trouble.</a:t>
            </a:r>
          </a:p>
          <a:p>
            <a:pPr algn="l">
              <a:spcAft>
                <a:spcPts val="585"/>
              </a:spcAft>
            </a:pPr>
            <a:r>
              <a:rPr sz="1300" b="0" i="0">
                <a:solidFill>
                  <a:srgbClr val="1C1B19"/>
                </a:solidFill>
                <a:latin typeface="Source Serif 4"/>
              </a:rPr>
              <a:t>If a student says a friend is in trouble with alcohol or drugs, say you want to get help, not get anyone in trouble. Walk them to a counselor that day. Massachusetts' Good Samaritan law protects the caller and the person who overdosed from possession charges.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car matters now.</a:t>
            </a:r>
          </a:p>
          <a:p>
            <a:pPr algn="l">
              <a:spcAft>
                <a:spcPts val="585"/>
              </a:spcAft>
            </a:pPr>
            <a:r>
              <a:rPr sz="1300" b="0" i="0">
                <a:solidFill>
                  <a:srgbClr val="1C1B19"/>
                </a:solidFill>
                <a:latin typeface="Source Serif 4"/>
              </a:rPr>
              <a:t>Ninth graders ride with older students who just got licenses. Be clear on the hard line: never ride with someone who has been drinking or using, no matter how short the drive. A code-word call is always okay.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code word may not be a parent.</a:t>
            </a:r>
          </a:p>
          <a:p>
            <a:pPr algn="l">
              <a:spcAft>
                <a:spcPts val="585"/>
              </a:spcAft>
            </a:pPr>
            <a:r>
              <a:rPr sz="1300" b="0" i="0">
                <a:solidFill>
                  <a:srgbClr val="1C1B19"/>
                </a:solidFill>
                <a:latin typeface="Source Serif 4"/>
              </a:rPr>
              <a:t>Don't say "text your mom or dad." For some students home wouldn't be a calm place to make that call. Say "an adult you trust" and give examples: an older sibling or cousin, an aunt, a coach, a family friend.</a:t>
            </a:r>
          </a:p>
          <a:p>
            <a:pPr algn="l">
              <a:spcAft>
                <a:spcPts val="585"/>
              </a:spcAft>
            </a:pPr>
            <a:r>
              <a:rPr sz="1300" b="0" i="0">
                <a:solidFill>
                  <a:srgbClr val="1C1B19"/>
                </a:solidFill>
                <a:latin typeface="Source Serif 4"/>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Families draw different lines.</a:t>
            </a:r>
          </a:p>
          <a:p>
            <a:pPr algn="l">
              <a:spcAft>
                <a:spcPts val="585"/>
              </a:spcAft>
            </a:pPr>
            <a:r>
              <a:rPr sz="1300" b="0" i="0">
                <a:solidFill>
                  <a:srgbClr val="1C1B19"/>
                </a:solidFill>
                <a:latin typeface="Source Serif 4"/>
              </a:rPr>
              <a:t>Rules about parties, curfews, rides and alcohol vary a lot from home to home, and so does what's allowed at family events. Teach the skill of saying no to what you've decided against, without ranking anyone's family rules.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"My parents would never" is a real reason.</a:t>
            </a:r>
          </a:p>
          <a:p>
            <a:pPr algn="l">
              <a:spcAft>
                <a:spcPts val="585"/>
              </a:spcAft>
            </a:pPr>
            <a:r>
              <a:rPr sz="1300" b="0" i="0">
                <a:solidFill>
                  <a:srgbClr val="1C1B19"/>
                </a:solidFill>
                <a:latin typeface="Source Serif 4"/>
              </a:rPr>
              <a:t>For many students it's simply true, and saying so isn't weak. Faith is a real reason too, and so is a job, a coach or a game in the morning. Don't assume students are religious or that they aren't.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the trusted adult is.</a:t>
            </a:r>
          </a:p>
          <a:p>
            <a:pPr algn="l">
              <a:spcAft>
                <a:spcPts val="585"/>
              </a:spcAft>
            </a:pPr>
            <a:r>
              <a:rPr sz="1300" b="0" i="0">
                <a:solidFill>
                  <a:srgbClr val="1C1B19"/>
                </a:solidFill>
                <a:latin typeface="Source Serif 4"/>
              </a:rPr>
              <a:t>Students live with a single parent, grandparents, two moms or two dads, foster or kinship families, or split time between homes. The code-word plan works with any adult they trust, including someone outside the home.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LGBTQ+ students and pressure.</a:t>
            </a:r>
          </a:p>
          <a:p>
            <a:pPr algn="l">
              <a:spcAft>
                <a:spcPts val="585"/>
              </a:spcAft>
            </a:pPr>
            <a:r>
              <a:rPr sz="1300" b="0" i="0">
                <a:solidFill>
                  <a:srgbClr val="1C1B19"/>
                </a:solidFill>
                <a:latin typeface="Source Serif 4"/>
              </a:rPr>
              <a:t>Pressure can include being pushed to talk about who you like, or the threat of being outed. A student who isn't out may not have a safe adult at home for the code word. A counselor can help them figure out who.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Scripts help students who freeze.</a:t>
            </a:r>
          </a:p>
          <a:p>
            <a:pPr algn="l">
              <a:spcAft>
                <a:spcPts val="585"/>
              </a:spcAft>
            </a:pPr>
            <a:r>
              <a:rPr sz="1300" b="0" i="0">
                <a:solidFill>
                  <a:srgbClr val="1C1B19"/>
                </a:solidFill>
                <a:latin typeface="Source Serif 4"/>
              </a:rPr>
              <a:t>Students who are autistic, anxious or slower to process often find a ready-made line easier than thinking on the spot. That's the point of deciding ahead. In the pair practice, let students write or read their line instead of performing it, and don't treat eye contact as a sign of confidence.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everyone has a ride.</a:t>
            </a:r>
          </a:p>
          <a:p>
            <a:pPr algn="l">
              <a:spcAft>
                <a:spcPts val="585"/>
              </a:spcAft>
            </a:pPr>
            <a:r>
              <a:rPr sz="1300" b="0" i="0">
                <a:solidFill>
                  <a:srgbClr val="1C1B19"/>
                </a:solidFill>
                <a:latin typeface="Source Serif 4"/>
              </a:rPr>
              <a:t>Some families don't have a car or a parent free at night. In the Ayesha scenario, the train or another family's driver counts. "I open at work tomorrow" is a real reason for students with jobs.</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Teens, young adults and adults played a driving game alone and while they believed friends were watching. Only the teens took more chances with friends watching, and only the teens' reward regions lit up more. Their brake regions didn't get weaker.</a:t>
            </a:r>
          </a:p>
          <a:p>
            <a:pPr algn="l">
              <a:spcAft>
                <a:spcPts val="585"/>
              </a:spcAft>
            </a:pPr>
            <a:r>
              <a:rPr sz="1050" b="0" i="0">
                <a:solidFill>
                  <a:srgbClr val="5D5A54"/>
                </a:solidFill>
                <a:latin typeface="Inter Tight"/>
              </a:rPr>
              <a:t>Chein et al., Developmental Science, 2011 (Temple University)</a:t>
            </a:r>
          </a:p>
          <a:p>
            <a:pPr algn="l">
              <a:spcAft>
                <a:spcPts val="585"/>
              </a:spcAft>
            </a:pPr>
            <a:r>
              <a:rPr sz="1300" b="0" i="0">
                <a:solidFill>
                  <a:srgbClr val="1C1B19"/>
                </a:solidFill>
                <a:latin typeface="Source Serif 4"/>
              </a:rPr>
              <a:t>306 people randomly assigned to work with two same-age peers took more risks and focused more on benefits than costs. The effect was strongest for ages 13 to 16 and 18 to 22, and weakest for adults 24 and older.</a:t>
            </a:r>
          </a:p>
          <a:p>
            <a:pPr algn="l">
              <a:spcAft>
                <a:spcPts val="585"/>
              </a:spcAft>
            </a:pPr>
            <a:r>
              <a:rPr sz="1050" b="0" i="0">
                <a:solidFill>
                  <a:srgbClr val="5D5A54"/>
                </a:solidFill>
                <a:latin typeface="Inter Tight"/>
              </a:rPr>
              <a:t>Gardner and Steinberg, Developmental Psychology, 2005</a:t>
            </a:r>
          </a:p>
          <a:p>
            <a:pPr algn="l">
              <a:spcAft>
                <a:spcPts val="585"/>
              </a:spcAft>
            </a:pPr>
            <a:r>
              <a:rPr sz="1300" b="0" i="0">
                <a:solidFill>
                  <a:srgbClr val="1C1B19"/>
                </a:solidFill>
                <a:latin typeface="Source Serif 4"/>
              </a:rPr>
              <a:t>Princeton students believed they were more uncomfortable with campus drinking than the average student. Most of them felt that way, so the "average student" they imagined barely existed (pluralistic ignorance).</a:t>
            </a:r>
          </a:p>
          <a:p>
            <a:pPr algn="l">
              <a:spcAft>
                <a:spcPts val="585"/>
              </a:spcAft>
            </a:pPr>
            <a:r>
              <a:rPr sz="1050" b="0" i="0">
                <a:solidFill>
                  <a:srgbClr val="5D5A54"/>
                </a:solidFill>
                <a:latin typeface="Inter Tight"/>
              </a:rPr>
              <a:t>Prentice and Miller, Journal of Personality and Social Psychology, 1993</a:t>
            </a:r>
          </a:p>
          <a:p>
            <a:pPr algn="l">
              <a:spcAft>
                <a:spcPts val="585"/>
              </a:spcAft>
            </a:pPr>
            <a:r>
              <a:rPr sz="1300" b="0" i="0">
                <a:solidFill>
                  <a:srgbClr val="1C1B19"/>
                </a:solidFill>
                <a:latin typeface="Source Serif 4"/>
              </a:rPr>
              <a:t>About 29% of U.S. high school students reported current alcohol use, marijuana use or prescription opioid misuse in 2021. About 7 in 10 had done none of those in the past month.</a:t>
            </a:r>
          </a:p>
          <a:p>
            <a:pPr algn="l">
              <a:spcAft>
                <a:spcPts val="585"/>
              </a:spcAft>
            </a:pPr>
            <a:r>
              <a:rPr sz="1050" b="0" i="0">
                <a:solidFill>
                  <a:srgbClr val="5D5A54"/>
                </a:solidFill>
                <a:latin typeface="Inter Tight"/>
              </a:rPr>
              <a:t>CDC Youth Risk Behavior Survey, 2021 (Hoots et al., MMWR, 2023)</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five experiments with more than 2,000 people, those turning down an invitation expected the inviter to be far more upset, and far less likely to ask again, than inviters actually were. The reason for saying no was held constant, and results may differ across cultures.</a:t>
            </a:r>
          </a:p>
          <a:p>
            <a:pPr algn="l">
              <a:spcAft>
                <a:spcPts val="585"/>
              </a:spcAft>
            </a:pPr>
            <a:r>
              <a:rPr sz="1050" b="0" i="0">
                <a:solidFill>
                  <a:srgbClr val="5D5A54"/>
                </a:solidFill>
                <a:latin typeface="Inter Tight"/>
              </a:rPr>
              <a:t>Givi and Kirk, Journal of Personality and Social Psychology, 2024</a:t>
            </a:r>
          </a:p>
          <a:p>
            <a:pPr algn="l">
              <a:spcAft>
                <a:spcPts val="585"/>
              </a:spcAft>
            </a:pPr>
            <a:r>
              <a:rPr sz="1300" b="0" i="0">
                <a:solidFill>
                  <a:srgbClr val="1C1B19"/>
                </a:solidFill>
                <a:latin typeface="Source Serif 4"/>
              </a:rPr>
              <a:t>A 17-year-old driver's risk of dying per trip was about 1.5 times higher with one passenger, 2.6 times with two, and about 3 times with three or more, compared with driving alone. The pattern held for 16-year-olds.</a:t>
            </a:r>
          </a:p>
          <a:p>
            <a:pPr algn="l">
              <a:spcAft>
                <a:spcPts val="585"/>
              </a:spcAft>
            </a:pPr>
            <a:r>
              <a:rPr sz="1050" b="0" i="0">
                <a:solidFill>
                  <a:srgbClr val="5D5A54"/>
                </a:solidFill>
                <a:latin typeface="Inter Tight"/>
              </a:rPr>
              <a:t>Chen et al., JAMA, 2000</a:t>
            </a:r>
          </a:p>
          <a:p>
            <a:pPr algn="l">
              <a:spcAft>
                <a:spcPts val="585"/>
              </a:spcAft>
            </a:pPr>
            <a:r>
              <a:rPr sz="1300" b="0" i="0">
                <a:solidFill>
                  <a:srgbClr val="1C1B19"/>
                </a:solidFill>
                <a:latin typeface="Source Serif 4"/>
              </a:rPr>
              <a:t>Massachusetts junior operators can't carry passengers under 18 who aren't immediate family for the first six months, unless a licensed driver 21 or older with a year of experience sits beside them. The Good Samaritan law protects a person who calls for help during an overdose, and the person who overdosed, from possession charges.</a:t>
            </a:r>
          </a:p>
          <a:p>
            <a:pPr algn="l">
              <a:spcAft>
                <a:spcPts val="585"/>
              </a:spcAft>
            </a:pPr>
            <a:r>
              <a:rPr sz="1050" b="0" i="0">
                <a:solidFill>
                  <a:srgbClr val="5D5A54"/>
                </a:solidFill>
                <a:latin typeface="Inter Tight"/>
              </a:rPr>
              <a:t>Massachusetts General Laws c. 90, § 8; c. 94C, § 34A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