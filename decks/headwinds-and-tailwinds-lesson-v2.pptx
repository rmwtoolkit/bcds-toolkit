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and the next three are hidden. They stay in the deck for you and are skipped when you present.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OF THE OPENING 3 MINUTES. Something like: "Today is about the things that help us along without our noticing. Nobody in here is in trouble, and nobody has to share anything personal."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If you ride, tell the story: into a headwind you feel every pedal stroke; turn around and you fly, and you think you're just strong today. Ask a few students for their version. Land on: we feel the headwind every second, and barely notice the tailwind.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Keep it light. Ask: "Whose team got the hardest schedule this year?" Everyone's did. That's the point: we all do this, so noticing tailwinds is a skill, not a confession.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MINUTES. Private tally marks on the card. Don't collect or ask anyone to share. Then: "Hands up if you made at least one mark." Most hands go up. Say: "Everyone has some tailwinds. Most people have some headwinds too. Both are true at once."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OPTIONAL CLIP: before the slide, show a minute or two of pack racing from Rapha Gone Racing - Tulsa Tough (youtube.com/watch?v=5nP8J0D0ynA, about 25 minutes, unrated; preview it first). L39ION of Los Angeles is a Black-owned pro team started by brothers Justin and Cory Williams, who grew up on 39th Street in South Los Angeles. Justin started racing at 13, and the team mentors young Black and Latino riders. Watch how the riders tuck in behind each other. In Tulsa they wore a Greenwood Ave. patch honoring the 1921 Tulsa Race Massacre. If you show the clip, trim the talk below to fit. 4 MINUTES. This is the heart of the lesson; say it calmly and plainly. Give two or three everyday examples: being followed less in stores, seeing people who look like you in books and in charge, a name read the same way on a job application (resumes with white-sounding names got about 50 percent more callbacks in one well-known study). Say: "Many white people never notice, because nobody notices a wind they don't feel." Then say clearly: "A white student whose family is struggling has real headwinds. Race and money are different winds." Don't ask students of color to confirm or add examples.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Say: "You didn't make the wind. You aren't to blame for where you started. What you do with your tailwind is up to you." If a student says "but I had it hard too", agree that their headwinds are real, and that headwinds and tailwinds can both be true.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Ideas: say something when someone gets talked over or laughed at, believe a friend first, lend notes, save a seat, ask instead of assuming. Share the student page link. Mention that if this brought up something hard, or someone treats them differently for who they are, a counselor is a good person to talk to.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Lesson plan</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Headwinds and Tailwinds</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20 minutes (fits a 30-minute advisory, with time for your opening check-in; 10-minute version below)  ·  Best for grades 10 to 12</a:t>
            </a:r>
          </a:p>
        </p:txBody>
      </p:sp>
      <p:sp>
        <p:nvSpPr>
          <p:cNvPr id="6" name="TextBox 5"/>
          <p:cNvSpPr txBox="1"/>
          <p:nvPr/>
        </p:nvSpPr>
        <p:spPr>
          <a:xfrm>
            <a:off x="548640" y="1828800"/>
            <a:ext cx="5120640" cy="4389120"/>
          </a:xfrm>
          <a:prstGeom prst="rect">
            <a:avLst/>
          </a:prstGeom>
          <a:noFill/>
        </p:spPr>
        <p:txBody>
          <a:bodyPr wrap="square" anchor="t" lIns="0" rIns="0" tIns="0" bIns="0">
            <a:spAutoFit/>
          </a:bodyPr>
          <a:lstStyle/>
          <a:p>
            <a:pPr algn="l">
              <a:spcAft>
                <a:spcPts val="675"/>
              </a:spcAft>
            </a:pPr>
            <a:r>
              <a:rPr sz="1100" b="1" i="0">
                <a:solidFill>
                  <a:srgbClr val="0B2D5B"/>
                </a:solidFill>
                <a:latin typeface="Inter Tight"/>
              </a:rPr>
              <a:t>GOAL</a:t>
            </a:r>
          </a:p>
          <a:p>
            <a:pPr algn="l">
              <a:spcAft>
                <a:spcPts val="675"/>
              </a:spcAft>
            </a:pPr>
            <a:r>
              <a:rPr sz="1500" b="0" i="0">
                <a:solidFill>
                  <a:srgbClr val="1C1B19"/>
                </a:solidFill>
                <a:latin typeface="Source Serif 4"/>
              </a:rPr>
              <a:t>Students can explain why advantages are harder to notice than obstacles, name a few tailwinds of their own privately, describe race as one of the winds in American life, and choose one way to use a tailwind well. The lesson separates blame from responsibility on purpose: nobody is asked to feel guilty, and nobody is asked to share their own headwinds.</a:t>
            </a:r>
          </a:p>
          <a:p>
            <a:pPr algn="l">
              <a:spcAft>
                <a:spcPts val="675"/>
              </a:spcAft>
            </a:pPr>
            <a:r>
              <a:rPr sz="1500" b="0" i="0">
                <a:solidFill>
                  <a:srgbClr val="1C1B19"/>
                </a:solidFill>
                <a:latin typeface="Source Serif 4"/>
              </a:rPr>
              <a:t/>
            </a:r>
          </a:p>
          <a:p>
            <a:pPr algn="l">
              <a:spcAft>
                <a:spcPts val="675"/>
              </a:spcAft>
            </a:pPr>
            <a:r>
              <a:rPr sz="1100" b="1" i="0">
                <a:solidFill>
                  <a:srgbClr val="0B2D5B"/>
                </a:solidFill>
                <a:latin typeface="Inter Tight"/>
              </a:rPr>
              <a:t>MATERIALS</a:t>
            </a:r>
          </a:p>
          <a:p>
            <a:pPr algn="l">
              <a:spcAft>
                <a:spcPts val="675"/>
              </a:spcAft>
            </a:pPr>
            <a:r>
              <a:rPr sz="1500" b="0" i="0">
                <a:solidFill>
                  <a:srgbClr val="1C1B19"/>
                </a:solidFill>
                <a:latin typeface="Source Serif 4"/>
              </a:rPr>
              <a:t>Index cards, one per student</a:t>
            </a:r>
          </a:p>
          <a:p>
            <a:pPr algn="l">
              <a:spcAft>
                <a:spcPts val="675"/>
              </a:spcAft>
            </a:pPr>
            <a:r>
              <a:rPr sz="1500" b="0" i="0">
                <a:solidFill>
                  <a:srgbClr val="1C1B19"/>
                </a:solidFill>
                <a:latin typeface="Source Serif 4"/>
              </a:rPr>
              <a:t>A board or chart paper</a:t>
            </a:r>
          </a:p>
          <a:p>
            <a:pPr algn="l">
              <a:spcAft>
                <a:spcPts val="675"/>
              </a:spcAft>
            </a:pPr>
            <a:r>
              <a:rPr sz="1500" b="0" i="0">
                <a:solidFill>
                  <a:srgbClr val="1C1B19"/>
                </a:solidFill>
                <a:latin typeface="Source Serif 4"/>
              </a:rPr>
              <a:t>Optional: a minute or two of race footage from Rapha's film on L39ION of Los Angeles at Tulsa Tough (youtube.com/watch?v=5nP8J0D0ynA). Preview it first and cue up a stretch of pack racing.</a:t>
            </a:r>
          </a:p>
          <a:p>
            <a:pPr algn="l">
              <a:spcAft>
                <a:spcPts val="675"/>
              </a:spcAft>
            </a:pPr>
            <a:r>
              <a:rPr sz="1500" b="0" i="0">
                <a:solidFill>
                  <a:srgbClr val="1C1B19"/>
                </a:solidFill>
                <a:latin typeface="Source Serif 4"/>
              </a:rPr>
              <a:t>The student page link (last slide) to share after advisory</a:t>
            </a:r>
          </a:p>
        </p:txBody>
      </p:sp>
      <p:sp>
        <p:nvSpPr>
          <p:cNvPr id="7" name="TextBox 6"/>
          <p:cNvSpPr txBox="1"/>
          <p:nvPr/>
        </p:nvSpPr>
        <p:spPr>
          <a:xfrm>
            <a:off x="6126480" y="1828800"/>
            <a:ext cx="5486400" cy="4389120"/>
          </a:xfrm>
          <a:prstGeom prst="rect">
            <a:avLst/>
          </a:prstGeom>
          <a:noFill/>
        </p:spPr>
        <p:txBody>
          <a:bodyPr wrap="square" anchor="t" lIns="0" rIns="0" tIns="0" bIns="0">
            <a:spAutoFit/>
          </a:bodyPr>
          <a:lstStyle/>
          <a:p>
            <a:pPr algn="l">
              <a:spcAft>
                <a:spcPts val="630"/>
              </a:spcAft>
            </a:pPr>
            <a:r>
              <a:rPr sz="1100" b="1" i="0">
                <a:solidFill>
                  <a:srgbClr val="0B2D5B"/>
                </a:solidFill>
                <a:latin typeface="Inter Tight"/>
              </a:rPr>
              <a:t>FLOW</a:t>
            </a:r>
          </a:p>
          <a:p>
            <a:pPr algn="l">
              <a:spcAft>
                <a:spcPts val="630"/>
              </a:spcAft>
            </a:pPr>
            <a:r>
              <a:rPr sz="1300" b="1" i="0">
                <a:solidFill>
                  <a:srgbClr val="F47B20"/>
                </a:solidFill>
                <a:latin typeface="Inter Tight"/>
              </a:rPr>
              <a:t>3 min   </a:t>
            </a:r>
            <a:r>
              <a:rPr sz="1400" b="0" i="0">
                <a:solidFill>
                  <a:srgbClr val="1C1B19"/>
                </a:solidFill>
                <a:latin typeface="Source Serif 4"/>
              </a:rPr>
              <a:t>Riding into the wind: when has wind helped or fought you?</a:t>
            </a:r>
          </a:p>
          <a:p>
            <a:pPr algn="l">
              <a:spcAft>
                <a:spcPts val="630"/>
              </a:spcAft>
            </a:pPr>
            <a:r>
              <a:rPr sz="1300" b="1" i="0">
                <a:solidFill>
                  <a:srgbClr val="F47B20"/>
                </a:solidFill>
                <a:latin typeface="Inter Tight"/>
              </a:rPr>
              <a:t>3 min   </a:t>
            </a:r>
            <a:r>
              <a:rPr sz="1400" b="0" i="0">
                <a:solidFill>
                  <a:srgbClr val="1C1B19"/>
                </a:solidFill>
                <a:latin typeface="Source Serif 4"/>
              </a:rPr>
              <a:t>Why we notice headwinds more</a:t>
            </a:r>
          </a:p>
          <a:p>
            <a:pPr algn="l">
              <a:spcAft>
                <a:spcPts val="630"/>
              </a:spcAft>
            </a:pPr>
            <a:r>
              <a:rPr sz="1300" b="1" i="0">
                <a:solidFill>
                  <a:srgbClr val="F47B20"/>
                </a:solidFill>
                <a:latin typeface="Inter Tight"/>
              </a:rPr>
              <a:t>4 min   </a:t>
            </a:r>
            <a:r>
              <a:rPr sz="1400" b="0" i="0">
                <a:solidFill>
                  <a:srgbClr val="1C1B19"/>
                </a:solidFill>
                <a:latin typeface="Source Serif 4"/>
              </a:rPr>
              <a:t>Everyday tailwinds (private tally)</a:t>
            </a:r>
          </a:p>
          <a:p>
            <a:pPr algn="l">
              <a:spcAft>
                <a:spcPts val="630"/>
              </a:spcAft>
            </a:pPr>
            <a:r>
              <a:rPr sz="1300" b="1" i="0">
                <a:solidFill>
                  <a:srgbClr val="F47B20"/>
                </a:solidFill>
                <a:latin typeface="Inter Tight"/>
              </a:rPr>
              <a:t>4 min   </a:t>
            </a:r>
            <a:r>
              <a:rPr sz="1400" b="0" i="0">
                <a:solidFill>
                  <a:srgbClr val="1C1B19"/>
                </a:solidFill>
                <a:latin typeface="Source Serif 4"/>
              </a:rPr>
              <a:t>Drafting in the pack: race is one of the winds</a:t>
            </a:r>
          </a:p>
          <a:p>
            <a:pPr algn="l">
              <a:spcAft>
                <a:spcPts val="630"/>
              </a:spcAft>
            </a:pPr>
            <a:r>
              <a:rPr sz="1300" b="1" i="0">
                <a:solidFill>
                  <a:srgbClr val="F47B20"/>
                </a:solidFill>
                <a:latin typeface="Inter Tight"/>
              </a:rPr>
              <a:t>3 min   </a:t>
            </a:r>
            <a:r>
              <a:rPr sz="1400" b="0" i="0">
                <a:solidFill>
                  <a:srgbClr val="1C1B19"/>
                </a:solidFill>
                <a:latin typeface="Source Serif 4"/>
              </a:rPr>
              <a:t>Blame and responsibility aren't the same</a:t>
            </a:r>
          </a:p>
          <a:p>
            <a:pPr algn="l">
              <a:spcAft>
                <a:spcPts val="630"/>
              </a:spcAft>
            </a:pPr>
            <a:r>
              <a:rPr sz="1300" b="1" i="0">
                <a:solidFill>
                  <a:srgbClr val="F47B20"/>
                </a:solidFill>
                <a:latin typeface="Inter Tight"/>
              </a:rPr>
              <a:t>3 min   </a:t>
            </a:r>
            <a:r>
              <a:rPr sz="1400" b="0" i="0">
                <a:solidFill>
                  <a:srgbClr val="1C1B19"/>
                </a:solidFill>
                <a:latin typeface="Source Serif 4"/>
              </a:rPr>
              <a:t>Take a turn at the front, privately, and the student page link</a:t>
            </a:r>
          </a:p>
          <a:p>
            <a:pPr algn="l">
              <a:spcAft>
                <a:spcPts val="630"/>
              </a:spcAft>
            </a:pPr>
            <a:r>
              <a:rPr sz="1400" b="0" i="0">
                <a:solidFill>
                  <a:srgbClr val="1C1B19"/>
                </a:solidFill>
                <a:latin typeface="Source Serif 4"/>
              </a:rPr>
              <a:t/>
            </a:r>
          </a:p>
          <a:p>
            <a:pPr algn="l">
              <a:spcAft>
                <a:spcPts val="630"/>
              </a:spcAft>
            </a:pPr>
            <a:r>
              <a:rPr sz="1100" b="1" i="0">
                <a:solidFill>
                  <a:srgbClr val="0B2D5B"/>
                </a:solidFill>
                <a:latin typeface="Inter Tight"/>
              </a:rPr>
              <a:t>SHORT ON TIME (10-MINUTE CHECK-IN)</a:t>
            </a:r>
          </a:p>
          <a:p>
            <a:pPr algn="l">
              <a:spcAft>
                <a:spcPts val="630"/>
              </a:spcAft>
            </a:pPr>
            <a:r>
              <a:rPr sz="1400" b="0" i="0">
                <a:solidFill>
                  <a:srgbClr val="1C1B19"/>
                </a:solidFill>
                <a:latin typeface="Source Serif 4"/>
              </a:rPr>
              <a:t>Riding into the wind (2), drafting in the pack (4), take a turn at the front, privately (3), share the link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teach</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Before you teach</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Let leadership know before you teach it.</a:t>
            </a:r>
          </a:p>
          <a:p>
            <a:pPr algn="l">
              <a:spcAft>
                <a:spcPts val="585"/>
              </a:spcAft>
            </a:pPr>
            <a:r>
              <a:rPr sz="1300" b="0" i="0">
                <a:solidFill>
                  <a:srgbClr val="1C1B19"/>
                </a:solidFill>
                <a:latin typeface="Source Serif 4"/>
              </a:rPr>
              <a:t>This is the topic most likely to bring a call from a family. Tell your division head or diversity lead you're teaching it, and when. It helps them answer questions, and it helps you if one comes.</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Go first, with one of your own tailwinds.</a:t>
            </a:r>
          </a:p>
          <a:p>
            <a:pPr algn="l">
              <a:spcAft>
                <a:spcPts val="585"/>
              </a:spcAft>
            </a:pPr>
            <a:r>
              <a:rPr sz="1300" b="0" i="0">
                <a:solidFill>
                  <a:srgbClr val="1C1B19"/>
                </a:solidFill>
                <a:latin typeface="Source Serif 4"/>
              </a:rPr>
              <a:t>Something real and low-stakes: a parent who could help with homework, a car at sixteen, never being asked where you're really from. When the adult names a tailwind calmly, students learn it's something you can say out loud without falling apart.</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Students of color are not the lesson.</a:t>
            </a:r>
          </a:p>
          <a:p>
            <a:pPr algn="l">
              <a:spcAft>
                <a:spcPts val="585"/>
              </a:spcAft>
            </a:pPr>
            <a:r>
              <a:rPr sz="1300" b="0" i="0">
                <a:solidFill>
                  <a:srgbClr val="1C1B19"/>
                </a:solidFill>
                <a:latin typeface="Source Serif 4"/>
              </a:rPr>
              <a:t>Never ask a student to describe their headwinds or speak for a group, and don't let the room turn toward them. Tallies stay private. No privilege walk or any activity that lines students up by advantage: it ranks kids in front of each other.</a:t>
            </a:r>
          </a:p>
          <a:p>
            <a:pPr algn="l">
              <a:spcAft>
                <a:spcPts val="585"/>
              </a:spcAft>
            </a:pPr>
            <a:r>
              <a:rPr sz="1300" b="0" i="0">
                <a:solidFill>
                  <a:srgbClr val="1C1B19"/>
                </a:solidFill>
                <a:latin typeface="Source Serif 4"/>
              </a:rPr>
              <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Say "not your fault" more than once.</a:t>
            </a:r>
          </a:p>
          <a:p>
            <a:pPr algn="l">
              <a:spcAft>
                <a:spcPts val="585"/>
              </a:spcAft>
            </a:pPr>
            <a:r>
              <a:rPr sz="1300" b="0" i="0">
                <a:solidFill>
                  <a:srgbClr val="1C1B19"/>
                </a:solidFill>
                <a:latin typeface="Source Serif 4"/>
              </a:rPr>
              <a:t>Separate blame from responsibility out loud, early and again at the end. Defensiveness drops when students hear they aren't being accused.</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Expect "but I had it hard too."</a:t>
            </a:r>
          </a:p>
          <a:p>
            <a:pPr algn="l">
              <a:spcAft>
                <a:spcPts val="585"/>
              </a:spcAft>
            </a:pPr>
            <a:r>
              <a:rPr sz="1300" b="0" i="0">
                <a:solidFill>
                  <a:srgbClr val="1C1B19"/>
                </a:solidFill>
                <a:latin typeface="Source Serif 4"/>
              </a:rPr>
              <a:t>Research finds that when white people hear about privilege, many respond by listing their hardships. Treat it as normal, not as an argument to win: "Your headwinds are real. You can have headwinds and tailwinds at the same time."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Race and money are different winds.</a:t>
            </a:r>
          </a:p>
          <a:p>
            <a:pPr algn="l">
              <a:spcAft>
                <a:spcPts val="585"/>
              </a:spcAft>
            </a:pPr>
            <a:r>
              <a:rPr sz="1300" b="0" i="0">
                <a:solidFill>
                  <a:srgbClr val="1C1B19"/>
                </a:solidFill>
                <a:latin typeface="Source Serif 4"/>
              </a:rPr>
              <a:t>One study found that teaching about white privilege on its own made some people less sympathetic toward poor white people. Say clearly that a white student whose family is struggling has real headwinds, and that race and money are separate winds that can blow in different directions.</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Keep it to everyday moments, not politics.</a:t>
            </a:r>
          </a:p>
          <a:p>
            <a:pPr algn="l">
              <a:spcAft>
                <a:spcPts val="585"/>
              </a:spcAft>
            </a:pPr>
            <a:r>
              <a:rPr sz="1300" b="0" i="0">
                <a:solidFill>
                  <a:srgbClr val="1C1B19"/>
                </a:solidFill>
                <a:latin typeface="Source Serif 4"/>
              </a:rPr>
              <a:t>If a student says this is political, try: "Today we're looking at everyday moments, like who gets followed in a store. You can disagree with me. I'm asking you to notice." Don't debate policies or parties.</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Watch for students carrying a lot.</a:t>
            </a:r>
          </a:p>
          <a:p>
            <a:pPr algn="l">
              <a:spcAft>
                <a:spcPts val="585"/>
              </a:spcAft>
            </a:pPr>
            <a:r>
              <a:rPr sz="1300" b="0" i="0">
                <a:solidFill>
                  <a:srgbClr val="1C1B19"/>
                </a:solidFill>
                <a:latin typeface="Source Serif 4"/>
              </a:rPr>
              <a:t>A student who seems hurt, angry or shut down, or who describes being targeted for who they are, is worth a quiet check-in after advisory and a same-day note to a counselor.</a:t>
            </a:r>
          </a:p>
          <a:p>
            <a:pPr algn="l">
              <a:spcAft>
                <a:spcPts val="585"/>
              </a:spcAft>
            </a:pPr>
            <a:r>
              <a:rPr sz="1300" b="0" i="0">
                <a:solidFill>
                  <a:srgbClr val="1C1B19"/>
                </a:solidFill>
                <a:latin typeface="Source Serif 4"/>
              </a:rP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Every student in the room</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Every student in the room</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Culture, family, identity, ability and money: what to keep in mind for this topic.</a:t>
            </a:r>
          </a:p>
        </p:txBody>
      </p:sp>
      <p:sp>
        <p:nvSpPr>
          <p:cNvPr id="6" name="TextBox 5"/>
          <p:cNvSpPr txBox="1"/>
          <p:nvPr/>
        </p:nvSpPr>
        <p:spPr>
          <a:xfrm>
            <a:off x="54864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Students of color.</a:t>
            </a:r>
          </a:p>
          <a:p>
            <a:pPr algn="l">
              <a:spcAft>
                <a:spcPts val="585"/>
              </a:spcAft>
            </a:pPr>
            <a:r>
              <a:rPr sz="1300" b="0" i="0">
                <a:solidFill>
                  <a:srgbClr val="1C1B19"/>
                </a:solidFill>
                <a:latin typeface="Source Serif 4"/>
              </a:rPr>
              <a:t>Some will feel relief that this is named, some will feel tired of hearing it again, and some won't want attention on it at all. All three are fair. Give them the same choice to stay quiet that everyone else has.</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White students with real headwinds.</a:t>
            </a:r>
          </a:p>
          <a:p>
            <a:pPr algn="l">
              <a:spcAft>
                <a:spcPts val="585"/>
              </a:spcAft>
            </a:pPr>
            <a:r>
              <a:rPr sz="1300" b="0" i="0">
                <a:solidFill>
                  <a:srgbClr val="1C1B19"/>
                </a:solidFill>
                <a:latin typeface="Source Serif 4"/>
              </a:rPr>
              <a:t>Poverty, a disability, a family crisis, being LGBTQ+, a parent who's sick. The lesson only works if these are taken seriously alongside race.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Who counts as white is complicated.</a:t>
            </a:r>
          </a:p>
          <a:p>
            <a:pPr algn="l">
              <a:spcAft>
                <a:spcPts val="585"/>
              </a:spcAft>
            </a:pPr>
            <a:r>
              <a:rPr sz="1300" b="0" i="0">
                <a:solidFill>
                  <a:srgbClr val="1C1B19"/>
                </a:solidFill>
                <a:latin typeface="Source Serif 4"/>
              </a:rPr>
              <a:t>Many Jewish, Middle Eastern and North African, Latino and multiracial students have a complicated relationship with the word white, and it can change depending on where they are. Let students name themselves, and don't sort anyone.</a:t>
            </a:r>
          </a:p>
          <a:p>
            <a:pPr algn="l">
              <a:spcAft>
                <a:spcPts val="585"/>
              </a:spcAft>
            </a:pPr>
            <a:r>
              <a:rPr sz="1300" b="0" i="0">
                <a:solidFill>
                  <a:srgbClr val="1C1B19"/>
                </a:solidFill>
                <a:latin typeface="Source Serif 4"/>
              </a:rPr>
              <a:t/>
            </a:r>
          </a:p>
        </p:txBody>
      </p:sp>
      <p:sp>
        <p:nvSpPr>
          <p:cNvPr id="7" name="TextBox 6"/>
          <p:cNvSpPr txBox="1"/>
          <p:nvPr/>
        </p:nvSpPr>
        <p:spPr>
          <a:xfrm>
            <a:off x="621792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International and immigrant students.</a:t>
            </a:r>
          </a:p>
          <a:p>
            <a:pPr algn="l">
              <a:spcAft>
                <a:spcPts val="585"/>
              </a:spcAft>
            </a:pPr>
            <a:r>
              <a:rPr sz="1300" b="0" i="0">
                <a:solidFill>
                  <a:srgbClr val="1C1B19"/>
                </a:solidFill>
                <a:latin typeface="Source Serif 4"/>
              </a:rPr>
              <a:t>Race works differently in other countries. A student may be in the majority at home and a minority here, or the other way around. That's a useful thing to notice, not a correction to make.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Families disagree about this.</a:t>
            </a:r>
          </a:p>
          <a:p>
            <a:pPr algn="l">
              <a:spcAft>
                <a:spcPts val="585"/>
              </a:spcAft>
            </a:pPr>
            <a:r>
              <a:rPr sz="1300" b="0" i="0">
                <a:solidFill>
                  <a:srgbClr val="1C1B19"/>
                </a:solidFill>
                <a:latin typeface="Source Serif 4"/>
              </a:rPr>
              <a:t>Students come from homes with different politics and faiths. The lesson asks them to notice everyday moments, not to adopt a view. Respect disagreement, and keep dignity for everyone in the room.</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Other tailwinds.</a:t>
            </a:r>
          </a:p>
          <a:p>
            <a:pPr algn="l">
              <a:spcAft>
                <a:spcPts val="585"/>
              </a:spcAft>
            </a:pPr>
            <a:r>
              <a:rPr sz="1300" b="0" i="0">
                <a:solidFill>
                  <a:srgbClr val="1C1B19"/>
                </a:solidFill>
                <a:latin typeface="Source Serif 4"/>
              </a:rPr>
              <a:t>Money, citizenship, English at home, ability, gender, being straight or cisgender, parents who went to college. Name several so the idea is clear, then name race directly so it doesn't get lost.</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Show who rides at the front.</a:t>
            </a:r>
          </a:p>
          <a:p>
            <a:pPr algn="l">
              <a:spcAft>
                <a:spcPts val="585"/>
              </a:spcAft>
            </a:pPr>
            <a:r>
              <a:rPr sz="1300" b="0" i="0">
                <a:solidFill>
                  <a:srgbClr val="1C1B19"/>
                </a:solidFill>
                <a:latin typeface="Source Serif 4"/>
              </a:rPr>
              <a:t>If you use the L39ION clip, let it stand as a team at the top of its sport, not as a lesson about hardship. Justin Williams built it to widen who gets to see themselves in cycling.</a:t>
            </a:r>
          </a:p>
          <a:p>
            <a:pPr algn="l">
              <a:spcAft>
                <a:spcPts val="585"/>
              </a:spcAft>
            </a:pPr>
            <a:r>
              <a:rPr sz="1300" b="0" i="0">
                <a:solidFill>
                  <a:srgbClr val="1C1B19"/>
                </a:solidFill>
                <a:latin typeface="Source Serif 4"/>
              </a:rP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Background</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What the research says</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Across seven studies, people saw the obstacles they faced much more readily than the advantages that helped them, and this was explained by obstacles being easier to bring to mind.</a:t>
            </a:r>
          </a:p>
          <a:p>
            <a:pPr algn="l">
              <a:spcAft>
                <a:spcPts val="585"/>
              </a:spcAft>
            </a:pPr>
            <a:r>
              <a:rPr sz="1050" b="0" i="0">
                <a:solidFill>
                  <a:srgbClr val="5D5A54"/>
                </a:solidFill>
                <a:latin typeface="Inter Tight"/>
              </a:rPr>
              <a:t>Davidai &amp; Gilovich, Journal of Personality and Social Psychology, 2016</a:t>
            </a:r>
          </a:p>
          <a:p>
            <a:pPr algn="l">
              <a:spcAft>
                <a:spcPts val="585"/>
              </a:spcAft>
            </a:pPr>
            <a:r>
              <a:rPr sz="1300" b="0" i="0">
                <a:solidFill>
                  <a:srgbClr val="1C1B19"/>
                </a:solidFill>
                <a:latin typeface="Source Serif 4"/>
              </a:rPr>
              <a:t>In wind tunnel and computer simulations of a 121-rider peloton, riders in the middle and back faced as little as 5 to 10 percent of the air resistance of a rider alone. Earlier research on small groups found drag reductions of roughly 30 to 50 percent.</a:t>
            </a:r>
          </a:p>
          <a:p>
            <a:pPr algn="l">
              <a:spcAft>
                <a:spcPts val="585"/>
              </a:spcAft>
            </a:pPr>
            <a:r>
              <a:rPr sz="1050" b="0" i="0">
                <a:solidFill>
                  <a:srgbClr val="5D5A54"/>
                </a:solidFill>
                <a:latin typeface="Inter Tight"/>
              </a:rPr>
              <a:t>Blocken et al., Journal of Wind Engineering and Industrial Aerodynamics, 2018</a:t>
            </a:r>
          </a:p>
          <a:p>
            <a:pPr algn="l">
              <a:spcAft>
                <a:spcPts val="585"/>
              </a:spcAft>
            </a:pPr>
            <a:r>
              <a:rPr sz="1300" b="0" i="0">
                <a:solidFill>
                  <a:srgbClr val="1C1B19"/>
                </a:solidFill>
                <a:latin typeface="Source Serif 4"/>
              </a:rPr>
              <a:t>Fictional resumes with names common among white Americans received about 50 percent more callbacks than the same resumes with names common among Black Americans.</a:t>
            </a:r>
          </a:p>
          <a:p>
            <a:pPr algn="l">
              <a:spcAft>
                <a:spcPts val="585"/>
              </a:spcAft>
            </a:pPr>
            <a:r>
              <a:rPr sz="1050" b="0" i="0">
                <a:solidFill>
                  <a:srgbClr val="5D5A54"/>
                </a:solidFill>
                <a:latin typeface="Inter Tight"/>
              </a:rPr>
              <a:t>Bertrand &amp; Mullainathan, American Economic Review, 2004</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White participants shown evidence of racial privilege claimed more personal hardships; a short values affirmation reversed this, and affirmed participants acknowledged more personal privilege.</a:t>
            </a:r>
          </a:p>
          <a:p>
            <a:pPr algn="l">
              <a:spcAft>
                <a:spcPts val="585"/>
              </a:spcAft>
            </a:pPr>
            <a:r>
              <a:rPr sz="1050" b="0" i="0">
                <a:solidFill>
                  <a:srgbClr val="5D5A54"/>
                </a:solidFill>
                <a:latin typeface="Inter Tight"/>
              </a:rPr>
              <a:t>Phillips &amp; Lowery, Journal of Experimental Social Psychology, 2015</a:t>
            </a:r>
          </a:p>
          <a:p>
            <a:pPr algn="l">
              <a:spcAft>
                <a:spcPts val="585"/>
              </a:spcAft>
            </a:pPr>
            <a:r>
              <a:rPr sz="1300" b="0" i="0">
                <a:solidFill>
                  <a:srgbClr val="1C1B19"/>
                </a:solidFill>
                <a:latin typeface="Source Serif 4"/>
              </a:rPr>
              <a:t>White participants saw inequality as more threatening when it was framed as white advantage than as Black disadvantage; self-affirmation increased their acknowledgment of privilege.</a:t>
            </a:r>
          </a:p>
          <a:p>
            <a:pPr algn="l">
              <a:spcAft>
                <a:spcPts val="585"/>
              </a:spcAft>
            </a:pPr>
            <a:r>
              <a:rPr sz="1050" b="0" i="0">
                <a:solidFill>
                  <a:srgbClr val="5D5A54"/>
                </a:solidFill>
                <a:latin typeface="Inter Tight"/>
              </a:rPr>
              <a:t>Lowery, Knowles &amp; Unzueta, Personality and Social Psychology Bulletin, 2007</a:t>
            </a:r>
          </a:p>
          <a:p>
            <a:pPr algn="l">
              <a:spcAft>
                <a:spcPts val="585"/>
              </a:spcAft>
            </a:pPr>
            <a:r>
              <a:rPr sz="1300" b="0" i="0">
                <a:solidFill>
                  <a:srgbClr val="1C1B19"/>
                </a:solidFill>
                <a:latin typeface="Source Serif 4"/>
              </a:rPr>
              <a:t>Among social liberals, reading about white privilege reduced sympathy for a poor white person and increased blame toward him, compared with a poor Black person.</a:t>
            </a:r>
          </a:p>
          <a:p>
            <a:pPr algn="l">
              <a:spcAft>
                <a:spcPts val="585"/>
              </a:spcAft>
            </a:pPr>
            <a:r>
              <a:rPr sz="1050" b="0" i="0">
                <a:solidFill>
                  <a:srgbClr val="5D5A54"/>
                </a:solidFill>
                <a:latin typeface="Inter Tight"/>
              </a:rPr>
              <a:t>Cooley et al., Journal of Experimental Psychology: General, 2019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2D5B"/>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HEADWINDS AND TAILWINDS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2011680"/>
            <a:ext cx="10515600" cy="1463040"/>
          </a:xfrm>
          <a:prstGeom prst="rect">
            <a:avLst/>
          </a:prstGeom>
          <a:noFill/>
        </p:spPr>
        <p:txBody>
          <a:bodyPr wrap="square" anchor="b" lIns="0" rIns="0" tIns="0" bIns="0">
            <a:spAutoFit/>
          </a:bodyPr>
          <a:lstStyle/>
          <a:p>
            <a:pPr algn="l">
              <a:spcAft>
                <a:spcPts val="2700"/>
              </a:spcAft>
            </a:pPr>
            <a:r>
              <a:rPr sz="6000" b="1" i="0">
                <a:solidFill>
                  <a:srgbClr val="FFFFFF"/>
                </a:solidFill>
                <a:latin typeface="Source Serif 4"/>
              </a:rPr>
              <a:t>Headwinds and Tailwinds</a:t>
            </a:r>
          </a:p>
        </p:txBody>
      </p:sp>
      <p:sp>
        <p:nvSpPr>
          <p:cNvPr id="6" name="TextBox 5"/>
          <p:cNvSpPr txBox="1"/>
          <p:nvPr/>
        </p:nvSpPr>
        <p:spPr>
          <a:xfrm>
            <a:off x="822960" y="3611880"/>
            <a:ext cx="10515600" cy="914400"/>
          </a:xfrm>
          <a:prstGeom prst="rect">
            <a:avLst/>
          </a:prstGeom>
          <a:noFill/>
        </p:spPr>
        <p:txBody>
          <a:bodyPr wrap="square" anchor="t" lIns="0" rIns="0" tIns="0" bIns="0">
            <a:spAutoFit/>
          </a:bodyPr>
          <a:lstStyle/>
          <a:p>
            <a:pPr algn="l">
              <a:spcAft>
                <a:spcPts val="1080"/>
              </a:spcAft>
            </a:pPr>
            <a:r>
              <a:rPr sz="2400" b="0" i="1">
                <a:solidFill>
                  <a:srgbClr val="E8E4DA"/>
                </a:solidFill>
                <a:latin typeface="Source Serif 4"/>
              </a:rPr>
              <a:t>Some things push against you. Some push you along. One kind is much easier to see.</a:t>
            </a:r>
          </a:p>
        </p:txBody>
      </p:sp>
      <p:sp>
        <p:nvSpPr>
          <p:cNvPr id="7" name="TextBox 6"/>
          <p:cNvSpPr txBox="1"/>
          <p:nvPr/>
        </p:nvSpPr>
        <p:spPr>
          <a:xfrm>
            <a:off x="822960" y="6035040"/>
            <a:ext cx="7315200" cy="365760"/>
          </a:xfrm>
          <a:prstGeom prst="rect">
            <a:avLst/>
          </a:prstGeom>
          <a:noFill/>
        </p:spPr>
        <p:txBody>
          <a:bodyPr wrap="square" anchor="t" lIns="0" rIns="0" tIns="0" bIns="0">
            <a:spAutoFit/>
          </a:bodyPr>
          <a:lstStyle/>
          <a:p>
            <a:pPr algn="l">
              <a:spcAft>
                <a:spcPts val="585"/>
              </a:spcAft>
            </a:pPr>
            <a:r>
              <a:rPr sz="1300" b="0" i="0">
                <a:solidFill>
                  <a:srgbClr val="E8E4DA"/>
                </a:solidFill>
                <a:latin typeface="Inter Tight"/>
              </a:rPr>
              <a:t>Beaver Upper School · Counseling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TO START</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Rectangle 4"/>
          <p:cNvSpPr/>
          <p:nvPr/>
        </p:nvSpPr>
        <p:spPr>
          <a:xfrm>
            <a:off x="822960" y="1371600"/>
            <a:ext cx="73152" cy="356616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371600"/>
            <a:ext cx="10058400" cy="3566160"/>
          </a:xfrm>
          <a:prstGeom prst="rect">
            <a:avLst/>
          </a:prstGeom>
          <a:noFill/>
        </p:spPr>
        <p:txBody>
          <a:bodyPr wrap="square" anchor="ctr" lIns="0" rIns="0" tIns="0" bIns="0">
            <a:spAutoFit/>
          </a:bodyPr>
          <a:lstStyle/>
          <a:p>
            <a:pPr algn="l">
              <a:spcAft>
                <a:spcPts val="1800"/>
              </a:spcAft>
            </a:pPr>
            <a:r>
              <a:rPr sz="4000" b="0" i="1">
                <a:solidFill>
                  <a:srgbClr val="1C1B19"/>
                </a:solidFill>
                <a:latin typeface="Source Serif 4"/>
              </a:rPr>
              <a:t>Riding into the wind, or with it at your back. What does each feel like?</a:t>
            </a:r>
          </a:p>
        </p:txBody>
      </p:sp>
      <p:sp>
        <p:nvSpPr>
          <p:cNvPr id="7" name="TextBox 6"/>
          <p:cNvSpPr txBox="1"/>
          <p:nvPr/>
        </p:nvSpPr>
        <p:spPr>
          <a:xfrm>
            <a:off x="1188720" y="5120640"/>
            <a:ext cx="10058400" cy="914400"/>
          </a:xfrm>
          <a:prstGeom prst="rect">
            <a:avLst/>
          </a:prstGeom>
          <a:noFill/>
        </p:spPr>
        <p:txBody>
          <a:bodyPr wrap="square" anchor="t" lIns="0" rIns="0" tIns="0" bIns="0">
            <a:spAutoFit/>
          </a:bodyPr>
          <a:lstStyle/>
          <a:p>
            <a:pPr algn="l">
              <a:spcAft>
                <a:spcPts val="810"/>
              </a:spcAft>
            </a:pPr>
            <a:r>
              <a:rPr sz="1800" b="0" i="0">
                <a:solidFill>
                  <a:srgbClr val="5D5A54"/>
                </a:solidFill>
                <a:latin typeface="Inter Tight"/>
              </a:rPr>
              <a:t>A bike, a run, a swim against the current, walking home in a storm.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WHY IT'S HARD TO SEE</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914400"/>
            <a:ext cx="10515600" cy="365760"/>
          </a:xfrm>
          <a:prstGeom prst="rect">
            <a:avLst/>
          </a:prstGeom>
          <a:noFill/>
        </p:spPr>
        <p:txBody>
          <a:bodyPr wrap="square" anchor="t" lIns="0" rIns="0" tIns="0" bIns="0">
            <a:spAutoFit/>
          </a:bodyPr>
          <a:lstStyle/>
          <a:p>
            <a:pPr algn="l">
              <a:spcAft>
                <a:spcPts val="630"/>
              </a:spcAft>
            </a:pPr>
            <a:r>
              <a:rPr sz="1400" b="1" i="0">
                <a:solidFill>
                  <a:srgbClr val="0B2D5B"/>
                </a:solidFill>
                <a:latin typeface="Inter Tight"/>
              </a:rPr>
              <a:t>Davidai &amp; Gilovich, 2016</a:t>
            </a:r>
          </a:p>
        </p:txBody>
      </p:sp>
      <p:sp>
        <p:nvSpPr>
          <p:cNvPr id="6" name="TextBox 5"/>
          <p:cNvSpPr txBox="1"/>
          <p:nvPr/>
        </p:nvSpPr>
        <p:spPr>
          <a:xfrm>
            <a:off x="822960" y="1325880"/>
            <a:ext cx="10515600" cy="1097280"/>
          </a:xfrm>
          <a:prstGeom prst="rect">
            <a:avLst/>
          </a:prstGeom>
          <a:noFill/>
        </p:spPr>
        <p:txBody>
          <a:bodyPr wrap="square" anchor="t" lIns="0" rIns="0" tIns="0" bIns="0">
            <a:spAutoFit/>
          </a:bodyPr>
          <a:lstStyle/>
          <a:p>
            <a:pPr algn="l">
              <a:spcAft>
                <a:spcPts val="1440"/>
              </a:spcAft>
            </a:pPr>
            <a:r>
              <a:rPr sz="3200" b="1" i="0">
                <a:solidFill>
                  <a:srgbClr val="1C1B19"/>
                </a:solidFill>
                <a:latin typeface="Source Serif 4"/>
              </a:rPr>
              <a:t>We notice headwinds more.</a:t>
            </a:r>
          </a:p>
        </p:txBody>
      </p:sp>
      <p:sp>
        <p:nvSpPr>
          <p:cNvPr id="7" name="TextBox 6"/>
          <p:cNvSpPr txBox="1"/>
          <p:nvPr/>
        </p:nvSpPr>
        <p:spPr>
          <a:xfrm>
            <a:off x="822960" y="2514600"/>
            <a:ext cx="10515600" cy="21945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  People remember obstacles much more than boosts.</a:t>
            </a:r>
          </a:p>
          <a:p>
            <a:pPr algn="l">
              <a:spcAft>
                <a:spcPts val="855"/>
              </a:spcAft>
            </a:pPr>
            <a:r>
              <a:rPr sz="1900" b="0" i="0">
                <a:solidFill>
                  <a:srgbClr val="1C1B19"/>
                </a:solidFill>
                <a:latin typeface="Source Serif 4"/>
              </a:rPr>
              <a:t>•  Fans of almost every team think their schedule was hardest.</a:t>
            </a:r>
          </a:p>
          <a:p>
            <a:pPr algn="l">
              <a:spcAft>
                <a:spcPts val="855"/>
              </a:spcAft>
            </a:pPr>
            <a:r>
              <a:rPr sz="1900" b="0" i="0">
                <a:solidFill>
                  <a:srgbClr val="1C1B19"/>
                </a:solidFill>
                <a:latin typeface="Source Serif 4"/>
              </a:rPr>
              <a:t>•  It's how memory works, not a character flaw.</a:t>
            </a:r>
          </a:p>
        </p:txBody>
      </p:sp>
      <p:sp>
        <p:nvSpPr>
          <p:cNvPr id="8" name="Rectangle 7"/>
          <p:cNvSpPr/>
          <p:nvPr/>
        </p:nvSpPr>
        <p:spPr>
          <a:xfrm>
            <a:off x="822960" y="4892040"/>
            <a:ext cx="73152" cy="109728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4892040"/>
            <a:ext cx="10241280" cy="1188720"/>
          </a:xfrm>
          <a:prstGeom prst="rect">
            <a:avLst/>
          </a:prstGeom>
          <a:noFill/>
        </p:spPr>
        <p:txBody>
          <a:bodyPr wrap="square" anchor="t" lIns="0" rIns="0" tIns="0" bIns="0">
            <a:spAutoFit/>
          </a:bodyPr>
          <a:lstStyle/>
          <a:p>
            <a:pPr algn="l">
              <a:spcAft>
                <a:spcPts val="855"/>
              </a:spcAft>
            </a:pPr>
            <a:r>
              <a:rPr sz="1200" b="1" i="0">
                <a:solidFill>
                  <a:srgbClr val="F47B20"/>
                </a:solidFill>
                <a:latin typeface="Inter Tight"/>
              </a:rPr>
              <a:t>IN CLASS</a:t>
            </a:r>
          </a:p>
          <a:p>
            <a:pPr algn="l">
              <a:spcAft>
                <a:spcPts val="855"/>
              </a:spcAft>
            </a:pPr>
            <a:r>
              <a:rPr sz="1900" b="0" i="0">
                <a:solidFill>
                  <a:srgbClr val="1C1B19"/>
                </a:solidFill>
                <a:latin typeface="Source Serif 4"/>
              </a:rPr>
              <a:t>Seeing your tailwinds takes practice. That's the whole skill today.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EVERYDAY TAILWINDS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Which of these helped you along without your asking?</a:t>
            </a:r>
          </a:p>
        </p:txBody>
      </p:sp>
      <p:sp>
        <p:nvSpPr>
          <p:cNvPr id="6" name="TextBox 5"/>
          <p:cNvSpPr txBox="1"/>
          <p:nvPr/>
        </p:nvSpPr>
        <p:spPr>
          <a:xfrm>
            <a:off x="822960" y="2057400"/>
            <a:ext cx="548640" cy="670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7" name="TextBox 6"/>
          <p:cNvSpPr txBox="1"/>
          <p:nvPr/>
        </p:nvSpPr>
        <p:spPr>
          <a:xfrm>
            <a:off x="1463040" y="2093976"/>
            <a:ext cx="9875520" cy="670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Speaking English at home</a:t>
            </a:r>
          </a:p>
        </p:txBody>
      </p:sp>
      <p:sp>
        <p:nvSpPr>
          <p:cNvPr id="8" name="TextBox 7"/>
          <p:cNvSpPr txBox="1"/>
          <p:nvPr/>
        </p:nvSpPr>
        <p:spPr>
          <a:xfrm>
            <a:off x="822960" y="2727960"/>
            <a:ext cx="548640" cy="670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9" name="TextBox 8"/>
          <p:cNvSpPr txBox="1"/>
          <p:nvPr/>
        </p:nvSpPr>
        <p:spPr>
          <a:xfrm>
            <a:off x="1463040" y="2764536"/>
            <a:ext cx="9875520" cy="670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A parent who knows how school works</a:t>
            </a:r>
          </a:p>
        </p:txBody>
      </p:sp>
      <p:sp>
        <p:nvSpPr>
          <p:cNvPr id="10" name="TextBox 9"/>
          <p:cNvSpPr txBox="1"/>
          <p:nvPr/>
        </p:nvSpPr>
        <p:spPr>
          <a:xfrm>
            <a:off x="822960" y="3398520"/>
            <a:ext cx="548640" cy="670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11" name="TextBox 10"/>
          <p:cNvSpPr txBox="1"/>
          <p:nvPr/>
        </p:nvSpPr>
        <p:spPr>
          <a:xfrm>
            <a:off x="1463040" y="3435096"/>
            <a:ext cx="9875520" cy="670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Money for a tutor, a camp, a trip</a:t>
            </a:r>
          </a:p>
        </p:txBody>
      </p:sp>
      <p:sp>
        <p:nvSpPr>
          <p:cNvPr id="12" name="TextBox 11"/>
          <p:cNvSpPr txBox="1"/>
          <p:nvPr/>
        </p:nvSpPr>
        <p:spPr>
          <a:xfrm>
            <a:off x="822960" y="4069080"/>
            <a:ext cx="548640" cy="670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13" name="TextBox 12"/>
          <p:cNvSpPr txBox="1"/>
          <p:nvPr/>
        </p:nvSpPr>
        <p:spPr>
          <a:xfrm>
            <a:off x="1463040" y="4105656"/>
            <a:ext cx="9875520" cy="670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A body that fits how buildings are built</a:t>
            </a:r>
          </a:p>
        </p:txBody>
      </p:sp>
      <p:sp>
        <p:nvSpPr>
          <p:cNvPr id="14" name="TextBox 13"/>
          <p:cNvSpPr txBox="1"/>
          <p:nvPr/>
        </p:nvSpPr>
        <p:spPr>
          <a:xfrm>
            <a:off x="822960" y="4739640"/>
            <a:ext cx="548640" cy="670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15" name="TextBox 14"/>
          <p:cNvSpPr txBox="1"/>
          <p:nvPr/>
        </p:nvSpPr>
        <p:spPr>
          <a:xfrm>
            <a:off x="1463040" y="4776216"/>
            <a:ext cx="9875520" cy="670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Being straight or cisgender</a:t>
            </a:r>
          </a:p>
        </p:txBody>
      </p:sp>
      <p:sp>
        <p:nvSpPr>
          <p:cNvPr id="16" name="TextBox 15"/>
          <p:cNvSpPr txBox="1"/>
          <p:nvPr/>
        </p:nvSpPr>
        <p:spPr>
          <a:xfrm>
            <a:off x="822960" y="5410200"/>
            <a:ext cx="548640" cy="670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17" name="TextBox 16"/>
          <p:cNvSpPr txBox="1"/>
          <p:nvPr/>
        </p:nvSpPr>
        <p:spPr>
          <a:xfrm>
            <a:off x="1463040" y="5446776"/>
            <a:ext cx="9875520" cy="670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A passport from the country you live in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DRAFTING IN THE PACK</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463040"/>
            <a:ext cx="10515600" cy="3291840"/>
          </a:xfrm>
          <a:prstGeom prst="rect">
            <a:avLst/>
          </a:prstGeom>
          <a:noFill/>
        </p:spPr>
        <p:txBody>
          <a:bodyPr wrap="square" anchor="ctr" lIns="0" rIns="0" tIns="0" bIns="0">
            <a:spAutoFit/>
          </a:bodyPr>
          <a:lstStyle/>
          <a:p>
            <a:pPr algn="l">
              <a:spcAft>
                <a:spcPts val="2070"/>
              </a:spcAft>
            </a:pPr>
            <a:r>
              <a:rPr sz="4600" b="1" i="0">
                <a:solidFill>
                  <a:srgbClr val="1C1B19"/>
                </a:solidFill>
                <a:latin typeface="Source Serif 4"/>
              </a:rPr>
              <a:t>Ride close behind someone and you use about a third less effort. Deep in the pack, you barely feel the wind.</a:t>
            </a:r>
          </a:p>
        </p:txBody>
      </p:sp>
      <p:sp>
        <p:nvSpPr>
          <p:cNvPr id="6" name="TextBox 5"/>
          <p:cNvSpPr txBox="1"/>
          <p:nvPr/>
        </p:nvSpPr>
        <p:spPr>
          <a:xfrm>
            <a:off x="822960" y="4846320"/>
            <a:ext cx="10515600" cy="1097280"/>
          </a:xfrm>
          <a:prstGeom prst="rect">
            <a:avLst/>
          </a:prstGeom>
          <a:noFill/>
        </p:spPr>
        <p:txBody>
          <a:bodyPr wrap="square" anchor="t" lIns="0" rIns="0" tIns="0" bIns="0">
            <a:spAutoFit/>
          </a:bodyPr>
          <a:lstStyle/>
          <a:p>
            <a:pPr algn="l">
              <a:spcAft>
                <a:spcPts val="990"/>
              </a:spcAft>
            </a:pPr>
            <a:r>
              <a:rPr sz="2200" b="0" i="1">
                <a:solidFill>
                  <a:srgbClr val="5D5A54"/>
                </a:solidFill>
                <a:latin typeface="Source Serif 4"/>
              </a:rPr>
              <a:t>In the U.S., being white often works like riding in the pack. It doesn't make life easy. It means your skin isn't one of the things making it harder.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TWO WORDS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Blame and responsibility aren't the same.</a:t>
            </a:r>
          </a:p>
        </p:txBody>
      </p:sp>
      <p:sp>
        <p:nvSpPr>
          <p:cNvPr id="6" name="Rectangle 5"/>
          <p:cNvSpPr/>
          <p:nvPr/>
        </p:nvSpPr>
        <p:spPr>
          <a:xfrm>
            <a:off x="8229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BLAME</a:t>
            </a:r>
          </a:p>
        </p:txBody>
      </p:sp>
      <p:sp>
        <p:nvSpPr>
          <p:cNvPr id="8" name="TextBox 7"/>
          <p:cNvSpPr txBox="1"/>
          <p:nvPr/>
        </p:nvSpPr>
        <p:spPr>
          <a:xfrm>
            <a:off x="10972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About the past</a:t>
            </a:r>
          </a:p>
          <a:p>
            <a:pPr algn="l">
              <a:spcAft>
                <a:spcPts val="855"/>
              </a:spcAft>
            </a:pPr>
            <a:r>
              <a:rPr sz="1900" b="0" i="0">
                <a:solidFill>
                  <a:srgbClr val="1C1B19"/>
                </a:solidFill>
                <a:latin typeface="Source Serif 4"/>
              </a:rPr>
              <a:t>Something you did wrong</a:t>
            </a:r>
          </a:p>
          <a:p>
            <a:pPr algn="l">
              <a:spcAft>
                <a:spcPts val="855"/>
              </a:spcAft>
            </a:pPr>
            <a:r>
              <a:rPr sz="1900" b="0" i="0">
                <a:solidFill>
                  <a:srgbClr val="1C1B19"/>
                </a:solidFill>
                <a:latin typeface="Source Serif 4"/>
              </a:rPr>
              <a:t>Leads to guilt or defending yourself</a:t>
            </a:r>
          </a:p>
          <a:p>
            <a:pPr algn="l">
              <a:spcAft>
                <a:spcPts val="855"/>
              </a:spcAft>
            </a:pPr>
            <a:r>
              <a:rPr sz="1900" b="0" i="0">
                <a:solidFill>
                  <a:srgbClr val="1C1B19"/>
                </a:solidFill>
                <a:latin typeface="Source Serif 4"/>
              </a:rPr>
              <a:t>Nobody here is asking for it</a:t>
            </a:r>
          </a:p>
        </p:txBody>
      </p:sp>
      <p:sp>
        <p:nvSpPr>
          <p:cNvPr id="9" name="Rectangle 8"/>
          <p:cNvSpPr/>
          <p:nvPr/>
        </p:nvSpPr>
        <p:spPr>
          <a:xfrm>
            <a:off x="63093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RESPONSIBILITY</a:t>
            </a:r>
          </a:p>
        </p:txBody>
      </p:sp>
      <p:sp>
        <p:nvSpPr>
          <p:cNvPr id="11" name="TextBox 10"/>
          <p:cNvSpPr txBox="1"/>
          <p:nvPr/>
        </p:nvSpPr>
        <p:spPr>
          <a:xfrm>
            <a:off x="65836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About what's next</a:t>
            </a:r>
          </a:p>
          <a:p>
            <a:pPr algn="l">
              <a:spcAft>
                <a:spcPts val="855"/>
              </a:spcAft>
            </a:pPr>
            <a:r>
              <a:rPr sz="1900" b="0" i="0">
                <a:solidFill>
                  <a:srgbClr val="1C1B19"/>
                </a:solidFill>
                <a:latin typeface="Source Serif 4"/>
              </a:rPr>
              <a:t>Something you choose</a:t>
            </a:r>
          </a:p>
          <a:p>
            <a:pPr algn="l">
              <a:spcAft>
                <a:spcPts val="855"/>
              </a:spcAft>
            </a:pPr>
            <a:r>
              <a:rPr sz="1900" b="0" i="0">
                <a:solidFill>
                  <a:srgbClr val="1C1B19"/>
                </a:solidFill>
                <a:latin typeface="Source Serif 4"/>
              </a:rPr>
              <a:t>Leads to action</a:t>
            </a:r>
          </a:p>
          <a:p>
            <a:pPr algn="l">
              <a:spcAft>
                <a:spcPts val="855"/>
              </a:spcAft>
            </a:pPr>
            <a:r>
              <a:rPr sz="1900" b="0" i="0">
                <a:solidFill>
                  <a:srgbClr val="1C1B19"/>
                </a:solidFill>
                <a:latin typeface="Source Serif 4"/>
              </a:rPr>
              <a:t>Yours to decide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BEFORE YOU GO</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188720"/>
            <a:ext cx="10515600" cy="91440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Take a turn at the front.</a:t>
            </a:r>
          </a:p>
        </p:txBody>
      </p:sp>
      <p:sp>
        <p:nvSpPr>
          <p:cNvPr id="6" name="TextBox 5"/>
          <p:cNvSpPr txBox="1"/>
          <p:nvPr/>
        </p:nvSpPr>
        <p:spPr>
          <a:xfrm>
            <a:off x="822960" y="2286000"/>
            <a:ext cx="10515600" cy="1463040"/>
          </a:xfrm>
          <a:prstGeom prst="rect">
            <a:avLst/>
          </a:prstGeom>
          <a:noFill/>
        </p:spPr>
        <p:txBody>
          <a:bodyPr wrap="square" anchor="t" lIns="0" rIns="0" tIns="0" bIns="0">
            <a:spAutoFit/>
          </a:bodyPr>
          <a:lstStyle/>
          <a:p>
            <a:pPr algn="l">
              <a:spcAft>
                <a:spcPts val="1080"/>
              </a:spcAft>
            </a:pPr>
            <a:r>
              <a:rPr sz="2400" b="0" i="0">
                <a:solidFill>
                  <a:srgbClr val="1C1B19"/>
                </a:solidFill>
                <a:latin typeface="Source Serif 4"/>
              </a:rPr>
              <a:t>Good riders take turns breaking the wind for the people behind them. Write one way you could this week. Keep the card.</a:t>
            </a:r>
          </a:p>
        </p:txBody>
      </p:sp>
      <p:sp>
        <p:nvSpPr>
          <p:cNvPr id="7" name="Rectangle 6"/>
          <p:cNvSpPr/>
          <p:nvPr/>
        </p:nvSpPr>
        <p:spPr>
          <a:xfrm>
            <a:off x="822960" y="4023360"/>
            <a:ext cx="10515600" cy="1371600"/>
          </a:xfrm>
          <a:prstGeom prst="rect">
            <a:avLst/>
          </a:prstGeom>
          <a:solidFill>
            <a:srgbClr val="FFFFFF"/>
          </a:solidFill>
          <a:ln w="15875">
            <a:solidFill>
              <a:srgbClr val="1C1B1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206240"/>
            <a:ext cx="10058400" cy="365760"/>
          </a:xfrm>
          <a:prstGeom prst="rect">
            <a:avLst/>
          </a:prstGeom>
          <a:noFill/>
        </p:spPr>
        <p:txBody>
          <a:bodyPr wrap="square" anchor="t" lIns="0" rIns="0" tIns="0" bIns="0">
            <a:spAutoFit/>
          </a:bodyPr>
          <a:lstStyle/>
          <a:p>
            <a:pPr algn="l">
              <a:spcAft>
                <a:spcPts val="540"/>
              </a:spcAft>
            </a:pPr>
            <a:r>
              <a:rPr sz="1200" b="1" i="0">
                <a:solidFill>
                  <a:srgbClr val="0B2D5B"/>
                </a:solidFill>
                <a:latin typeface="Inter Tight"/>
              </a:rPr>
              <a:t>STUDENT PAGE</a:t>
            </a:r>
          </a:p>
        </p:txBody>
      </p:sp>
      <p:sp>
        <p:nvSpPr>
          <p:cNvPr id="9" name="TextBox 8"/>
          <p:cNvSpPr txBox="1"/>
          <p:nvPr/>
        </p:nvSpPr>
        <p:spPr>
          <a:xfrm>
            <a:off x="1097280" y="4617720"/>
            <a:ext cx="10058400" cy="640080"/>
          </a:xfrm>
          <a:prstGeom prst="rect">
            <a:avLst/>
          </a:prstGeom>
          <a:noFill/>
        </p:spPr>
        <p:txBody>
          <a:bodyPr wrap="square" anchor="t" lIns="0" rIns="0" tIns="0" bIns="0">
            <a:spAutoFit/>
          </a:bodyPr>
          <a:lstStyle/>
          <a:p>
            <a:pPr algn="l">
              <a:spcAft>
                <a:spcPts val="900"/>
              </a:spcAft>
            </a:pPr>
            <a:r>
              <a:rPr sz="2000" b="0" i="0">
                <a:solidFill>
                  <a:srgbClr val="1C1B19"/>
                </a:solidFill>
                <a:latin typeface="Inter Tight"/>
              </a:rPr>
              <a:t>https://rmwtoolkit.github.io/bcds-toolkit/headwinds-and-tailwinds-high-school.html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