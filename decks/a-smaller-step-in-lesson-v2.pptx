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presenters and why you're here: teachers have asked what to say in real time when a student wants to postpone, skip or leave. Something like: "You see this every week. Today is about what to say in the moment, and why it matters more than it looks."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writing, then a few volunteers share the request and their answer (not the student). Expect: retake the test, extend the deadline, go to the nurse, skip the presentation, check it again. Most teachers said yes, kindly. Say that out loud: it was a caring answer. Today adds another option.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Draw the loop. Lyons and Reid Wilson describe anxiety as wanting two things, certainty and comfort. Postponing, skipping, leaving and checking again deliver both, right away. The relief is real, and it teaches the brain the test was a threat. Next time the alarm goes off earlier and louder. The goal isn't to get rid of worry. It's to help a student step into a little uncertainty and discomfort, and find out they can handle it. Ask: "Where have you seen this loop grow over a semester?"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Walk through each. Merikangas: anxiety is the most common mental health problem in teens. Lebowitz 2013: accommodation is nearly universal among parents of anxious kids, and it tracks with severity. Lebowitz 2020 (the SPACE trial, 124 children): parents learned to reduce accommodation and use supportive statements, and kids improved as much as with CBT. CAMS: gradual exposure is the core of the therapy that works. The teacher version of this is the smaller step. Say clearly that teachers are not doing therapy; they're making the everyday step small enough to 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Go back to the opening cards. Ask teachers to sort their own answer: smaller step in, or way out? No sharing needed. Then the key line: accommodations written into a learning plan stay as written. This is about the extra, in-the-moment requests. And a real illness is always a yes.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This is the supportive statement from the SPACE research: acceptance plus confidence. "Don't worry" argues with the feeling. "Just do it" skips it. Pairs practice: one reads a request from their card, the other answers in two parts, in their own words. Switch. An "of course" helps too: "Of course you're nervous. It's a test." Normal, expected, manageable.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Learning support leads this one. Each answer keeps the student in the task with a smaller first step and a plan to come back. The nurse request: a real illness is always a yes; the pattern of leaving right before the hard part is what gets the smaller step. Reassurance: answering the same question five times is accommodation, so answer once and hand the certainty back. Panic: name the body's alarm, slow breath out, and return. The return is the most important part.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These work for the whole room, so no student gets singled out. Ramirez and Beilock: expressive writing seems to clear worry out of working memory. Jamieson: reappraising arousal as helpful. Brooks: it's easier to shift from anxious to excited than to calm. Practical version: a short writing prompt before a test, and the line "That racing heart is your body getting ready to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One card per group, two-part answer plus a smaller step. Jayden: "Of course you're nervous, and you've studied more than you think. Take it tomorrow; start with the section you know best." A third request is also a pattern worth a word with the counseling team and learning support. Priya: "Read it to me at the end of class, then we'll try the group next week." Sam: answer once, then "Do the next two on your own and I'll look at all three." Ask: "What would the family hear about this, and how would you say it?" The two parts work there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Invite, don't assign. Point to the faculty quick reference on this slide: the loop, the two parts, the six requests, whole-room moves, and when to bring in the counseling team and learning support (avoidance spreading to other classes, missing school to avoid tests, panic that keeps coming back, or a student who seems low for weeks).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 Smaller Step 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45 minutes (30-minute version below)  ·  Led by counseling and learning support  ·  Middle and Upper School, any subject</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Teachers leave able to spot the difference between supporting an anxious student and helping them avoid, with a two-part phrase for the moment and a smaller-step move for the requests they hear most: postpone the test, skip the assignment, leave the room, check it one more time.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teacher</a:t>
            </a:r>
          </a:p>
          <a:p>
            <a:pPr algn="l">
              <a:spcAft>
                <a:spcPts val="675"/>
              </a:spcAft>
            </a:pPr>
            <a:r>
              <a:rPr sz="1500" b="0" i="0">
                <a:solidFill>
                  <a:srgbClr val="1C1B19"/>
                </a:solidFill>
                <a:latin typeface="Source Serif 4"/>
              </a:rPr>
              <a:t>The faculty quick reference (last slide), printed or linked</a:t>
            </a:r>
          </a:p>
          <a:p>
            <a:pPr algn="l">
              <a:spcAft>
                <a:spcPts val="675"/>
              </a:spcAft>
            </a:pPr>
            <a:r>
              <a:rPr sz="1500" b="0" i="0">
                <a:solidFill>
                  <a:srgbClr val="1C1B19"/>
                </a:solidFill>
                <a:latin typeface="Source Serif 4"/>
              </a:rPr>
              <a:t>Board space for the avoidance loop</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Opening: the last request to get out of something (private cards)</a:t>
            </a:r>
          </a:p>
          <a:p>
            <a:pPr algn="l">
              <a:spcAft>
                <a:spcPts val="630"/>
              </a:spcAft>
            </a:pPr>
            <a:r>
              <a:rPr sz="1300" b="1" i="0">
                <a:solidFill>
                  <a:srgbClr val="F47B20"/>
                </a:solidFill>
                <a:latin typeface="Inter Tight"/>
              </a:rPr>
              <a:t>5 min   </a:t>
            </a:r>
            <a:r>
              <a:rPr sz="1400" b="0" i="0">
                <a:solidFill>
                  <a:srgbClr val="1C1B19"/>
                </a:solidFill>
                <a:latin typeface="Source Serif 4"/>
              </a:rPr>
              <a:t>What anxiety wants, and the loop it runs on</a:t>
            </a:r>
          </a:p>
          <a:p>
            <a:pPr algn="l">
              <a:spcAft>
                <a:spcPts val="630"/>
              </a:spcAft>
            </a:pPr>
            <a:r>
              <a:rPr sz="1300" b="1" i="0">
                <a:solidFill>
                  <a:srgbClr val="F47B20"/>
                </a:solidFill>
                <a:latin typeface="Inter Tight"/>
              </a:rPr>
              <a:t>7 min   </a:t>
            </a:r>
            <a:r>
              <a:rPr sz="1400" b="0" i="0">
                <a:solidFill>
                  <a:srgbClr val="1C1B19"/>
                </a:solidFill>
                <a:latin typeface="Source Serif 4"/>
              </a:rPr>
              <a:t>The research on avoidance and accommodation</a:t>
            </a:r>
          </a:p>
          <a:p>
            <a:pPr algn="l">
              <a:spcAft>
                <a:spcPts val="630"/>
              </a:spcAft>
            </a:pPr>
            <a:r>
              <a:rPr sz="1300" b="1" i="0">
                <a:solidFill>
                  <a:srgbClr val="F47B20"/>
                </a:solidFill>
                <a:latin typeface="Inter Tight"/>
              </a:rPr>
              <a:t>5 min   </a:t>
            </a:r>
            <a:r>
              <a:rPr sz="1400" b="0" i="0">
                <a:solidFill>
                  <a:srgbClr val="1C1B19"/>
                </a:solidFill>
                <a:latin typeface="Source Serif 4"/>
              </a:rPr>
              <a:t>Support or accommodation?</a:t>
            </a:r>
          </a:p>
          <a:p>
            <a:pPr algn="l">
              <a:spcAft>
                <a:spcPts val="630"/>
              </a:spcAft>
            </a:pPr>
            <a:r>
              <a:rPr sz="1300" b="1" i="0">
                <a:solidFill>
                  <a:srgbClr val="F47B20"/>
                </a:solidFill>
                <a:latin typeface="Inter Tight"/>
              </a:rPr>
              <a:t>5 min   </a:t>
            </a:r>
            <a:r>
              <a:rPr sz="1400" b="0" i="0">
                <a:solidFill>
                  <a:srgbClr val="1C1B19"/>
                </a:solidFill>
                <a:latin typeface="Source Serif 4"/>
              </a:rPr>
              <a:t>Say it in two parts (practice in pairs)</a:t>
            </a:r>
          </a:p>
          <a:p>
            <a:pPr algn="l">
              <a:spcAft>
                <a:spcPts val="630"/>
              </a:spcAft>
            </a:pPr>
            <a:r>
              <a:rPr sz="1300" b="1" i="0">
                <a:solidFill>
                  <a:srgbClr val="F47B20"/>
                </a:solidFill>
                <a:latin typeface="Inter Tight"/>
              </a:rPr>
              <a:t>6 min   </a:t>
            </a:r>
            <a:r>
              <a:rPr sz="1400" b="0" i="0">
                <a:solidFill>
                  <a:srgbClr val="1C1B19"/>
                </a:solidFill>
                <a:latin typeface="Source Serif 4"/>
              </a:rPr>
              <a:t>Six requests, six smaller steps</a:t>
            </a:r>
          </a:p>
          <a:p>
            <a:pPr algn="l">
              <a:spcAft>
                <a:spcPts val="630"/>
              </a:spcAft>
            </a:pPr>
            <a:r>
              <a:rPr sz="1300" b="1" i="0">
                <a:solidFill>
                  <a:srgbClr val="F47B20"/>
                </a:solidFill>
                <a:latin typeface="Inter Tight"/>
              </a:rPr>
              <a:t>4 min   </a:t>
            </a:r>
            <a:r>
              <a:rPr sz="1400" b="0" i="0">
                <a:solidFill>
                  <a:srgbClr val="1C1B19"/>
                </a:solidFill>
                <a:latin typeface="Source Serif 4"/>
              </a:rPr>
              <a:t>Three in-the-moment tools with research behind them</a:t>
            </a:r>
          </a:p>
          <a:p>
            <a:pPr algn="l">
              <a:spcAft>
                <a:spcPts val="630"/>
              </a:spcAft>
            </a:pPr>
            <a:r>
              <a:rPr sz="1300" b="1" i="0">
                <a:solidFill>
                  <a:srgbClr val="F47B20"/>
                </a:solidFill>
                <a:latin typeface="Inter Tight"/>
              </a:rPr>
              <a:t>5 min   </a:t>
            </a:r>
            <a:r>
              <a:rPr sz="1400" b="0" i="0">
                <a:solidFill>
                  <a:srgbClr val="1C1B19"/>
                </a:solidFill>
                <a:latin typeface="Source Serif 4"/>
              </a:rPr>
              <a:t>Three students (small groups)</a:t>
            </a:r>
          </a:p>
          <a:p>
            <a:pPr algn="l">
              <a:spcAft>
                <a:spcPts val="630"/>
              </a:spcAft>
            </a:pPr>
            <a:r>
              <a:rPr sz="1300" b="1" i="0">
                <a:solidFill>
                  <a:srgbClr val="F47B20"/>
                </a:solidFill>
                <a:latin typeface="Inter Tight"/>
              </a:rPr>
              <a:t>3 min   </a:t>
            </a:r>
            <a:r>
              <a:rPr sz="1400" b="0" i="0">
                <a:solidFill>
                  <a:srgbClr val="1C1B19"/>
                </a:solidFill>
                <a:latin typeface="Source Serif 4"/>
              </a:rPr>
              <a:t>One phrase this week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Thirty minutes: the opening card (3), what anxiety wants and the loop (5), the research (5), say it in two parts (5), six requests (6), three students with one card per group (4), one phrase this week (2). Share the faculty quick reference afterward.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Two presenters, one voice.</a:t>
            </a:r>
          </a:p>
          <a:p>
            <a:pPr algn="l">
              <a:spcAft>
                <a:spcPts val="585"/>
              </a:spcAft>
            </a:pPr>
            <a:r>
              <a:rPr sz="1300" b="0" i="0">
                <a:solidFill>
                  <a:srgbClr val="1C1B19"/>
                </a:solidFill>
                <a:latin typeface="Source Serif 4"/>
              </a:rPr>
              <a:t>A natural split: the counselor or psychologist presents what anxiety wants, the loop, and the accommodation research; learning support presents the requests, the smaller steps, and how they fit with learning plans.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here is doing it wrong.</a:t>
            </a:r>
          </a:p>
          <a:p>
            <a:pPr algn="l">
              <a:spcAft>
                <a:spcPts val="585"/>
              </a:spcAft>
            </a:pPr>
            <a:r>
              <a:rPr sz="1300" b="0" i="0">
                <a:solidFill>
                  <a:srgbClr val="1C1B19"/>
                </a:solidFill>
                <a:latin typeface="Source Serif 4"/>
              </a:rPr>
              <a:t>Letting a scared student postpone a test is a kind thing to do, and most teachers have done it. Say so. The talk adds a second option, not a verdict on the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clear about learning plans.</a:t>
            </a:r>
          </a:p>
          <a:p>
            <a:pPr algn="l">
              <a:spcAft>
                <a:spcPts val="585"/>
              </a:spcAft>
            </a:pPr>
            <a:r>
              <a:rPr sz="1300" b="0" i="0">
                <a:solidFill>
                  <a:srgbClr val="1C1B19"/>
                </a:solidFill>
                <a:latin typeface="Source Serif 4"/>
              </a:rPr>
              <a:t>Accommodations written into a student's learning plan stay exactly as written. This talk is about the extra, in-the-moment requests. Expect this question early and answer it plainly.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real illness a yes.</a:t>
            </a:r>
          </a:p>
          <a:p>
            <a:pPr algn="l">
              <a:spcAft>
                <a:spcPts val="585"/>
              </a:spcAft>
            </a:pPr>
            <a:r>
              <a:rPr sz="1300" b="0" i="0">
                <a:solidFill>
                  <a:srgbClr val="1C1B19"/>
                </a:solidFill>
                <a:latin typeface="Source Serif 4"/>
              </a:rPr>
              <a:t>A student who is sick goes to the nurse. The smaller-step moves are for the pattern of asking to leave right before the hard part.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Lynn Lyons, in her words.</a:t>
            </a:r>
          </a:p>
          <a:p>
            <a:pPr algn="l">
              <a:spcAft>
                <a:spcPts val="585"/>
              </a:spcAft>
            </a:pPr>
            <a:r>
              <a:rPr sz="1300" b="0" i="0">
                <a:solidFill>
                  <a:srgbClr val="1C1B19"/>
                </a:solidFill>
                <a:latin typeface="Source Serif 4"/>
              </a:rPr>
              <a:t>Teachers may know her books or podcast. Present her framework (anxiety wants certainty and comfort, and avoidance feeds it) as hers, and the trial data as the research that backs it 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room for a teacher's own anxiety.</a:t>
            </a:r>
          </a:p>
          <a:p>
            <a:pPr algn="l">
              <a:spcAft>
                <a:spcPts val="585"/>
              </a:spcAft>
            </a:pPr>
            <a:r>
              <a:rPr sz="1300" b="0" i="0">
                <a:solidFill>
                  <a:srgbClr val="1C1B19"/>
                </a:solidFill>
                <a:latin typeface="Source Serif 4"/>
              </a:rPr>
              <a:t>Some people in the room live with anxiety themselves or have an anxious child at home. Keep examples about students and keep the tone warm.</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Anxiety looks different.</a:t>
            </a:r>
          </a:p>
          <a:p>
            <a:pPr algn="l">
              <a:spcAft>
                <a:spcPts val="585"/>
              </a:spcAft>
            </a:pPr>
            <a:r>
              <a:rPr sz="1300" b="0" i="0">
                <a:solidFill>
                  <a:srgbClr val="1C1B19"/>
                </a:solidFill>
                <a:latin typeface="Source Serif 4"/>
              </a:rPr>
              <a:t>It can show up as stomachaches, anger, joking, perfectionism or a quiet student who never asks. Boys and students of color are often read as defiant when they're anxious. Name that early.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Real worries.</a:t>
            </a:r>
          </a:p>
          <a:p>
            <a:pPr algn="l">
              <a:spcAft>
                <a:spcPts val="585"/>
              </a:spcAft>
            </a:pPr>
            <a:r>
              <a:rPr sz="1300" b="0" i="0">
                <a:solidFill>
                  <a:srgbClr val="1C1B19"/>
                </a:solidFill>
                <a:latin typeface="Source Serif 4"/>
              </a:rPr>
              <a:t>Some students are anxious about real things: money at home, a family member's immigration status, discrimination at school. A smaller step still helps in class, and the real problem goes to the counseling team.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views of worry.</a:t>
            </a:r>
          </a:p>
          <a:p>
            <a:pPr algn="l">
              <a:spcAft>
                <a:spcPts val="585"/>
              </a:spcAft>
            </a:pPr>
            <a:r>
              <a:rPr sz="1300" b="0" i="0">
                <a:solidFill>
                  <a:srgbClr val="1C1B19"/>
                </a:solidFill>
                <a:latin typeface="Source Serif 4"/>
              </a:rPr>
              <a:t>Some families see anxiety as weakness or keep it private; others are anxious themselves and ask the school to remove every stressor. When talking with families, use the same two parts: the worry makes sense, and we're confident in your child.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For students with ADHD or autism, anxiety often overlaps with sensory overload or unclear instructions. Check the learning plan first; predictability helps everyone.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presenting.</a:t>
            </a:r>
          </a:p>
          <a:p>
            <a:pPr algn="l">
              <a:spcAft>
                <a:spcPts val="585"/>
              </a:spcAft>
            </a:pPr>
            <a:r>
              <a:rPr sz="1300" b="0" i="0">
                <a:solidFill>
                  <a:srgbClr val="1C1B19"/>
                </a:solidFill>
                <a:latin typeface="Source Serif 4"/>
              </a:rPr>
              <a:t>Students learning English may dread speaking in front of the class for reasons beyond anxiety. Offer the same smaller steps: present to you, then a small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Locker rooms, partner choices and being called on by name can carry extra worry for LGBTQ+ students. Some avoidance is about safety, not anxiety. Ask privately before you treat it as an exposure step.</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Anxiety wants certainty and comfort. Avoiding the feared thing brings quick relief and teaches the worry the situation was dangerous, so it grows. The goal is to step into uncertainty and discomfort, a little at a time.</a:t>
            </a:r>
          </a:p>
          <a:p>
            <a:pPr algn="l">
              <a:spcAft>
                <a:spcPts val="585"/>
              </a:spcAft>
            </a:pPr>
            <a:r>
              <a:rPr sz="1050" b="0" i="0">
                <a:solidFill>
                  <a:srgbClr val="5D5A54"/>
                </a:solidFill>
                <a:latin typeface="Inter Tight"/>
              </a:rPr>
              <a:t>Lyons and Wilson, Anxious Kids, Anxious Parents, 2013; Wilson and Lyons, Playing with Anxiety, 2013</a:t>
            </a:r>
          </a:p>
          <a:p>
            <a:pPr algn="l">
              <a:spcAft>
                <a:spcPts val="585"/>
              </a:spcAft>
            </a:pPr>
            <a:r>
              <a:rPr sz="1300" b="0" i="0">
                <a:solidFill>
                  <a:srgbClr val="1C1B19"/>
                </a:solidFill>
                <a:latin typeface="Source Serif 4"/>
              </a:rPr>
              <a:t>About 1 in 3 U.S. teens (31.9%) met criteria for an anxiety disorder at some point by age 18.</a:t>
            </a:r>
          </a:p>
          <a:p>
            <a:pPr algn="l">
              <a:spcAft>
                <a:spcPts val="585"/>
              </a:spcAft>
            </a:pPr>
            <a:r>
              <a:rPr sz="1050" b="0" i="0">
                <a:solidFill>
                  <a:srgbClr val="5D5A54"/>
                </a:solidFill>
                <a:latin typeface="Inter Tight"/>
              </a:rPr>
              <a:t>Merikangas et al., Journal of the American Academy of Child and Adolescent Psychiatry, 2010</a:t>
            </a:r>
          </a:p>
          <a:p>
            <a:pPr algn="l">
              <a:spcAft>
                <a:spcPts val="585"/>
              </a:spcAft>
            </a:pPr>
            <a:r>
              <a:rPr sz="1300" b="0" i="0">
                <a:solidFill>
                  <a:srgbClr val="1C1B19"/>
                </a:solidFill>
                <a:latin typeface="Source Serif 4"/>
              </a:rPr>
              <a:t>Nearly all parents of anxious children reported accommodating their child's anxiety, and more accommodation went with more severe anxiety.</a:t>
            </a:r>
          </a:p>
          <a:p>
            <a:pPr algn="l">
              <a:spcAft>
                <a:spcPts val="585"/>
              </a:spcAft>
            </a:pPr>
            <a:r>
              <a:rPr sz="1050" b="0" i="0">
                <a:solidFill>
                  <a:srgbClr val="5D5A54"/>
                </a:solidFill>
                <a:latin typeface="Inter Tight"/>
              </a:rPr>
              <a:t>Lebowitz et al., Depression and Anxiety, 2013</a:t>
            </a:r>
          </a:p>
          <a:p>
            <a:pPr algn="l">
              <a:spcAft>
                <a:spcPts val="585"/>
              </a:spcAft>
            </a:pPr>
            <a:r>
              <a:rPr sz="1300" b="0" i="0">
                <a:solidFill>
                  <a:srgbClr val="1C1B19"/>
                </a:solidFill>
                <a:latin typeface="Source Serif 4"/>
              </a:rPr>
              <a:t>In a trial with 124 anxious children, a program that taught parents to cut back accommodation and use supportive statements worked as well as cognitive behavioral therapy given to the child.</a:t>
            </a:r>
          </a:p>
          <a:p>
            <a:pPr algn="l">
              <a:spcAft>
                <a:spcPts val="585"/>
              </a:spcAft>
            </a:pPr>
            <a:r>
              <a:rPr sz="1050" b="0" i="0">
                <a:solidFill>
                  <a:srgbClr val="5D5A54"/>
                </a:solidFill>
                <a:latin typeface="Inter Tight"/>
              </a:rPr>
              <a:t>Lebowitz et al., Journal of the American Academy of Child and Adolescent Psychiatry, 2020 (SPACE)</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the largest trial of treatments for anxious children and teens, therapy built on gradual exposure helped 60%, medication 55%, both together 81%, and placebo 24%.</a:t>
            </a:r>
          </a:p>
          <a:p>
            <a:pPr algn="l">
              <a:spcAft>
                <a:spcPts val="585"/>
              </a:spcAft>
            </a:pPr>
            <a:r>
              <a:rPr sz="1050" b="0" i="0">
                <a:solidFill>
                  <a:srgbClr val="5D5A54"/>
                </a:solidFill>
                <a:latin typeface="Inter Tight"/>
              </a:rPr>
              <a:t>Walkup et al., New England Journal of Medicine, 2008 (CAMS)</a:t>
            </a:r>
          </a:p>
          <a:p>
            <a:pPr algn="l">
              <a:spcAft>
                <a:spcPts val="585"/>
              </a:spcAft>
            </a:pPr>
            <a:r>
              <a:rPr sz="1300" b="0" i="0">
                <a:solidFill>
                  <a:srgbClr val="1C1B19"/>
                </a:solidFill>
                <a:latin typeface="Source Serif 4"/>
              </a:rPr>
              <a:t>Anxious students who spent ten minutes writing about their worries right before an exam scored higher than those who didn't.</a:t>
            </a:r>
          </a:p>
          <a:p>
            <a:pPr algn="l">
              <a:spcAft>
                <a:spcPts val="585"/>
              </a:spcAft>
            </a:pPr>
            <a:r>
              <a:rPr sz="1050" b="0" i="0">
                <a:solidFill>
                  <a:srgbClr val="5D5A54"/>
                </a:solidFill>
                <a:latin typeface="Inter Tight"/>
              </a:rPr>
              <a:t>Ramirez and Beilock, Science, 2011</a:t>
            </a:r>
          </a:p>
          <a:p>
            <a:pPr algn="l">
              <a:spcAft>
                <a:spcPts val="585"/>
              </a:spcAft>
            </a:pPr>
            <a:r>
              <a:rPr sz="1300" b="0" i="0">
                <a:solidFill>
                  <a:srgbClr val="1C1B19"/>
                </a:solidFill>
                <a:latin typeface="Source Serif 4"/>
              </a:rPr>
              <a:t>Students told that a racing heart can help performance scored higher on GRE math practice than students who weren't.</a:t>
            </a:r>
          </a:p>
          <a:p>
            <a:pPr algn="l">
              <a:spcAft>
                <a:spcPts val="585"/>
              </a:spcAft>
            </a:pPr>
            <a:r>
              <a:rPr sz="1050" b="0" i="0">
                <a:solidFill>
                  <a:srgbClr val="5D5A54"/>
                </a:solidFill>
                <a:latin typeface="Inter Tight"/>
              </a:rPr>
              <a:t>Jamieson et al., Journal of Experimental Social Psychology, 2010</a:t>
            </a:r>
          </a:p>
          <a:p>
            <a:pPr algn="l">
              <a:spcAft>
                <a:spcPts val="585"/>
              </a:spcAft>
            </a:pPr>
            <a:r>
              <a:rPr sz="1300" b="0" i="0">
                <a:solidFill>
                  <a:srgbClr val="1C1B19"/>
                </a:solidFill>
                <a:latin typeface="Source Serif 4"/>
              </a:rPr>
              <a:t>Saying "I am excited" before a speech, a math test or singing improved performance over trying to calm down.</a:t>
            </a:r>
          </a:p>
          <a:p>
            <a:pPr algn="l">
              <a:spcAft>
                <a:spcPts val="585"/>
              </a:spcAft>
            </a:pPr>
            <a:r>
              <a:rPr sz="1050" b="0" i="0">
                <a:solidFill>
                  <a:srgbClr val="5D5A54"/>
                </a:solidFill>
                <a:latin typeface="Inter Tight"/>
              </a:rPr>
              <a:t>Brooks, Journal of Experimental Psychology: General, 2014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SMALLER STEP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A Smaller Step In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Helping an anxious student in the moment: the test, the assignment, the exit.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the last time a student asked to get out of something. What did you say?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card, no names. Keep it; we'll come back to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ANXIETY WANTS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Certainty and comfort. Right now.</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Worry</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Ask for a way out</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Relief</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Worry learns it was dangerous</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Bigger next time</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Lynn Lyons's point: every way out works today and grows the worry for tomorrow.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Merikangas et al., 2010  ·  Lebowitz et al., 2013, 2020  ·  Walkup et al., 2008</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Avoid less, don't worry less.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About 1 in 3 teens meets criteria for an anxiety disorder by 18.</a:t>
            </a:r>
          </a:p>
          <a:p>
            <a:pPr algn="l">
              <a:spcAft>
                <a:spcPts val="855"/>
              </a:spcAft>
            </a:pPr>
            <a:r>
              <a:rPr sz="1900" b="0" i="0">
                <a:solidFill>
                  <a:srgbClr val="1C1B19"/>
                </a:solidFill>
                <a:latin typeface="Source Serif 4"/>
              </a:rPr>
              <a:t>•  Nearly all parents of anxious kids accommodate, and more goes with worse anxiety.</a:t>
            </a:r>
          </a:p>
          <a:p>
            <a:pPr algn="l">
              <a:spcAft>
                <a:spcPts val="855"/>
              </a:spcAft>
            </a:pPr>
            <a:r>
              <a:rPr sz="1900" b="0" i="0">
                <a:solidFill>
                  <a:srgbClr val="1C1B19"/>
                </a:solidFill>
                <a:latin typeface="Source Serif 4"/>
              </a:rPr>
              <a:t>•  Teaching parents to cut back accommodation worked as well as therapy for the child.</a:t>
            </a:r>
          </a:p>
          <a:p>
            <a:pPr algn="l">
              <a:spcAft>
                <a:spcPts val="855"/>
              </a:spcAft>
            </a:pPr>
            <a:r>
              <a:rPr sz="1900" b="0" i="0">
                <a:solidFill>
                  <a:srgbClr val="1C1B19"/>
                </a:solidFill>
                <a:latin typeface="Source Serif 4"/>
              </a:rPr>
              <a:t>•  Exposure-based therapy helped 60% of anxious kids; with medication, 81%.</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Small, steady steps toward the hard thing are the treatment. Your classroom is full of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SUPPORT OR ACCOMMODATION?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Both are kind. Only one shrinks the worry.</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SMALLER STEP IN</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Shrinks the task, keeps the student in it</a:t>
            </a:r>
          </a:p>
          <a:p>
            <a:pPr algn="l">
              <a:spcAft>
                <a:spcPts val="855"/>
              </a:spcAft>
            </a:pPr>
            <a:r>
              <a:rPr sz="1900" b="0" i="0">
                <a:solidFill>
                  <a:srgbClr val="1C1B19"/>
                </a:solidFill>
                <a:latin typeface="Source Serif 4"/>
              </a:rPr>
              <a:t>Sets a time to come back</a:t>
            </a:r>
          </a:p>
          <a:p>
            <a:pPr algn="l">
              <a:spcAft>
                <a:spcPts val="855"/>
              </a:spcAft>
            </a:pPr>
            <a:r>
              <a:rPr sz="1900" b="0" i="0">
                <a:solidFill>
                  <a:srgbClr val="1C1B19"/>
                </a:solidFill>
                <a:latin typeface="Source Serif 4"/>
              </a:rPr>
              <a:t>Says the worry makes sense</a:t>
            </a:r>
          </a:p>
          <a:p>
            <a:pPr algn="l">
              <a:spcAft>
                <a:spcPts val="855"/>
              </a:spcAft>
            </a:pPr>
            <a:r>
              <a:rPr sz="1900" b="0" i="0">
                <a:solidFill>
                  <a:srgbClr val="1C1B19"/>
                </a:solidFill>
                <a:latin typeface="Source Serif 4"/>
              </a:rPr>
              <a:t>Shows you think they can do it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WAY OUT</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Removes the task or the deadline</a:t>
            </a:r>
          </a:p>
          <a:p>
            <a:pPr algn="l">
              <a:spcAft>
                <a:spcPts val="855"/>
              </a:spcAft>
            </a:pPr>
            <a:r>
              <a:rPr sz="1900" b="0" i="0">
                <a:solidFill>
                  <a:srgbClr val="1C1B19"/>
                </a:solidFill>
                <a:latin typeface="Source Serif 4"/>
              </a:rPr>
              <a:t>Answers the same worry again and again</a:t>
            </a:r>
          </a:p>
          <a:p>
            <a:pPr algn="l">
              <a:spcAft>
                <a:spcPts val="855"/>
              </a:spcAft>
            </a:pPr>
            <a:r>
              <a:rPr sz="1900" b="0" i="0">
                <a:solidFill>
                  <a:srgbClr val="1C1B19"/>
                </a:solidFill>
                <a:latin typeface="Source Serif 4"/>
              </a:rPr>
              <a:t>Lets the student leave and not return</a:t>
            </a:r>
          </a:p>
          <a:p>
            <a:pPr algn="l">
              <a:spcAft>
                <a:spcPts val="855"/>
              </a:spcAft>
            </a:pPr>
            <a:r>
              <a:rPr sz="1900" b="0" i="0">
                <a:solidFill>
                  <a:srgbClr val="1C1B19"/>
                </a:solidFill>
                <a:latin typeface="Source Serif 4"/>
              </a:rPr>
              <a:t>Says "don't worry" or "just do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SAY IT IN TWO PARTS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Accept the feeling. Then show confidence.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"This feels really hard right now. And I know you can handle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A STUDENT ASKS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Six requests, six smaller steps</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 I take the test another day?"</a:t>
            </a:r>
          </a:p>
          <a:p>
            <a:pPr algn="l">
              <a:spcAft>
                <a:spcPts val="945"/>
              </a:spcAft>
            </a:pPr>
            <a:r>
              <a:rPr sz="1600" b="0" i="0">
                <a:solidFill>
                  <a:srgbClr val="5D5A54"/>
                </a:solidFill>
                <a:latin typeface="Source Serif 4"/>
              </a:rPr>
              <a:t>Start with the questions you know. I'll check in after page one.</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 I skip this assignment?"</a:t>
            </a:r>
          </a:p>
          <a:p>
            <a:pPr algn="l">
              <a:spcAft>
                <a:spcPts val="945"/>
              </a:spcAft>
            </a:pPr>
            <a:r>
              <a:rPr sz="1600" b="0" i="0">
                <a:solidFill>
                  <a:srgbClr val="5D5A54"/>
                </a:solidFill>
                <a:latin typeface="Source Serif 4"/>
              </a:rPr>
              <a:t>Keep the work, shrink today's piece.</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 I go to the nurse?" before the hard part</a:t>
            </a:r>
          </a:p>
          <a:p>
            <a:pPr algn="l">
              <a:spcAft>
                <a:spcPts val="945"/>
              </a:spcAft>
            </a:pPr>
            <a:r>
              <a:rPr sz="1600" b="0" i="0">
                <a:solidFill>
                  <a:srgbClr val="5D5A54"/>
                </a:solidFill>
                <a:latin typeface="Source Serif 4"/>
              </a:rPr>
              <a:t>Yes, after your first sentence. Or go, and come back in five.</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can't present in front of everyone."</a:t>
            </a:r>
          </a:p>
          <a:p>
            <a:pPr algn="l">
              <a:spcAft>
                <a:spcPts val="945"/>
              </a:spcAft>
            </a:pPr>
            <a:r>
              <a:rPr sz="1600" b="0" i="0">
                <a:solidFill>
                  <a:srgbClr val="5D5A54"/>
                </a:solidFill>
                <a:latin typeface="Source Serif 4"/>
              </a:rPr>
              <a:t>Present to me, then a small group, then the class.</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this right? Can you check again?"</a:t>
            </a:r>
          </a:p>
          <a:p>
            <a:pPr algn="l">
              <a:spcAft>
                <a:spcPts val="945"/>
              </a:spcAft>
            </a:pPr>
            <a:r>
              <a:rPr sz="1600" b="0" i="0">
                <a:solidFill>
                  <a:srgbClr val="5D5A54"/>
                </a:solidFill>
                <a:latin typeface="Source Serif 4"/>
              </a:rPr>
              <a:t>Answer once. Then: best guess, keep going.</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6</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Freezes, tears, a racing heart</a:t>
            </a:r>
          </a:p>
          <a:p>
            <a:pPr algn="l">
              <a:spcAft>
                <a:spcPts val="945"/>
              </a:spcAft>
            </a:pPr>
            <a:r>
              <a:rPr sz="1600" b="0" i="0">
                <a:solidFill>
                  <a:srgbClr val="5D5A54"/>
                </a:solidFill>
                <a:latin typeface="Source Serif 4"/>
              </a:rPr>
              <a:t>"Your alarm went off. It will pass." Two minutes, then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IN THE MOMENT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Ramirez and Beilock, 2011  ·  Jamieson et al., 2010  ·  Brooks, 2014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Three quick tools with evidence behind them.</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Ten minutes writing about worries before an exam raised anxious students' scores.</a:t>
            </a:r>
          </a:p>
          <a:p>
            <a:pPr algn="l">
              <a:spcAft>
                <a:spcPts val="855"/>
              </a:spcAft>
            </a:pPr>
            <a:r>
              <a:rPr sz="1900" b="0" i="0">
                <a:solidFill>
                  <a:srgbClr val="1C1B19"/>
                </a:solidFill>
                <a:latin typeface="Source Serif 4"/>
              </a:rPr>
              <a:t>•  Hearing that a racing heart helps performance raised math scores.</a:t>
            </a:r>
          </a:p>
          <a:p>
            <a:pPr algn="l">
              <a:spcAft>
                <a:spcPts val="855"/>
              </a:spcAft>
            </a:pPr>
            <a:r>
              <a:rPr sz="1900" b="0" i="0">
                <a:solidFill>
                  <a:srgbClr val="1C1B19"/>
                </a:solidFill>
                <a:latin typeface="Source Serif 4"/>
              </a:rPr>
              <a:t>•  "I am excited" beat "calm down" before speeches and tests.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Before a big test, give everyone ten minutes to write the worry down. Then call the racing heart fuel.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say first?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JAYDEN, 10TH GRADE HISTORY</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Asks to postpone tomorrow's test for the third time this semester. "I'm just not ready."</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 8TH GRADE ENGLISH</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Is supposed to read her poem aloud. She asks to go to the nurse as her name comes up next.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SAM, 11TH GRADE CHEMISTRY</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Asks you to check every answer before moving on. Sam is almost always right.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phrase this week</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the two-part phrase you'll use. Write it on the back of your card.</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FACULTY QUICK REFERENCE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https://rmwtoolkit.github.io/bcds-toolkit/a-smaller-step-in-faculty-card.html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