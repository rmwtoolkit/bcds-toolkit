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and the next three are hidden. They stay in the deck for you and are skipped when you present.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plainly. Something like: "Today isn't about who vapes. It's about how nicotine works, because most of what people say about it is half 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Read each one; students stand for fact, sit for myth. Don't reveal yet, just notice where the room splits. Answers are on the next slide. Interactive option: let a student read the statements.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The honest answer on #4 matters: students know vapes are "less bad" than cigarettes, and admitting it earns you credibility for the rest.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Draw this on the board as you talk. Talking points: nicotine fits receptors normally used by acetylcholine and makes dopamine neurons fire within seconds. Dopamine marks "do that again," and it marks the setting too: the bathroom, the car, the friend, the after-school slump. Those cues start triggering cravings on their own. With regular use the brain adds receptors and needs nicotine to feel normal. That's dependence. The brakes (prefrontal cortex) keep maturing into the mid-20s, which is part of why teens get hooked faster. Ask: "What does a cue look like in real life?"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Anonymous cards, collected face down. Read a few aloud and stick them next to "Cue" on the board. Expect: between classes, bathrooms, before tests, in the car, after a fight, when bored. The point: the cue is part of the habit, so a plan has to cover the cue too.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This is the idea most worth leaving with. Parrott's review: dependent users feel tense as nicotine wears off, and the hit brings them back to where non-users already are. The relief is real; the stress was mostly withdrawal. Ask: "Why would that make it hard to quit?" (Because quitting feels like losing your stress relief.)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then report back. Lucas: these are signs of dependence; a quit plan (and the nurse or a counselor) beats sneaking a hit at the break. Imani: easier on the lungs, still nicotine, same loop. A parent: for an adult smoker who switches completely, vaping can reduce harm. For a teen who doesn't smoke, it only adds dependence. Same product, different decision. Keep this one respectful of parents. Families draw this line differently, and some students' families see smoking as normal. Ask: "How does your family talk about this?" only as a private reflection, never out loud.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Mention the trial numbers if students like data: 37.8% quit with the program versus 28.0% without. Also cover how to help a friend: don't lecture, offer to walk with them to the nurse, back them up when they say "I'm quitting."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anonymously. Share the take-home link on the slide (post it in your class page too). It has the main ideas, the quit steps, a private check-in, and who to talk to, including after hours.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Vaping and Your Brain</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how nicotine dependence builds (cue, hit, relief, craving), why vaping feels like stress relief, and name two real ways to get help quitting. The aim is understanding. Nobody in the room should feel caught.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Sticky notes or index cards, one stack per table</a:t>
            </a:r>
          </a:p>
          <a:p>
            <a:pPr algn="l">
              <a:spcAft>
                <a:spcPts val="675"/>
              </a:spcAft>
            </a:pPr>
            <a:r>
              <a:rPr sz="1500" b="0" i="0">
                <a:solidFill>
                  <a:srgbClr val="1C1B19"/>
                </a:solidFill>
                <a:latin typeface="Source Serif 4"/>
              </a:rPr>
              <a:t>A wall or board space for the loop</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10 min   </a:t>
            </a:r>
            <a:r>
              <a:rPr sz="1400" b="0" i="0">
                <a:solidFill>
                  <a:srgbClr val="1C1B19"/>
                </a:solidFill>
                <a:latin typeface="Source Serif 4"/>
              </a:rPr>
              <a:t>The loop: how dependence builds</a:t>
            </a:r>
          </a:p>
          <a:p>
            <a:pPr algn="l">
              <a:spcAft>
                <a:spcPts val="630"/>
              </a:spcAft>
            </a:pPr>
            <a:r>
              <a:rPr sz="1300" b="1" i="0">
                <a:solidFill>
                  <a:srgbClr val="F47B20"/>
                </a:solidFill>
                <a:latin typeface="Inter Tight"/>
              </a:rPr>
              <a:t>5 min   </a:t>
            </a:r>
            <a:r>
              <a:rPr sz="1400" b="0" i="0">
                <a:solidFill>
                  <a:srgbClr val="1C1B19"/>
                </a:solidFill>
                <a:latin typeface="Source Serif 4"/>
              </a:rPr>
              <a:t>Where the cues show up (anonymous cards)</a:t>
            </a:r>
          </a:p>
          <a:p>
            <a:pPr algn="l">
              <a:spcAft>
                <a:spcPts val="630"/>
              </a:spcAft>
            </a:pPr>
            <a:r>
              <a:rPr sz="1300" b="1" i="0">
                <a:solidFill>
                  <a:srgbClr val="F47B20"/>
                </a:solidFill>
                <a:latin typeface="Inter Tight"/>
              </a:rPr>
              <a:t>5 min   </a:t>
            </a:r>
            <a:r>
              <a:rPr sz="1400" b="0" i="0">
                <a:solidFill>
                  <a:srgbClr val="1C1B19"/>
                </a:solidFill>
                <a:latin typeface="Source Serif 4"/>
              </a:rPr>
              <a:t>The stress trap</a:t>
            </a:r>
          </a:p>
          <a:p>
            <a:pPr algn="l">
              <a:spcAft>
                <a:spcPts val="630"/>
              </a:spcAft>
            </a:pPr>
            <a:r>
              <a:rPr sz="1300" b="1" i="0">
                <a:solidFill>
                  <a:srgbClr val="F47B20"/>
                </a:solidFill>
                <a:latin typeface="Inter Tight"/>
              </a:rPr>
              <a:t>10 min   </a:t>
            </a:r>
            <a:r>
              <a:rPr sz="1400" b="0" i="0">
                <a:solidFill>
                  <a:srgbClr val="1C1B19"/>
                </a:solidFill>
                <a:latin typeface="Source Serif 4"/>
              </a:rPr>
              <a:t>Three moments (small groups)</a:t>
            </a:r>
          </a:p>
          <a:p>
            <a:pPr algn="l">
              <a:spcAft>
                <a:spcPts val="630"/>
              </a:spcAft>
            </a:pPr>
            <a:r>
              <a:rPr sz="1300" b="1" i="0">
                <a:solidFill>
                  <a:srgbClr val="F47B20"/>
                </a:solidFill>
                <a:latin typeface="Inter Tight"/>
              </a:rPr>
              <a:t>5 min   </a:t>
            </a:r>
            <a:r>
              <a:rPr sz="1400" b="0" i="0">
                <a:solidFill>
                  <a:srgbClr val="1C1B19"/>
                </a:solidFill>
                <a:latin typeface="Source Serif 4"/>
              </a:rPr>
              <a:t>What actually helps</a:t>
            </a:r>
          </a:p>
          <a:p>
            <a:pPr algn="l">
              <a:spcAft>
                <a:spcPts val="630"/>
              </a:spcAft>
            </a:pPr>
            <a:r>
              <a:rPr sz="1300" b="1" i="0">
                <a:solidFill>
                  <a:srgbClr val="F47B20"/>
                </a:solidFill>
                <a:latin typeface="Inter Tight"/>
              </a:rPr>
              <a:t>5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(5), the loop (7), one of the three moments (5), exit card (3).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all four groups are in the room.</a:t>
            </a:r>
          </a:p>
          <a:p>
            <a:pPr algn="l">
              <a:spcAft>
                <a:spcPts val="585"/>
              </a:spcAft>
            </a:pPr>
            <a:r>
              <a:rPr sz="1300" b="0" i="0">
                <a:solidFill>
                  <a:srgbClr val="1C1B19"/>
                </a:solidFill>
                <a:latin typeface="Source Serif 4"/>
              </a:rPr>
              <a:t>Students who have never tried it, students who vape now and then, students who are dependent, and students whose parent smokes or vapes. Talk to all four. Don't ask for a show of hands about anyone's use.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Keep it factual and calm.</a:t>
            </a:r>
          </a:p>
          <a:p>
            <a:pPr algn="l">
              <a:spcAft>
                <a:spcPts val="585"/>
              </a:spcAft>
            </a:pPr>
            <a:r>
              <a:rPr sz="1300" b="0" i="0">
                <a:solidFill>
                  <a:srgbClr val="1C1B19"/>
                </a:solidFill>
                <a:latin typeface="Source Serif 4"/>
              </a:rPr>
              <a:t>Teens tune out exaggeration fast, and one overstated claim can cost you the rest of the period. The real facts are strong enough on their own.</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Know your policy before class.</a:t>
            </a:r>
          </a:p>
          <a:p>
            <a:pPr algn="l">
              <a:spcAft>
                <a:spcPts val="585"/>
              </a:spcAft>
            </a:pPr>
            <a:r>
              <a:rPr sz="1300" b="0" i="0">
                <a:solidFill>
                  <a:srgbClr val="1C1B19"/>
                </a:solidFill>
                <a:latin typeface="Source Serif 4"/>
              </a:rPr>
              <a:t>If a student says "I'm hooked," thank them and say you want to get them help, not get them in trouble. Know ahead of time what your school does next, and who you'll walk them to (the nurse or a counselor).</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Watch the family angle.</a:t>
            </a:r>
          </a:p>
          <a:p>
            <a:pPr algn="l">
              <a:spcAft>
                <a:spcPts val="585"/>
              </a:spcAft>
            </a:pPr>
            <a:r>
              <a:rPr sz="1300" b="0" i="0">
                <a:solidFill>
                  <a:srgbClr val="1C1B19"/>
                </a:solidFill>
                <a:latin typeface="Source Serif 4"/>
              </a:rPr>
              <a:t>"Your dad's choice and your choice are different decisions" respects the family. Avoid anything that makes a parent sound foolish. Some students are worried about that parent.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THC comes up. Let it.</a:t>
            </a:r>
          </a:p>
          <a:p>
            <a:pPr algn="l">
              <a:spcAft>
                <a:spcPts val="585"/>
              </a:spcAft>
            </a:pPr>
            <a:r>
              <a:rPr sz="1300" b="0" i="0">
                <a:solidFill>
                  <a:srgbClr val="1C1B19"/>
                </a:solidFill>
                <a:latin typeface="Source Serif 4"/>
              </a:rPr>
              <a:t>Students may ask about weed carts. The lung injury outbreak (EVALI) was mostly tied to THC carts from informal sellers. Stick to that fact, and offer the weed lesson if your school uses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someone gets sick after vaping.</a:t>
            </a:r>
          </a:p>
          <a:p>
            <a:pPr algn="l">
              <a:spcAft>
                <a:spcPts val="585"/>
              </a:spcAft>
            </a:pPr>
            <a:r>
              <a:rPr sz="1300" b="0" i="0">
                <a:solidFill>
                  <a:srgbClr val="1C1B19"/>
                </a:solidFill>
                <a:latin typeface="Source Serif 4"/>
              </a:rPr>
              <a:t>Trouble breathing, chest pain, confusion or passing out is a 911 call. Poison Control is 1-800-222-1222. Vape liquid swallowed by a small child is poisonous.</a:t>
            </a:r>
          </a:p>
          <a:p>
            <a:pPr algn="l">
              <a:spcAft>
                <a:spcPts val="585"/>
              </a:spcAft>
            </a:pPr>
            <a:r>
              <a:rPr sz="1300" b="0" i="0">
                <a:solidFill>
                  <a:srgbClr val="1C1B19"/>
                </a:solidFill>
                <a:latin typeface="Source Serif 4"/>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Families draw different lines.</a:t>
            </a:r>
          </a:p>
          <a:p>
            <a:pPr algn="l">
              <a:spcAft>
                <a:spcPts val="585"/>
              </a:spcAft>
            </a:pPr>
            <a:r>
              <a:rPr sz="1300" b="0" i="0">
                <a:solidFill>
                  <a:srgbClr val="1C1B19"/>
                </a:solidFill>
                <a:latin typeface="Source Serif 4"/>
              </a:rPr>
              <a:t>In some homes smoking or vaping is an ordinary adult habit, sometimes tied to culture or community. In others any nicotine is off limits. Teach it as health information, never as a judgment of anyone's family.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Marketing has aimed at some groups on purpose.</a:t>
            </a:r>
          </a:p>
          <a:p>
            <a:pPr algn="l">
              <a:spcAft>
                <a:spcPts val="585"/>
              </a:spcAft>
            </a:pPr>
            <a:r>
              <a:rPr sz="1300" b="0" i="0">
                <a:solidFill>
                  <a:srgbClr val="1C1B19"/>
                </a:solidFill>
                <a:latin typeface="Source Serif 4"/>
              </a:rPr>
              <a:t>Tobacco companies have long marketed menthol heavily in Black communities, and have run campaigns aimed at LGBTQ+ young people. Naming that helps students see the target, not blame each other.</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Disclosure feels riskier for some students.</a:t>
            </a:r>
          </a:p>
          <a:p>
            <a:pPr algn="l">
              <a:spcAft>
                <a:spcPts val="585"/>
              </a:spcAft>
            </a:pPr>
            <a:r>
              <a:rPr sz="1300" b="0" i="0">
                <a:solidFill>
                  <a:srgbClr val="1C1B19"/>
                </a:solidFill>
                <a:latin typeface="Source Serif 4"/>
              </a:rPr>
              <a:t>Students from families or communities with more experience of discipline or police may fear what happens if they say "I'm hooked." Say plainly what happens next at your school.</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Some students say it helps them focus.</a:t>
            </a:r>
          </a:p>
          <a:p>
            <a:pPr algn="l">
              <a:spcAft>
                <a:spcPts val="585"/>
              </a:spcAft>
            </a:pPr>
            <a:r>
              <a:rPr sz="1300" b="0" i="0">
                <a:solidFill>
                  <a:srgbClr val="1C1B19"/>
                </a:solidFill>
                <a:latin typeface="Source Serif 4"/>
              </a:rPr>
              <a:t>Students with ADHD or anxiety sometimes describe vaping as self-medication. Take that seriously and connect them with the nurse or a counselor rather than debating it in front of the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Cost and language.</a:t>
            </a:r>
          </a:p>
          <a:p>
            <a:pPr algn="l">
              <a:spcAft>
                <a:spcPts val="585"/>
              </a:spcAft>
            </a:pPr>
            <a:r>
              <a:rPr sz="1300" b="0" i="0">
                <a:solidFill>
                  <a:srgbClr val="1C1B19"/>
                </a:solidFill>
                <a:latin typeface="Source Serif 4"/>
              </a:rPr>
              <a:t>Every support in this lesson is free (the text program, the nurse, a counselor). Some students translate health information for their family; the take-home sheet is written in plain language they can share.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"family" is.</a:t>
            </a:r>
          </a:p>
          <a:p>
            <a:pPr algn="l">
              <a:spcAft>
                <a:spcPts val="585"/>
              </a:spcAft>
            </a:pPr>
            <a:r>
              <a:rPr sz="1300" b="0" i="0">
                <a:solidFill>
                  <a:srgbClr val="1C1B19"/>
                </a:solidFill>
                <a:latin typeface="Source Serif 4"/>
              </a:rPr>
              <a:t>The parent scenario works with any adult at home: a grandparent, an aunt, a foster parent. Swap in whoever fits your students.</a:t>
            </a:r>
          </a:p>
          <a:p>
            <a:pPr algn="l">
              <a:spcAft>
                <a:spcPts val="585"/>
              </a:spcAft>
            </a:pPr>
            <a:r>
              <a:rPr sz="1300" b="0" i="0">
                <a:solidFill>
                  <a:srgbClr val="1C1B19"/>
                </a:solidFill>
                <a:latin typeface="Source Serif 4"/>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2024, 7.8% of U.S. high school students had vaped in the past 30 days, the lowest in a decade. Nicotine pouches were the second most used product.</a:t>
            </a:r>
          </a:p>
          <a:p>
            <a:pPr algn="l">
              <a:spcAft>
                <a:spcPts val="585"/>
              </a:spcAft>
            </a:pPr>
            <a:r>
              <a:rPr sz="1050" b="0" i="0">
                <a:solidFill>
                  <a:srgbClr val="5D5A54"/>
                </a:solidFill>
                <a:latin typeface="Inter Tight"/>
              </a:rPr>
              <a:t>National Youth Tobacco Survey, 2024 (Jamal et al., MMWR)</a:t>
            </a:r>
          </a:p>
          <a:p>
            <a:pPr algn="l">
              <a:spcAft>
                <a:spcPts val="585"/>
              </a:spcAft>
            </a:pPr>
            <a:r>
              <a:rPr sz="1300" b="0" i="0">
                <a:solidFill>
                  <a:srgbClr val="1C1B19"/>
                </a:solidFill>
                <a:latin typeface="Source Serif 4"/>
              </a:rPr>
              <a:t>Nicotine makes dopamine neurons fire in bursts within seconds. With regular use the brain adds nicotine receptors and needs nicotine to feel normal. Attention and impulse-control circuits are still maturing into the mid-20s.</a:t>
            </a:r>
          </a:p>
          <a:p>
            <a:pPr algn="l">
              <a:spcAft>
                <a:spcPts val="585"/>
              </a:spcAft>
            </a:pPr>
            <a:r>
              <a:rPr sz="1050" b="0" i="0">
                <a:solidFill>
                  <a:srgbClr val="5D5A54"/>
                </a:solidFill>
                <a:latin typeface="Inter Tight"/>
              </a:rPr>
              <a:t>Surgeon General's report on youth e-cigarette use, 2016</a:t>
            </a:r>
          </a:p>
          <a:p>
            <a:pPr algn="l">
              <a:spcAft>
                <a:spcPts val="585"/>
              </a:spcAft>
            </a:pPr>
            <a:r>
              <a:rPr sz="1300" b="0" i="0">
                <a:solidFill>
                  <a:srgbClr val="1C1B19"/>
                </a:solidFill>
                <a:latin typeface="Source Serif 4"/>
              </a:rPr>
              <a:t>Nicotine doesn't lower stress overall. Dependent users feel tense as it wears off, and the next dose brings them back to where non-users already are. People who quit report less stress over time.</a:t>
            </a:r>
          </a:p>
          <a:p>
            <a:pPr algn="l">
              <a:spcAft>
                <a:spcPts val="585"/>
              </a:spcAft>
            </a:pPr>
            <a:r>
              <a:rPr sz="1050" b="0" i="0">
                <a:solidFill>
                  <a:srgbClr val="5D5A54"/>
                </a:solidFill>
                <a:latin typeface="Inter Tight"/>
              </a:rPr>
              <a:t>Parrott, American Psychologist, 1999</a:t>
            </a:r>
          </a:p>
          <a:p>
            <a:pPr algn="l">
              <a:spcAft>
                <a:spcPts val="585"/>
              </a:spcAft>
            </a:pPr>
            <a:r>
              <a:rPr sz="1300" b="0" i="0">
                <a:solidFill>
                  <a:srgbClr val="1C1B19"/>
                </a:solidFill>
                <a:latin typeface="Source Serif 4"/>
              </a:rPr>
              <a:t>In a study of 681 seventh graders in central Massachusetts, 22% of those who smoked occasionally reported a dependence symptom within four weeks of starting monthly use.</a:t>
            </a:r>
          </a:p>
          <a:p>
            <a:pPr algn="l">
              <a:spcAft>
                <a:spcPts val="585"/>
              </a:spcAft>
            </a:pPr>
            <a:r>
              <a:rPr sz="1050" b="0" i="0">
                <a:solidFill>
                  <a:srgbClr val="5D5A54"/>
                </a:solidFill>
                <a:latin typeface="Inter Tight"/>
              </a:rPr>
              <a:t>DiFranza et al., Tobacco Control, 2000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Substantial evidence that e-cigarette use raises the risk that young people try cigarettes. Conclusive evidence that vape aerosol has fewer toxicants than cigarette smoke, which matters for an adult smoker who switches completely.</a:t>
            </a:r>
          </a:p>
          <a:p>
            <a:pPr algn="l">
              <a:spcAft>
                <a:spcPts val="585"/>
              </a:spcAft>
            </a:pPr>
            <a:r>
              <a:rPr sz="1050" b="0" i="0">
                <a:solidFill>
                  <a:srgbClr val="5D5A54"/>
                </a:solidFill>
                <a:latin typeface="Inter Tight"/>
              </a:rPr>
              <a:t>National Academies of Sciences, 2018</a:t>
            </a:r>
          </a:p>
          <a:p>
            <a:pPr algn="l">
              <a:spcAft>
                <a:spcPts val="585"/>
              </a:spcAft>
            </a:pPr>
            <a:r>
              <a:rPr sz="1300" b="0" i="0">
                <a:solidFill>
                  <a:srgbClr val="1C1B19"/>
                </a:solidFill>
                <a:latin typeface="Source Serif 4"/>
              </a:rPr>
              <a:t>2,807 hospitalizations and 68 deaths from EVALI in 2019 and 2020, mostly tied to vitamin E acetate in THC carts.</a:t>
            </a:r>
          </a:p>
          <a:p>
            <a:pPr algn="l">
              <a:spcAft>
                <a:spcPts val="585"/>
              </a:spcAft>
            </a:pPr>
            <a:r>
              <a:rPr sz="1050" b="0" i="0">
                <a:solidFill>
                  <a:srgbClr val="5D5A54"/>
                </a:solidFill>
                <a:latin typeface="Inter Tight"/>
              </a:rPr>
              <a:t>CDC, final update, February 2020</a:t>
            </a:r>
          </a:p>
          <a:p>
            <a:pPr algn="l">
              <a:spcAft>
                <a:spcPts val="585"/>
              </a:spcAft>
            </a:pPr>
            <a:r>
              <a:rPr sz="1300" b="0" i="0">
                <a:solidFill>
                  <a:srgbClr val="1C1B19"/>
                </a:solidFill>
                <a:latin typeface="Source Serif 4"/>
              </a:rPr>
              <a:t>In a trial with 1,503 teens who vaped, 37.8% using the This is Quitting text program had stopped seven months later, compared with 28.0% without it.</a:t>
            </a:r>
          </a:p>
          <a:p>
            <a:pPr algn="l">
              <a:spcAft>
                <a:spcPts val="585"/>
              </a:spcAft>
            </a:pPr>
            <a:r>
              <a:rPr sz="1050" b="0" i="0">
                <a:solidFill>
                  <a:srgbClr val="5D5A54"/>
                </a:solidFill>
                <a:latin typeface="Inter Tight"/>
              </a:rPr>
              <a:t>Graham et al., JAMA, 2024</a:t>
            </a:r>
          </a:p>
          <a:p>
            <a:pPr algn="l">
              <a:spcAft>
                <a:spcPts val="585"/>
              </a:spcAft>
            </a:pPr>
            <a:r>
              <a:rPr sz="1300" b="0" i="0">
                <a:solidFill>
                  <a:srgbClr val="1C1B19"/>
                </a:solidFill>
                <a:latin typeface="Source Serif 4"/>
              </a:rPr>
              <a:t>Massachusetts raised the buying age to 21 in 2018 and banned flavored vapes in 2019. Flavored disposables still arrive through illegal imports, often with no reliable label.</a:t>
            </a:r>
          </a:p>
          <a:p>
            <a:pPr algn="l">
              <a:spcAft>
                <a:spcPts val="585"/>
              </a:spcAft>
            </a:pPr>
            <a:r>
              <a:rPr sz="1050" b="0" i="0">
                <a:solidFill>
                  <a:srgbClr val="5D5A54"/>
                </a:solidFill>
                <a:latin typeface="Inter Tight"/>
              </a:rPr>
              <a:t>Massachusetts law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VAPING AND YOUR BRAIN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Vaping and Your Brain</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What nicotine does to a brain that's still building.</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Vaping relieves stress.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Nicotine pouches aren't addictive because you don't inhale them.</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Some teens show signs of dependence within weeks of starting.</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Vape aerosol has fewer toxic chemicals than cigarette smoke.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vape labeled "nicotine free" has no nicotine.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Mostly myth.</a:t>
            </a:r>
          </a:p>
          <a:p>
            <a:pPr algn="l">
              <a:spcAft>
                <a:spcPts val="945"/>
              </a:spcAft>
            </a:pPr>
            <a:r>
              <a:rPr sz="1600" b="0" i="0">
                <a:solidFill>
                  <a:srgbClr val="5D5A54"/>
                </a:solidFill>
                <a:latin typeface="Source Serif 4"/>
              </a:rPr>
              <a:t>It relieves its own withdrawal. We'll come back to this.</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Same nicotine, same loop.</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In one Massachusetts study, about 1 in 5 occasional users had a symptom within four weeks.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That's why it can help an adult smoker who switches. For a non-smoker it only adds nicotine.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Some labeled "nicotine free" have tested positive.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IT BUILDS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loop nicotine plugs into</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Cue</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Hit</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Relief</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Wears off</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Craving</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Dopamine tags the hit as worth repeating, and everything around it gets tagged too.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 TURN</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Where do the cues show up during a school day?</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One per card. No names. We'll put them on the loop.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STRESS TRAP</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It relieves stress it created.</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As nicotine wears off you feel edgy and foggy. The next hit fixes that. People who quit feel less stressed over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THREE MOMENTS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What would you say or do?</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LUCAS</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Hits his vape between every class. During a two-hour practice SAT he gets shaky, can't focus, and leaves early.</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IMANI</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Switched from vaping to nicotine pouches. "It's not vaping, so I quit," she says.</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 PARENT</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Smokes. They started vaping to cut down and say it's "basically harmless."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WHAT HELPS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Quitting is a skill. It has steps.</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Map your loop.</a:t>
            </a:r>
          </a:p>
          <a:p>
            <a:pPr algn="l">
              <a:spcAft>
                <a:spcPts val="945"/>
              </a:spcAft>
            </a:pPr>
            <a:r>
              <a:rPr sz="1600" b="0" i="0">
                <a:solidFill>
                  <a:srgbClr val="5D5A54"/>
                </a:solidFill>
                <a:latin typeface="Source Serif 4"/>
              </a:rPr>
              <a:t>Notice where, who, and what you felt before each craving.</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Know the timeline.</a:t>
            </a:r>
          </a:p>
          <a:p>
            <a:pPr algn="l">
              <a:spcAft>
                <a:spcPts val="945"/>
              </a:spcAft>
            </a:pPr>
            <a:r>
              <a:rPr sz="1600" b="0" i="0">
                <a:solidFill>
                  <a:srgbClr val="5D5A54"/>
                </a:solidFill>
                <a:latin typeface="Source Serif 4"/>
              </a:rPr>
              <a:t>Withdrawal is worst the first few days and fades over weeks. A craving peaks in minutes.</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Text DITCHVAPE to 88709.</a:t>
            </a:r>
          </a:p>
          <a:p>
            <a:pPr algn="l">
              <a:spcAft>
                <a:spcPts val="945"/>
              </a:spcAft>
            </a:pPr>
            <a:r>
              <a:rPr sz="1600" b="0" i="0">
                <a:solidFill>
                  <a:srgbClr val="5D5A54"/>
                </a:solidFill>
                <a:latin typeface="Source Serif 4"/>
              </a:rPr>
              <a:t>Free and anonymous. In a 2024 trial, more teens who used it had quit.</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Bring in the nurse or a counselor.</a:t>
            </a:r>
          </a:p>
          <a:p>
            <a:pPr algn="l">
              <a:spcAft>
                <a:spcPts val="945"/>
              </a:spcAft>
            </a:pPr>
            <a:r>
              <a:rPr sz="1600" b="0" i="0">
                <a:solidFill>
                  <a:srgbClr val="5D5A54"/>
                </a:solidFill>
                <a:latin typeface="Source Serif 4"/>
              </a:rPr>
              <a:t>It's about health. They help students quit all the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 would you tell a friend who says vaping helps their stress?</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TAKE-HOME SHEET</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https://rmwtoolkit.github.io/bcds-toolkit/vaping-and-your-brain-high-school.html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