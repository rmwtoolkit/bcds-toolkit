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page is hidden and skipped when you present. The full plan, care notes and research are on the hidden pages at the end of the deck, if you want them.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MINUTE. Open plainly: "Today is about breakups: why they hit as hard as they do, and what helps. Nobody will share their own relationship. If you've never dated, you're still in this, because you'll probably be the friend someone texts at 1 a.m."</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MINUTES. Read each one, everyone votes at once, then give the answer. 1: Myth. Your reward system doesn't check the calendar. How much you invested matters more than how long it lasted, and first relationships and secret ones can hurt a lot. 2: Myth. A new person can be a distraction, and distraction helps for a while. It doesn't do the work of rebuilding your own sense of self. 3: Myth. You can lose something you chose to leave. Guilt and relief can sit next to each other. If someone argues for "true," that's fine; ask what makes them think so.</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MINUTES. In a 2010 brain-imaging study of people recently rejected but still in love, a hub of the dopamine system lit up when they saw a photo of their ex, much as it does in people happily in love. That's one reason the urge to text or check their story feels like a pull more than a decision. Whether rejection truly works like addiction is still debated. In a 2011 study, areas that also process physical pain became active too. Some scientists say that goes too far, since those areas aren't pain-specific, but the overlap is real. Ask: "Knowing this, what would you say to a friend who's mad at themselves for still checking?" Expect: it's normal, your brain is behind, go easy on yourself.</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MINUTES. A Northwestern study asked college students in relationships to predict how upset they'd be after a breakup, then followed the ones who broke up. Most overestimated their distress, and the people most in love overestimated it most. Both things are true, though: in a study of 1,470 older teens, a recent breakup was linked to a higher chance of a first episode of major depression. So say plainly: if the sadness isn't easing after a few weeks, or someone feels hopeless, or can't eat, sleep or get to school, that's when to talk to a counselor. Don't ask anyone in the circle whether that's them. If a student seems to be describing themselves, check in privately afterward and connect them with a counselor that day.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MINUTES. In a 2018 study, distraction lifted mood but didn't change love feelings: good for getting through a bad night. Focusing on an ex's flaws lowered love feelings but made people feel worse in the moment, so go easy with that one. Among 464 people, those who kept checking an ex's profile reported more distress and longing and less growth. The study can't prove checking causes it, but muting for two weeks is the cheapest experiment you can run on yourself. In a study of 210 young adults, getting back a clear sense of who you are, apart from "us," predicted less loneliness and fewer intrusive thoughts. Other moves on the student page: write the message you won't send, keep your routine, and decide ahead of time how to handle a shared class or lunch table.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MINUTES. Pairs take one card, then a few share. There's usually more than one good answer; the best one is the one they'd actually do. Rafael: replying right away at midnight is the pull talking. A strong move is to wait until morning and then decide what he actually wants. Priyanka: calling it out in the group chat makes it bigger. Sitting with other friends for a while and telling one close friend the truth gives her room. Malik: slowly replying less until they get it, or having a friend tell them, feels easier and lands worse. Saying it clearly and kindly, in person or on a call if it's safe, is the respectful move. If a student raises a situation where someone feels scared of a partner, say that's one for a counselor and follow up privately.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MINUTES. Students write it for themselves; nobody shares. If anyone is going through a breakup now, they can write what they'd want a friend to say to them. Remind everyone: if an ex is threatening, harassing or sharing private images, that goes to an adult right away, and love is respect (text LOVEIS to 22522) can help. Share the student page link. It has the brain science, the moves, a private check-in, and who to talk to.</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 want more: this page and the next three are hidden and skipped when you present.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Before you start</a:t>
            </a:r>
          </a:p>
        </p:txBody>
      </p:sp>
      <p:sp>
        <p:nvSpPr>
          <p:cNvPr id="4" name="TextBox 3"/>
          <p:cNvSpPr txBox="1"/>
          <p:nvPr/>
        </p:nvSpPr>
        <p:spPr>
          <a:xfrm>
            <a:off x="548640" y="685800"/>
            <a:ext cx="10972800" cy="73152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Breakups Hurt</a:t>
            </a:r>
          </a:p>
        </p:txBody>
      </p:sp>
      <p:sp>
        <p:nvSpPr>
          <p:cNvPr id="5" name="TextBox 4"/>
          <p:cNvSpPr txBox="1"/>
          <p:nvPr/>
        </p:nvSpPr>
        <p:spPr>
          <a:xfrm>
            <a:off x="548640" y="1325880"/>
            <a:ext cx="10972800" cy="365760"/>
          </a:xfrm>
          <a:prstGeom prst="rect">
            <a:avLst/>
          </a:prstGeom>
          <a:noFill/>
        </p:spPr>
        <p:txBody>
          <a:bodyPr wrap="square" anchor="t" lIns="0" rIns="0" tIns="0" bIns="0">
            <a:spAutoFit/>
          </a:bodyPr>
          <a:lstStyle/>
          <a:p>
            <a:pPr algn="l">
              <a:spcAft>
                <a:spcPts val="630"/>
              </a:spcAft>
            </a:pPr>
            <a:r>
              <a:rPr sz="1400" b="0" i="0">
                <a:solidFill>
                  <a:srgbClr val="5D5A54"/>
                </a:solidFill>
                <a:latin typeface="Inter Tight"/>
              </a:rPr>
              <a:t>Upper School  ·  20 minutes (fits a 30-minute advisory, with time for your opening check-in; 10-minute version below)  ·  Any grade</a:t>
            </a:r>
          </a:p>
        </p:txBody>
      </p:sp>
      <p:sp>
        <p:nvSpPr>
          <p:cNvPr id="6" name="TextBox 5"/>
          <p:cNvSpPr txBox="1"/>
          <p:nvPr/>
        </p:nvSpPr>
        <p:spPr>
          <a:xfrm>
            <a:off x="548640" y="2011680"/>
            <a:ext cx="11064240" cy="4206240"/>
          </a:xfrm>
          <a:prstGeom prst="rect">
            <a:avLst/>
          </a:prstGeom>
          <a:noFill/>
        </p:spPr>
        <p:txBody>
          <a:bodyPr wrap="square" anchor="t" lIns="0" rIns="0" tIns="0" bIns="0">
            <a:spAutoFit/>
          </a:bodyPr>
          <a:lstStyle/>
          <a:p>
            <a:pPr algn="l">
              <a:spcAft>
                <a:spcPts val="900"/>
              </a:spcAft>
            </a:pPr>
            <a:r>
              <a:rPr sz="1200" b="1" i="0">
                <a:solidFill>
                  <a:srgbClr val="0B2D5B"/>
                </a:solidFill>
                <a:latin typeface="Inter Tight"/>
              </a:rPr>
              <a:t>BEFORE YOU START</a:t>
            </a:r>
          </a:p>
          <a:p>
            <a:pPr algn="l">
              <a:spcAft>
                <a:spcPts val="900"/>
              </a:spcAft>
            </a:pPr>
            <a:r>
              <a:rPr sz="2000" b="0" i="0">
                <a:solidFill>
                  <a:srgbClr val="1C1B19"/>
                </a:solidFill>
                <a:latin typeface="Source Serif 4"/>
              </a:rPr>
              <a:t>Students learn why a breakup can hurt this much, that most people recover sooner than they expect, and one thing that helps them or a friend. Bring index cards, keep it on the scenarios since someone in the circle may be in it right now, and pass threats, harassment, or shared images to a counselor that day.</a:t>
            </a:r>
          </a:p>
          <a:p>
            <a:pPr algn="l">
              <a:spcAft>
                <a:spcPts val="900"/>
              </a:spcAft>
            </a:pPr>
            <a:r>
              <a:rPr sz="2000" b="0" i="0">
                <a:solidFill>
                  <a:srgbClr val="1C1B19"/>
                </a:solidFill>
                <a:latin typeface="Source Serif 4"/>
              </a:rPr>
              <a:t/>
            </a:r>
          </a:p>
          <a:p>
            <a:pPr algn="l">
              <a:spcAft>
                <a:spcPts val="900"/>
              </a:spcAft>
            </a:pPr>
            <a:r>
              <a:rPr sz="1200" b="1" i="0">
                <a:solidFill>
                  <a:srgbClr val="0B2D5B"/>
                </a:solidFill>
                <a:latin typeface="Inter Tight"/>
              </a:rPr>
              <a:t>EVERY STUDENT IN THE ROOM</a:t>
            </a:r>
          </a:p>
          <a:p>
            <a:pPr algn="l">
              <a:spcAft>
                <a:spcPts val="900"/>
              </a:spcAft>
            </a:pPr>
            <a:r>
              <a:rPr sz="2000" b="0" i="0">
                <a:solidFill>
                  <a:srgbClr val="1C1B19"/>
                </a:solidFill>
                <a:latin typeface="Source Serif 4"/>
              </a:rPr>
              <a:t>Say "ex" or "someone you dated" rather than a gender, and keep in mind that some families don't allow dating, so a student may be grieving something nobody at home knew about.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2D5B"/>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BREAKUPS HURT</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2011680"/>
            <a:ext cx="10515600" cy="1463040"/>
          </a:xfrm>
          <a:prstGeom prst="rect">
            <a:avLst/>
          </a:prstGeom>
          <a:noFill/>
        </p:spPr>
        <p:txBody>
          <a:bodyPr wrap="square" anchor="b" lIns="0" rIns="0" tIns="0" bIns="0">
            <a:spAutoFit/>
          </a:bodyPr>
          <a:lstStyle/>
          <a:p>
            <a:pPr algn="l">
              <a:spcAft>
                <a:spcPts val="2700"/>
              </a:spcAft>
            </a:pPr>
            <a:r>
              <a:rPr sz="6000" b="1" i="0">
                <a:solidFill>
                  <a:srgbClr val="FFFFFF"/>
                </a:solidFill>
                <a:latin typeface="Source Serif 4"/>
              </a:rPr>
              <a:t>Breakups Hurt</a:t>
            </a:r>
          </a:p>
        </p:txBody>
      </p:sp>
      <p:sp>
        <p:nvSpPr>
          <p:cNvPr id="6" name="TextBox 5"/>
          <p:cNvSpPr txBox="1"/>
          <p:nvPr/>
        </p:nvSpPr>
        <p:spPr>
          <a:xfrm>
            <a:off x="822960" y="3611880"/>
            <a:ext cx="10515600" cy="914400"/>
          </a:xfrm>
          <a:prstGeom prst="rect">
            <a:avLst/>
          </a:prstGeom>
          <a:noFill/>
        </p:spPr>
        <p:txBody>
          <a:bodyPr wrap="square" anchor="t" lIns="0" rIns="0" tIns="0" bIns="0">
            <a:spAutoFit/>
          </a:bodyPr>
          <a:lstStyle/>
          <a:p>
            <a:pPr algn="l">
              <a:spcAft>
                <a:spcPts val="1080"/>
              </a:spcAft>
            </a:pPr>
            <a:r>
              <a:rPr sz="2400" b="0" i="1">
                <a:solidFill>
                  <a:srgbClr val="E8E4DA"/>
                </a:solidFill>
                <a:latin typeface="Source Serif 4"/>
              </a:rPr>
              <a:t>You know it's over. Your brain hasn't caught up.</a:t>
            </a:r>
          </a:p>
        </p:txBody>
      </p:sp>
      <p:sp>
        <p:nvSpPr>
          <p:cNvPr id="7" name="TextBox 6"/>
          <p:cNvSpPr txBox="1"/>
          <p:nvPr/>
        </p:nvSpPr>
        <p:spPr>
          <a:xfrm>
            <a:off x="822960" y="6035040"/>
            <a:ext cx="7315200" cy="365760"/>
          </a:xfrm>
          <a:prstGeom prst="rect">
            <a:avLst/>
          </a:prstGeom>
          <a:noFill/>
        </p:spPr>
        <p:txBody>
          <a:bodyPr wrap="square" anchor="t" lIns="0" rIns="0" tIns="0" bIns="0">
            <a:spAutoFit/>
          </a:bodyPr>
          <a:lstStyle/>
          <a:p>
            <a:pPr algn="l">
              <a:spcAft>
                <a:spcPts val="585"/>
              </a:spcAft>
            </a:pPr>
            <a:r>
              <a:rPr sz="1300" b="0" i="0">
                <a:solidFill>
                  <a:srgbClr val="E8E4DA"/>
                </a:solidFill>
                <a:latin typeface="Inter Tight"/>
              </a:rPr>
              <a:t>Beaver Upper School · Counseling</a:t>
            </a:r>
          </a:p>
        </p:txBody>
      </p:sp>
      <p:sp>
        <p:nvSpPr>
          <p:cNvPr id="8" name="TextBox 7"/>
          <p:cNvSpPr txBox="1"/>
          <p:nvPr/>
        </p:nvSpPr>
        <p:spPr>
          <a:xfrm>
            <a:off x="6766560" y="5897880"/>
            <a:ext cx="4846320" cy="640080"/>
          </a:xfrm>
          <a:prstGeom prst="rect">
            <a:avLst/>
          </a:prstGeom>
          <a:noFill/>
        </p:spPr>
        <p:txBody>
          <a:bodyPr wrap="square" anchor="t" lIns="0" rIns="0" tIns="0" bIns="0">
            <a:spAutoFit/>
          </a:bodyPr>
          <a:lstStyle/>
          <a:p>
            <a:pPr algn="r">
              <a:spcAft>
                <a:spcPts val="495"/>
              </a:spcAft>
            </a:pPr>
            <a:r>
              <a:rPr sz="1100" b="0" i="0">
                <a:solidFill>
                  <a:srgbClr val="E8E4DA"/>
                </a:solidFill>
                <a:latin typeface="Inter Tight"/>
              </a:rPr>
              <a:t>Written by Dr. Rick Wilson, with AI-assisted drafting. Every lesson is reviewed and edited by Dr. Wilson.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MYTH OR TRUE?</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1097280"/>
          </a:xfrm>
          <a:prstGeom prst="rect">
            <a:avLst/>
          </a:prstGeom>
          <a:noFill/>
        </p:spPr>
        <p:txBody>
          <a:bodyPr wrap="square" anchor="t" lIns="0" rIns="0" tIns="0" bIns="0">
            <a:spAutoFit/>
          </a:bodyPr>
          <a:lstStyle/>
          <a:p>
            <a:pPr algn="l">
              <a:spcAft>
                <a:spcPts val="1620"/>
              </a:spcAft>
            </a:pPr>
            <a:r>
              <a:rPr sz="3600" b="1" i="0">
                <a:solidFill>
                  <a:srgbClr val="1C1B19"/>
                </a:solidFill>
                <a:latin typeface="Source Serif 4"/>
              </a:rPr>
              <a:t>Thumbs up for true, down for myth.</a:t>
            </a:r>
          </a:p>
        </p:txBody>
      </p:sp>
      <p:sp>
        <p:nvSpPr>
          <p:cNvPr id="6" name="TextBox 5"/>
          <p:cNvSpPr txBox="1"/>
          <p:nvPr/>
        </p:nvSpPr>
        <p:spPr>
          <a:xfrm>
            <a:off x="822960" y="2194560"/>
            <a:ext cx="548640" cy="105156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1</a:t>
            </a:r>
          </a:p>
        </p:txBody>
      </p:sp>
      <p:sp>
        <p:nvSpPr>
          <p:cNvPr id="7" name="TextBox 6"/>
          <p:cNvSpPr txBox="1"/>
          <p:nvPr/>
        </p:nvSpPr>
        <p:spPr>
          <a:xfrm>
            <a:off x="1463040" y="2231136"/>
            <a:ext cx="9875520" cy="105156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"If it was short, it shouldn't hurt this much."</a:t>
            </a:r>
          </a:p>
        </p:txBody>
      </p:sp>
      <p:sp>
        <p:nvSpPr>
          <p:cNvPr id="8" name="TextBox 7"/>
          <p:cNvSpPr txBox="1"/>
          <p:nvPr/>
        </p:nvSpPr>
        <p:spPr>
          <a:xfrm>
            <a:off x="822960" y="3246120"/>
            <a:ext cx="548640" cy="105156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2</a:t>
            </a:r>
          </a:p>
        </p:txBody>
      </p:sp>
      <p:sp>
        <p:nvSpPr>
          <p:cNvPr id="9" name="TextBox 8"/>
          <p:cNvSpPr txBox="1"/>
          <p:nvPr/>
        </p:nvSpPr>
        <p:spPr>
          <a:xfrm>
            <a:off x="1463040" y="3282696"/>
            <a:ext cx="9875520" cy="105156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"Someone new will fix it."</a:t>
            </a:r>
          </a:p>
        </p:txBody>
      </p:sp>
      <p:sp>
        <p:nvSpPr>
          <p:cNvPr id="10" name="TextBox 9"/>
          <p:cNvSpPr txBox="1"/>
          <p:nvPr/>
        </p:nvSpPr>
        <p:spPr>
          <a:xfrm>
            <a:off x="822960" y="4297679"/>
            <a:ext cx="548640" cy="105156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3</a:t>
            </a:r>
          </a:p>
        </p:txBody>
      </p:sp>
      <p:sp>
        <p:nvSpPr>
          <p:cNvPr id="11" name="TextBox 10"/>
          <p:cNvSpPr txBox="1"/>
          <p:nvPr/>
        </p:nvSpPr>
        <p:spPr>
          <a:xfrm>
            <a:off x="1463040" y="4334255"/>
            <a:ext cx="9875520" cy="105156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"If I ended it, I don't get to be sad."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WHY IT HITS THIS HARD</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91440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The relationship ended. The wanting didn't, yet.</a:t>
            </a:r>
          </a:p>
        </p:txBody>
      </p:sp>
      <p:sp>
        <p:nvSpPr>
          <p:cNvPr id="6" name="Rectangle 5"/>
          <p:cNvSpPr/>
          <p:nvPr/>
        </p:nvSpPr>
        <p:spPr>
          <a:xfrm>
            <a:off x="822960" y="2103120"/>
            <a:ext cx="5120640" cy="393192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2286000"/>
            <a:ext cx="4572000" cy="45720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WHAT BRAIN SCANS SHOWED</a:t>
            </a:r>
          </a:p>
        </p:txBody>
      </p:sp>
      <p:sp>
        <p:nvSpPr>
          <p:cNvPr id="8" name="TextBox 7"/>
          <p:cNvSpPr txBox="1"/>
          <p:nvPr/>
        </p:nvSpPr>
        <p:spPr>
          <a:xfrm>
            <a:off x="1097280" y="2788920"/>
            <a:ext cx="4572000" cy="3108960"/>
          </a:xfrm>
          <a:prstGeom prst="rect">
            <a:avLst/>
          </a:prstGeom>
          <a:noFill/>
        </p:spPr>
        <p:txBody>
          <a:bodyPr wrap="square" anchor="t" lIns="0" rIns="0" tIns="0" bIns="0">
            <a:spAutoFit/>
          </a:bodyPr>
          <a:lstStyle/>
          <a:p>
            <a:pPr algn="l">
              <a:spcAft>
                <a:spcPts val="855"/>
              </a:spcAft>
            </a:pPr>
            <a:r>
              <a:rPr sz="1900" b="0" i="0">
                <a:solidFill>
                  <a:srgbClr val="1C1B19"/>
                </a:solidFill>
                <a:latin typeface="Source Serif 4"/>
              </a:rPr>
              <a:t>Reward areas still light up at their photo</a:t>
            </a:r>
          </a:p>
          <a:p>
            <a:pPr algn="l">
              <a:spcAft>
                <a:spcPts val="855"/>
              </a:spcAft>
            </a:pPr>
            <a:r>
              <a:rPr sz="1900" b="0" i="0">
                <a:solidFill>
                  <a:srgbClr val="1C1B19"/>
                </a:solidFill>
                <a:latin typeface="Source Serif 4"/>
              </a:rPr>
              <a:t>Overlap with areas tied to craving</a:t>
            </a:r>
          </a:p>
          <a:p>
            <a:pPr algn="l">
              <a:spcAft>
                <a:spcPts val="855"/>
              </a:spcAft>
            </a:pPr>
            <a:r>
              <a:rPr sz="1900" b="0" i="0">
                <a:solidFill>
                  <a:srgbClr val="1C1B19"/>
                </a:solidFill>
                <a:latin typeface="Source Serif 4"/>
              </a:rPr>
              <a:t>Pain-processing areas active too</a:t>
            </a:r>
          </a:p>
          <a:p>
            <a:pPr algn="l">
              <a:spcAft>
                <a:spcPts val="855"/>
              </a:spcAft>
            </a:pPr>
            <a:r>
              <a:rPr sz="1900" b="0" i="0">
                <a:solidFill>
                  <a:srgbClr val="1C1B19"/>
                </a:solidFill>
                <a:latin typeface="Source Serif 4"/>
              </a:rPr>
              <a:t>A thinking area working to make sense of it</a:t>
            </a:r>
          </a:p>
        </p:txBody>
      </p:sp>
      <p:sp>
        <p:nvSpPr>
          <p:cNvPr id="9" name="Rectangle 8"/>
          <p:cNvSpPr/>
          <p:nvPr/>
        </p:nvSpPr>
        <p:spPr>
          <a:xfrm>
            <a:off x="6309360" y="2103120"/>
            <a:ext cx="5120640" cy="393192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0" y="2286000"/>
            <a:ext cx="4572000" cy="45720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WHAT THAT FEELS LIKE</a:t>
            </a:r>
          </a:p>
        </p:txBody>
      </p:sp>
      <p:sp>
        <p:nvSpPr>
          <p:cNvPr id="11" name="TextBox 10"/>
          <p:cNvSpPr txBox="1"/>
          <p:nvPr/>
        </p:nvSpPr>
        <p:spPr>
          <a:xfrm>
            <a:off x="6583680" y="2788920"/>
            <a:ext cx="4572000" cy="3108960"/>
          </a:xfrm>
          <a:prstGeom prst="rect">
            <a:avLst/>
          </a:prstGeom>
          <a:noFill/>
        </p:spPr>
        <p:txBody>
          <a:bodyPr wrap="square" anchor="t" lIns="0" rIns="0" tIns="0" bIns="0">
            <a:spAutoFit/>
          </a:bodyPr>
          <a:lstStyle/>
          <a:p>
            <a:pPr algn="l">
              <a:spcAft>
                <a:spcPts val="855"/>
              </a:spcAft>
            </a:pPr>
            <a:r>
              <a:rPr sz="1900" b="0" i="0">
                <a:solidFill>
                  <a:srgbClr val="1C1B19"/>
                </a:solidFill>
                <a:latin typeface="Source Serif 4"/>
              </a:rPr>
              <a:t>Rereading old messages at 1 a.m.</a:t>
            </a:r>
          </a:p>
          <a:p>
            <a:pPr algn="l">
              <a:spcAft>
                <a:spcPts val="855"/>
              </a:spcAft>
            </a:pPr>
            <a:r>
              <a:rPr sz="1900" b="0" i="0">
                <a:solidFill>
                  <a:srgbClr val="1C1B19"/>
                </a:solidFill>
                <a:latin typeface="Source Serif 4"/>
              </a:rPr>
              <a:t>The pull to check their story</a:t>
            </a:r>
          </a:p>
          <a:p>
            <a:pPr algn="l">
              <a:spcAft>
                <a:spcPts val="855"/>
              </a:spcAft>
            </a:pPr>
            <a:r>
              <a:rPr sz="1900" b="0" i="0">
                <a:solidFill>
                  <a:srgbClr val="1C1B19"/>
                </a:solidFill>
                <a:latin typeface="Source Serif 4"/>
              </a:rPr>
              <a:t>One song in the car wrecks you</a:t>
            </a:r>
          </a:p>
          <a:p>
            <a:pPr algn="l">
              <a:spcAft>
                <a:spcPts val="855"/>
              </a:spcAft>
            </a:pPr>
            <a:r>
              <a:rPr sz="1900" b="0" i="0">
                <a:solidFill>
                  <a:srgbClr val="1C1B19"/>
                </a:solidFill>
                <a:latin typeface="Source Serif 4"/>
              </a:rPr>
              <a:t>Replaying what went wrong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THE RESEARCH</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463040"/>
            <a:ext cx="10515600" cy="3291840"/>
          </a:xfrm>
          <a:prstGeom prst="rect">
            <a:avLst/>
          </a:prstGeom>
          <a:noFill/>
        </p:spPr>
        <p:txBody>
          <a:bodyPr wrap="square" anchor="ctr" lIns="0" rIns="0" tIns="0" bIns="0">
            <a:spAutoFit/>
          </a:bodyPr>
          <a:lstStyle/>
          <a:p>
            <a:pPr algn="l">
              <a:spcAft>
                <a:spcPts val="2070"/>
              </a:spcAft>
            </a:pPr>
            <a:r>
              <a:rPr sz="4600" b="1" i="0">
                <a:solidFill>
                  <a:srgbClr val="1C1B19"/>
                </a:solidFill>
                <a:latin typeface="Source Serif 4"/>
              </a:rPr>
              <a:t>Most people feel better sooner than they predict.</a:t>
            </a:r>
          </a:p>
        </p:txBody>
      </p:sp>
      <p:sp>
        <p:nvSpPr>
          <p:cNvPr id="6" name="TextBox 5"/>
          <p:cNvSpPr txBox="1"/>
          <p:nvPr/>
        </p:nvSpPr>
        <p:spPr>
          <a:xfrm>
            <a:off x="822960" y="4846320"/>
            <a:ext cx="10515600" cy="1097280"/>
          </a:xfrm>
          <a:prstGeom prst="rect">
            <a:avLst/>
          </a:prstGeom>
          <a:noFill/>
        </p:spPr>
        <p:txBody>
          <a:bodyPr wrap="square" anchor="t" lIns="0" rIns="0" tIns="0" bIns="0">
            <a:spAutoFit/>
          </a:bodyPr>
          <a:lstStyle/>
          <a:p>
            <a:pPr algn="l">
              <a:spcAft>
                <a:spcPts val="990"/>
              </a:spcAft>
            </a:pPr>
            <a:r>
              <a:rPr sz="2200" b="0" i="1">
                <a:solidFill>
                  <a:srgbClr val="5D5A54"/>
                </a:solidFill>
                <a:latin typeface="Source Serif 4"/>
              </a:rPr>
              <a:t>And if the low isn't lifting after a few weeks, that's a reason to get more help.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WHAT HELPS</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1097280"/>
          </a:xfrm>
          <a:prstGeom prst="rect">
            <a:avLst/>
          </a:prstGeom>
          <a:noFill/>
        </p:spPr>
        <p:txBody>
          <a:bodyPr wrap="square" anchor="t" lIns="0" rIns="0" tIns="0" bIns="0">
            <a:spAutoFit/>
          </a:bodyPr>
          <a:lstStyle/>
          <a:p>
            <a:pPr algn="l">
              <a:spcAft>
                <a:spcPts val="1620"/>
              </a:spcAft>
            </a:pPr>
            <a:r>
              <a:rPr sz="3600" b="1" i="0">
                <a:solidFill>
                  <a:srgbClr val="1C1B19"/>
                </a:solidFill>
                <a:latin typeface="Source Serif 4"/>
              </a:rPr>
              <a:t>Each move does something different.</a:t>
            </a:r>
          </a:p>
        </p:txBody>
      </p:sp>
      <p:sp>
        <p:nvSpPr>
          <p:cNvPr id="6" name="TextBox 5"/>
          <p:cNvSpPr txBox="1"/>
          <p:nvPr/>
        </p:nvSpPr>
        <p:spPr>
          <a:xfrm>
            <a:off x="822960" y="219456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1</a:t>
            </a:r>
          </a:p>
        </p:txBody>
      </p:sp>
      <p:sp>
        <p:nvSpPr>
          <p:cNvPr id="7" name="TextBox 6"/>
          <p:cNvSpPr txBox="1"/>
          <p:nvPr/>
        </p:nvSpPr>
        <p:spPr>
          <a:xfrm>
            <a:off x="1463040" y="223113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Distract on purpose.</a:t>
            </a:r>
          </a:p>
          <a:p>
            <a:pPr algn="l">
              <a:spcAft>
                <a:spcPts val="945"/>
              </a:spcAft>
            </a:pPr>
            <a:r>
              <a:rPr sz="1600" b="0" i="0">
                <a:solidFill>
                  <a:srgbClr val="5D5A54"/>
                </a:solidFill>
                <a:latin typeface="Source Serif 4"/>
              </a:rPr>
              <a:t>Lifts your mood for the night.</a:t>
            </a:r>
          </a:p>
        </p:txBody>
      </p:sp>
      <p:sp>
        <p:nvSpPr>
          <p:cNvPr id="8" name="TextBox 7"/>
          <p:cNvSpPr txBox="1"/>
          <p:nvPr/>
        </p:nvSpPr>
        <p:spPr>
          <a:xfrm>
            <a:off x="822960" y="320040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2</a:t>
            </a:r>
          </a:p>
        </p:txBody>
      </p:sp>
      <p:sp>
        <p:nvSpPr>
          <p:cNvPr id="9" name="TextBox 8"/>
          <p:cNvSpPr txBox="1"/>
          <p:nvPr/>
        </p:nvSpPr>
        <p:spPr>
          <a:xfrm>
            <a:off x="1463040" y="323697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Mute them for two weeks.</a:t>
            </a:r>
          </a:p>
          <a:p>
            <a:pPr algn="l">
              <a:spcAft>
                <a:spcPts val="945"/>
              </a:spcAft>
            </a:pPr>
            <a:r>
              <a:rPr sz="1600" b="0" i="0">
                <a:solidFill>
                  <a:srgbClr val="5D5A54"/>
                </a:solidFill>
                <a:latin typeface="Source Serif 4"/>
              </a:rPr>
              <a:t>Every check resets the clock.</a:t>
            </a:r>
          </a:p>
        </p:txBody>
      </p:sp>
      <p:sp>
        <p:nvSpPr>
          <p:cNvPr id="10" name="TextBox 9"/>
          <p:cNvSpPr txBox="1"/>
          <p:nvPr/>
        </p:nvSpPr>
        <p:spPr>
          <a:xfrm>
            <a:off x="822960" y="420624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3</a:t>
            </a:r>
          </a:p>
        </p:txBody>
      </p:sp>
      <p:sp>
        <p:nvSpPr>
          <p:cNvPr id="11" name="TextBox 10"/>
          <p:cNvSpPr txBox="1"/>
          <p:nvPr/>
        </p:nvSpPr>
        <p:spPr>
          <a:xfrm>
            <a:off x="1463040" y="424281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Plan the hard hours.</a:t>
            </a:r>
          </a:p>
          <a:p>
            <a:pPr algn="l">
              <a:spcAft>
                <a:spcPts val="945"/>
              </a:spcAft>
            </a:pPr>
            <a:r>
              <a:rPr sz="1600" b="0" i="0">
                <a:solidFill>
                  <a:srgbClr val="5D5A54"/>
                </a:solidFill>
                <a:latin typeface="Source Serif 4"/>
              </a:rPr>
              <a:t>Nights, weekends, the ride or walk home.</a:t>
            </a:r>
          </a:p>
        </p:txBody>
      </p:sp>
      <p:sp>
        <p:nvSpPr>
          <p:cNvPr id="12" name="TextBox 11"/>
          <p:cNvSpPr txBox="1"/>
          <p:nvPr/>
        </p:nvSpPr>
        <p:spPr>
          <a:xfrm>
            <a:off x="822960" y="521208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4</a:t>
            </a:r>
          </a:p>
        </p:txBody>
      </p:sp>
      <p:sp>
        <p:nvSpPr>
          <p:cNvPr id="13" name="TextBox 12"/>
          <p:cNvSpPr txBox="1"/>
          <p:nvPr/>
        </p:nvSpPr>
        <p:spPr>
          <a:xfrm>
            <a:off x="1463040" y="524865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Rebuild "me."</a:t>
            </a:r>
          </a:p>
          <a:p>
            <a:pPr algn="l">
              <a:spcAft>
                <a:spcPts val="945"/>
              </a:spcAft>
            </a:pPr>
            <a:r>
              <a:rPr sz="1600" b="0" i="0">
                <a:solidFill>
                  <a:srgbClr val="5D5A54"/>
                </a:solidFill>
                <a:latin typeface="Source Serif 4"/>
              </a:rPr>
              <a:t>Something that was yours before them.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THREE HARD MOMENTS</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91440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What would help most?</a:t>
            </a:r>
          </a:p>
        </p:txBody>
      </p:sp>
      <p:sp>
        <p:nvSpPr>
          <p:cNvPr id="6" name="Rectangle 5"/>
          <p:cNvSpPr/>
          <p:nvPr/>
        </p:nvSpPr>
        <p:spPr>
          <a:xfrm>
            <a:off x="822960" y="2103120"/>
            <a:ext cx="3322320" cy="384048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2286000"/>
            <a:ext cx="2865120" cy="36576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RAFAEL</a:t>
            </a:r>
          </a:p>
        </p:txBody>
      </p:sp>
      <p:sp>
        <p:nvSpPr>
          <p:cNvPr id="8" name="TextBox 7"/>
          <p:cNvSpPr txBox="1"/>
          <p:nvPr/>
        </p:nvSpPr>
        <p:spPr>
          <a:xfrm>
            <a:off x="1051560" y="2743200"/>
            <a:ext cx="2865120" cy="3017520"/>
          </a:xfrm>
          <a:prstGeom prst="rect">
            <a:avLst/>
          </a:prstGeom>
          <a:noFill/>
        </p:spPr>
        <p:txBody>
          <a:bodyPr wrap="square" anchor="t" lIns="0" rIns="0" tIns="0" bIns="0">
            <a:spAutoFit/>
          </a:bodyPr>
          <a:lstStyle/>
          <a:p>
            <a:pPr algn="l">
              <a:spcAft>
                <a:spcPts val="810"/>
              </a:spcAft>
            </a:pPr>
            <a:r>
              <a:rPr sz="1800" b="0" i="0">
                <a:solidFill>
                  <a:srgbClr val="1C1B19"/>
                </a:solidFill>
                <a:latin typeface="Source Serif 4"/>
              </a:rPr>
              <a:t>Two weeks after the breakup, his ex texts at 11:40 p.m.: "I miss you. Can we talk?" He's still hurting.</a:t>
            </a:r>
          </a:p>
        </p:txBody>
      </p:sp>
      <p:sp>
        <p:nvSpPr>
          <p:cNvPr id="9" name="Rectangle 8"/>
          <p:cNvSpPr/>
          <p:nvPr/>
        </p:nvSpPr>
        <p:spPr>
          <a:xfrm>
            <a:off x="4419600" y="2103120"/>
            <a:ext cx="3322320" cy="384048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48200" y="2286000"/>
            <a:ext cx="2865120" cy="36576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PRIYANKA</a:t>
            </a:r>
          </a:p>
        </p:txBody>
      </p:sp>
      <p:sp>
        <p:nvSpPr>
          <p:cNvPr id="11" name="TextBox 10"/>
          <p:cNvSpPr txBox="1"/>
          <p:nvPr/>
        </p:nvSpPr>
        <p:spPr>
          <a:xfrm>
            <a:off x="4648200" y="2743200"/>
            <a:ext cx="2865120" cy="3017520"/>
          </a:xfrm>
          <a:prstGeom prst="rect">
            <a:avLst/>
          </a:prstGeom>
          <a:noFill/>
        </p:spPr>
        <p:txBody>
          <a:bodyPr wrap="square" anchor="t" lIns="0" rIns="0" tIns="0" bIns="0">
            <a:spAutoFit/>
          </a:bodyPr>
          <a:lstStyle/>
          <a:p>
            <a:pPr algn="l">
              <a:spcAft>
                <a:spcPts val="810"/>
              </a:spcAft>
            </a:pPr>
            <a:r>
              <a:rPr sz="1800" b="0" i="0">
                <a:solidFill>
                  <a:srgbClr val="1C1B19"/>
                </a:solidFill>
                <a:latin typeface="Source Serif 4"/>
              </a:rPr>
              <a:t>Her ex is now dating someone in their friend group. They all sit at the same lunch table.</a:t>
            </a:r>
          </a:p>
        </p:txBody>
      </p:sp>
      <p:sp>
        <p:nvSpPr>
          <p:cNvPr id="12" name="Rectangle 11"/>
          <p:cNvSpPr/>
          <p:nvPr/>
        </p:nvSpPr>
        <p:spPr>
          <a:xfrm>
            <a:off x="8016239" y="2103120"/>
            <a:ext cx="3322320" cy="384048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44839" y="2286000"/>
            <a:ext cx="2865120" cy="36576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MALIK</a:t>
            </a:r>
          </a:p>
        </p:txBody>
      </p:sp>
      <p:sp>
        <p:nvSpPr>
          <p:cNvPr id="14" name="TextBox 13"/>
          <p:cNvSpPr txBox="1"/>
          <p:nvPr/>
        </p:nvSpPr>
        <p:spPr>
          <a:xfrm>
            <a:off x="8244839" y="2743200"/>
            <a:ext cx="2865120" cy="3017520"/>
          </a:xfrm>
          <a:prstGeom prst="rect">
            <a:avLst/>
          </a:prstGeom>
          <a:noFill/>
        </p:spPr>
        <p:txBody>
          <a:bodyPr wrap="square" anchor="t" lIns="0" rIns="0" tIns="0" bIns="0">
            <a:spAutoFit/>
          </a:bodyPr>
          <a:lstStyle/>
          <a:p>
            <a:pPr algn="l">
              <a:spcAft>
                <a:spcPts val="810"/>
              </a:spcAft>
            </a:pPr>
            <a:r>
              <a:rPr sz="1800" b="0" i="0">
                <a:solidFill>
                  <a:srgbClr val="1C1B19"/>
                </a:solidFill>
                <a:latin typeface="Source Serif 4"/>
              </a:rPr>
              <a:t>He's dated someone for five months and wants to end it. He doesn't want to be cruel.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BEFORE YOU GO</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188720"/>
            <a:ext cx="10515600" cy="914400"/>
          </a:xfrm>
          <a:prstGeom prst="rect">
            <a:avLst/>
          </a:prstGeom>
          <a:noFill/>
        </p:spPr>
        <p:txBody>
          <a:bodyPr wrap="square" anchor="t" lIns="0" rIns="0" tIns="0" bIns="0">
            <a:spAutoFit/>
          </a:bodyPr>
          <a:lstStyle/>
          <a:p>
            <a:pPr algn="l">
              <a:spcAft>
                <a:spcPts val="1620"/>
              </a:spcAft>
            </a:pPr>
            <a:r>
              <a:rPr sz="3600" b="1" i="0">
                <a:solidFill>
                  <a:srgbClr val="1C1B19"/>
                </a:solidFill>
                <a:latin typeface="Source Serif 4"/>
              </a:rPr>
              <a:t>Being the friend</a:t>
            </a:r>
          </a:p>
        </p:txBody>
      </p:sp>
      <p:sp>
        <p:nvSpPr>
          <p:cNvPr id="6" name="TextBox 5"/>
          <p:cNvSpPr txBox="1"/>
          <p:nvPr/>
        </p:nvSpPr>
        <p:spPr>
          <a:xfrm>
            <a:off x="822960" y="2286000"/>
            <a:ext cx="10515600" cy="1463040"/>
          </a:xfrm>
          <a:prstGeom prst="rect">
            <a:avLst/>
          </a:prstGeom>
          <a:noFill/>
        </p:spPr>
        <p:txBody>
          <a:bodyPr wrap="square" anchor="t" lIns="0" rIns="0" tIns="0" bIns="0">
            <a:spAutoFit/>
          </a:bodyPr>
          <a:lstStyle/>
          <a:p>
            <a:pPr algn="l">
              <a:spcAft>
                <a:spcPts val="1080"/>
              </a:spcAft>
            </a:pPr>
            <a:r>
              <a:rPr sz="2400" b="0" i="0">
                <a:solidFill>
                  <a:srgbClr val="1C1B19"/>
                </a:solidFill>
                <a:latin typeface="Source Serif 4"/>
              </a:rPr>
              <a:t>Privately: if a friend were going through this, what's one thing you'd say or do?</a:t>
            </a:r>
          </a:p>
        </p:txBody>
      </p:sp>
      <p:sp>
        <p:nvSpPr>
          <p:cNvPr id="7" name="Rectangle 6"/>
          <p:cNvSpPr/>
          <p:nvPr/>
        </p:nvSpPr>
        <p:spPr>
          <a:xfrm>
            <a:off x="822960" y="4023360"/>
            <a:ext cx="10515600" cy="1371600"/>
          </a:xfrm>
          <a:prstGeom prst="rect">
            <a:avLst/>
          </a:prstGeom>
          <a:solidFill>
            <a:srgbClr val="FFFFFF"/>
          </a:solidFill>
          <a:ln w="15875">
            <a:solidFill>
              <a:srgbClr val="1C1B1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4206240"/>
            <a:ext cx="10058400" cy="365760"/>
          </a:xfrm>
          <a:prstGeom prst="rect">
            <a:avLst/>
          </a:prstGeom>
          <a:noFill/>
        </p:spPr>
        <p:txBody>
          <a:bodyPr wrap="square" anchor="t" lIns="0" rIns="0" tIns="0" bIns="0">
            <a:spAutoFit/>
          </a:bodyPr>
          <a:lstStyle/>
          <a:p>
            <a:pPr algn="l">
              <a:spcAft>
                <a:spcPts val="540"/>
              </a:spcAft>
            </a:pPr>
            <a:r>
              <a:rPr sz="1200" b="1" i="0">
                <a:solidFill>
                  <a:srgbClr val="0B2D5B"/>
                </a:solidFill>
                <a:latin typeface="Inter Tight"/>
              </a:rPr>
              <a:t>STUDENT PAGE</a:t>
            </a:r>
          </a:p>
        </p:txBody>
      </p:sp>
      <p:sp>
        <p:nvSpPr>
          <p:cNvPr id="9" name="TextBox 8"/>
          <p:cNvSpPr txBox="1"/>
          <p:nvPr/>
        </p:nvSpPr>
        <p:spPr>
          <a:xfrm>
            <a:off x="1097280" y="4617720"/>
            <a:ext cx="10058400" cy="640080"/>
          </a:xfrm>
          <a:prstGeom prst="rect">
            <a:avLst/>
          </a:prstGeom>
          <a:noFill/>
        </p:spPr>
        <p:txBody>
          <a:bodyPr wrap="square" anchor="t" lIns="0" rIns="0" tIns="0" bIns="0">
            <a:spAutoFit/>
          </a:bodyPr>
          <a:lstStyle/>
          <a:p>
            <a:pPr algn="l">
              <a:spcAft>
                <a:spcPts val="900"/>
              </a:spcAft>
            </a:pPr>
            <a:r>
              <a:rPr sz="2000" b="0" i="0">
                <a:solidFill>
                  <a:srgbClr val="1C1B19"/>
                </a:solidFill>
                <a:latin typeface="Inter Tight"/>
              </a:rPr>
              <a:t>https://rmwtoolkit.github.io/bcds-toolkit/breakups-hurt-high-school.html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Lesson plan</a:t>
            </a:r>
          </a:p>
        </p:txBody>
      </p:sp>
      <p:sp>
        <p:nvSpPr>
          <p:cNvPr id="4" name="TextBox 3"/>
          <p:cNvSpPr txBox="1"/>
          <p:nvPr/>
        </p:nvSpPr>
        <p:spPr>
          <a:xfrm>
            <a:off x="548640" y="685800"/>
            <a:ext cx="10972800" cy="73152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Breakups Hurt</a:t>
            </a:r>
          </a:p>
        </p:txBody>
      </p:sp>
      <p:sp>
        <p:nvSpPr>
          <p:cNvPr id="5" name="TextBox 4"/>
          <p:cNvSpPr txBox="1"/>
          <p:nvPr/>
        </p:nvSpPr>
        <p:spPr>
          <a:xfrm>
            <a:off x="548640" y="1325880"/>
            <a:ext cx="10972800" cy="365760"/>
          </a:xfrm>
          <a:prstGeom prst="rect">
            <a:avLst/>
          </a:prstGeom>
          <a:noFill/>
        </p:spPr>
        <p:txBody>
          <a:bodyPr wrap="square" anchor="t" lIns="0" rIns="0" tIns="0" bIns="0">
            <a:spAutoFit/>
          </a:bodyPr>
          <a:lstStyle/>
          <a:p>
            <a:pPr algn="l">
              <a:spcAft>
                <a:spcPts val="630"/>
              </a:spcAft>
            </a:pPr>
            <a:r>
              <a:rPr sz="1400" b="0" i="0">
                <a:solidFill>
                  <a:srgbClr val="5D5A54"/>
                </a:solidFill>
                <a:latin typeface="Inter Tight"/>
              </a:rPr>
              <a:t>Upper School  ·  20 minutes (fits a 30-minute advisory, with time for your opening check-in; 10-minute version below)  ·  Any grade</a:t>
            </a:r>
          </a:p>
        </p:txBody>
      </p:sp>
      <p:sp>
        <p:nvSpPr>
          <p:cNvPr id="6" name="TextBox 5"/>
          <p:cNvSpPr txBox="1"/>
          <p:nvPr/>
        </p:nvSpPr>
        <p:spPr>
          <a:xfrm>
            <a:off x="548640" y="1828800"/>
            <a:ext cx="5120640" cy="4389120"/>
          </a:xfrm>
          <a:prstGeom prst="rect">
            <a:avLst/>
          </a:prstGeom>
          <a:noFill/>
        </p:spPr>
        <p:txBody>
          <a:bodyPr wrap="square" anchor="t" lIns="0" rIns="0" tIns="0" bIns="0">
            <a:spAutoFit/>
          </a:bodyPr>
          <a:lstStyle/>
          <a:p>
            <a:pPr algn="l">
              <a:spcAft>
                <a:spcPts val="675"/>
              </a:spcAft>
            </a:pPr>
            <a:r>
              <a:rPr sz="1100" b="1" i="0">
                <a:solidFill>
                  <a:srgbClr val="0B2D5B"/>
                </a:solidFill>
                <a:latin typeface="Inter Tight"/>
              </a:rPr>
              <a:t>GOAL</a:t>
            </a:r>
          </a:p>
          <a:p>
            <a:pPr algn="l">
              <a:spcAft>
                <a:spcPts val="675"/>
              </a:spcAft>
            </a:pPr>
            <a:r>
              <a:rPr sz="1500" b="0" i="0">
                <a:solidFill>
                  <a:srgbClr val="1C1B19"/>
                </a:solidFill>
                <a:latin typeface="Source Serif 4"/>
              </a:rPr>
              <a:t>Students can explain why a breakup can hurt this much (the wanting doesn't switch off right away), know that most people recover sooner than they predict and when a low that isn't lifting needs more help, and name one move they would use themselves or offer a friend. Nobody shares their own relationship.</a:t>
            </a:r>
          </a:p>
          <a:p>
            <a:pPr algn="l">
              <a:spcAft>
                <a:spcPts val="675"/>
              </a:spcAft>
            </a:pPr>
            <a:r>
              <a:rPr sz="1500" b="0" i="0">
                <a:solidFill>
                  <a:srgbClr val="1C1B19"/>
                </a:solidFill>
                <a:latin typeface="Source Serif 4"/>
              </a:rPr>
              <a:t/>
            </a:r>
          </a:p>
          <a:p>
            <a:pPr algn="l">
              <a:spcAft>
                <a:spcPts val="675"/>
              </a:spcAft>
            </a:pPr>
            <a:r>
              <a:rPr sz="1100" b="1" i="0">
                <a:solidFill>
                  <a:srgbClr val="0B2D5B"/>
                </a:solidFill>
                <a:latin typeface="Inter Tight"/>
              </a:rPr>
              <a:t>MATERIALS</a:t>
            </a:r>
          </a:p>
          <a:p>
            <a:pPr algn="l">
              <a:spcAft>
                <a:spcPts val="675"/>
              </a:spcAft>
            </a:pPr>
            <a:r>
              <a:rPr sz="1500" b="0" i="0">
                <a:solidFill>
                  <a:srgbClr val="1C1B19"/>
                </a:solidFill>
                <a:latin typeface="Source Serif 4"/>
              </a:rPr>
              <a:t>Nothing needed for the thumbs vote or the pair talk</a:t>
            </a:r>
          </a:p>
          <a:p>
            <a:pPr algn="l">
              <a:spcAft>
                <a:spcPts val="675"/>
              </a:spcAft>
            </a:pPr>
            <a:r>
              <a:rPr sz="1500" b="0" i="0">
                <a:solidFill>
                  <a:srgbClr val="1C1B19"/>
                </a:solidFill>
                <a:latin typeface="Source Serif 4"/>
              </a:rPr>
              <a:t>Index cards or notebooks for the private reflection</a:t>
            </a:r>
          </a:p>
          <a:p>
            <a:pPr algn="l">
              <a:spcAft>
                <a:spcPts val="675"/>
              </a:spcAft>
            </a:pPr>
            <a:r>
              <a:rPr sz="1500" b="0" i="0">
                <a:solidFill>
                  <a:srgbClr val="1C1B19"/>
                </a:solidFill>
                <a:latin typeface="Source Serif 4"/>
              </a:rPr>
              <a:t>The student page link (last slide) to share after advisory</a:t>
            </a:r>
          </a:p>
        </p:txBody>
      </p:sp>
      <p:sp>
        <p:nvSpPr>
          <p:cNvPr id="7" name="TextBox 6"/>
          <p:cNvSpPr txBox="1"/>
          <p:nvPr/>
        </p:nvSpPr>
        <p:spPr>
          <a:xfrm>
            <a:off x="6126480" y="1828800"/>
            <a:ext cx="5486400" cy="4389120"/>
          </a:xfrm>
          <a:prstGeom prst="rect">
            <a:avLst/>
          </a:prstGeom>
          <a:noFill/>
        </p:spPr>
        <p:txBody>
          <a:bodyPr wrap="square" anchor="t" lIns="0" rIns="0" tIns="0" bIns="0">
            <a:spAutoFit/>
          </a:bodyPr>
          <a:lstStyle/>
          <a:p>
            <a:pPr algn="l">
              <a:spcAft>
                <a:spcPts val="630"/>
              </a:spcAft>
            </a:pPr>
            <a:r>
              <a:rPr sz="1100" b="1" i="0">
                <a:solidFill>
                  <a:srgbClr val="0B2D5B"/>
                </a:solidFill>
                <a:latin typeface="Inter Tight"/>
              </a:rPr>
              <a:t>FLOW</a:t>
            </a:r>
          </a:p>
          <a:p>
            <a:pPr algn="l">
              <a:spcAft>
                <a:spcPts val="630"/>
              </a:spcAft>
            </a:pPr>
            <a:r>
              <a:rPr sz="1300" b="1" i="0">
                <a:solidFill>
                  <a:srgbClr val="F47B20"/>
                </a:solidFill>
                <a:latin typeface="Inter Tight"/>
              </a:rPr>
              <a:t>1 min   </a:t>
            </a:r>
            <a:r>
              <a:rPr sz="1400" b="0" i="0">
                <a:solidFill>
                  <a:srgbClr val="1C1B19"/>
                </a:solidFill>
                <a:latin typeface="Source Serif 4"/>
              </a:rPr>
              <a:t>Open: you know it's over, your brain hasn't caught up</a:t>
            </a:r>
          </a:p>
          <a:p>
            <a:pPr algn="l">
              <a:spcAft>
                <a:spcPts val="630"/>
              </a:spcAft>
            </a:pPr>
            <a:r>
              <a:rPr sz="1300" b="1" i="0">
                <a:solidFill>
                  <a:srgbClr val="F47B20"/>
                </a:solidFill>
                <a:latin typeface="Inter Tight"/>
              </a:rPr>
              <a:t>3 min   </a:t>
            </a:r>
            <a:r>
              <a:rPr sz="1400" b="0" i="0">
                <a:solidFill>
                  <a:srgbClr val="1C1B19"/>
                </a:solidFill>
                <a:latin typeface="Source Serif 4"/>
              </a:rPr>
              <a:t>Myth or true? (thumbs vote)</a:t>
            </a:r>
          </a:p>
          <a:p>
            <a:pPr algn="l">
              <a:spcAft>
                <a:spcPts val="630"/>
              </a:spcAft>
            </a:pPr>
            <a:r>
              <a:rPr sz="1300" b="1" i="0">
                <a:solidFill>
                  <a:srgbClr val="F47B20"/>
                </a:solidFill>
                <a:latin typeface="Inter Tight"/>
              </a:rPr>
              <a:t>3 min   </a:t>
            </a:r>
            <a:r>
              <a:rPr sz="1400" b="0" i="0">
                <a:solidFill>
                  <a:srgbClr val="1C1B19"/>
                </a:solidFill>
                <a:latin typeface="Source Serif 4"/>
              </a:rPr>
              <a:t>Why it hits this hard</a:t>
            </a:r>
          </a:p>
          <a:p>
            <a:pPr algn="l">
              <a:spcAft>
                <a:spcPts val="630"/>
              </a:spcAft>
            </a:pPr>
            <a:r>
              <a:rPr sz="1300" b="1" i="0">
                <a:solidFill>
                  <a:srgbClr val="F47B20"/>
                </a:solidFill>
                <a:latin typeface="Inter Tight"/>
              </a:rPr>
              <a:t>3 min   </a:t>
            </a:r>
            <a:r>
              <a:rPr sz="1400" b="0" i="0">
                <a:solidFill>
                  <a:srgbClr val="1C1B19"/>
                </a:solidFill>
                <a:latin typeface="Source Serif 4"/>
              </a:rPr>
              <a:t>Sooner than you think, and when it isn't</a:t>
            </a:r>
          </a:p>
          <a:p>
            <a:pPr algn="l">
              <a:spcAft>
                <a:spcPts val="630"/>
              </a:spcAft>
            </a:pPr>
            <a:r>
              <a:rPr sz="1300" b="1" i="0">
                <a:solidFill>
                  <a:srgbClr val="F47B20"/>
                </a:solidFill>
                <a:latin typeface="Inter Tight"/>
              </a:rPr>
              <a:t>3 min   </a:t>
            </a:r>
            <a:r>
              <a:rPr sz="1400" b="0" i="0">
                <a:solidFill>
                  <a:srgbClr val="1C1B19"/>
                </a:solidFill>
                <a:latin typeface="Source Serif 4"/>
              </a:rPr>
              <a:t>What helps, and what each move costs</a:t>
            </a:r>
          </a:p>
          <a:p>
            <a:pPr algn="l">
              <a:spcAft>
                <a:spcPts val="630"/>
              </a:spcAft>
            </a:pPr>
            <a:r>
              <a:rPr sz="1300" b="1" i="0">
                <a:solidFill>
                  <a:srgbClr val="F47B20"/>
                </a:solidFill>
                <a:latin typeface="Inter Tight"/>
              </a:rPr>
              <a:t>4 min   </a:t>
            </a:r>
            <a:r>
              <a:rPr sz="1400" b="0" i="0">
                <a:solidFill>
                  <a:srgbClr val="1C1B19"/>
                </a:solidFill>
                <a:latin typeface="Source Serif 4"/>
              </a:rPr>
              <a:t>Three hard moments (pairs)</a:t>
            </a:r>
          </a:p>
          <a:p>
            <a:pPr algn="l">
              <a:spcAft>
                <a:spcPts val="630"/>
              </a:spcAft>
            </a:pPr>
            <a:r>
              <a:rPr sz="1300" b="1" i="0">
                <a:solidFill>
                  <a:srgbClr val="F47B20"/>
                </a:solidFill>
                <a:latin typeface="Inter Tight"/>
              </a:rPr>
              <a:t>3 min   </a:t>
            </a:r>
            <a:r>
              <a:rPr sz="1400" b="0" i="0">
                <a:solidFill>
                  <a:srgbClr val="1C1B19"/>
                </a:solidFill>
                <a:latin typeface="Source Serif 4"/>
              </a:rPr>
              <a:t>Being the friend (private reflection) and the student page</a:t>
            </a:r>
          </a:p>
          <a:p>
            <a:pPr algn="l">
              <a:spcAft>
                <a:spcPts val="630"/>
              </a:spcAft>
            </a:pPr>
            <a:r>
              <a:rPr sz="1400" b="0" i="0">
                <a:solidFill>
                  <a:srgbClr val="1C1B19"/>
                </a:solidFill>
                <a:latin typeface="Source Serif 4"/>
              </a:rPr>
              <a:t/>
            </a:r>
          </a:p>
          <a:p>
            <a:pPr algn="l">
              <a:spcAft>
                <a:spcPts val="630"/>
              </a:spcAft>
            </a:pPr>
            <a:r>
              <a:rPr sz="1100" b="1" i="0">
                <a:solidFill>
                  <a:srgbClr val="0B2D5B"/>
                </a:solidFill>
                <a:latin typeface="Inter Tight"/>
              </a:rPr>
              <a:t>SHORT ON TIME (10-MINUTE CHECK-IN)</a:t>
            </a:r>
          </a:p>
          <a:p>
            <a:pPr algn="l">
              <a:spcAft>
                <a:spcPts val="630"/>
              </a:spcAft>
            </a:pPr>
            <a:r>
              <a:rPr sz="1400" b="0" i="0">
                <a:solidFill>
                  <a:srgbClr val="1C1B19"/>
                </a:solidFill>
                <a:latin typeface="Source Serif 4"/>
              </a:rPr>
              <a:t>Myth or true? thumbs vote (3), what helps (3), being the friend, private reflection (3), the student page link (1). The student page has the brain science, the scenarios and when to get more help.</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Before you teach</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Before you teach</a:t>
            </a:r>
          </a:p>
        </p:txBody>
      </p:sp>
      <p:sp>
        <p:nvSpPr>
          <p:cNvPr id="5" name="TextBox 4"/>
          <p:cNvSpPr txBox="1"/>
          <p:nvPr/>
        </p:nvSpPr>
        <p:spPr>
          <a:xfrm>
            <a:off x="548640" y="1463040"/>
            <a:ext cx="5394960" cy="493776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Someone in the circle may be in it right now.</a:t>
            </a:r>
          </a:p>
          <a:p>
            <a:pPr algn="l">
              <a:spcAft>
                <a:spcPts val="585"/>
              </a:spcAft>
            </a:pPr>
            <a:r>
              <a:rPr sz="1300" b="0" i="0">
                <a:solidFill>
                  <a:srgbClr val="1C1B19"/>
                </a:solidFill>
                <a:latin typeface="Source Serif 4"/>
              </a:rPr>
              <a:t>Maybe with someone else in the same advisory. Don't ask anyone to share their own relationship or breakup, and keep every couple in the grade out of the conversation. If a student starts telling their story, thank them and offer to talk after.</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Not everyone has dated, and that's fine.</a:t>
            </a:r>
          </a:p>
          <a:p>
            <a:pPr algn="l">
              <a:spcAft>
                <a:spcPts val="585"/>
              </a:spcAft>
            </a:pPr>
            <a:r>
              <a:rPr sz="1300" b="0" i="0">
                <a:solidFill>
                  <a:srgbClr val="1C1B19"/>
                </a:solidFill>
                <a:latin typeface="Source Serif 4"/>
              </a:rPr>
              <a:t>Frame the lesson as something everyone uses, since most students will be the friend someone texts at midnight. The closing reflection is about being that friend, so nobody needs experience to take part.</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Know the signs that need a counselor.</a:t>
            </a:r>
          </a:p>
          <a:p>
            <a:pPr algn="l">
              <a:spcAft>
                <a:spcPts val="585"/>
              </a:spcAft>
            </a:pPr>
            <a:r>
              <a:rPr sz="1300" b="0" i="0">
                <a:solidFill>
                  <a:srgbClr val="1C1B19"/>
                </a:solidFill>
                <a:latin typeface="Source Serif 4"/>
              </a:rPr>
              <a:t>Sadness that isn't easing after a few weeks, hopelessness, trouble eating, sleeping or getting to school. Don't ask about these in the circle. If you notice them or a student tells you, connect them with a counselor that day. 988 (call or text) is open any time, and The Trevor Project (1-866-488-7386, or text START to 678-678) is there for LGBTQ+ students.</a:t>
            </a:r>
          </a:p>
          <a:p>
            <a:pPr algn="l">
              <a:spcAft>
                <a:spcPts val="585"/>
              </a:spcAft>
            </a:pPr>
            <a:r>
              <a:rPr sz="1300" b="0" i="0">
                <a:solidFill>
                  <a:srgbClr val="1C1B19"/>
                </a:solidFill>
                <a:latin typeface="Source Serif 4"/>
              </a:rPr>
              <a:t/>
            </a:r>
          </a:p>
        </p:txBody>
      </p:sp>
      <p:sp>
        <p:nvSpPr>
          <p:cNvPr id="6" name="TextBox 5"/>
          <p:cNvSpPr txBox="1"/>
          <p:nvPr/>
        </p:nvSpPr>
        <p:spPr>
          <a:xfrm>
            <a:off x="6217920" y="1463040"/>
            <a:ext cx="5394960" cy="493776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Threats, harassment and private images go to an adult right away.</a:t>
            </a:r>
          </a:p>
          <a:p>
            <a:pPr algn="l">
              <a:spcAft>
                <a:spcPts val="585"/>
              </a:spcAft>
            </a:pPr>
            <a:r>
              <a:rPr sz="1300" b="0" i="0">
                <a:solidFill>
                  <a:srgbClr val="1C1B19"/>
                </a:solidFill>
                <a:latin typeface="Source Serif 4"/>
              </a:rPr>
              <a:t>If an ex is threatening, harassing or sharing private images, that's a same-day conversation with a counselor or dean. Don't ask to see anything. In Massachusetts, sharing explicit images without consent is a crime. love is respect (text LOVEIS to 22522) helps when an ex won't leave someone alone.</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Ending it in person isn't always safe.</a:t>
            </a:r>
          </a:p>
          <a:p>
            <a:pPr algn="l">
              <a:spcAft>
                <a:spcPts val="585"/>
              </a:spcAft>
            </a:pPr>
            <a:r>
              <a:rPr sz="1300" b="0" i="0">
                <a:solidFill>
                  <a:srgbClr val="1C1B19"/>
                </a:solidFill>
                <a:latin typeface="Source Serif 4"/>
              </a:rPr>
              <a:t>The Malik card says "if it's safe" on purpose. If a student says a partner scares them, take it out of the room and follow up with a counselor.</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Don't rank the loss.</a:t>
            </a:r>
          </a:p>
          <a:p>
            <a:pPr algn="l">
              <a:spcAft>
                <a:spcPts val="585"/>
              </a:spcAft>
            </a:pPr>
            <a:r>
              <a:rPr sz="1300" b="0" i="0">
                <a:solidFill>
                  <a:srgbClr val="1C1B19"/>
                </a:solidFill>
                <a:latin typeface="Source Serif 4"/>
              </a:rPr>
              <a:t>Short relationships, secret ones and first ones can hurt a lot, and so can a breakup the student chose. Avoid "you're young, there will be others." Let it be as big as it is.</a:t>
            </a:r>
          </a:p>
          <a:p>
            <a:pPr algn="l">
              <a:spcAft>
                <a:spcPts val="585"/>
              </a:spcAft>
            </a:pPr>
            <a:r>
              <a:rPr sz="1300" b="0" i="0">
                <a:solidFill>
                  <a:srgbClr val="1C1B19"/>
                </a:solidFill>
                <a:latin typeface="Source Serif 4"/>
              </a:rPr>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Every student in the room</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Every student in the room</a:t>
            </a:r>
          </a:p>
        </p:txBody>
      </p:sp>
      <p:sp>
        <p:nvSpPr>
          <p:cNvPr id="5" name="TextBox 4"/>
          <p:cNvSpPr txBox="1"/>
          <p:nvPr/>
        </p:nvSpPr>
        <p:spPr>
          <a:xfrm>
            <a:off x="548640" y="1325880"/>
            <a:ext cx="10972800" cy="365760"/>
          </a:xfrm>
          <a:prstGeom prst="rect">
            <a:avLst/>
          </a:prstGeom>
          <a:noFill/>
        </p:spPr>
        <p:txBody>
          <a:bodyPr wrap="square" anchor="t" lIns="0" rIns="0" tIns="0" bIns="0">
            <a:spAutoFit/>
          </a:bodyPr>
          <a:lstStyle/>
          <a:p>
            <a:pPr algn="l">
              <a:spcAft>
                <a:spcPts val="630"/>
              </a:spcAft>
            </a:pPr>
            <a:r>
              <a:rPr sz="1400" b="0" i="0">
                <a:solidFill>
                  <a:srgbClr val="5D5A54"/>
                </a:solidFill>
                <a:latin typeface="Inter Tight"/>
              </a:rPr>
              <a:t>Culture, family, identity, ability and money: what to keep in mind for this topic.</a:t>
            </a:r>
          </a:p>
        </p:txBody>
      </p:sp>
      <p:sp>
        <p:nvSpPr>
          <p:cNvPr id="6" name="TextBox 5"/>
          <p:cNvSpPr txBox="1"/>
          <p:nvPr/>
        </p:nvSpPr>
        <p:spPr>
          <a:xfrm>
            <a:off x="548640" y="1828800"/>
            <a:ext cx="5394960" cy="457200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Partners can be any gender.</a:t>
            </a:r>
          </a:p>
          <a:p>
            <a:pPr algn="l">
              <a:spcAft>
                <a:spcPts val="585"/>
              </a:spcAft>
            </a:pPr>
            <a:r>
              <a:rPr sz="1300" b="0" i="0">
                <a:solidFill>
                  <a:srgbClr val="1C1B19"/>
                </a:solidFill>
                <a:latin typeface="Source Serif 4"/>
              </a:rPr>
              <a:t>Say "ex," "partner" or "someone you dated," and keep the scenarios as written: none of them names a gender for the ex. A student who isn't out may be grieving a relationship nobody knew about. If home isn't safe to talk about it, a counselor can help them figure out who is.</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Some families don't allow dating.</a:t>
            </a:r>
          </a:p>
          <a:p>
            <a:pPr algn="l">
              <a:spcAft>
                <a:spcPts val="585"/>
              </a:spcAft>
            </a:pPr>
            <a:r>
              <a:rPr sz="1300" b="0" i="0">
                <a:solidFill>
                  <a:srgbClr val="1C1B19"/>
                </a:solidFill>
                <a:latin typeface="Source Serif 4"/>
              </a:rPr>
              <a:t>Rules about dating come from faith, culture and family, and they vary a lot. A student may have kept a relationship secret and have nobody at home to tell. Don't ask why, and don't judge their family. Name school adults as a place to bring it.</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Anyone can grieve, and anyone can end it.</a:t>
            </a:r>
          </a:p>
          <a:p>
            <a:pPr algn="l">
              <a:spcAft>
                <a:spcPts val="585"/>
              </a:spcAft>
            </a:pPr>
            <a:r>
              <a:rPr sz="1300" b="0" i="0">
                <a:solidFill>
                  <a:srgbClr val="1C1B19"/>
                </a:solidFill>
                <a:latin typeface="Source Serif 4"/>
              </a:rPr>
              <a:t>Rafael is the one hurting and Malik is the one ending it, on purpose. Guys can cry over a breakup, girls can be the one who leaves, and nonbinary students go through all of it too. Keep "guys don't care" and "girls are dramatic" out of the room.</a:t>
            </a:r>
          </a:p>
          <a:p>
            <a:pPr algn="l">
              <a:spcAft>
                <a:spcPts val="585"/>
              </a:spcAft>
            </a:pPr>
            <a:r>
              <a:rPr sz="1300" b="0" i="0">
                <a:solidFill>
                  <a:srgbClr val="1C1B19"/>
                </a:solidFill>
                <a:latin typeface="Source Serif 4"/>
              </a:rPr>
              <a:t/>
            </a:r>
          </a:p>
        </p:txBody>
      </p:sp>
      <p:sp>
        <p:nvSpPr>
          <p:cNvPr id="7" name="TextBox 6"/>
          <p:cNvSpPr txBox="1"/>
          <p:nvPr/>
        </p:nvSpPr>
        <p:spPr>
          <a:xfrm>
            <a:off x="6217920" y="1828800"/>
            <a:ext cx="5394960" cy="457200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"Tell someone" means any adult they trust.</a:t>
            </a:r>
          </a:p>
          <a:p>
            <a:pPr algn="l">
              <a:spcAft>
                <a:spcPts val="585"/>
              </a:spcAft>
            </a:pPr>
            <a:r>
              <a:rPr sz="1300" b="0" i="0">
                <a:solidFill>
                  <a:srgbClr val="1C1B19"/>
                </a:solidFill>
                <a:latin typeface="Source Serif 4"/>
              </a:rPr>
              <a:t>That could be a parent or caregiver, a grandparent, an older sibling or cousin, a coach or a counselor. Not every student lives with two parents or can bring this home, so always name a school adult too.</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Rumination and routine changes hit some students harder.</a:t>
            </a:r>
          </a:p>
          <a:p>
            <a:pPr algn="l">
              <a:spcAft>
                <a:spcPts val="585"/>
              </a:spcAft>
            </a:pPr>
            <a:r>
              <a:rPr sz="1300" b="0" i="0">
                <a:solidFill>
                  <a:srgbClr val="1C1B19"/>
                </a:solidFill>
                <a:latin typeface="Source Serif 4"/>
              </a:rPr>
              <a:t>Students with ADHD, anxiety or autism may find replaying thoughts, a song in the car, or a sudden change in lunch table or routine extra hard. "Keep your routine" and "script the shared spaces" help here. Pair talk can be swapped for writing for students who'd rather not speak.</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Every move is free.</a:t>
            </a:r>
          </a:p>
          <a:p>
            <a:pPr algn="l">
              <a:spcAft>
                <a:spcPts val="585"/>
              </a:spcAft>
            </a:pPr>
            <a:r>
              <a:rPr sz="1300" b="0" i="0">
                <a:solidFill>
                  <a:srgbClr val="1C1B19"/>
                </a:solidFill>
                <a:latin typeface="Source Serif 4"/>
              </a:rPr>
              <a:t>Muting, archiving, writing the message you won't send and keeping a routine cost nothing. When you mention distraction, say "a walk, a roll, a stretch, a show, a friend," and "the ride or walk home" so the advice fits students without a car, a gym or spending money.</a:t>
            </a:r>
          </a:p>
          <a:p>
            <a:pPr algn="l">
              <a:spcAft>
                <a:spcPts val="585"/>
              </a:spcAft>
            </a:pPr>
            <a:r>
              <a:rPr sz="1300" b="0" i="0">
                <a:solidFill>
                  <a:srgbClr val="1C1B19"/>
                </a:solidFill>
                <a:latin typeface="Source Serif 4"/>
              </a:rPr>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Background</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What the research says</a:t>
            </a:r>
          </a:p>
        </p:txBody>
      </p:sp>
      <p:sp>
        <p:nvSpPr>
          <p:cNvPr id="5" name="TextBox 4"/>
          <p:cNvSpPr txBox="1"/>
          <p:nvPr/>
        </p:nvSpPr>
        <p:spPr>
          <a:xfrm>
            <a:off x="548640" y="1463040"/>
            <a:ext cx="5394960" cy="4937760"/>
          </a:xfrm>
          <a:prstGeom prst="rect">
            <a:avLst/>
          </a:prstGeom>
          <a:noFill/>
        </p:spPr>
        <p:txBody>
          <a:bodyPr wrap="square" anchor="t" lIns="0" rIns="0" tIns="0" bIns="0">
            <a:spAutoFit/>
          </a:bodyPr>
          <a:lstStyle/>
          <a:p>
            <a:pPr algn="l">
              <a:spcAft>
                <a:spcPts val="585"/>
              </a:spcAft>
            </a:pPr>
            <a:r>
              <a:rPr sz="1300" b="0" i="0">
                <a:solidFill>
                  <a:srgbClr val="1C1B19"/>
                </a:solidFill>
                <a:latin typeface="Source Serif 4"/>
              </a:rPr>
              <a:t>In brain scans of people recently rejected but still in love, a hub of the dopamine system lit up at a photo of their ex, much as it does in people happily in love. The researchers noted overlap with regions involved in craving; whether rejection works like addiction is still debated.</a:t>
            </a:r>
          </a:p>
          <a:p>
            <a:pPr algn="l">
              <a:spcAft>
                <a:spcPts val="585"/>
              </a:spcAft>
            </a:pPr>
            <a:r>
              <a:rPr sz="1050" b="0" i="0">
                <a:solidFill>
                  <a:srgbClr val="5D5A54"/>
                </a:solidFill>
                <a:latin typeface="Inter Tight"/>
              </a:rPr>
              <a:t>Fisher, Brown, Aron, Strong and Mashek, Journal of Neurophysiology, 2010</a:t>
            </a:r>
          </a:p>
          <a:p>
            <a:pPr algn="l">
              <a:spcAft>
                <a:spcPts val="585"/>
              </a:spcAft>
            </a:pPr>
            <a:r>
              <a:rPr sz="1300" b="0" i="0">
                <a:solidFill>
                  <a:srgbClr val="1C1B19"/>
                </a:solidFill>
                <a:latin typeface="Source Serif 4"/>
              </a:rPr>
              <a:t>40 people who'd had an unwanted breakup in the past six months looked at their ex's photo in a scanner. Areas that also process physical pain became active. Other scientists argue those areas aren't pain-specific.</a:t>
            </a:r>
          </a:p>
          <a:p>
            <a:pPr algn="l">
              <a:spcAft>
                <a:spcPts val="585"/>
              </a:spcAft>
            </a:pPr>
            <a:r>
              <a:rPr sz="1050" b="0" i="0">
                <a:solidFill>
                  <a:srgbClr val="5D5A54"/>
                </a:solidFill>
                <a:latin typeface="Inter Tight"/>
              </a:rPr>
              <a:t>Kross, Berman, Mischel, Smith and Wager, PNAS, 2011</a:t>
            </a:r>
          </a:p>
          <a:p>
            <a:pPr algn="l">
              <a:spcAft>
                <a:spcPts val="585"/>
              </a:spcAft>
            </a:pPr>
            <a:r>
              <a:rPr sz="1300" b="0" i="0">
                <a:solidFill>
                  <a:srgbClr val="1C1B19"/>
                </a:solidFill>
                <a:latin typeface="Source Serif 4"/>
              </a:rPr>
              <a:t>College students predicted how upset they'd be after a breakup, and those who broke up were followed. Most overestimated their distress, and the most in love overestimated it most.</a:t>
            </a:r>
          </a:p>
          <a:p>
            <a:pPr algn="l">
              <a:spcAft>
                <a:spcPts val="585"/>
              </a:spcAft>
            </a:pPr>
            <a:r>
              <a:rPr sz="1050" b="0" i="0">
                <a:solidFill>
                  <a:srgbClr val="5D5A54"/>
                </a:solidFill>
                <a:latin typeface="Inter Tight"/>
              </a:rPr>
              <a:t>Eastwick, Finkel, Krishnamurti and Loewenstein, Journal of Experimental Social Psychology, 2008</a:t>
            </a:r>
          </a:p>
          <a:p>
            <a:pPr algn="l">
              <a:spcAft>
                <a:spcPts val="585"/>
              </a:spcAft>
            </a:pPr>
            <a:r>
              <a:rPr sz="1300" b="0" i="0">
                <a:solidFill>
                  <a:srgbClr val="1C1B19"/>
                </a:solidFill>
                <a:latin typeface="Source Serif 4"/>
              </a:rPr>
              <a:t>In a study of 1,470 older teens, a recent romantic breakup was linked to a higher chance of a first episode of major depression.</a:t>
            </a:r>
          </a:p>
          <a:p>
            <a:pPr algn="l">
              <a:spcAft>
                <a:spcPts val="585"/>
              </a:spcAft>
            </a:pPr>
            <a:r>
              <a:rPr sz="1050" b="0" i="0">
                <a:solidFill>
                  <a:srgbClr val="5D5A54"/>
                </a:solidFill>
                <a:latin typeface="Inter Tight"/>
              </a:rPr>
              <a:t>Monroe, Rohde, Seeley and Lewinsohn, Journal of Abnormal Psychology, 1999</a:t>
            </a:r>
          </a:p>
        </p:txBody>
      </p:sp>
      <p:sp>
        <p:nvSpPr>
          <p:cNvPr id="6" name="TextBox 5"/>
          <p:cNvSpPr txBox="1"/>
          <p:nvPr/>
        </p:nvSpPr>
        <p:spPr>
          <a:xfrm>
            <a:off x="6217920" y="1463040"/>
            <a:ext cx="5394960" cy="4937760"/>
          </a:xfrm>
          <a:prstGeom prst="rect">
            <a:avLst/>
          </a:prstGeom>
          <a:noFill/>
        </p:spPr>
        <p:txBody>
          <a:bodyPr wrap="square" anchor="t" lIns="0" rIns="0" tIns="0" bIns="0">
            <a:spAutoFit/>
          </a:bodyPr>
          <a:lstStyle/>
          <a:p>
            <a:pPr algn="l">
              <a:spcAft>
                <a:spcPts val="585"/>
              </a:spcAft>
            </a:pPr>
            <a:r>
              <a:rPr sz="1300" b="0" i="0">
                <a:solidFill>
                  <a:srgbClr val="1C1B19"/>
                </a:solidFill>
                <a:latin typeface="Source Serif 4"/>
              </a:rPr>
              <a:t>In 210 young adults after a breakup, those who reflected on it repeatedly regained a clearer sense of who they were. That clearer sense of self predicted less loneliness and fewer intrusive thoughts.</a:t>
            </a:r>
          </a:p>
          <a:p>
            <a:pPr algn="l">
              <a:spcAft>
                <a:spcPts val="585"/>
              </a:spcAft>
            </a:pPr>
            <a:r>
              <a:rPr sz="1050" b="0" i="0">
                <a:solidFill>
                  <a:srgbClr val="5D5A54"/>
                </a:solidFill>
                <a:latin typeface="Inter Tight"/>
              </a:rPr>
              <a:t>Larson and Sbarra, Social Psychological and Personality Science, 2015</a:t>
            </a:r>
          </a:p>
          <a:p>
            <a:pPr algn="l">
              <a:spcAft>
                <a:spcPts val="585"/>
              </a:spcAft>
            </a:pPr>
            <a:r>
              <a:rPr sz="1300" b="0" i="0">
                <a:solidFill>
                  <a:srgbClr val="1C1B19"/>
                </a:solidFill>
                <a:latin typeface="Source Serif 4"/>
              </a:rPr>
              <a:t>Among 464 people, those who kept checking an ex's profile reported more distress, more longing and less personal growth. The study can't prove checking causes the pain.</a:t>
            </a:r>
          </a:p>
          <a:p>
            <a:pPr algn="l">
              <a:spcAft>
                <a:spcPts val="585"/>
              </a:spcAft>
            </a:pPr>
            <a:r>
              <a:rPr sz="1050" b="0" i="0">
                <a:solidFill>
                  <a:srgbClr val="5D5A54"/>
                </a:solidFill>
                <a:latin typeface="Inter Tight"/>
              </a:rPr>
              <a:t>Marshall, Cyberpsychology, Behavior, and Social Networking, 2012</a:t>
            </a:r>
          </a:p>
          <a:p>
            <a:pPr algn="l">
              <a:spcAft>
                <a:spcPts val="585"/>
              </a:spcAft>
            </a:pPr>
            <a:r>
              <a:rPr sz="1300" b="0" i="0">
                <a:solidFill>
                  <a:srgbClr val="1C1B19"/>
                </a:solidFill>
                <a:latin typeface="Source Serif 4"/>
              </a:rPr>
              <a:t>Focusing on an ex's flaws lowered love feelings but made people feel worse in the moment. Distraction lifted mood but didn't change love feelings.</a:t>
            </a:r>
          </a:p>
          <a:p>
            <a:pPr algn="l">
              <a:spcAft>
                <a:spcPts val="585"/>
              </a:spcAft>
            </a:pPr>
            <a:r>
              <a:rPr sz="1050" b="0" i="0">
                <a:solidFill>
                  <a:srgbClr val="5D5A54"/>
                </a:solidFill>
                <a:latin typeface="Inter Tight"/>
              </a:rPr>
              <a:t>Langeslag and Sanchez, Journal of Experimental Psychology: General, 2018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