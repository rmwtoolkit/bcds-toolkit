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hidden and skipped when you present. The full plan, care notes and research are on the hidden pages at the end of the deck, if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plainly: "You all know screenshots exist. Today is about how fast copies multiply, why people post things they'd never say out loud, and what to do when it goes wrong."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Act it out: one student stands, picks three classmates who stand, each of them "shows" three more. You'll run out of room fast. This is an illustration, not data. Point out that disappearing messages, private stories and close friends control the original, never the screenshot, the screen recording, or another phone pointed at the screen.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MINUTES. Marwick and boyd named context collapse in 2011; Suler named online disinhibition in 2004. Ask for an example of each without names: "Something that was funny in one chat and terrible in another." "Something people type that they'd never say to a face." Note that anger and trying hardest to be funny are when disinhibition runs highest.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Tell the 2017 Harvard story briefly: at least ten incoming students lost their admission over offensive memes in a group chat they thought was private. Someone screenshotted it. Then put it in proportion: most admissions officers don't check. The post you'd most want back is usually the one you made angriest or trying hardest to be funny.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MINUTES. Write a made-up post on the board, for example a furious post about a teacher or a joke about a classmate's outfit. In pairs, students run it past all four readers and rewrite it, or decide to wait. Share a few rewrites. Add the habit: if you're angry, write it in your notes app, not the chat, and decide in the morning.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MINUTES. One card per group, then report back. The class chat: don't react or forward, message her privately, and report it or tell an adult. Screenshotting it "to show how messed up it is" makes one more copy. Theo: ask them to take it down now, and check that Theo is okay. Nia: save it as a draft and ask the coach for a conversation tomorrow. Posting it without his name still points at him. Ask: "Which of these is hardest to do when everyone else is laughing?"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Say slowly: "Being exposed feels unbearable in the first days. It gets smaller with support." Since May 2026, covered platforms must remove reported intimate images shared without consent within 48 hours. If someone is using screenshots to threaten or blackmail a student, that's urgent: tell an adult the same day.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Collect anonymously. Share the take-home link on the slide. It has the spread diagram, the four-audience test, a private pre-send checklist, the take-down services, and who to talk to.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more: this page and the next three are hidden and skipped when you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start</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Screenshot Culture</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Health class, advisory, or a counselor-led group</a:t>
            </a:r>
          </a:p>
        </p:txBody>
      </p:sp>
      <p:sp>
        <p:nvSpPr>
          <p:cNvPr id="6" name="TextBox 5"/>
          <p:cNvSpPr txBox="1"/>
          <p:nvPr/>
        </p:nvSpPr>
        <p:spPr>
          <a:xfrm>
            <a:off x="548640" y="2011680"/>
            <a:ext cx="11064240" cy="4206240"/>
          </a:xfrm>
          <a:prstGeom prst="rect">
            <a:avLst/>
          </a:prstGeom>
          <a:noFill/>
        </p:spPr>
        <p:txBody>
          <a:bodyPr wrap="square" anchor="t" lIns="0" rIns="0" tIns="0" bIns="0">
            <a:spAutoFit/>
          </a:bodyPr>
          <a:lstStyle/>
          <a:p>
            <a:pPr algn="l">
              <a:spcAft>
                <a:spcPts val="810"/>
              </a:spcAft>
            </a:pPr>
            <a:r>
              <a:rPr sz="1200" b="1" i="0">
                <a:solidFill>
                  <a:srgbClr val="0B2D5B"/>
                </a:solidFill>
                <a:latin typeface="Inter Tight"/>
              </a:rPr>
              <a:t>BEFORE YOU START</a:t>
            </a:r>
          </a:p>
          <a:p>
            <a:pPr algn="l">
              <a:spcAft>
                <a:spcPts val="810"/>
              </a:spcAft>
            </a:pPr>
            <a:r>
              <a:rPr sz="1800" b="0" i="0">
                <a:solidFill>
                  <a:srgbClr val="1C1B19"/>
                </a:solidFill>
                <a:latin typeface="Source Serif 4"/>
              </a:rPr>
              <a:t>Students learn why every message is a copy they don't control, why people post things they'd never say out loud, and the four-audience test before sending. Keep examples about the characters rather than real chats, and if a student says something private of theirs is being shared or used to threaten them, walk them to a counselor that day.</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EVERY STUDENT IN THE ROOM</a:t>
            </a:r>
          </a:p>
          <a:p>
            <a:pPr algn="l">
              <a:spcAft>
                <a:spcPts val="810"/>
              </a:spcAft>
            </a:pPr>
            <a:r>
              <a:rPr sz="1800" b="0" i="0">
                <a:solidFill>
                  <a:srgbClr val="1C1B19"/>
                </a:solidFill>
                <a:latin typeface="Source Serif 4"/>
              </a:rPr>
              <a:t>Students whose private details get used against them (an eating disorder, being LGBTQ+, a disability, immigration status, money at home) carry the highest stakes; make clear that sharing someone else's secret is never fair just because it's true.</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SHORT ON TIME (20-MINUTE ADVISORY)</a:t>
            </a:r>
          </a:p>
          <a:p>
            <a:pPr algn="l">
              <a:spcAft>
                <a:spcPts val="810"/>
              </a:spcAft>
            </a:pPr>
            <a:r>
              <a:rPr sz="1800" b="0" i="0">
                <a:solidFill>
                  <a:srgbClr val="1C1B19"/>
                </a:solidFill>
                <a:latin typeface="Source Serif 4"/>
              </a:rPr>
              <a:t>How one screenshot spreads (4), the four-audience test (6), one of the three situations (6), exit card (4). Share the take-home link so students get the rest.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SCREENSHOT CULTURE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Screenshot Culture</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Every message is a copy you don't control.</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
        <p:nvSpPr>
          <p:cNvPr id="8" name="TextBox 7"/>
          <p:cNvSpPr txBox="1"/>
          <p:nvPr/>
        </p:nvSpPr>
        <p:spPr>
          <a:xfrm>
            <a:off x="6766560" y="5897880"/>
            <a:ext cx="4846320" cy="640080"/>
          </a:xfrm>
          <a:prstGeom prst="rect">
            <a:avLst/>
          </a:prstGeom>
          <a:noFill/>
        </p:spPr>
        <p:txBody>
          <a:bodyPr wrap="square" anchor="t" lIns="0" rIns="0" tIns="0" bIns="0">
            <a:spAutoFit/>
          </a:bodyPr>
          <a:lstStyle/>
          <a:p>
            <a:pPr algn="r">
              <a:spcAft>
                <a:spcPts val="495"/>
              </a:spcAft>
            </a:pPr>
            <a:r>
              <a:rPr sz="1100" b="0" i="0">
                <a:solidFill>
                  <a:srgbClr val="E8E4DA"/>
                </a:solidFill>
                <a:latin typeface="Inter Tight"/>
              </a:rPr>
              <a:t>Written by Dr. Rick Wilson, with AI-assisted drafting. Every lesson is reviewed and edited by Dr. Wilson.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HOW ONE SCREENSHOT SPREADS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One choice. Everyone after you makes the rest.</a:t>
            </a:r>
          </a:p>
        </p:txBody>
      </p:sp>
      <p:sp>
        <p:nvSpPr>
          <p:cNvPr id="6" name="Rectangle 5"/>
          <p:cNvSpPr/>
          <p:nvPr/>
        </p:nvSpPr>
        <p:spPr>
          <a:xfrm>
            <a:off x="82296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1 person</a:t>
            </a:r>
          </a:p>
        </p:txBody>
      </p:sp>
      <p:cxnSp>
        <p:nvCxnSpPr>
          <p:cNvPr id="8" name="Connector 7"/>
          <p:cNvCxnSpPr/>
          <p:nvPr/>
        </p:nvCxnSpPr>
        <p:spPr>
          <a:xfrm>
            <a:off x="2752344" y="3246120"/>
            <a:ext cx="176021"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983229"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83229"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3 people</a:t>
            </a:r>
          </a:p>
        </p:txBody>
      </p:sp>
      <p:cxnSp>
        <p:nvCxnSpPr>
          <p:cNvPr id="11" name="Connector 10"/>
          <p:cNvCxnSpPr/>
          <p:nvPr/>
        </p:nvCxnSpPr>
        <p:spPr>
          <a:xfrm>
            <a:off x="4912614" y="3246120"/>
            <a:ext cx="176022"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514350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4350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9 more</a:t>
            </a:r>
          </a:p>
        </p:txBody>
      </p:sp>
      <p:cxnSp>
        <p:nvCxnSpPr>
          <p:cNvPr id="14" name="Connector 13"/>
          <p:cNvCxnSpPr/>
          <p:nvPr/>
        </p:nvCxnSpPr>
        <p:spPr>
          <a:xfrm>
            <a:off x="7072883" y="3246120"/>
            <a:ext cx="176023"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730377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0377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27 more</a:t>
            </a:r>
          </a:p>
        </p:txBody>
      </p:sp>
      <p:cxnSp>
        <p:nvCxnSpPr>
          <p:cNvPr id="17" name="Connector 16"/>
          <p:cNvCxnSpPr/>
          <p:nvPr/>
        </p:nvCxnSpPr>
        <p:spPr>
          <a:xfrm>
            <a:off x="9233154" y="3246120"/>
            <a:ext cx="176022"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946404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6404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81 more</a:t>
            </a:r>
          </a:p>
        </p:txBody>
      </p:sp>
      <p:sp>
        <p:nvSpPr>
          <p:cNvPr id="20" name="TextBox 19"/>
          <p:cNvSpPr txBox="1"/>
          <p:nvPr/>
        </p:nvSpPr>
        <p:spPr>
          <a:xfrm>
            <a:off x="822960" y="4160520"/>
            <a:ext cx="10515600" cy="457200"/>
          </a:xfrm>
          <a:prstGeom prst="rect">
            <a:avLst/>
          </a:prstGeom>
          <a:noFill/>
        </p:spPr>
        <p:txBody>
          <a:bodyPr wrap="square" anchor="t" lIns="0" rIns="0" tIns="0" bIns="0">
            <a:spAutoFit/>
          </a:bodyPr>
          <a:lstStyle/>
          <a:p>
            <a:pPr algn="ctr">
              <a:spcAft>
                <a:spcPts val="810"/>
              </a:spcAft>
            </a:pPr>
            <a:r>
              <a:rPr sz="1800" b="1" i="0">
                <a:solidFill>
                  <a:srgbClr val="F47B20"/>
                </a:solidFill>
                <a:latin typeface="Inter Tight"/>
              </a:rPr>
              <a:t/>
            </a:r>
          </a:p>
        </p:txBody>
      </p:sp>
      <p:sp>
        <p:nvSpPr>
          <p:cNvPr id="21" name="TextBox 20"/>
          <p:cNvSpPr txBox="1"/>
          <p:nvPr/>
        </p:nvSpPr>
        <p:spPr>
          <a:xfrm>
            <a:off x="822960" y="4846320"/>
            <a:ext cx="10515600" cy="1188720"/>
          </a:xfrm>
          <a:prstGeom prst="rect">
            <a:avLst/>
          </a:prstGeom>
          <a:noFill/>
        </p:spPr>
        <p:txBody>
          <a:bodyPr wrap="square" anchor="t" lIns="0" rIns="0" tIns="0" bIns="0">
            <a:spAutoFit/>
          </a:bodyPr>
          <a:lstStyle/>
          <a:p>
            <a:pPr algn="ctr">
              <a:spcAft>
                <a:spcPts val="900"/>
              </a:spcAft>
            </a:pPr>
            <a:r>
              <a:rPr sz="2000" b="0" i="1">
                <a:solidFill>
                  <a:srgbClr val="5D5A54"/>
                </a:solidFill>
                <a:latin typeface="Source Serif 4"/>
              </a:rPr>
              <a:t>Four rounds of sharing reach 121 people. In a big group chat it takes minutes.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WHY IT HAPPENS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Two ideas worth knowing</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CONTEXT COLLAPSE</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All your audiences squeezed into one</a:t>
            </a:r>
          </a:p>
          <a:p>
            <a:pPr algn="l">
              <a:spcAft>
                <a:spcPts val="855"/>
              </a:spcAft>
            </a:pPr>
            <a:r>
              <a:rPr sz="1900" b="0" i="0">
                <a:solidFill>
                  <a:srgbClr val="1C1B19"/>
                </a:solidFill>
                <a:latin typeface="Source Serif 4"/>
              </a:rPr>
              <a:t>Friends, family, teachers, strangers</a:t>
            </a:r>
          </a:p>
          <a:p>
            <a:pPr algn="l">
              <a:spcAft>
                <a:spcPts val="855"/>
              </a:spcAft>
            </a:pPr>
            <a:r>
              <a:rPr sz="1900" b="0" i="0">
                <a:solidFill>
                  <a:srgbClr val="1C1B19"/>
                </a:solidFill>
                <a:latin typeface="Source Serif 4"/>
              </a:rPr>
              <a:t>A joke for five reads differently to 500</a:t>
            </a:r>
          </a:p>
          <a:p>
            <a:pPr algn="l">
              <a:spcAft>
                <a:spcPts val="855"/>
              </a:spcAft>
            </a:pPr>
            <a:r>
              <a:rPr sz="1900" b="0" i="0">
                <a:solidFill>
                  <a:srgbClr val="1C1B19"/>
                </a:solidFill>
                <a:latin typeface="Source Serif 4"/>
              </a:rPr>
              <a:t>You can't choose who sees the copy</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ONLINE DISINHIBITION</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No faces to read</a:t>
            </a:r>
          </a:p>
          <a:p>
            <a:pPr algn="l">
              <a:spcAft>
                <a:spcPts val="855"/>
              </a:spcAft>
            </a:pPr>
            <a:r>
              <a:rPr sz="1900" b="0" i="0">
                <a:solidFill>
                  <a:srgbClr val="1C1B19"/>
                </a:solidFill>
                <a:latin typeface="Source Serif 4"/>
              </a:rPr>
              <a:t>No tone of voice</a:t>
            </a:r>
          </a:p>
          <a:p>
            <a:pPr algn="l">
              <a:spcAft>
                <a:spcPts val="855"/>
              </a:spcAft>
            </a:pPr>
            <a:r>
              <a:rPr sz="1900" b="0" i="0">
                <a:solidFill>
                  <a:srgbClr val="1C1B19"/>
                </a:solidFill>
                <a:latin typeface="Source Serif 4"/>
              </a:rPr>
              <a:t>It feels like it doesn't count</a:t>
            </a:r>
          </a:p>
          <a:p>
            <a:pPr algn="l">
              <a:spcAft>
                <a:spcPts val="855"/>
              </a:spcAft>
            </a:pPr>
            <a:r>
              <a:rPr sz="1900" b="0" i="0">
                <a:solidFill>
                  <a:srgbClr val="1C1B19"/>
                </a:solidFill>
                <a:latin typeface="Source Serif 4"/>
              </a:rPr>
              <a:t>It counts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NUMBERS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914400"/>
            <a:ext cx="10515600" cy="365760"/>
          </a:xfrm>
          <a:prstGeom prst="rect">
            <a:avLst/>
          </a:prstGeom>
          <a:noFill/>
        </p:spPr>
        <p:txBody>
          <a:bodyPr wrap="square" anchor="t" lIns="0" rIns="0" tIns="0" bIns="0">
            <a:spAutoFit/>
          </a:bodyPr>
          <a:lstStyle/>
          <a:p>
            <a:pPr algn="l">
              <a:spcAft>
                <a:spcPts val="630"/>
              </a:spcAft>
            </a:pPr>
            <a:r>
              <a:rPr sz="1400" b="1" i="0">
                <a:solidFill>
                  <a:srgbClr val="0B2D5B"/>
                </a:solidFill>
                <a:latin typeface="Inter Tight"/>
              </a:rPr>
              <a:t>Pew Research Center, 2022  ·  Madigan et al., 2018  ·  Kaplan, 2024</a:t>
            </a:r>
          </a:p>
        </p:txBody>
      </p:sp>
      <p:sp>
        <p:nvSpPr>
          <p:cNvPr id="6" name="TextBox 5"/>
          <p:cNvSpPr txBox="1"/>
          <p:nvPr/>
        </p:nvSpPr>
        <p:spPr>
          <a:xfrm>
            <a:off x="822960" y="1325880"/>
            <a:ext cx="10515600" cy="1097280"/>
          </a:xfrm>
          <a:prstGeom prst="rect">
            <a:avLst/>
          </a:prstGeom>
          <a:noFill/>
        </p:spPr>
        <p:txBody>
          <a:bodyPr wrap="square" anchor="t" lIns="0" rIns="0" tIns="0" bIns="0">
            <a:spAutoFit/>
          </a:bodyPr>
          <a:lstStyle/>
          <a:p>
            <a:pPr algn="l">
              <a:spcAft>
                <a:spcPts val="1440"/>
              </a:spcAft>
            </a:pPr>
            <a:r>
              <a:rPr sz="3200" b="1" i="0">
                <a:solidFill>
                  <a:srgbClr val="1C1B19"/>
                </a:solidFill>
                <a:latin typeface="Source Serif 4"/>
              </a:rPr>
              <a:t>How common this is, and who looks.</a:t>
            </a:r>
          </a:p>
        </p:txBody>
      </p:sp>
      <p:sp>
        <p:nvSpPr>
          <p:cNvPr id="7" name="TextBox 6"/>
          <p:cNvSpPr txBox="1"/>
          <p:nvPr/>
        </p:nvSpPr>
        <p:spPr>
          <a:xfrm>
            <a:off x="822960" y="2514600"/>
            <a:ext cx="10515600" cy="21945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  46% of teens have faced some form of cyberbullying.</a:t>
            </a:r>
          </a:p>
          <a:p>
            <a:pPr algn="l">
              <a:spcAft>
                <a:spcPts val="855"/>
              </a:spcAft>
            </a:pPr>
            <a:r>
              <a:rPr sz="1900" b="0" i="0">
                <a:solidFill>
                  <a:srgbClr val="1C1B19"/>
                </a:solidFill>
                <a:latin typeface="Source Serif 4"/>
              </a:rPr>
              <a:t>•  22% had false rumors spread about them online.</a:t>
            </a:r>
          </a:p>
          <a:p>
            <a:pPr algn="l">
              <a:spcAft>
                <a:spcPts val="855"/>
              </a:spcAft>
            </a:pPr>
            <a:r>
              <a:rPr sz="1900" b="0" i="0">
                <a:solidFill>
                  <a:srgbClr val="1C1B19"/>
                </a:solidFill>
                <a:latin typeface="Source Serif 4"/>
              </a:rPr>
              <a:t>•  About 12% have forwarded a sext without consent.</a:t>
            </a:r>
          </a:p>
          <a:p>
            <a:pPr algn="l">
              <a:spcAft>
                <a:spcPts val="855"/>
              </a:spcAft>
            </a:pPr>
            <a:r>
              <a:rPr sz="1900" b="0" i="0">
                <a:solidFill>
                  <a:srgbClr val="1C1B19"/>
                </a:solidFill>
                <a:latin typeface="Source Serif 4"/>
              </a:rPr>
              <a:t>•  67% of admissions officers say social media is fair game. 28% have looked.</a:t>
            </a:r>
          </a:p>
        </p:txBody>
      </p:sp>
      <p:sp>
        <p:nvSpPr>
          <p:cNvPr id="8" name="Rectangle 7"/>
          <p:cNvSpPr/>
          <p:nvPr/>
        </p:nvSpPr>
        <p:spPr>
          <a:xfrm>
            <a:off x="822960" y="4892040"/>
            <a:ext cx="73152" cy="109728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92040"/>
            <a:ext cx="10241280" cy="1188720"/>
          </a:xfrm>
          <a:prstGeom prst="rect">
            <a:avLst/>
          </a:prstGeom>
          <a:noFill/>
        </p:spPr>
        <p:txBody>
          <a:bodyPr wrap="square" anchor="t" lIns="0" rIns="0" tIns="0" bIns="0">
            <a:spAutoFit/>
          </a:bodyPr>
          <a:lstStyle/>
          <a:p>
            <a:pPr algn="l">
              <a:spcAft>
                <a:spcPts val="855"/>
              </a:spcAft>
            </a:pPr>
            <a:r>
              <a:rPr sz="1200" b="1" i="0">
                <a:solidFill>
                  <a:srgbClr val="F47B20"/>
                </a:solidFill>
                <a:latin typeface="Inter Tight"/>
              </a:rPr>
              <a:t>IN CLASS</a:t>
            </a:r>
          </a:p>
          <a:p>
            <a:pPr algn="l">
              <a:spcAft>
                <a:spcPts val="855"/>
              </a:spcAft>
            </a:pPr>
            <a:r>
              <a:rPr sz="1900" b="0" i="0">
                <a:solidFill>
                  <a:srgbClr val="1C1B19"/>
                </a:solidFill>
                <a:latin typeface="Source Serif 4"/>
              </a:rPr>
              <a:t>Most people who get exposed trusted someone. The person who broke the trust did the wrong thing.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FOUR-AUDIENCE TEST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Before you send it, picture who else reads it.</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Your family.</a:t>
            </a:r>
          </a:p>
          <a:p>
            <a:pPr algn="l">
              <a:spcAft>
                <a:spcPts val="945"/>
              </a:spcAft>
            </a:pPr>
            <a:r>
              <a:rPr sz="1600" b="0" i="0">
                <a:solidFill>
                  <a:srgbClr val="5D5A54"/>
                </a:solidFill>
                <a:latin typeface="Source Serif 4"/>
              </a:rPr>
              <a:t>Whoever raised you, or the relative you care most about.</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 stranger with power.</a:t>
            </a:r>
          </a:p>
          <a:p>
            <a:pPr algn="l">
              <a:spcAft>
                <a:spcPts val="945"/>
              </a:spcAft>
            </a:pPr>
            <a:r>
              <a:rPr sz="1600" b="0" i="0">
                <a:solidFill>
                  <a:srgbClr val="5D5A54"/>
                </a:solidFill>
                <a:latin typeface="Source Serif 4"/>
              </a:rPr>
              <a:t>Admissions, a manager, a coach picking captain.</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The person in it.</a:t>
            </a:r>
          </a:p>
          <a:p>
            <a:pPr algn="l">
              <a:spcAft>
                <a:spcPts val="945"/>
              </a:spcAft>
            </a:pPr>
            <a:r>
              <a:rPr sz="1600" b="0" i="0">
                <a:solidFill>
                  <a:srgbClr val="5D5A54"/>
                </a:solidFill>
                <a:latin typeface="Source Serif 4"/>
              </a:rPr>
              <a:t>Reading it with everyone watching.</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You, in five years.</a:t>
            </a:r>
          </a:p>
          <a:p>
            <a:pPr algn="l">
              <a:spcAft>
                <a:spcPts val="945"/>
              </a:spcAft>
            </a:pPr>
            <a:r>
              <a:rPr sz="1600" b="0" i="0">
                <a:solidFill>
                  <a:srgbClr val="5D5A54"/>
                </a:solidFill>
                <a:latin typeface="Source Serif 4"/>
              </a:rPr>
              <a:t>The internet keeps the old version.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THREE REAL SITUATIONS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What's your move?</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THE CLASS CHAT</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Someone posts a screenshot of a classmate's private message about her eating disorder, with laughing emojis.</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THEO</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At a party, someone films him throwing up and posts it to their story. People are laughing.</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NIA</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Got benched and wrote a post about her coach. It's typed and ready. She's still shaking.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IF SOMETHING OF YOURS GETS SHARED</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It's not your fault. You don't handle it alone.</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Document it.</a:t>
            </a:r>
          </a:p>
          <a:p>
            <a:pPr algn="l">
              <a:spcAft>
                <a:spcPts val="945"/>
              </a:spcAft>
            </a:pPr>
            <a:r>
              <a:rPr sz="1600" b="0" i="0">
                <a:solidFill>
                  <a:srgbClr val="5D5A54"/>
                </a:solidFill>
                <a:latin typeface="Source Serif 4"/>
              </a:rPr>
              <a:t>Where, account names, time.</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Report it on every app.</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Tell an adult you trust.</a:t>
            </a:r>
          </a:p>
          <a:p>
            <a:pPr algn="l">
              <a:spcAft>
                <a:spcPts val="945"/>
              </a:spcAft>
            </a:pPr>
            <a:r>
              <a:rPr sz="1600" b="0" i="0">
                <a:solidFill>
                  <a:srgbClr val="5D5A54"/>
                </a:solidFill>
                <a:latin typeface="Source Serif 4"/>
              </a:rPr>
              <a:t>A relative, counselor or coach.</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Get it taken down.</a:t>
            </a:r>
          </a:p>
          <a:p>
            <a:pPr algn="l">
              <a:spcAft>
                <a:spcPts val="945"/>
              </a:spcAft>
            </a:pPr>
            <a:r>
              <a:rPr sz="1600" b="0" i="0">
                <a:solidFill>
                  <a:srgbClr val="5D5A54"/>
                </a:solidFill>
                <a:latin typeface="Source Serif 4"/>
              </a:rPr>
              <a:t>Take It Down (under 18) or StopNCII.org (18+).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Exit card</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Which of the four audiences do you forget about most? Why?</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STUDENT PAGE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https://rmwtoolkit.github.io/bcds-toolkit/screenshot-culture-high-school.html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Screenshot Culture</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Health class, advisory, or a counselor-led group</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explain why every message is a copy they don't control (screenshots, context collapse, online disinhibition), use the four-audience test before posting, and know what to do when something private gets shared, theirs or someone else's. The person who breaks a trust is the one who did wrong.</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Index cards for the four-audience test and exit card</a:t>
            </a:r>
          </a:p>
          <a:p>
            <a:pPr algn="l">
              <a:spcAft>
                <a:spcPts val="675"/>
              </a:spcAft>
            </a:pPr>
            <a:r>
              <a:rPr sz="1500" b="0" i="0">
                <a:solidFill>
                  <a:srgbClr val="1C1B19"/>
                </a:solidFill>
                <a:latin typeface="Source Serif 4"/>
              </a:rPr>
              <a:t>Board space for the spread diagram</a:t>
            </a:r>
          </a:p>
          <a:p>
            <a:pPr algn="l">
              <a:spcAft>
                <a:spcPts val="675"/>
              </a:spcAft>
            </a:pPr>
            <a:r>
              <a:rPr sz="1500" b="0" i="0">
                <a:solidFill>
                  <a:srgbClr val="1C1B19"/>
                </a:solidFill>
                <a:latin typeface="Source Serif 4"/>
              </a:rPr>
              <a:t>The take-home link (last slide) to share after class</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5 min   </a:t>
            </a:r>
            <a:r>
              <a:rPr sz="1400" b="0" i="0">
                <a:solidFill>
                  <a:srgbClr val="1C1B19"/>
                </a:solidFill>
                <a:latin typeface="Source Serif 4"/>
              </a:rPr>
              <a:t>How one screenshot spreads (count it out)</a:t>
            </a:r>
          </a:p>
          <a:p>
            <a:pPr algn="l">
              <a:spcAft>
                <a:spcPts val="630"/>
              </a:spcAft>
            </a:pPr>
            <a:r>
              <a:rPr sz="1300" b="1" i="0">
                <a:solidFill>
                  <a:srgbClr val="F47B20"/>
                </a:solidFill>
                <a:latin typeface="Inter Tight"/>
              </a:rPr>
              <a:t>7 min   </a:t>
            </a:r>
            <a:r>
              <a:rPr sz="1400" b="0" i="0">
                <a:solidFill>
                  <a:srgbClr val="1C1B19"/>
                </a:solidFill>
                <a:latin typeface="Source Serif 4"/>
              </a:rPr>
              <a:t>Context collapse and online disinhibition</a:t>
            </a:r>
          </a:p>
          <a:p>
            <a:pPr algn="l">
              <a:spcAft>
                <a:spcPts val="630"/>
              </a:spcAft>
            </a:pPr>
            <a:r>
              <a:rPr sz="1300" b="1" i="0">
                <a:solidFill>
                  <a:srgbClr val="F47B20"/>
                </a:solidFill>
                <a:latin typeface="Inter Tight"/>
              </a:rPr>
              <a:t>5 min   </a:t>
            </a:r>
            <a:r>
              <a:rPr sz="1400" b="0" i="0">
                <a:solidFill>
                  <a:srgbClr val="1C1B19"/>
                </a:solidFill>
                <a:latin typeface="Source Serif 4"/>
              </a:rPr>
              <a:t>The research, and who ends up looking</a:t>
            </a:r>
          </a:p>
          <a:p>
            <a:pPr algn="l">
              <a:spcAft>
                <a:spcPts val="630"/>
              </a:spcAft>
            </a:pPr>
            <a:r>
              <a:rPr sz="1300" b="1" i="0">
                <a:solidFill>
                  <a:srgbClr val="F47B20"/>
                </a:solidFill>
                <a:latin typeface="Inter Tight"/>
              </a:rPr>
              <a:t>8 min   </a:t>
            </a:r>
            <a:r>
              <a:rPr sz="1400" b="0" i="0">
                <a:solidFill>
                  <a:srgbClr val="1C1B19"/>
                </a:solidFill>
                <a:latin typeface="Source Serif 4"/>
              </a:rPr>
              <a:t>The four-audience test (rewrite a post)</a:t>
            </a:r>
          </a:p>
          <a:p>
            <a:pPr algn="l">
              <a:spcAft>
                <a:spcPts val="630"/>
              </a:spcAft>
            </a:pPr>
            <a:r>
              <a:rPr sz="1300" b="1" i="0">
                <a:solidFill>
                  <a:srgbClr val="F47B20"/>
                </a:solidFill>
                <a:latin typeface="Inter Tight"/>
              </a:rPr>
              <a:t>12 min   </a:t>
            </a:r>
            <a:r>
              <a:rPr sz="1400" b="0" i="0">
                <a:solidFill>
                  <a:srgbClr val="1C1B19"/>
                </a:solidFill>
                <a:latin typeface="Source Serif 4"/>
              </a:rPr>
              <a:t>Three real situations (small groups)</a:t>
            </a:r>
          </a:p>
          <a:p>
            <a:pPr algn="l">
              <a:spcAft>
                <a:spcPts val="630"/>
              </a:spcAft>
            </a:pPr>
            <a:r>
              <a:rPr sz="1300" b="1" i="0">
                <a:solidFill>
                  <a:srgbClr val="F47B20"/>
                </a:solidFill>
                <a:latin typeface="Inter Tight"/>
              </a:rPr>
              <a:t>3 min   </a:t>
            </a:r>
            <a:r>
              <a:rPr sz="1400" b="0" i="0">
                <a:solidFill>
                  <a:srgbClr val="1C1B19"/>
                </a:solidFill>
                <a:latin typeface="Source Serif 4"/>
              </a:rPr>
              <a:t>If something of yours gets shared</a:t>
            </a:r>
          </a:p>
          <a:p>
            <a:pPr algn="l">
              <a:spcAft>
                <a:spcPts val="630"/>
              </a:spcAft>
            </a:pPr>
            <a:r>
              <a:rPr sz="1300" b="1" i="0">
                <a:solidFill>
                  <a:srgbClr val="F47B20"/>
                </a:solidFill>
                <a:latin typeface="Inter Tight"/>
              </a:rPr>
              <a:t>5 min   </a:t>
            </a:r>
            <a:r>
              <a:rPr sz="1400" b="0" i="0">
                <a:solidFill>
                  <a:srgbClr val="1C1B19"/>
                </a:solidFill>
                <a:latin typeface="Source Serif 4"/>
              </a:rPr>
              <a:t>Exit card and take-home link</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(20-MINUTE ADVISORY)</a:t>
            </a:r>
          </a:p>
          <a:p>
            <a:pPr algn="l">
              <a:spcAft>
                <a:spcPts val="630"/>
              </a:spcAft>
            </a:pPr>
            <a:r>
              <a:rPr sz="1400" b="0" i="0">
                <a:solidFill>
                  <a:srgbClr val="1C1B19"/>
                </a:solidFill>
                <a:latin typeface="Source Serif 4"/>
              </a:rPr>
              <a:t>How one screenshot spreads (4), the four-audience test (6), one of the three situations (6), exit card (4). Share the take-home link so students get the rest.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Some students are living this now.</a:t>
            </a:r>
          </a:p>
          <a:p>
            <a:pPr algn="l">
              <a:spcAft>
                <a:spcPts val="585"/>
              </a:spcAft>
            </a:pPr>
            <a:r>
              <a:rPr sz="1300" b="0" i="0">
                <a:solidFill>
                  <a:srgbClr val="1C1B19"/>
                </a:solidFill>
                <a:latin typeface="Source Serif 4"/>
              </a:rPr>
              <a:t>Someone in the room may have had a chat screenshotted or an image shared this year. Keep every example about the characters, and never use a real incident from your school.</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Put the blame where it belongs.</a:t>
            </a:r>
          </a:p>
          <a:p>
            <a:pPr algn="l">
              <a:spcAft>
                <a:spcPts val="585"/>
              </a:spcAft>
            </a:pPr>
            <a:r>
              <a:rPr sz="1300" b="0" i="0">
                <a:solidFill>
                  <a:srgbClr val="1C1B19"/>
                </a:solidFill>
                <a:latin typeface="Source Serif 4"/>
              </a:rPr>
              <a:t>Most people who get exposed trusted someone. Say it plainly: the person who breaks the trust did something wrong.</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If a student is being threatened or harassed.</a:t>
            </a:r>
          </a:p>
          <a:p>
            <a:pPr algn="l">
              <a:spcAft>
                <a:spcPts val="585"/>
              </a:spcAft>
            </a:pPr>
            <a:r>
              <a:rPr sz="1300" b="0" i="0">
                <a:solidFill>
                  <a:srgbClr val="1C1B19"/>
                </a:solidFill>
                <a:latin typeface="Source Serif 4"/>
              </a:rPr>
              <a:t>Thank them, help them document it (screenshots, account names, times), and walk them to a counselor that day. Threats over private images are urgent.</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Be accurate about images.</a:t>
            </a:r>
          </a:p>
          <a:p>
            <a:pPr algn="l">
              <a:spcAft>
                <a:spcPts val="585"/>
              </a:spcAft>
            </a:pPr>
            <a:r>
              <a:rPr sz="1300" b="0" i="0">
                <a:solidFill>
                  <a:srgbClr val="1C1B19"/>
                </a:solidFill>
                <a:latin typeface="Source Serif 4"/>
              </a:rPr>
              <a:t>In Massachusetts, sharing intimate images without consent is a crime, including AI fakes. Sexual images of anyone under 18 are illegal to create, keep or share even with agreement, and there's a diversion program for teen sexting. Say both halves.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Expect "but it was funny."</a:t>
            </a:r>
          </a:p>
          <a:p>
            <a:pPr algn="l">
              <a:spcAft>
                <a:spcPts val="585"/>
              </a:spcAft>
            </a:pPr>
            <a:r>
              <a:rPr sz="1300" b="0" i="0">
                <a:solidFill>
                  <a:srgbClr val="1C1B19"/>
                </a:solidFill>
                <a:latin typeface="Source Serif 4"/>
              </a:rPr>
              <a:t>The party-video card usually brings this out. Ask how the person in the video would feel with everyone watching. That question does more than a lecture.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Keep the college piece in proportion.</a:t>
            </a:r>
          </a:p>
          <a:p>
            <a:pPr algn="l">
              <a:spcAft>
                <a:spcPts val="585"/>
              </a:spcAft>
            </a:pPr>
            <a:r>
              <a:rPr sz="1300" b="0" i="0">
                <a:solidFill>
                  <a:srgbClr val="1C1B19"/>
                </a:solidFill>
                <a:latin typeface="Source Serif 4"/>
              </a:rPr>
              <a:t>Admissions officers say social media is fair game, but most don't check. Use it as one audience among four, not a scare tactic.</a:t>
            </a:r>
          </a:p>
          <a:p>
            <a:pPr algn="l">
              <a:spcAft>
                <a:spcPts val="585"/>
              </a:spcAft>
            </a:pPr>
            <a:r>
              <a:rPr sz="1300" b="0" i="0">
                <a:solidFill>
                  <a:srgbClr val="1C1B19"/>
                </a:solidFill>
                <a:latin typeface="Source Serif 4"/>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Private identities.</a:t>
            </a:r>
          </a:p>
          <a:p>
            <a:pPr algn="l">
              <a:spcAft>
                <a:spcPts val="585"/>
              </a:spcAft>
            </a:pPr>
            <a:r>
              <a:rPr sz="1300" b="0" i="0">
                <a:solidFill>
                  <a:srgbClr val="1C1B19"/>
                </a:solidFill>
                <a:latin typeface="Source Serif 4"/>
              </a:rPr>
              <a:t>For an LGBTQ+ student who isn't out, or a student whose family's immigration status is private, one screenshot can carry real danger. When you talk about "someone else's secret," mention these without pointing at anyone.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Health and disability.</a:t>
            </a:r>
          </a:p>
          <a:p>
            <a:pPr algn="l">
              <a:spcAft>
                <a:spcPts val="585"/>
              </a:spcAft>
            </a:pPr>
            <a:r>
              <a:rPr sz="1300" b="0" i="0">
                <a:solidFill>
                  <a:srgbClr val="1C1B19"/>
                </a:solidFill>
                <a:latin typeface="Source Serif 4"/>
              </a:rPr>
              <a:t>The group-chat card involves an eating disorder. Mental health, disability and medical details are among the most hurtful things to have spread. Treat the card seriously.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Family standards differ.</a:t>
            </a:r>
          </a:p>
          <a:p>
            <a:pPr algn="l">
              <a:spcAft>
                <a:spcPts val="585"/>
              </a:spcAft>
            </a:pPr>
            <a:r>
              <a:rPr sz="1300" b="0" i="0">
                <a:solidFill>
                  <a:srgbClr val="1C1B19"/>
                </a:solidFill>
                <a:latin typeface="Source Serif 4"/>
              </a:rPr>
              <a:t>The four-audience test says "your family." Families differ on what's okay to share. Let students picture whoever raised them, or the relative whose opinion matters most.</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Humor across cultures.</a:t>
            </a:r>
          </a:p>
          <a:p>
            <a:pPr algn="l">
              <a:spcAft>
                <a:spcPts val="585"/>
              </a:spcAft>
            </a:pPr>
            <a:r>
              <a:rPr sz="1300" b="0" i="0">
                <a:solidFill>
                  <a:srgbClr val="1C1B19"/>
                </a:solidFill>
                <a:latin typeface="Source Serif 4"/>
              </a:rPr>
              <a:t>A joke built for five friends can read as racist or cruel to five hundred. Use the Harvard memes example to show how context collapse lands hardest on jokes about identity.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Language.</a:t>
            </a:r>
          </a:p>
          <a:p>
            <a:pPr algn="l">
              <a:spcAft>
                <a:spcPts val="585"/>
              </a:spcAft>
            </a:pPr>
            <a:r>
              <a:rPr sz="1300" b="0" i="0">
                <a:solidFill>
                  <a:srgbClr val="1C1B19"/>
                </a:solidFill>
                <a:latin typeface="Source Serif 4"/>
              </a:rPr>
              <a:t>Messages in a home language can be translated and screenshotted too. Some students code-switch online; the same rules apply in every language.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Money and access.</a:t>
            </a:r>
          </a:p>
          <a:p>
            <a:pPr algn="l">
              <a:spcAft>
                <a:spcPts val="585"/>
              </a:spcAft>
            </a:pPr>
            <a:r>
              <a:rPr sz="1300" b="0" i="0">
                <a:solidFill>
                  <a:srgbClr val="1C1B19"/>
                </a:solidFill>
                <a:latin typeface="Source Serif 4"/>
              </a:rPr>
              <a:t>Some students share one phone with siblings or a parent. Settings advice fits them too: tag approval and logging out matter even more on a shared device.</a:t>
            </a:r>
          </a:p>
          <a:p>
            <a:pPr algn="l">
              <a:spcAft>
                <a:spcPts val="585"/>
              </a:spcAft>
            </a:pPr>
            <a:r>
              <a:rPr sz="1300" b="0" i="0">
                <a:solidFill>
                  <a:srgbClr val="1C1B19"/>
                </a:solidFill>
                <a:latin typeface="Source Serif 4"/>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Social media squeezes all your audiences into one (context collapse): friends, family, teachers and strangers.</a:t>
            </a:r>
          </a:p>
          <a:p>
            <a:pPr algn="l">
              <a:spcAft>
                <a:spcPts val="585"/>
              </a:spcAft>
            </a:pPr>
            <a:r>
              <a:rPr sz="1050" b="0" i="0">
                <a:solidFill>
                  <a:srgbClr val="5D5A54"/>
                </a:solidFill>
                <a:latin typeface="Inter Tight"/>
              </a:rPr>
              <a:t>Marwick and boyd, New Media and Society, 2011</a:t>
            </a:r>
          </a:p>
          <a:p>
            <a:pPr algn="l">
              <a:spcAft>
                <a:spcPts val="585"/>
              </a:spcAft>
            </a:pPr>
            <a:r>
              <a:rPr sz="1300" b="0" i="0">
                <a:solidFill>
                  <a:srgbClr val="1C1B19"/>
                </a:solidFill>
                <a:latin typeface="Source Serif 4"/>
              </a:rPr>
              <a:t>People say things online they wouldn't face to face because there are no faces to read, no tone of voice, and a feeling that it doesn't count (online disinhibition).</a:t>
            </a:r>
          </a:p>
          <a:p>
            <a:pPr algn="l">
              <a:spcAft>
                <a:spcPts val="585"/>
              </a:spcAft>
            </a:pPr>
            <a:r>
              <a:rPr sz="1050" b="0" i="0">
                <a:solidFill>
                  <a:srgbClr val="5D5A54"/>
                </a:solidFill>
                <a:latin typeface="Inter Tight"/>
              </a:rPr>
              <a:t>Suler, CyberPsychology and Behavior, 2004</a:t>
            </a:r>
          </a:p>
          <a:p>
            <a:pPr algn="l">
              <a:spcAft>
                <a:spcPts val="585"/>
              </a:spcAft>
            </a:pPr>
            <a:r>
              <a:rPr sz="1300" b="0" i="0">
                <a:solidFill>
                  <a:srgbClr val="1C1B19"/>
                </a:solidFill>
                <a:latin typeface="Source Serif 4"/>
              </a:rPr>
              <a:t>In 2022, 46% of 1,316 U.S. teens had experienced at least one form of cyberbullying; 22% had false rumors spread about them and 7% had explicit images shared without consent.</a:t>
            </a:r>
          </a:p>
          <a:p>
            <a:pPr algn="l">
              <a:spcAft>
                <a:spcPts val="585"/>
              </a:spcAft>
            </a:pPr>
            <a:r>
              <a:rPr sz="1050" b="0" i="0">
                <a:solidFill>
                  <a:srgbClr val="5D5A54"/>
                </a:solidFill>
                <a:latin typeface="Inter Tight"/>
              </a:rPr>
              <a:t>Vogels, Pew Research Center, 2022</a:t>
            </a:r>
          </a:p>
          <a:p>
            <a:pPr algn="l">
              <a:spcAft>
                <a:spcPts val="585"/>
              </a:spcAft>
            </a:pPr>
            <a:r>
              <a:rPr sz="1300" b="0" i="0">
                <a:solidFill>
                  <a:srgbClr val="1C1B19"/>
                </a:solidFill>
                <a:latin typeface="Source Serif 4"/>
              </a:rPr>
              <a:t>Across 39 studies of more than 110,000 young people, about 12% had forwarded a sext without consent and about 8% had one of theirs forwarded.</a:t>
            </a:r>
          </a:p>
          <a:p>
            <a:pPr algn="l">
              <a:spcAft>
                <a:spcPts val="585"/>
              </a:spcAft>
            </a:pPr>
            <a:r>
              <a:rPr sz="1050" b="0" i="0">
                <a:solidFill>
                  <a:srgbClr val="5D5A54"/>
                </a:solidFill>
                <a:latin typeface="Inter Tight"/>
              </a:rPr>
              <a:t>Madigan et al., JAMA Pediatrics, 2018</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67% of college admissions officers said applicants' social media is fair game, though only 28% said they had actually checked.</a:t>
            </a:r>
          </a:p>
          <a:p>
            <a:pPr algn="l">
              <a:spcAft>
                <a:spcPts val="585"/>
              </a:spcAft>
            </a:pPr>
            <a:r>
              <a:rPr sz="1050" b="0" i="0">
                <a:solidFill>
                  <a:srgbClr val="5D5A54"/>
                </a:solidFill>
                <a:latin typeface="Inter Tight"/>
              </a:rPr>
              <a:t>Kaplan survey, 2024</a:t>
            </a:r>
          </a:p>
          <a:p>
            <a:pPr algn="l">
              <a:spcAft>
                <a:spcPts val="585"/>
              </a:spcAft>
            </a:pPr>
            <a:r>
              <a:rPr sz="1300" b="0" i="0">
                <a:solidFill>
                  <a:srgbClr val="1C1B19"/>
                </a:solidFill>
                <a:latin typeface="Source Serif 4"/>
              </a:rPr>
              <a:t>In 2017, Harvard rescinded admission offers to at least ten incoming students over offensive memes shared in a group chat they thought was private.</a:t>
            </a:r>
          </a:p>
          <a:p>
            <a:pPr algn="l">
              <a:spcAft>
                <a:spcPts val="585"/>
              </a:spcAft>
            </a:pPr>
            <a:r>
              <a:rPr sz="1050" b="0" i="0">
                <a:solidFill>
                  <a:srgbClr val="5D5A54"/>
                </a:solidFill>
                <a:latin typeface="Inter Tight"/>
              </a:rPr>
              <a:t>WBUR and Associated Press, 2017</a:t>
            </a:r>
          </a:p>
          <a:p>
            <a:pPr algn="l">
              <a:spcAft>
                <a:spcPts val="585"/>
              </a:spcAft>
            </a:pPr>
            <a:r>
              <a:rPr sz="1300" b="0" i="0">
                <a:solidFill>
                  <a:srgbClr val="1C1B19"/>
                </a:solidFill>
                <a:latin typeface="Source Serif 4"/>
              </a:rPr>
              <a:t>Since 2024, sharing someone's intimate images without consent is a crime in Massachusetts, including AI fakes. The federal TAKE IT DOWN Act requires covered platforms to remove reported images within 48 hours.</a:t>
            </a:r>
          </a:p>
          <a:p>
            <a:pPr algn="l">
              <a:spcAft>
                <a:spcPts val="585"/>
              </a:spcAft>
            </a:pPr>
            <a:r>
              <a:rPr sz="1050" b="0" i="0">
                <a:solidFill>
                  <a:srgbClr val="5D5A54"/>
                </a:solidFill>
                <a:latin typeface="Inter Tight"/>
              </a:rPr>
              <a:t>Mass. Acts 2024, c. 118; TAKE IT DOWN Act,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