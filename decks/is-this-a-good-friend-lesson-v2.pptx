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 learned the obvious red flags years ago. Today is the next layer: friendships that aren't toxic, exactly, but are costing you something. Nobody's going to name a friend today. Everything personal stays on paper that goes home with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Students stand for fact, stay seated for myth. Don't reveal answers yet, just notice where the room splits. Interactive option: have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#4 comes from a study where teenagers played a driving video game. With friends watching, they took more risks than playing alone. The effect was much smaller in adults. These were friends, which is the point: good friends can still make it harder to say no, especially in a car. #3 we'll come back to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with the next slide. Most people judge a friend by how they show up when things go wrong. Psychologist Shelly Gable found that how people respond when things go right may matter at least as much. Couples whose partners responded to good news with real interest and questions were more satisfied and less likely to break up two months later. Her studies were with dating couples; the pattern is widely applied to friends but less tested there. Why it's a useful test: bad news pulls support out of almost anyone. Being glad for you without competing is harder. Ask students to notice which column their friends usually land in, and which column they usually land 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partners so nobody has to pick. The news can be small or made up: a good quiz grade, a new shift at a job, a song they learned. One minute each way. Then by thumbs: "Thumbs up if that felt good to hear." Most go up. Point out how easy it is to skip: a follow-up question takes five seconds. Anyone can pass or write their answer instead of saying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Talking points. Psychologist Amanda Rose studied co-rumination, friends going over the same problems again and again. It went with closer, higher-quality friendships and with more anxiety and depression. A friendship can feel deeply supportive and still keep both people stuck. The rollercoaster: in a Brigham Young University study, talking about a stressful event with an ambivalent friend, sometimes supportive and sometimes hurtful, raised blood pressure more than talking with a supportive friend. The researchers suggested people can't fully relax around a friend they can't predict. The put-down: if you've said it hurts and it continues, it isn't a joke. The controller follows you online: upset when you don't reply fast, wants your location on all the time, threatens to share messages or photos. The other side of the research: in fifth and sixth graders, a best friend nearby made bad experiences raise the stress hormone cortisol less. A good friend changes how stress hits you. Close with: the cost of a bad pattern often shows up as shrinking. Quieter, more careful, more worried. A good friend leaves you more like yourself.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Private. On an index card, students think of one friend (no names, no initials) and mark which lines are usually true. The card goes home. Talking points: judge over months, not moments. Everyone has bad weeks. Most friendships have a mix; the question is the usual pattern. More green flags from the student's list: they keep private things private, and they're glad you have other friends. More red flags: jokes that keep hitting the same sore spots, and tracking you, checking your phone, or holding screenshots over you. If a student looks upset, check in quietly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Dev: red flag, worth a boundary. Caring about safety doesn't require a live map, and being punished for turning it off is control. Leaving it on and avoiding places he'd mind is the shrinking pattern. A boundary sounds like: "I'm keeping location off. I'll text you when I get home." Imani: green flag. She told you privately and gave you a chance to fix it. "She's starting drama" is the defensive reaction; the friend who says the hard thing kindly is usually a keeper. Luis: gray area and the audience effect in real life. Line up another ride and say something once ("can you slow down? I get carsick" works fine). Dropping the whole group is bigger than it needs to be; "it's his car" leaves everyone at risk. If students mention who has a license, keep it about the moment, not about reporting anyone.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How a friend reacts to step 1 tells you a lot; people don't always know how they come across. A boundary is what you will do, and then you follow through. Step 3 is for co-rumination: talking still helps; endless replaying doesn't. Online: mute, restrict, and block are boundaries, and you don't owe anyone instant replies or a live map. If someone threatens to share messages or photos, screenshot the threat and tell an adult. A note on culture: in some families close friends are treated like family, with constant contact; in others more privacy is normal. The question is whether the friendship respects you and fits the values you and your family hold.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keep the card. The second option is for students who don't have a friendship to fix right now. Share the take-home link (post it on your class page too). It has the flags, the adjust steps, the online moves, a private check-in, and who to talk to. Remind students: a friend who threatens to share secrets or photos, threatens to hurt anyone, pressures them into unsafe things, or gets others to gang up on them is not a friendship problem to fix alone. Tell an adult right away.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Is This a Good Friend?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use the good-news test and the green and red flags to judge a friendship by its pattern over months, recognize the gray areas (talking problems to death, risk with friends watching), and name one way to change a friendship without ending it. Nobody names or describes a real friend out loud.</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flag check and the exit card</a:t>
            </a:r>
          </a:p>
          <a:p>
            <a:pPr algn="l">
              <a:spcAft>
                <a:spcPts val="675"/>
              </a:spcAft>
            </a:pPr>
            <a:r>
              <a:rPr sz="1500" b="0" i="0">
                <a:solidFill>
                  <a:srgbClr val="1C1B19"/>
                </a:solidFill>
                <a:latin typeface="Source Serif 4"/>
              </a:rPr>
              <a:t>Small slips with a piece of "good news" for the pair practice (or let students make one up)</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The good-news test (pair practice)</a:t>
            </a:r>
          </a:p>
          <a:p>
            <a:pPr algn="l">
              <a:spcAft>
                <a:spcPts val="630"/>
              </a:spcAft>
            </a:pPr>
            <a:r>
              <a:rPr sz="1300" b="1" i="0">
                <a:solidFill>
                  <a:srgbClr val="F47B20"/>
                </a:solidFill>
                <a:latin typeface="Inter Tight"/>
              </a:rPr>
              <a:t>7 min   </a:t>
            </a:r>
            <a:r>
              <a:rPr sz="1400" b="0" i="0">
                <a:solidFill>
                  <a:srgbClr val="1C1B19"/>
                </a:solidFill>
                <a:latin typeface="Source Serif 4"/>
              </a:rPr>
              <a:t>Gray areas and patterns that wear you down</a:t>
            </a:r>
          </a:p>
          <a:p>
            <a:pPr algn="l">
              <a:spcAft>
                <a:spcPts val="630"/>
              </a:spcAft>
            </a:pPr>
            <a:r>
              <a:rPr sz="1300" b="1" i="0">
                <a:solidFill>
                  <a:srgbClr val="F47B20"/>
                </a:solidFill>
                <a:latin typeface="Inter Tight"/>
              </a:rPr>
              <a:t>7 min   </a:t>
            </a:r>
            <a:r>
              <a:rPr sz="1400" b="0" i="0">
                <a:solidFill>
                  <a:srgbClr val="1C1B19"/>
                </a:solidFill>
                <a:latin typeface="Source Serif 4"/>
              </a:rPr>
              <a:t>Green flags, red flags (private card)</a:t>
            </a:r>
          </a:p>
          <a:p>
            <a:pPr algn="l">
              <a:spcAft>
                <a:spcPts val="630"/>
              </a:spcAft>
            </a:pPr>
            <a:r>
              <a:rPr sz="1300" b="1" i="0">
                <a:solidFill>
                  <a:srgbClr val="F47B20"/>
                </a:solidFill>
                <a:latin typeface="Inter Tight"/>
              </a:rPr>
              <a:t>10 min   </a:t>
            </a:r>
            <a:r>
              <a:rPr sz="1400" b="0" i="0">
                <a:solidFill>
                  <a:srgbClr val="1C1B19"/>
                </a:solidFill>
                <a:latin typeface="Source Serif 4"/>
              </a:rPr>
              <a:t>Green, red, or gray? (small groups)</a:t>
            </a:r>
          </a:p>
          <a:p>
            <a:pPr algn="l">
              <a:spcAft>
                <a:spcPts val="630"/>
              </a:spcAft>
            </a:pPr>
            <a:r>
              <a:rPr sz="1300" b="1" i="0">
                <a:solidFill>
                  <a:srgbClr val="F47B20"/>
                </a:solidFill>
                <a:latin typeface="Inter Tight"/>
              </a:rPr>
              <a:t>5 min   </a:t>
            </a:r>
            <a:r>
              <a:rPr sz="1400" b="0" i="0">
                <a:solidFill>
                  <a:srgbClr val="1C1B19"/>
                </a:solidFill>
                <a:latin typeface="Source Serif 4"/>
              </a:rPr>
              <a:t>Change it without ending it</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(5), the good-news test (5), green and red flags (5), one adjust step and the link (5). The take-home sheet has the full flag check and the online moves.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Friends are sitting in the same room.</a:t>
            </a:r>
          </a:p>
          <a:p>
            <a:pPr algn="l">
              <a:spcAft>
                <a:spcPts val="585"/>
              </a:spcAft>
            </a:pPr>
            <a:r>
              <a:rPr sz="1300" b="0" i="0">
                <a:solidFill>
                  <a:srgbClr val="1C1B19"/>
                </a:solidFill>
                <a:latin typeface="Source Serif 4"/>
              </a:rPr>
              <a:t>The friend a student is thinking about may be two desks away. No names, initials, or stories about real friendships, in pairs or out loud. The flag check stays on a card that goes home.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Steer away from "toxic" and "cut them off."</a:t>
            </a:r>
          </a:p>
          <a:p>
            <a:pPr algn="l">
              <a:spcAft>
                <a:spcPts val="585"/>
              </a:spcAft>
            </a:pPr>
            <a:r>
              <a:rPr sz="1300" b="0" i="0">
                <a:solidFill>
                  <a:srgbClr val="1C1B19"/>
                </a:solidFill>
                <a:latin typeface="Source Serif 4"/>
              </a:rPr>
              <a:t>Most friendships in the gray zone are worth adjusting, and many 9th graders have one or two friends to lose. The research supports judging patterns over months and changing the friendship before ending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red flags are an adult's job.</a:t>
            </a:r>
          </a:p>
          <a:p>
            <a:pPr algn="l">
              <a:spcAft>
                <a:spcPts val="585"/>
              </a:spcAft>
            </a:pPr>
            <a:r>
              <a:rPr sz="1300" b="0" i="0">
                <a:solidFill>
                  <a:srgbClr val="1C1B19"/>
                </a:solidFill>
                <a:latin typeface="Source Serif 4"/>
              </a:rPr>
              <a:t>Threats to share secrets, screenshots, or photos to control someone, threats to hurt anyone, pressure into unsafe things, or getting others to gang up: thank the student and connect them with a counselor that day. For sexual images of anyone under 18, the free Take It Down tool from the National Center for Missing &amp; Exploited Children can help get them removed.</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If a student says a friend talks about hurting themselves.</a:t>
            </a:r>
          </a:p>
          <a:p>
            <a:pPr algn="l">
              <a:spcAft>
                <a:spcPts val="585"/>
              </a:spcAft>
            </a:pPr>
            <a:r>
              <a:rPr sz="1300" b="0" i="0">
                <a:solidFill>
                  <a:srgbClr val="1C1B19"/>
                </a:solidFill>
                <a:latin typeface="Source Serif 4"/>
              </a:rPr>
              <a:t>That goes to a counselor right away, and the student should hear that telling is looking out for the friend. Don't discuss it in front of the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Co-rumination is a kind friend's habit.</a:t>
            </a:r>
          </a:p>
          <a:p>
            <a:pPr algn="l">
              <a:spcAft>
                <a:spcPts val="585"/>
              </a:spcAft>
            </a:pPr>
            <a:r>
              <a:rPr sz="1300" b="0" i="0">
                <a:solidFill>
                  <a:srgbClr val="1C1B19"/>
                </a:solidFill>
                <a:latin typeface="Source Serif 4"/>
              </a:rPr>
              <a:t>Students who talk a friend through every problem are trying to help. Present the ten-minute limit as a better way to help, and keep blame out of it. If what's being replayed sounds like more than ordinary stress, point both students to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Dating comes up.</a:t>
            </a:r>
          </a:p>
          <a:p>
            <a:pPr algn="l">
              <a:spcAft>
                <a:spcPts val="585"/>
              </a:spcAft>
            </a:pPr>
            <a:r>
              <a:rPr sz="1300" b="0" i="0">
                <a:solidFill>
                  <a:srgbClr val="1C1B19"/>
                </a:solidFill>
                <a:latin typeface="Source Serif 4"/>
              </a:rPr>
              <a:t>Tracking, phone checks, and jealousy show up in dating too. The same flags apply. Keep examples to "someone you're close to" or "someone you like" without assuming genders.</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What a good friend looks like varies.</a:t>
            </a:r>
          </a:p>
          <a:p>
            <a:pPr algn="l">
              <a:spcAft>
                <a:spcPts val="585"/>
              </a:spcAft>
            </a:pPr>
            <a:r>
              <a:rPr sz="1300" b="0" i="0">
                <a:solidFill>
                  <a:srgbClr val="1C1B19"/>
                </a:solidFill>
                <a:latin typeface="Source Serif 4"/>
              </a:rPr>
              <a:t>In some families and cultures close friends are treated like family: constant contact, showing up unannounced, sharing almost everything. In others more privacy is normal. Neither is wrong. Ask students what a good friend looks like where they come from instead of naming one norm as healthy.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Accent jokes are a real red flag.</a:t>
            </a:r>
          </a:p>
          <a:p>
            <a:pPr algn="l">
              <a:spcAft>
                <a:spcPts val="585"/>
              </a:spcAft>
            </a:pPr>
            <a:r>
              <a:rPr sz="1300" b="0" i="0">
                <a:solidFill>
                  <a:srgbClr val="1C1B19"/>
                </a:solidFill>
                <a:latin typeface="Source Serif 4"/>
              </a:rPr>
              <a:t>The Imani card is about a joke about someone's accent. Students who speak another language at home, or are new to the country, hear these often. Name it as a put-down that hits a sore spot, and treat Imani's private feedback as the green flag.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 and secrets held over them.</a:t>
            </a:r>
          </a:p>
          <a:p>
            <a:pPr algn="l">
              <a:spcAft>
                <a:spcPts val="585"/>
              </a:spcAft>
            </a:pPr>
            <a:r>
              <a:rPr sz="1300" b="0" i="0">
                <a:solidFill>
                  <a:srgbClr val="1C1B19"/>
                </a:solidFill>
                <a:latin typeface="Source Serif 4"/>
              </a:rPr>
              <a:t>"I'll tell people" can mean threatening to out someone. That's the controller pattern and a counselor conversation that day. Students who aren't out may need a safe adult other than family. The Trevor Project (call 1-866-488-7386 or text START to 678-678) is free.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Reading social cues comes harder for some students.</a:t>
            </a:r>
          </a:p>
          <a:p>
            <a:pPr algn="l">
              <a:spcAft>
                <a:spcPts val="585"/>
              </a:spcAft>
            </a:pPr>
            <a:r>
              <a:rPr sz="1300" b="0" i="0">
                <a:solidFill>
                  <a:srgbClr val="1C1B19"/>
                </a:solidFill>
                <a:latin typeface="Source Serif 4"/>
              </a:rPr>
              <a:t>Autistic students and others who find tone hard to read may miss when a joke has turned into a put-down, or be the target of "jokes" more often. The green and red flags give them concrete checks. Never treat eye contact or being outgoing as the sign of a good friend.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outside view comes from anyone trusted.</a:t>
            </a:r>
          </a:p>
          <a:p>
            <a:pPr algn="l">
              <a:spcAft>
                <a:spcPts val="585"/>
              </a:spcAft>
            </a:pPr>
            <a:r>
              <a:rPr sz="1300" b="0" i="0">
                <a:solidFill>
                  <a:srgbClr val="1C1B19"/>
                </a:solidFill>
                <a:latin typeface="Source Serif 4"/>
              </a:rPr>
              <a:t>"A parent or older sibling" doesn't fit every home. Say "an adult you trust": a grandparent, an aunt, a coach, a foster parent, a counselor, someone at a faith community, or a friend outside the group.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shows up in put-downs and plans.</a:t>
            </a:r>
          </a:p>
          <a:p>
            <a:pPr algn="l">
              <a:spcAft>
                <a:spcPts val="585"/>
              </a:spcAft>
            </a:pPr>
            <a:r>
              <a:rPr sz="1300" b="0" i="0">
                <a:solidFill>
                  <a:srgbClr val="1C1B19"/>
                </a:solidFill>
                <a:latin typeface="Source Serif 4"/>
              </a:rPr>
              <a:t>Jokes about clothes, phones, or where someone lives hit students with less money hardest. And "turn the volume down" can simply mean skipping the plans that cost money and putting time into free ones with people who leave you better off.</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Couples whose partners responded to good news with interest and questions were more satisfied and less likely to break up two months later. Shrugging, poking holes, or changing the subject went with dissatisfaction. The studies were with dating couples and are widely applied to friendship.</a:t>
            </a:r>
          </a:p>
          <a:p>
            <a:pPr algn="l">
              <a:spcAft>
                <a:spcPts val="585"/>
              </a:spcAft>
            </a:pPr>
            <a:r>
              <a:rPr sz="1050" b="0" i="0">
                <a:solidFill>
                  <a:srgbClr val="5D5A54"/>
                </a:solidFill>
                <a:latin typeface="Inter Tight"/>
              </a:rPr>
              <a:t>Gable, Gonzaga and Strachman, Journal of Personality and Social Psychology, 2006</a:t>
            </a:r>
          </a:p>
          <a:p>
            <a:pPr algn="l">
              <a:spcAft>
                <a:spcPts val="585"/>
              </a:spcAft>
            </a:pPr>
            <a:r>
              <a:rPr sz="1300" b="0" i="0">
                <a:solidFill>
                  <a:srgbClr val="1C1B19"/>
                </a:solidFill>
                <a:latin typeface="Source Serif 4"/>
              </a:rPr>
              <a:t>Adults who talked about a stressful event with an ambivalent friend (sometimes supportive, sometimes hurtful) had a bigger rise in blood pressure than with a supportive friend, and higher resting heart rates.</a:t>
            </a:r>
          </a:p>
          <a:p>
            <a:pPr algn="l">
              <a:spcAft>
                <a:spcPts val="585"/>
              </a:spcAft>
            </a:pPr>
            <a:r>
              <a:rPr sz="1050" b="0" i="0">
                <a:solidFill>
                  <a:srgbClr val="5D5A54"/>
                </a:solidFill>
                <a:latin typeface="Inter Tight"/>
              </a:rPr>
              <a:t>Holt-Lunstad et al., Annals of Behavioral Medicine, 2007 (Brigham Young University)</a:t>
            </a:r>
          </a:p>
          <a:p>
            <a:pPr algn="l">
              <a:spcAft>
                <a:spcPts val="585"/>
              </a:spcAft>
            </a:pPr>
            <a:r>
              <a:rPr sz="1300" b="0" i="0">
                <a:solidFill>
                  <a:srgbClr val="1C1B19"/>
                </a:solidFill>
                <a:latin typeface="Source Serif 4"/>
              </a:rPr>
              <a:t>Co-rumination, friends going over the same problems again and again, was linked with closer, higher-quality friendships and with more anxiety and depression.</a:t>
            </a:r>
          </a:p>
          <a:p>
            <a:pPr algn="l">
              <a:spcAft>
                <a:spcPts val="585"/>
              </a:spcAft>
            </a:pPr>
            <a:r>
              <a:rPr sz="1050" b="0" i="0">
                <a:solidFill>
                  <a:srgbClr val="5D5A54"/>
                </a:solidFill>
                <a:latin typeface="Inter Tight"/>
              </a:rPr>
              <a:t>Rose, Child Development, 2002</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driving video game, teenagers took more risks when friends were watching than when they played alone. The effect was much smaller in adults.</a:t>
            </a:r>
          </a:p>
          <a:p>
            <a:pPr algn="l">
              <a:spcAft>
                <a:spcPts val="585"/>
              </a:spcAft>
            </a:pPr>
            <a:r>
              <a:rPr sz="1050" b="0" i="0">
                <a:solidFill>
                  <a:srgbClr val="5D5A54"/>
                </a:solidFill>
                <a:latin typeface="Inter Tight"/>
              </a:rPr>
              <a:t>Gardner and Steinberg, Developmental Psychology, 2005</a:t>
            </a:r>
          </a:p>
          <a:p>
            <a:pPr algn="l">
              <a:spcAft>
                <a:spcPts val="585"/>
              </a:spcAft>
            </a:pPr>
            <a:r>
              <a:rPr sz="1300" b="0" i="0">
                <a:solidFill>
                  <a:srgbClr val="1C1B19"/>
                </a:solidFill>
                <a:latin typeface="Source Serif 4"/>
              </a:rPr>
              <a:t>In fifth and sixth graders, bad experiences raised cortisol and lowered self-worth less when a best friend was present.</a:t>
            </a:r>
          </a:p>
          <a:p>
            <a:pPr algn="l">
              <a:spcAft>
                <a:spcPts val="585"/>
              </a:spcAft>
            </a:pPr>
            <a:r>
              <a:rPr sz="1050" b="0" i="0">
                <a:solidFill>
                  <a:srgbClr val="5D5A54"/>
                </a:solidFill>
                <a:latin typeface="Inter Tight"/>
              </a:rPr>
              <a:t>Adams, Santo and Bukowski, Developmental Psychology, 2011</a:t>
            </a:r>
          </a:p>
          <a:p>
            <a:pPr algn="l">
              <a:spcAft>
                <a:spcPts val="585"/>
              </a:spcAft>
            </a:pPr>
            <a:r>
              <a:rPr sz="1300" b="0" i="0">
                <a:solidFill>
                  <a:srgbClr val="1C1B19"/>
                </a:solidFill>
                <a:latin typeface="Source Serif 4"/>
              </a:rPr>
              <a:t>Take It Down is a free tool that helps remove sexual images of anyone under 18 from online platforms.</a:t>
            </a:r>
          </a:p>
          <a:p>
            <a:pPr algn="l">
              <a:spcAft>
                <a:spcPts val="585"/>
              </a:spcAft>
            </a:pPr>
            <a:r>
              <a:rPr sz="1050" b="0" i="0">
                <a:solidFill>
                  <a:srgbClr val="5D5A54"/>
                </a:solidFill>
                <a:latin typeface="Inter Tight"/>
              </a:rPr>
              <a:t>National Center for Missing &amp; Exploited Children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IS THIS A GOOD FRIEND?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Is This a Good Friend?</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Charges you up or drains you.</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real friend would never hurt me.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How a friend reacts to good news says a lot.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closer we are, the healthier it is.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Teens take more risks when friends are watching.</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Setting a boundary with a friend is mean.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Good friends hurt each other sometimes. Do they own it and change?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Being glad for you is harder than helping on a bad day.</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Close friends can keep each other stuck.</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In a driving game, much more than adults.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A clear boundary gives the friendship a chance to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GOOD-NEWS TEST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 share good news. What happens next?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LANDS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"Wait, tell me everything."</a:t>
            </a:r>
          </a:p>
          <a:p>
            <a:pPr algn="l">
              <a:spcAft>
                <a:spcPts val="855"/>
              </a:spcAft>
            </a:pPr>
            <a:r>
              <a:rPr sz="1900" b="0" i="0">
                <a:solidFill>
                  <a:srgbClr val="1C1B19"/>
                </a:solidFill>
                <a:latin typeface="Source Serif 4"/>
              </a:rPr>
              <a:t>Asks a follow-up question</a:t>
            </a:r>
          </a:p>
          <a:p>
            <a:pPr algn="l">
              <a:spcAft>
                <a:spcPts val="855"/>
              </a:spcAft>
            </a:pPr>
            <a:r>
              <a:rPr sz="1900" b="0" i="0">
                <a:solidFill>
                  <a:srgbClr val="1C1B19"/>
                </a:solidFill>
                <a:latin typeface="Source Serif 4"/>
              </a:rPr>
              <a:t>Glad for you, no competing</a:t>
            </a:r>
          </a:p>
          <a:p>
            <a:pPr algn="l">
              <a:spcAft>
                <a:spcPts val="855"/>
              </a:spcAft>
            </a:pPr>
            <a:r>
              <a:rPr sz="1900" b="0" i="0">
                <a:solidFill>
                  <a:srgbClr val="1C1B19"/>
                </a:solidFill>
                <a:latin typeface="Source Serif 4"/>
              </a:rPr>
              <a:t>Brings it up again later</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MISSES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shrug, or "cool"</a:t>
            </a:r>
          </a:p>
          <a:p>
            <a:pPr algn="l">
              <a:spcAft>
                <a:spcPts val="855"/>
              </a:spcAft>
            </a:pPr>
            <a:r>
              <a:rPr sz="1900" b="0" i="0">
                <a:solidFill>
                  <a:srgbClr val="1C1B19"/>
                </a:solidFill>
                <a:latin typeface="Source Serif 4"/>
              </a:rPr>
              <a:t>Pokes holes in it</a:t>
            </a:r>
          </a:p>
          <a:p>
            <a:pPr algn="l">
              <a:spcAft>
                <a:spcPts val="855"/>
              </a:spcAft>
            </a:pPr>
            <a:r>
              <a:rPr sz="1900" b="0" i="0">
                <a:solidFill>
                  <a:srgbClr val="1C1B19"/>
                </a:solidFill>
                <a:latin typeface="Source Serif 4"/>
              </a:rPr>
              <a:t>Turns it into their story</a:t>
            </a:r>
          </a:p>
          <a:p>
            <a:pPr algn="l">
              <a:spcAft>
                <a:spcPts val="855"/>
              </a:spcAft>
            </a:pPr>
            <a:r>
              <a:rPr sz="1900" b="0" i="0">
                <a:solidFill>
                  <a:srgbClr val="1C1B19"/>
                </a:solidFill>
                <a:latin typeface="Source Serif 4"/>
              </a:rPr>
              <a:t>Changes the subject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PAIR PRACTICE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Tell your partner a small piece of good news.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Your partner answers the "Lands" way: interest, then a question. Then switch.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GRAY AREAS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Close isn't automatically healthy.</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Talking it to death.</a:t>
            </a:r>
          </a:p>
          <a:p>
            <a:pPr algn="l">
              <a:spcAft>
                <a:spcPts val="945"/>
              </a:spcAft>
            </a:pPr>
            <a:r>
              <a:rPr sz="1600" b="0" i="0">
                <a:solidFill>
                  <a:srgbClr val="5D5A54"/>
                </a:solidFill>
                <a:latin typeface="Source Serif 4"/>
              </a:rPr>
              <a:t>Same problem, every night. Closer and more anxious.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rollercoaster.</a:t>
            </a:r>
          </a:p>
          <a:p>
            <a:pPr algn="l">
              <a:spcAft>
                <a:spcPts val="945"/>
              </a:spcAft>
            </a:pPr>
            <a:r>
              <a:rPr sz="1600" b="0" i="0">
                <a:solidFill>
                  <a:srgbClr val="5D5A54"/>
                </a:solidFill>
                <a:latin typeface="Source Serif 4"/>
              </a:rPr>
              <a:t>Warm one week, cold the next. You keep earning it back.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put-down.</a:t>
            </a:r>
          </a:p>
          <a:p>
            <a:pPr algn="l">
              <a:spcAft>
                <a:spcPts val="945"/>
              </a:spcAft>
            </a:pPr>
            <a:r>
              <a:rPr sz="1600" b="0" i="0">
                <a:solidFill>
                  <a:srgbClr val="5D5A54"/>
                </a:solidFill>
                <a:latin typeface="Source Serif 4"/>
              </a:rPr>
              <a:t>Same sore spots, then "relax, it's a joke."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controller.</a:t>
            </a:r>
          </a:p>
          <a:p>
            <a:pPr algn="l">
              <a:spcAft>
                <a:spcPts val="945"/>
              </a:spcAft>
            </a:pPr>
            <a:r>
              <a:rPr sz="1600" b="0" i="0">
                <a:solidFill>
                  <a:srgbClr val="5D5A54"/>
                </a:solidFill>
                <a:latin typeface="Source Serif 4"/>
              </a:rPr>
              <a:t>Jealous of other friends, tracks you, holds screenshots.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PRIVATE FLAG CHECK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Think of one friend over the last few months.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GREEN FLAGS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I can be myself with them</a:t>
            </a:r>
          </a:p>
          <a:p>
            <a:pPr algn="l">
              <a:spcAft>
                <a:spcPts val="855"/>
              </a:spcAft>
            </a:pPr>
            <a:r>
              <a:rPr sz="1900" b="0" i="0">
                <a:solidFill>
                  <a:srgbClr val="1C1B19"/>
                </a:solidFill>
                <a:latin typeface="Source Serif 4"/>
              </a:rPr>
              <a:t>Glad for my good news, and they ask</a:t>
            </a:r>
          </a:p>
          <a:p>
            <a:pPr algn="l">
              <a:spcAft>
                <a:spcPts val="855"/>
              </a:spcAft>
            </a:pPr>
            <a:r>
              <a:rPr sz="1900" b="0" i="0">
                <a:solidFill>
                  <a:srgbClr val="1C1B19"/>
                </a:solidFill>
                <a:latin typeface="Source Serif 4"/>
              </a:rPr>
              <a:t>We disagree and are fine the next day</a:t>
            </a:r>
          </a:p>
          <a:p>
            <a:pPr algn="l">
              <a:spcAft>
                <a:spcPts val="855"/>
              </a:spcAft>
            </a:pPr>
            <a:r>
              <a:rPr sz="1900" b="0" i="0">
                <a:solidFill>
                  <a:srgbClr val="1C1B19"/>
                </a:solidFill>
                <a:latin typeface="Source Serif 4"/>
              </a:rPr>
              <a:t>When they mess up, something changes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RED FLAGS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I feel worse about myself after</a:t>
            </a:r>
          </a:p>
          <a:p>
            <a:pPr algn="l">
              <a:spcAft>
                <a:spcPts val="855"/>
              </a:spcAft>
            </a:pPr>
            <a:r>
              <a:rPr sz="1900" b="0" i="0">
                <a:solidFill>
                  <a:srgbClr val="1C1B19"/>
                </a:solidFill>
                <a:latin typeface="Source Serif 4"/>
              </a:rPr>
              <a:t>I edit what I say so they won't get mad</a:t>
            </a:r>
          </a:p>
          <a:p>
            <a:pPr algn="l">
              <a:spcAft>
                <a:spcPts val="855"/>
              </a:spcAft>
            </a:pPr>
            <a:r>
              <a:rPr sz="1900" b="0" i="0">
                <a:solidFill>
                  <a:srgbClr val="1C1B19"/>
                </a:solidFill>
                <a:latin typeface="Source Serif 4"/>
              </a:rPr>
              <a:t>Cold when I'm with other friends</a:t>
            </a:r>
          </a:p>
          <a:p>
            <a:pPr algn="l">
              <a:spcAft>
                <a:spcPts val="855"/>
              </a:spcAft>
            </a:pPr>
            <a:r>
              <a:rPr sz="1900" b="0" i="0">
                <a:solidFill>
                  <a:srgbClr val="1C1B19"/>
                </a:solidFill>
                <a:latin typeface="Source Serif 4"/>
              </a:rPr>
              <a:t>I do things I wouldn't choose alone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GREEN, RED, OR GRAY?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do you think? What would you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Wants your location shared all the time "so I know you're safe," and is upset for a day whenever you turn it off.</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IMANI</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Tells you privately that your joke in the group chat about a classmate's accent came across as mean.</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LUIS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junior on your team drives you home from practice and takes the back roads way too fast. Everyone cheers. So do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Change a friendship without ending it.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Say it once, clearly.</a:t>
            </a:r>
          </a:p>
          <a:p>
            <a:pPr algn="l">
              <a:spcAft>
                <a:spcPts val="945"/>
              </a:spcAft>
            </a:pPr>
            <a:r>
              <a:rPr sz="1600" b="0" i="0">
                <a:solidFill>
                  <a:srgbClr val="5D5A54"/>
                </a:solidFill>
                <a:latin typeface="Source Serif 4"/>
              </a:rPr>
              <a:t>"When you joke about my grades, it gets to me."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Set a boundary you control.</a:t>
            </a:r>
          </a:p>
          <a:p>
            <a:pPr algn="l">
              <a:spcAft>
                <a:spcPts val="945"/>
              </a:spcAft>
            </a:pPr>
            <a:r>
              <a:rPr sz="1600" b="0" i="0">
                <a:solidFill>
                  <a:srgbClr val="5D5A54"/>
                </a:solidFill>
                <a:latin typeface="Source Serif 4"/>
              </a:rPr>
              <a:t>What you'll do: "I'm turning location off."</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Change the loop.</a:t>
            </a:r>
          </a:p>
          <a:p>
            <a:pPr algn="l">
              <a:spcAft>
                <a:spcPts val="945"/>
              </a:spcAft>
            </a:pPr>
            <a:r>
              <a:rPr sz="1600" b="0" i="0">
                <a:solidFill>
                  <a:srgbClr val="5D5A54"/>
                </a:solidFill>
                <a:latin typeface="Source Serif 4"/>
              </a:rPr>
              <a:t>"Ten minutes on it, then let's go do something."</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Turn the volume down.</a:t>
            </a:r>
          </a:p>
          <a:p>
            <a:pPr algn="l">
              <a:spcAft>
                <a:spcPts val="945"/>
              </a:spcAft>
            </a:pPr>
            <a:r>
              <a:rPr sz="1600" b="0" i="0">
                <a:solidFill>
                  <a:srgbClr val="5D5A54"/>
                </a:solidFill>
                <a:latin typeface="Source Serif 4"/>
              </a:rPr>
              <a:t>See them less, share less.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Get an outside view.</a:t>
            </a:r>
          </a:p>
          <a:p>
            <a:pPr algn="l">
              <a:spcAft>
                <a:spcPts val="945"/>
              </a:spcAft>
            </a:pPr>
            <a:r>
              <a:rPr sz="1600" b="0" i="0">
                <a:solidFill>
                  <a:srgbClr val="5D5A54"/>
                </a:solidFill>
                <a:latin typeface="Source Serif 4"/>
              </a:rPr>
              <a:t>An adult you trust, or a friend outside the group.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One thing you'll say, or one boundary you'll set. Or: one friend you'll pass the good-news test for this week.</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https://rmwtoolkit.github.io/bcds-toolkit/is-this-a-good-friend-high-school.html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