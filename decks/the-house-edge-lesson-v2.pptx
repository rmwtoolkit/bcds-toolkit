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Keep it light and curious. Something like: "Today is about sports betting and the newer apps like Kalshi. Nobody's going to ask if you bet. We're going to look at the math."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Popcorn answers, no names or personal stories needed. Students usually list TV ads, streamers, odds on the broadcast, YouTube, group-chat parlays, and loot boxes. If a student knows the terms, ask them to explain a parlay or a prop bet to the group.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Everyone flips (coins or a phone app). Usually one or two students in a group of 16 stand, sometimes nobody. Ask: "Out of 16 people, how many hit?" The chance is 1 in 16, about 6%. Then: "If you bet $10, a fair payout would be $160. Let's see what the app pays."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These use standard -110 lines. Even right half the time, a single bettor loses about $5 per $110 bet. On a 4-leg parlay the house keeps about a sixth of everything bet. Ask: "Why do the apps push parlays so hard?" Let a student get there: the more legs, the bigger the house's cut.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Kalshi and Polymarket are regulated by the CFTC, the federal agency for commodity trading, so they call users traders and take 18-year-olds nationwide. Analogy: it's a poker table, not a casino. The app takes a small fee from every hand, and a few sharp players take most of what's left. On Polymarket, the top 1% of profitable users got 76.5% of the profits. If students ask about the law, say states and courts are fighting over it right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write F (fun) or C (worth a check) for each on their index card, then compare in pairs. Sofia: most would say fun, a family tradition with a small, set amount. Jalen: the early win and checking odds all day are warning signs. Priya: legal, but 'investing' is the app's word, and betting on games she doesn't follow suggests it's about the action. Marcus: chasing losses with someone else's money. Ask: "What could a friend say to Jalen or Marcus?" Steer toward people: a counselor, a trusted adult, a friend who notices.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circle one idea on their card: do the math first, watch a game with nothing on it, turn off the pings, check the why, pass on a borrowed account, or tell someone. Share the student page link. Close with: "If betting, yours or someone else's, is taking up more room than you'd like, a counselor is a good person to talk to. The student page also has a free helpline that's open any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House Edge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 strongest with 11th and 12th</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flip coins to see why a four-leg parlay hits about 1 time in 16, then learn what Kalshi and Polymarket are and who makes money there. Bring a coin for each student, and never ask who bets: some of your students do, some are 18, and some have a parent who gambles.</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When the Sofia card comes up, say plainly that family pools, card games, and the lottery are normal in many homes and cultures, and that some faiths forbid gambling; nobody's family is being judged.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HOUSE EDGE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House Edge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Parlays, props, Kalshi, and who actually makes the money.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DO YOU SEE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Where does betting show up in your world?</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Ads, streams, group chats, games, podcasts, the scoreboard.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FOUR-FLIP PARLAY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Flip a coin four times. Stand up if all four are heads.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Each flip is one leg of a parlay. All four have to hit.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 THE MATH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it should pay, and what it does pay</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YOUR CHANCE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Single bet: 1 in 2</a:t>
            </a:r>
          </a:p>
          <a:p>
            <a:pPr algn="l">
              <a:spcAft>
                <a:spcPts val="855"/>
              </a:spcAft>
            </a:pPr>
            <a:r>
              <a:rPr sz="1900" b="0" i="0">
                <a:solidFill>
                  <a:srgbClr val="1C1B19"/>
                </a:solidFill>
                <a:latin typeface="Source Serif 4"/>
              </a:rPr>
              <a:t>2-leg parlay: 1 in 4</a:t>
            </a:r>
          </a:p>
          <a:p>
            <a:pPr algn="l">
              <a:spcAft>
                <a:spcPts val="855"/>
              </a:spcAft>
            </a:pPr>
            <a:r>
              <a:rPr sz="1900" b="0" i="0">
                <a:solidFill>
                  <a:srgbClr val="1C1B19"/>
                </a:solidFill>
                <a:latin typeface="Source Serif 4"/>
              </a:rPr>
              <a:t>4-leg parlay: 1 in 16</a:t>
            </a:r>
          </a:p>
          <a:p>
            <a:pPr algn="l">
              <a:spcAft>
                <a:spcPts val="855"/>
              </a:spcAft>
            </a:pPr>
            <a:r>
              <a:rPr sz="1900" b="0" i="0">
                <a:solidFill>
                  <a:srgbClr val="1C1B19"/>
                </a:solidFill>
                <a:latin typeface="Source Serif 4"/>
              </a:rPr>
              <a:t>30-cent contract: about 3 in 10</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 GET BACK</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$110 risked wins $100</a:t>
            </a:r>
          </a:p>
          <a:p>
            <a:pPr algn="l">
              <a:spcAft>
                <a:spcPts val="855"/>
              </a:spcAft>
            </a:pPr>
            <a:r>
              <a:rPr sz="1900" b="0" i="0">
                <a:solidFill>
                  <a:srgbClr val="1C1B19"/>
                </a:solidFill>
                <a:latin typeface="Source Serif 4"/>
              </a:rPr>
              <a:t>About 3.6x (fair is 4x)</a:t>
            </a:r>
          </a:p>
          <a:p>
            <a:pPr algn="l">
              <a:spcAft>
                <a:spcPts val="855"/>
              </a:spcAft>
            </a:pPr>
            <a:r>
              <a:rPr sz="1900" b="0" i="0">
                <a:solidFill>
                  <a:srgbClr val="1C1B19"/>
                </a:solidFill>
                <a:latin typeface="Source Serif 4"/>
              </a:rPr>
              <a:t>About 13x (fair is 16x)</a:t>
            </a:r>
          </a:p>
          <a:p>
            <a:pPr algn="l">
              <a:spcAft>
                <a:spcPts val="855"/>
              </a:spcAft>
            </a:pPr>
            <a:r>
              <a:rPr sz="1900" b="0" i="0">
                <a:solidFill>
                  <a:srgbClr val="1C1B19"/>
                </a:solidFill>
                <a:latin typeface="Source Serif 4"/>
              </a:rPr>
              <a:t>$1 if yes, minus a fee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BET IN A SUIT AND TIE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Roosevelt Institute, 2026  ·  Akey et al., 2026  ·  Common Sense Media, 2026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Prediction markets call it trading.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 contract costs 1 to 99 cents and pays $1 if you're right.</a:t>
            </a:r>
          </a:p>
          <a:p>
            <a:pPr algn="l">
              <a:spcAft>
                <a:spcPts val="855"/>
              </a:spcAft>
            </a:pPr>
            <a:r>
              <a:rPr sz="1900" b="0" i="0">
                <a:solidFill>
                  <a:srgbClr val="1C1B19"/>
                </a:solidFill>
                <a:latin typeface="Source Serif 4"/>
              </a:rPr>
              <a:t>•  Federal rules let 18-year-olds in, even where sportsbooks need 21.</a:t>
            </a:r>
          </a:p>
          <a:p>
            <a:pPr algn="l">
              <a:spcAft>
                <a:spcPts val="855"/>
              </a:spcAft>
            </a:pPr>
            <a:r>
              <a:rPr sz="1900" b="0" i="0">
                <a:solidFill>
                  <a:srgbClr val="1C1B19"/>
                </a:solidFill>
                <a:latin typeface="Source Serif 4"/>
              </a:rPr>
              <a:t>•  You're betting against other people, and the pros win most of it.</a:t>
            </a:r>
          </a:p>
          <a:p>
            <a:pPr algn="l">
              <a:spcAft>
                <a:spcPts val="855"/>
              </a:spcAft>
            </a:pPr>
            <a:r>
              <a:rPr sz="1900" b="0" i="0">
                <a:solidFill>
                  <a:srgbClr val="1C1B19"/>
                </a:solidFill>
                <a:latin typeface="Source Serif 4"/>
              </a:rPr>
              <a:t>•  Ordinary Kalshi users have lost about $580 million, two-thirds on sports.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A stock is a piece of a company. A $1-or-nothing contract is a bet.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FUN, OR WORTH A CHECK?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ones would you keep an eye on?</a:t>
            </a:r>
          </a:p>
        </p:txBody>
      </p:sp>
      <p:sp>
        <p:nvSpPr>
          <p:cNvPr id="6" name="Rectangle 5"/>
          <p:cNvSpPr/>
          <p:nvPr/>
        </p:nvSpPr>
        <p:spPr>
          <a:xfrm>
            <a:off x="82296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8" name="TextBox 7"/>
          <p:cNvSpPr txBox="1"/>
          <p:nvPr/>
        </p:nvSpPr>
        <p:spPr>
          <a:xfrm>
            <a:off x="105156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Fills out a March Madness bracket with her whole family every year. $5 each, and her grandmother usually wins.</a:t>
            </a:r>
          </a:p>
        </p:txBody>
      </p:sp>
      <p:sp>
        <p:nvSpPr>
          <p:cNvPr id="9" name="Rectangle 8"/>
          <p:cNvSpPr/>
          <p:nvPr/>
        </p:nvSpPr>
        <p:spPr>
          <a:xfrm>
            <a:off x="3520439"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JALEN</a:t>
            </a:r>
          </a:p>
        </p:txBody>
      </p:sp>
      <p:sp>
        <p:nvSpPr>
          <p:cNvPr id="11" name="TextBox 10"/>
          <p:cNvSpPr txBox="1"/>
          <p:nvPr/>
        </p:nvSpPr>
        <p:spPr>
          <a:xfrm>
            <a:off x="3749039"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Up $300 in his first month of parlays. Now he checks odds between classes and is down $400.</a:t>
            </a:r>
          </a:p>
        </p:txBody>
      </p:sp>
      <p:sp>
        <p:nvSpPr>
          <p:cNvPr id="12" name="Rectangle 11"/>
          <p:cNvSpPr/>
          <p:nvPr/>
        </p:nvSpPr>
        <p:spPr>
          <a:xfrm>
            <a:off x="621792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4" name="TextBox 13"/>
          <p:cNvSpPr txBox="1"/>
          <p:nvPr/>
        </p:nvSpPr>
        <p:spPr>
          <a:xfrm>
            <a:off x="644652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Turned 18 and opened a Kalshi account. Says it's investing. Has started betting on games she doesn't watch.</a:t>
            </a:r>
          </a:p>
        </p:txBody>
      </p:sp>
      <p:sp>
        <p:nvSpPr>
          <p:cNvPr id="15" name="Rectangle 14"/>
          <p:cNvSpPr/>
          <p:nvPr/>
        </p:nvSpPr>
        <p:spPr>
          <a:xfrm>
            <a:off x="891540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MARCUS</a:t>
            </a:r>
          </a:p>
        </p:txBody>
      </p:sp>
      <p:sp>
        <p:nvSpPr>
          <p:cNvPr id="17" name="TextBox 16"/>
          <p:cNvSpPr txBox="1"/>
          <p:nvPr/>
        </p:nvSpPr>
        <p:spPr>
          <a:xfrm>
            <a:off x="914400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Used his older cousin's account on an esports match. After losing, he used his mom's card to try to win it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Who's paying for the app?</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one thing from the student page to try. Keep it to yourself.</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https://rmwtoolkit.github.io/bcds-toolkit/the-house-edge-high-school.html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House Edge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 strongest with 11th and 12th</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work out why parlays and prediction-market contracts favor the app, explain what a prediction market is, and name a few signs that betting is taking up too much room. Nobody is asked whether they bet.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coin for every student (or a coin-flip app on their phones)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Where do you see it? Ads, streams, chats, games</a:t>
            </a:r>
          </a:p>
          <a:p>
            <a:pPr algn="l">
              <a:spcAft>
                <a:spcPts val="630"/>
              </a:spcAft>
            </a:pPr>
            <a:r>
              <a:rPr sz="1300" b="1" i="0">
                <a:solidFill>
                  <a:srgbClr val="F47B20"/>
                </a:solidFill>
                <a:latin typeface="Inter Tight"/>
              </a:rPr>
              <a:t>5 min   </a:t>
            </a:r>
            <a:r>
              <a:rPr sz="1400" b="0" i="0">
                <a:solidFill>
                  <a:srgbClr val="1C1B19"/>
                </a:solidFill>
                <a:latin typeface="Source Serif 4"/>
              </a:rPr>
              <a:t>The four-flip parlay: everyone flips, stand if you hit</a:t>
            </a:r>
          </a:p>
          <a:p>
            <a:pPr algn="l">
              <a:spcAft>
                <a:spcPts val="630"/>
              </a:spcAft>
            </a:pPr>
            <a:r>
              <a:rPr sz="1300" b="1" i="0">
                <a:solidFill>
                  <a:srgbClr val="F47B20"/>
                </a:solidFill>
                <a:latin typeface="Inter Tight"/>
              </a:rPr>
              <a:t>4 min   </a:t>
            </a:r>
            <a:r>
              <a:rPr sz="1400" b="0" i="0">
                <a:solidFill>
                  <a:srgbClr val="1C1B19"/>
                </a:solidFill>
                <a:latin typeface="Source Serif 4"/>
              </a:rPr>
              <a:t>A bet in a suit and tie: what Kalshi is, and who wins there</a:t>
            </a:r>
          </a:p>
          <a:p>
            <a:pPr algn="l">
              <a:spcAft>
                <a:spcPts val="630"/>
              </a:spcAft>
            </a:pPr>
            <a:r>
              <a:rPr sz="1300" b="1" i="0">
                <a:solidFill>
                  <a:srgbClr val="F47B20"/>
                </a:solidFill>
                <a:latin typeface="Inter Tight"/>
              </a:rPr>
              <a:t>5 min   </a:t>
            </a:r>
            <a:r>
              <a:rPr sz="1400" b="0" i="0">
                <a:solidFill>
                  <a:srgbClr val="1C1B19"/>
                </a:solidFill>
                <a:latin typeface="Source Serif 4"/>
              </a:rPr>
              <a:t>Fun, or worth a check? (four cards)</a:t>
            </a:r>
          </a:p>
          <a:p>
            <a:pPr algn="l">
              <a:spcAft>
                <a:spcPts val="630"/>
              </a:spcAft>
            </a:pPr>
            <a:r>
              <a:rPr sz="1300" b="1" i="0">
                <a:solidFill>
                  <a:srgbClr val="F47B20"/>
                </a:solidFill>
                <a:latin typeface="Inter Tight"/>
              </a:rPr>
              <a:t>3 min   </a:t>
            </a:r>
            <a:r>
              <a:rPr sz="1400" b="0" i="0">
                <a:solidFill>
                  <a:srgbClr val="1C1B19"/>
                </a:solidFill>
                <a:latin typeface="Source Serif 4"/>
              </a:rPr>
              <a:t>Pick one, privately,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four-flip parlay (4), the Do the math slide (2), two of the cards (2), pick one and share the link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Let them be the experts.</a:t>
            </a:r>
          </a:p>
          <a:p>
            <a:pPr algn="l">
              <a:spcAft>
                <a:spcPts val="585"/>
              </a:spcAft>
            </a:pPr>
            <a:r>
              <a:rPr sz="1300" b="0" i="0">
                <a:solidFill>
                  <a:srgbClr val="1C1B19"/>
                </a:solidFill>
                <a:latin typeface="Source Serif 4"/>
              </a:rPr>
              <a:t>Some students know odds, spreads, and props far better than most adults. Ask them to explain a parlay or a prop bet to the group. A lecture on the evils of gambling will lose them in a minute; the math lands better when they do it themselves.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Never ask who bets.</a:t>
            </a:r>
          </a:p>
          <a:p>
            <a:pPr algn="l">
              <a:spcAft>
                <a:spcPts val="585"/>
              </a:spcAft>
            </a:pPr>
            <a:r>
              <a:rPr sz="1300" b="0" i="0">
                <a:solidFill>
                  <a:srgbClr val="1C1B19"/>
                </a:solidFill>
                <a:latin typeface="Source Serif 4"/>
              </a:rPr>
              <a:t>Betting is illegal for most of your students and legal for some 18-year-olds on prediction markets. Questions like "Who has an account?" put students in a bind. Keep the talk on what they see around them and on the invented cards.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Get the numbers right.</a:t>
            </a:r>
          </a:p>
          <a:p>
            <a:pPr algn="l">
              <a:spcAft>
                <a:spcPts val="585"/>
              </a:spcAft>
            </a:pPr>
            <a:r>
              <a:rPr sz="1300" b="0" i="0">
                <a:solidFill>
                  <a:srgbClr val="1C1B19"/>
                </a:solidFill>
                <a:latin typeface="Source Serif 4"/>
              </a:rPr>
              <a:t>Common Sense Media's 2026 survey found 49% of 17-year-old boys gambled in the past year, but that counts loot boxes and scratch tickets too. About 12% of all boys 11 to 17 did sports-related gambling. Avoid "half of boys bet on sports"; a student will catch it.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The law is moving.</a:t>
            </a:r>
          </a:p>
          <a:p>
            <a:pPr algn="l">
              <a:spcAft>
                <a:spcPts val="585"/>
              </a:spcAft>
            </a:pPr>
            <a:r>
              <a:rPr sz="1300" b="0" i="0">
                <a:solidFill>
                  <a:srgbClr val="1C1B19"/>
                </a:solidFill>
                <a:latin typeface="Source Serif 4"/>
              </a:rPr>
              <a:t>As of fall 2026: most states with legal sportsbooks require you to be 21 (Massachusetts does). Kalshi and Polymarket take 18-year-olds nationwide under federal rules. States are suing them and federal courts disagree, so if students ask, say it's being fought out in court right now.</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chasing.</a:t>
            </a:r>
          </a:p>
          <a:p>
            <a:pPr algn="l">
              <a:spcAft>
                <a:spcPts val="585"/>
              </a:spcAft>
            </a:pPr>
            <a:r>
              <a:rPr sz="1300" b="0" i="0">
                <a:solidFill>
                  <a:srgbClr val="1C1B19"/>
                </a:solidFill>
                <a:latin typeface="Source Serif 4"/>
              </a:rPr>
              <a:t>Talk of winning money back, borrowing or taking money, using a parent's card or a relative's account, or betting to feel better are worth a quiet check-in after advisory and a same-day note to a counselor. No screening questions in the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are hurting from someone else's betting.</a:t>
            </a:r>
          </a:p>
          <a:p>
            <a:pPr algn="l">
              <a:spcAft>
                <a:spcPts val="585"/>
              </a:spcAft>
            </a:pPr>
            <a:r>
              <a:rPr sz="1300" b="0" i="0">
                <a:solidFill>
                  <a:srgbClr val="1C1B19"/>
                </a:solidFill>
                <a:latin typeface="Source Serif 4"/>
              </a:rPr>
              <a:t>A parent's or sibling's gambling can mean money trouble and tension at home. If a student goes quiet or mentions it, follow up privately and connect them with a counselor.</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and cultures differ.</a:t>
            </a:r>
          </a:p>
          <a:p>
            <a:pPr algn="l">
              <a:spcAft>
                <a:spcPts val="585"/>
              </a:spcAft>
            </a:pPr>
            <a:r>
              <a:rPr sz="1300" b="0" i="0">
                <a:solidFill>
                  <a:srgbClr val="1C1B19"/>
                </a:solidFill>
                <a:latin typeface="Source Serif 4"/>
              </a:rPr>
              <a:t>March Madness pools, poker night, mahjong, dominoes, the lottery, raffles: gambling is part of family life in many homes, and forbidden in others for religious reasons. Present facts about the apps, not judgments about anyone's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looks different from seat to seat.</a:t>
            </a:r>
          </a:p>
          <a:p>
            <a:pPr algn="l">
              <a:spcAft>
                <a:spcPts val="585"/>
              </a:spcAft>
            </a:pPr>
            <a:r>
              <a:rPr sz="1300" b="0" i="0">
                <a:solidFill>
                  <a:srgbClr val="1C1B19"/>
                </a:solidFill>
                <a:latin typeface="Source Serif 4"/>
              </a:rPr>
              <a:t>A $50 loss is pocket change for one student and a week's groceries for another. Keep examples to the math, avoid assumptions about spending money, and never make a student's own money part of the activity.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follows sports.</a:t>
            </a:r>
          </a:p>
          <a:p>
            <a:pPr algn="l">
              <a:spcAft>
                <a:spcPts val="585"/>
              </a:spcAft>
            </a:pPr>
            <a:r>
              <a:rPr sz="1300" b="0" i="0">
                <a:solidFill>
                  <a:srgbClr val="1C1B19"/>
                </a:solidFill>
                <a:latin typeface="Source Serif 4"/>
              </a:rPr>
              <a:t>Some students don't watch sports at all. The coin flips need no sports knowledge, and the cards include esports and gaming. Students who play games with loot boxes or skins will recognize the same pull.</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Girls and nonbinary students bet too.</a:t>
            </a:r>
          </a:p>
          <a:p>
            <a:pPr algn="l">
              <a:spcAft>
                <a:spcPts val="585"/>
              </a:spcAft>
            </a:pPr>
            <a:r>
              <a:rPr sz="1300" b="0" i="0">
                <a:solidFill>
                  <a:srgbClr val="1C1B19"/>
                </a:solidFill>
                <a:latin typeface="Source Serif 4"/>
              </a:rPr>
              <a:t>Most of the research is on boys, and the apps market to young men. Use varied names on the cards and avoid framing this as a guy problem; anyone can get pulled in, and anyone can be the friend who notices.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Students with ADHD may feel the pull of fast, rewarding apps more strongly. Keep that matter-of-fact and private. Concrete math and cards work better than abstract talk about risk.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Betting has its own vocabulary (parlay, prop, spread, odds). Define each word as it comes up, and let English learners answer with a number, a gesture, or a word in any language.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36% of US boys age 11 to 17 gambled in the past year, rising from 32% at 11 to 49% at 17. That includes loot boxes, skins, cards with friends and scratch tickets. 12% of all boys did sports-related gambling, and 60% of those do it at least monthly.</a:t>
            </a:r>
          </a:p>
          <a:p>
            <a:pPr algn="l">
              <a:spcAft>
                <a:spcPts val="585"/>
              </a:spcAft>
            </a:pPr>
            <a:r>
              <a:rPr sz="1050" b="0" i="0">
                <a:solidFill>
                  <a:srgbClr val="5D5A54"/>
                </a:solidFill>
                <a:latin typeface="Inter Tight"/>
              </a:rPr>
              <a:t>Common Sense Media, Betting on Boys, 2026 (survey of 1,017 boys, July 2025)</a:t>
            </a:r>
          </a:p>
          <a:p>
            <a:pPr algn="l">
              <a:spcAft>
                <a:spcPts val="585"/>
              </a:spcAft>
            </a:pPr>
            <a:r>
              <a:rPr sz="1300" b="0" i="0">
                <a:solidFill>
                  <a:srgbClr val="1C1B19"/>
                </a:solidFill>
                <a:latin typeface="Source Serif 4"/>
              </a:rPr>
              <a:t>Friends matter most: 84% of boys whose friends mostly gamble also gamble, compared with 17% of boys with no gambling friends. A third (34%) have gambled with family, and only 45% say their family has rules about gambling.</a:t>
            </a:r>
          </a:p>
          <a:p>
            <a:pPr algn="l">
              <a:spcAft>
                <a:spcPts val="585"/>
              </a:spcAft>
            </a:pPr>
            <a:r>
              <a:rPr sz="1050" b="0" i="0">
                <a:solidFill>
                  <a:srgbClr val="5D5A54"/>
                </a:solidFill>
                <a:latin typeface="Inter Tight"/>
              </a:rPr>
              <a:t>Common Sense Media, 2026</a:t>
            </a:r>
          </a:p>
          <a:p>
            <a:pPr algn="l">
              <a:spcAft>
                <a:spcPts val="585"/>
              </a:spcAft>
            </a:pPr>
            <a:r>
              <a:rPr sz="1300" b="0" i="0">
                <a:solidFill>
                  <a:srgbClr val="1C1B19"/>
                </a:solidFill>
                <a:latin typeface="Source Serif 4"/>
              </a:rPr>
              <a:t>Boys who lost $51 or more were nearly three times as likely to use a parent's card without permission (21% vs 8%), and half (49%) spent more than they planned.</a:t>
            </a:r>
          </a:p>
          <a:p>
            <a:pPr algn="l">
              <a:spcAft>
                <a:spcPts val="585"/>
              </a:spcAft>
            </a:pPr>
            <a:r>
              <a:rPr sz="1050" b="0" i="0">
                <a:solidFill>
                  <a:srgbClr val="5D5A54"/>
                </a:solidFill>
                <a:latin typeface="Inter Tight"/>
              </a:rPr>
              <a:t>Common Sense Media, 2026</a:t>
            </a:r>
          </a:p>
          <a:p>
            <a:pPr algn="l">
              <a:spcAft>
                <a:spcPts val="585"/>
              </a:spcAft>
            </a:pPr>
            <a:r>
              <a:rPr sz="1300" b="0" i="0">
                <a:solidFill>
                  <a:srgbClr val="1C1B19"/>
                </a:solidFill>
                <a:latin typeface="Source Serif 4"/>
              </a:rPr>
              <a:t>83% of teachers surveyed had seen or heard of students gambling; sports betting was the most common form. Rates didn't differ between states with and without legal betting.</a:t>
            </a:r>
          </a:p>
          <a:p>
            <a:pPr algn="l">
              <a:spcAft>
                <a:spcPts val="585"/>
              </a:spcAft>
            </a:pPr>
            <a:r>
              <a:rPr sz="1050" b="0" i="0">
                <a:solidFill>
                  <a:srgbClr val="5D5A54"/>
                </a:solidFill>
                <a:latin typeface="Inter Tight"/>
              </a:rPr>
              <a:t>Next Gen Personal Finance flash survey, April 2026</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Young males, youth who start with online sports betting, youth with depression, anxiety or substance use, and youth whose parents gamble are more likely to develop gambling problems. An early big win is a known predictor.</a:t>
            </a:r>
          </a:p>
          <a:p>
            <a:pPr algn="l">
              <a:spcAft>
                <a:spcPts val="585"/>
              </a:spcAft>
            </a:pPr>
            <a:r>
              <a:rPr sz="1050" b="0" i="0">
                <a:solidFill>
                  <a:srgbClr val="5D5A54"/>
                </a:solidFill>
                <a:latin typeface="Inter Tight"/>
              </a:rPr>
              <a:t>National Council on Problem Gambling, Youth Gambling Factsheet, 2025</a:t>
            </a:r>
          </a:p>
          <a:p>
            <a:pPr algn="l">
              <a:spcAft>
                <a:spcPts val="585"/>
              </a:spcAft>
            </a:pPr>
            <a:r>
              <a:rPr sz="1300" b="0" i="0">
                <a:solidFill>
                  <a:srgbClr val="1C1B19"/>
                </a:solidFill>
                <a:latin typeface="Source Serif 4"/>
              </a:rPr>
              <a:t>Ordinary Kalshi users lost an estimated $583.5 million from July 2021 to May 2026, $371.6 million of it on sports. On Polymarket, the top 1% of profitable users captured 76.5% of the profits.</a:t>
            </a:r>
          </a:p>
          <a:p>
            <a:pPr algn="l">
              <a:spcAft>
                <a:spcPts val="585"/>
              </a:spcAft>
            </a:pPr>
            <a:r>
              <a:rPr sz="1050" b="0" i="0">
                <a:solidFill>
                  <a:srgbClr val="5D5A54"/>
                </a:solidFill>
                <a:latin typeface="Inter Tight"/>
              </a:rPr>
              <a:t>Roosevelt Institute, 2026; Akey, Grégoire, Harvie &amp; Martineau, CEPR Discussion Paper 21615, 2026</a:t>
            </a:r>
          </a:p>
          <a:p>
            <a:pPr algn="l">
              <a:spcAft>
                <a:spcPts val="585"/>
              </a:spcAft>
            </a:pPr>
            <a:r>
              <a:rPr sz="1300" b="0" i="0">
                <a:solidFill>
                  <a:srgbClr val="1C1B19"/>
                </a:solidFill>
                <a:latin typeface="Source Serif 4"/>
              </a:rPr>
              <a:t>Where online sports betting became legal, bankruptcies rose, with the biggest effects among young men in lower-income areas. Another analysis disputes the bankruptcy finding.</a:t>
            </a:r>
          </a:p>
          <a:p>
            <a:pPr algn="l">
              <a:spcAft>
                <a:spcPts val="585"/>
              </a:spcAft>
            </a:pPr>
            <a:r>
              <a:rPr sz="1050" b="0" i="0">
                <a:solidFill>
                  <a:srgbClr val="5D5A54"/>
                </a:solidFill>
                <a:latin typeface="Inter Tight"/>
              </a:rPr>
              <a:t>Hollenbeck, Larsen &amp; Proserpio, Management Science (SSRN 4903302); Progressive Policy Institute, 2025</a:t>
            </a:r>
          </a:p>
          <a:p>
            <a:pPr algn="l">
              <a:spcAft>
                <a:spcPts val="585"/>
              </a:spcAft>
            </a:pPr>
            <a:r>
              <a:rPr sz="1300" b="0" i="0">
                <a:solidFill>
                  <a:srgbClr val="1C1B19"/>
                </a:solidFill>
                <a:latin typeface="Source Serif 4"/>
              </a:rPr>
              <a:t>Among men 18 to 25, more frequent sports betting predicted more severe problem gambling.</a:t>
            </a:r>
          </a:p>
          <a:p>
            <a:pPr algn="l">
              <a:spcAft>
                <a:spcPts val="585"/>
              </a:spcAft>
            </a:pPr>
            <a:r>
              <a:rPr sz="1050" b="0" i="0">
                <a:solidFill>
                  <a:srgbClr val="5D5A54"/>
                </a:solidFill>
                <a:latin typeface="Inter Tight"/>
              </a:rPr>
              <a:t>Mancini et al., Journal of Gambling Studies,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