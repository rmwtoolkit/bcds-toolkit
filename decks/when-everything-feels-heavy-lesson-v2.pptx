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"We're going to talk about depression in general, not anyone's story in particular. You can share as much or as little as you want." State what stays in the room and what you'd have to act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 the index card, students put a check by any that have been true lately. Nobody shares the card. Say: "Everyone has stretches like this. When they stack up for two weeks or more and get in the way, it may be depression. It's common, it's nobody's fault, and it's very treatable." The CDC found 40% of high schoolers had two weeks of near-daily sadness or hopelessness in 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Ask: "Why might depression in teens look like anger more than tears?" Doctors count an irritable mood as a core sign under 18. Point out it can hide well: grades up, joking at lunch, then crashing at home. Looking okay and being okay aren't the same.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Forbes: teens with depression showed less striatal response to winning, and that tracked lower positive mood in daily life. The amygdala reacts more to sad or threatening cues. The prefrontal cortex gets less bandwidth. These are group patterns; no scan diagnoses one person. The hippocampus finding (Schmaal, about 9,000 people) showed differences in repeated or early-onset depression and not in a first episode: one more reason getting help early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vote, then reveal. Grades: myth; it hides behind normal days. Asking: myth; Gould and colleagues randomly assigned 2,342 New York high schoolers to be asked or not, and asking didn't raise distress or suicidal thinking, and the most at-risk students seemed less distressed. Weed: myth; Gobbi pooled 11 long-term studies, about 37% higher odds of later depression, a link and modest individual risk. Treatment: real; in TADS about 8 in 10 teens responded after nine months of therapy, medicine or both.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Depression says "wait until you feel like it," so people skip practice and stay in their room, which lowers mood further. Behavioral activation runs the loop the other way: schedule small things first. Ekers' review of 26 trials found a solid, moderate benefit. Noetel's 218 trials: walking, yoga and strength training helped, more at higher effort. Ask: "Which of these is the smallest step you could take today?" Also name the thought "nobody cares, nothing will change" as a symptom, not a 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Students write it while they can think clearly, and keep it. Share the student page link. Close: "If you or a friend ever has thoughts of dying, call or text 988 or come find me. If anything today hit close to home, I'd like to check in with you this week." Follow up individually with anyone who seemed to be carrying more.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Everything Feels Heavy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how depression differs from sadness, why it often shows up as irritability, and practice action-before-mood with a hard-day menu. Bring index cards, and keep the group on the material rather than personal disclosures; follow up one on one with anyone who seems to be carrying more.</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tell-one-adult step, say that families talk about mental health differently, and that a student can start with sleep, energy or stress if their family doesn't use the word depression.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EVERYTHING FEELS HEAVY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When Everything Feels Heavy</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depression is, how it works, and how people climb out.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Like someone turned the volume down</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Muted</a:t>
            </a:r>
          </a:p>
          <a:p>
            <a:pPr algn="l">
              <a:spcAft>
                <a:spcPts val="945"/>
              </a:spcAft>
            </a:pPr>
            <a:r>
              <a:rPr sz="1600" b="0" i="0">
                <a:solidFill>
                  <a:srgbClr val="5D5A54"/>
                </a:solidFill>
                <a:latin typeface="Source Serif 4"/>
              </a:rPr>
              <a:t>Your sport, music and friends all feel flat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Sleep</a:t>
            </a:r>
          </a:p>
          <a:p>
            <a:pPr algn="l">
              <a:spcAft>
                <a:spcPts val="945"/>
              </a:spcAft>
            </a:pPr>
            <a:r>
              <a:rPr sz="1600" b="0" i="0">
                <a:solidFill>
                  <a:srgbClr val="5D5A54"/>
                </a:solidFill>
                <a:latin typeface="Source Serif 4"/>
              </a:rPr>
              <a:t>Ten hours and still tired, or awake at 3 a.m.</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Short fuse</a:t>
            </a:r>
          </a:p>
          <a:p>
            <a:pPr algn="l">
              <a:spcAft>
                <a:spcPts val="945"/>
              </a:spcAft>
            </a:pPr>
            <a:r>
              <a:rPr sz="1600" b="0" i="0">
                <a:solidFill>
                  <a:srgbClr val="5D5A54"/>
                </a:solidFill>
                <a:latin typeface="Source Serif 4"/>
              </a:rPr>
              <a:t>Snapping at people you actually like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Stuck</a:t>
            </a:r>
          </a:p>
          <a:p>
            <a:pPr algn="l">
              <a:spcAft>
                <a:spcPts val="945"/>
              </a:spcAft>
            </a:pPr>
            <a:r>
              <a:rPr sz="1600" b="0" i="0">
                <a:solidFill>
                  <a:srgbClr val="5D5A54"/>
                </a:solidFill>
                <a:latin typeface="Source Serif 4"/>
              </a:rPr>
              <a:t>An hour of work takes the whole night</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Canceling</a:t>
            </a:r>
          </a:p>
          <a:p>
            <a:pPr algn="l">
              <a:spcAft>
                <a:spcPts val="945"/>
              </a:spcAft>
            </a:pPr>
            <a:r>
              <a:rPr sz="1600" b="0" i="0">
                <a:solidFill>
                  <a:srgbClr val="5D5A54"/>
                </a:solidFill>
                <a:latin typeface="Source Serif 4"/>
              </a:rPr>
              <a:t>Then lonely because you canceled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BAD WEEK, OR DEPRESSION?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Sad comes and goes. Depression sticks.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SADNESS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Usually tied to something real</a:t>
            </a:r>
          </a:p>
          <a:p>
            <a:pPr algn="l">
              <a:spcAft>
                <a:spcPts val="855"/>
              </a:spcAft>
            </a:pPr>
            <a:r>
              <a:rPr sz="1900" b="0" i="0">
                <a:solidFill>
                  <a:srgbClr val="1C1B19"/>
                </a:solidFill>
                <a:latin typeface="Source Serif 4"/>
              </a:rPr>
              <a:t>Comes in waves</a:t>
            </a:r>
          </a:p>
          <a:p>
            <a:pPr algn="l">
              <a:spcAft>
                <a:spcPts val="855"/>
              </a:spcAft>
            </a:pPr>
            <a:r>
              <a:rPr sz="1900" b="0" i="0">
                <a:solidFill>
                  <a:srgbClr val="1C1B19"/>
                </a:solidFill>
                <a:latin typeface="Source Serif 4"/>
              </a:rPr>
              <a:t>You can still enjoy things in between</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DEPRESSION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Most of the day, nearly every day, two weeks+</a:t>
            </a:r>
          </a:p>
          <a:p>
            <a:pPr algn="l">
              <a:spcAft>
                <a:spcPts val="855"/>
              </a:spcAft>
            </a:pPr>
            <a:r>
              <a:rPr sz="1900" b="0" i="0">
                <a:solidFill>
                  <a:srgbClr val="1C1B19"/>
                </a:solidFill>
                <a:latin typeface="Source Serif 4"/>
              </a:rPr>
              <a:t>Plus sleep, appetite, energy, focus changes</a:t>
            </a:r>
          </a:p>
          <a:p>
            <a:pPr algn="l">
              <a:spcAft>
                <a:spcPts val="855"/>
              </a:spcAft>
            </a:pPr>
            <a:r>
              <a:rPr sz="1900" b="0" i="0">
                <a:solidFill>
                  <a:srgbClr val="1C1B19"/>
                </a:solidFill>
                <a:latin typeface="Source Serif 4"/>
              </a:rPr>
              <a:t>In teens, often irritability and "I don't care"</a:t>
            </a:r>
          </a:p>
          <a:p>
            <a:pPr algn="l">
              <a:spcAft>
                <a:spcPts val="855"/>
              </a:spcAft>
            </a:pPr>
            <a:r>
              <a:rPr sz="1900" b="0" i="0">
                <a:solidFill>
                  <a:srgbClr val="1C1B19"/>
                </a:solidFill>
                <a:latin typeface="Source Serif 4"/>
              </a:rPr>
              <a:t>Can hide behind good grades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CHANGES IN THE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Forbes et al., 2009  ·  Schmaal et al., 2016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It isn't laziness.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The reward system turns down, so fun feels muted.</a:t>
            </a:r>
          </a:p>
          <a:p>
            <a:pPr algn="l">
              <a:spcAft>
                <a:spcPts val="855"/>
              </a:spcAft>
            </a:pPr>
            <a:r>
              <a:rPr sz="1900" b="0" i="0">
                <a:solidFill>
                  <a:srgbClr val="1C1B19"/>
                </a:solidFill>
                <a:latin typeface="Source Serif 4"/>
              </a:rPr>
              <a:t>•  The threat system tilts toward what's wrong.</a:t>
            </a:r>
          </a:p>
          <a:p>
            <a:pPr algn="l">
              <a:spcAft>
                <a:spcPts val="855"/>
              </a:spcAft>
            </a:pPr>
            <a:r>
              <a:rPr sz="1900" b="0" i="0">
                <a:solidFill>
                  <a:srgbClr val="1C1B19"/>
                </a:solidFill>
                <a:latin typeface="Source Serif 4"/>
              </a:rPr>
              <a:t>•  Focus and planning slow down, which is why grades slip.</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system you'd use to push through is one of the things affected.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REAL? VOTE FIRST.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Thumbs up, thumbs down, or flat hand</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your grades are fine, you can't be depressed."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"Asking about suicide plants the idea."</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"Weed helps with depression."</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 teens get better with treatment."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WAY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Action first. Mood follows.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Shrink the task</a:t>
            </a:r>
          </a:p>
          <a:p>
            <a:pPr algn="l">
              <a:spcAft>
                <a:spcPts val="945"/>
              </a:spcAft>
            </a:pPr>
            <a:r>
              <a:rPr sz="1600" b="0" i="0">
                <a:solidFill>
                  <a:srgbClr val="5D5A54"/>
                </a:solidFill>
                <a:latin typeface="Source Serif 4"/>
              </a:rPr>
              <a:t>Open the doc. Put on your shoes. Then you can stop.</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Move</a:t>
            </a:r>
          </a:p>
          <a:p>
            <a:pPr algn="l">
              <a:spcAft>
                <a:spcPts val="945"/>
              </a:spcAft>
            </a:pPr>
            <a:r>
              <a:rPr sz="1600" b="0" i="0">
                <a:solidFill>
                  <a:srgbClr val="5D5A54"/>
                </a:solidFill>
                <a:latin typeface="Source Serif 4"/>
              </a:rPr>
              <a:t>Ten minutes outside counts as a start.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Stay near people</a:t>
            </a:r>
          </a:p>
          <a:p>
            <a:pPr algn="l">
              <a:spcAft>
                <a:spcPts val="945"/>
              </a:spcAft>
            </a:pPr>
            <a:r>
              <a:rPr sz="1600" b="0" i="0">
                <a:solidFill>
                  <a:srgbClr val="5D5A54"/>
                </a:solidFill>
                <a:latin typeface="Source Serif 4"/>
              </a:rPr>
              <a:t>Sit with them at lunch, even quiet.</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Anchor mornings</a:t>
            </a:r>
          </a:p>
          <a:p>
            <a:pPr algn="l">
              <a:spcAft>
                <a:spcPts val="945"/>
              </a:spcAft>
            </a:pPr>
            <a:r>
              <a:rPr sz="1600" b="0" i="0">
                <a:solidFill>
                  <a:srgbClr val="5D5A54"/>
                </a:solidFill>
                <a:latin typeface="Source Serif 4"/>
              </a:rPr>
              <a:t>Same wake time, daylight early.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Count small wins</a:t>
            </a:r>
          </a:p>
          <a:p>
            <a:pPr algn="l">
              <a:spcAft>
                <a:spcPts val="945"/>
              </a:spcAft>
            </a:pPr>
            <a:r>
              <a:rPr sz="1600" b="0" i="0">
                <a:solidFill>
                  <a:srgbClr val="5D5A54"/>
                </a:solidFill>
                <a:latin typeface="Source Serif 4"/>
              </a:rPr>
              <a:t>One line a day. Depression erases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Your menu for hard days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card: something that moves you, something with a person, something you used to enjoy, one small task. And one adult who should know.</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https://rmwtoolkit.github.io/bcds-toolkit/when-everything-feels-heavy-high-school.html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Everything Feels Heavy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how depression differs from a bad week, why it often looks like irritability in teens, why waiting to feel like it keeps people stuck, and leave with a small menu of actions for hard days and one adult they could tell.</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Pens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Like someone turned the volume down (check-in)</a:t>
            </a:r>
          </a:p>
          <a:p>
            <a:pPr algn="l">
              <a:spcAft>
                <a:spcPts val="630"/>
              </a:spcAft>
            </a:pPr>
            <a:r>
              <a:rPr sz="1300" b="1" i="0">
                <a:solidFill>
                  <a:srgbClr val="F47B20"/>
                </a:solidFill>
                <a:latin typeface="Inter Tight"/>
              </a:rPr>
              <a:t>4 min   </a:t>
            </a:r>
            <a:r>
              <a:rPr sz="1400" b="0" i="0">
                <a:solidFill>
                  <a:srgbClr val="1C1B19"/>
                </a:solidFill>
                <a:latin typeface="Source Serif 4"/>
              </a:rPr>
              <a:t>Sad, or depression?</a:t>
            </a:r>
          </a:p>
          <a:p>
            <a:pPr algn="l">
              <a:spcAft>
                <a:spcPts val="630"/>
              </a:spcAft>
            </a:pPr>
            <a:r>
              <a:rPr sz="1300" b="1" i="0">
                <a:solidFill>
                  <a:srgbClr val="F47B20"/>
                </a:solidFill>
                <a:latin typeface="Inter Tight"/>
              </a:rPr>
              <a:t>4 min   </a:t>
            </a:r>
            <a:r>
              <a:rPr sz="1400" b="0" i="0">
                <a:solidFill>
                  <a:srgbClr val="1C1B19"/>
                </a:solidFill>
                <a:latin typeface="Source Serif 4"/>
              </a:rPr>
              <a:t>What depression changes in the brain</a:t>
            </a:r>
          </a:p>
          <a:p>
            <a:pPr algn="l">
              <a:spcAft>
                <a:spcPts val="630"/>
              </a:spcAft>
            </a:pPr>
            <a:r>
              <a:rPr sz="1300" b="1" i="0">
                <a:solidFill>
                  <a:srgbClr val="F47B20"/>
                </a:solidFill>
                <a:latin typeface="Inter Tight"/>
              </a:rPr>
              <a:t>5 min   </a:t>
            </a:r>
            <a:r>
              <a:rPr sz="1400" b="0" i="0">
                <a:solidFill>
                  <a:srgbClr val="1C1B19"/>
                </a:solidFill>
                <a:latin typeface="Source Serif 4"/>
              </a:rPr>
              <a:t>Myth or real? (vote)</a:t>
            </a:r>
          </a:p>
          <a:p>
            <a:pPr algn="l">
              <a:spcAft>
                <a:spcPts val="630"/>
              </a:spcAft>
            </a:pPr>
            <a:r>
              <a:rPr sz="1300" b="1" i="0">
                <a:solidFill>
                  <a:srgbClr val="F47B20"/>
                </a:solidFill>
                <a:latin typeface="Inter Tight"/>
              </a:rPr>
              <a:t>5 min   </a:t>
            </a:r>
            <a:r>
              <a:rPr sz="1400" b="0" i="0">
                <a:solidFill>
                  <a:srgbClr val="1C1B19"/>
                </a:solidFill>
                <a:latin typeface="Source Serif 4"/>
              </a:rPr>
              <a:t>Action first, mood follows</a:t>
            </a:r>
          </a:p>
          <a:p>
            <a:pPr algn="l">
              <a:spcAft>
                <a:spcPts val="630"/>
              </a:spcAft>
            </a:pPr>
            <a:r>
              <a:rPr sz="1300" b="1" i="0">
                <a:solidFill>
                  <a:srgbClr val="F47B20"/>
                </a:solidFill>
                <a:latin typeface="Inter Tight"/>
              </a:rPr>
              <a:t>4 min   </a:t>
            </a:r>
            <a:r>
              <a:rPr sz="1400" b="0" i="0">
                <a:solidFill>
                  <a:srgbClr val="1C1B19"/>
                </a:solidFill>
                <a:latin typeface="Source Serif 4"/>
              </a:rPr>
              <a:t>Your menu for hard days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ONE ON ONE (ABOUT 15 MINUTES)</a:t>
            </a:r>
          </a:p>
          <a:p>
            <a:pPr algn="l">
              <a:spcAft>
                <a:spcPts val="630"/>
              </a:spcAft>
            </a:pPr>
            <a:r>
              <a:rPr sz="1400" b="0" i="0">
                <a:solidFill>
                  <a:srgbClr val="1C1B19"/>
                </a:solidFill>
                <a:latin typeface="Source Serif 4"/>
              </a:rPr>
              <a:t>One on one: start with the volume-down list and let the student point to what fits (3). Sad or depression, framed around what they've noticed (3). The downward spiral and action first (4). Build the hard-day menu together, and name one adult at home or school who should know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Who's in the group.</a:t>
            </a:r>
          </a:p>
          <a:p>
            <a:pPr algn="l">
              <a:spcAft>
                <a:spcPts val="585"/>
              </a:spcAft>
            </a:pPr>
            <a:r>
              <a:rPr sz="1300" b="0" i="0">
                <a:solidFill>
                  <a:srgbClr val="1C1B19"/>
                </a:solidFill>
                <a:latin typeface="Source Serif 4"/>
              </a:rPr>
              <a:t>This works best with students who are struggling but not in acute crisis. A student with active suicidal thinking needs an individual risk assessment first, not a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about the material.</a:t>
            </a:r>
          </a:p>
          <a:p>
            <a:pPr algn="l">
              <a:spcAft>
                <a:spcPts val="585"/>
              </a:spcAft>
            </a:pPr>
            <a:r>
              <a:rPr sz="1300" b="0" i="0">
                <a:solidFill>
                  <a:srgbClr val="1C1B19"/>
                </a:solidFill>
                <a:latin typeface="Source Serif 4"/>
              </a:rPr>
              <a:t>Group members will be at different places. Let them talk about the ideas and the invented scenarios; save personal history for individual time so nobody overshares in front of peers.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 the limits of confidentiality.</a:t>
            </a:r>
          </a:p>
          <a:p>
            <a:pPr algn="l">
              <a:spcAft>
                <a:spcPts val="585"/>
              </a:spcAft>
            </a:pPr>
            <a:r>
              <a:rPr sz="1300" b="0" i="0">
                <a:solidFill>
                  <a:srgbClr val="1C1B19"/>
                </a:solidFill>
                <a:latin typeface="Source Serif 4"/>
              </a:rPr>
              <a:t>Say up front what stays in the room and what you'd have to act on. Students talk more freely when the rules are clear.</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Irritability counts.</a:t>
            </a:r>
          </a:p>
          <a:p>
            <a:pPr algn="l">
              <a:spcAft>
                <a:spcPts val="585"/>
              </a:spcAft>
            </a:pPr>
            <a:r>
              <a:rPr sz="1300" b="0" i="0">
                <a:solidFill>
                  <a:srgbClr val="1C1B19"/>
                </a:solidFill>
                <a:latin typeface="Source Serif 4"/>
              </a:rPr>
              <a:t>Some students, often boys, won't recognize themselves in "sad." Lead with irritability, flatness and "I don't care" so they see themselves in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Brain slides are group patterns.</a:t>
            </a:r>
          </a:p>
          <a:p>
            <a:pPr algn="l">
              <a:spcAft>
                <a:spcPts val="585"/>
              </a:spcAft>
            </a:pPr>
            <a:r>
              <a:rPr sz="1300" b="0" i="0">
                <a:solidFill>
                  <a:srgbClr val="1C1B19"/>
                </a:solidFill>
                <a:latin typeface="Source Serif 4"/>
              </a:rPr>
              <a:t>No scan diagnoses one person. Present the brain material as a reason the struggle isn't laziness, not as proof of anything about a particular student.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Weed comes up.</a:t>
            </a:r>
          </a:p>
          <a:p>
            <a:pPr algn="l">
              <a:spcAft>
                <a:spcPts val="585"/>
              </a:spcAft>
            </a:pPr>
            <a:r>
              <a:rPr sz="1300" b="0" i="0">
                <a:solidFill>
                  <a:srgbClr val="1C1B19"/>
                </a:solidFill>
                <a:latin typeface="Source Serif 4"/>
              </a:rPr>
              <a:t>Some students use cannabis to cope. Present the Gobbi finding as a link, not proof, and keep it curious rather than scolding so they keep talking.</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talk about it differently.</a:t>
            </a:r>
          </a:p>
          <a:p>
            <a:pPr algn="l">
              <a:spcAft>
                <a:spcPts val="585"/>
              </a:spcAft>
            </a:pPr>
            <a:r>
              <a:rPr sz="1300" b="0" i="0">
                <a:solidFill>
                  <a:srgbClr val="1C1B19"/>
                </a:solidFill>
                <a:latin typeface="Source Serif 4"/>
              </a:rPr>
              <a:t>In some families depression is a medical word; in others it's stress, nerves, tiredness, or something you pray about. Offer students words that fit their family, and name faith leaders as one possible adult.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Discrimination and loneliness are part of the load.</a:t>
            </a:r>
          </a:p>
          <a:p>
            <a:pPr algn="l">
              <a:spcAft>
                <a:spcPts val="585"/>
              </a:spcAft>
            </a:pPr>
            <a:r>
              <a:rPr sz="1300" b="0" i="0">
                <a:solidFill>
                  <a:srgbClr val="1C1B19"/>
                </a:solidFill>
                <a:latin typeface="Source Serif 4"/>
              </a:rPr>
              <a:t>The causes list includes discrimination and bullying. Students of color, LGBTQ+ students and students with disabilities may be carrying that weight; name it without asking anyone to explain theirs.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Girls and boys show it differently.</a:t>
            </a:r>
          </a:p>
          <a:p>
            <a:pPr algn="l">
              <a:spcAft>
                <a:spcPts val="585"/>
              </a:spcAft>
            </a:pPr>
            <a:r>
              <a:rPr sz="1300" b="0" i="0">
                <a:solidFill>
                  <a:srgbClr val="1C1B19"/>
                </a:solidFill>
                <a:latin typeface="Source Serif 4"/>
              </a:rPr>
              <a:t>The CDC numbers are higher for girls (53%). Boys more often show anger and withdrawal. Make sure both pictures are in the room.</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LGBTQ+ teens report higher rates of persistent sadness. Make sure examples and the "tell one adult" list include adults who will be safe for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access.</a:t>
            </a:r>
          </a:p>
          <a:p>
            <a:pPr algn="l">
              <a:spcAft>
                <a:spcPts val="585"/>
              </a:spcAft>
            </a:pPr>
            <a:r>
              <a:rPr sz="1300" b="0" i="0">
                <a:solidFill>
                  <a:srgbClr val="1C1B19"/>
                </a:solidFill>
                <a:latin typeface="Source Serif 4"/>
              </a:rPr>
              <a:t>Therapy and medication cost money and time. When you talk about treatment, mention school-based support and free lines so no student assumes help is out of reach.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Neurodivergence.</a:t>
            </a:r>
          </a:p>
          <a:p>
            <a:pPr algn="l">
              <a:spcAft>
                <a:spcPts val="585"/>
              </a:spcAft>
            </a:pPr>
            <a:r>
              <a:rPr sz="1300" b="0" i="0">
                <a:solidFill>
                  <a:srgbClr val="1C1B19"/>
                </a:solidFill>
                <a:latin typeface="Source Serif 4"/>
              </a:rPr>
              <a:t>Depression in students with ADHD or autism can look like shutdown or more rigidity. Let students describe it in their own terms.</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40% of US high school students felt so sad or hopeless almost every day for two weeks or more that they stopped some usual activities; among girls it was 53%.</a:t>
            </a:r>
          </a:p>
          <a:p>
            <a:pPr algn="l">
              <a:spcAft>
                <a:spcPts val="585"/>
              </a:spcAft>
            </a:pPr>
            <a:r>
              <a:rPr sz="1050" b="0" i="0">
                <a:solidFill>
                  <a:srgbClr val="5D5A54"/>
                </a:solidFill>
                <a:latin typeface="Inter Tight"/>
              </a:rPr>
              <a:t>CDC, Youth Risk Behavior Survey, 2023</a:t>
            </a:r>
          </a:p>
          <a:p>
            <a:pPr algn="l">
              <a:spcAft>
                <a:spcPts val="585"/>
              </a:spcAft>
            </a:pPr>
            <a:r>
              <a:rPr sz="1300" b="0" i="0">
                <a:solidFill>
                  <a:srgbClr val="1C1B19"/>
                </a:solidFill>
                <a:latin typeface="Source Serif 4"/>
              </a:rPr>
              <a:t>About 18% of 12- to 17-year-olds had a major depressive episode in the past year.</a:t>
            </a:r>
          </a:p>
          <a:p>
            <a:pPr algn="l">
              <a:spcAft>
                <a:spcPts val="585"/>
              </a:spcAft>
            </a:pPr>
            <a:r>
              <a:rPr sz="1050" b="0" i="0">
                <a:solidFill>
                  <a:srgbClr val="5D5A54"/>
                </a:solidFill>
                <a:latin typeface="Inter Tight"/>
              </a:rPr>
              <a:t>SAMHSA, National Survey on Drug Use and Health, 2023</a:t>
            </a:r>
          </a:p>
          <a:p>
            <a:pPr algn="l">
              <a:spcAft>
                <a:spcPts val="585"/>
              </a:spcAft>
            </a:pPr>
            <a:r>
              <a:rPr sz="1300" b="0" i="0">
                <a:solidFill>
                  <a:srgbClr val="1C1B19"/>
                </a:solidFill>
                <a:latin typeface="Source Serif 4"/>
              </a:rPr>
              <a:t>In teens with depression, the striatum responded less when they won money, and the weaker the response, the less positive they felt in daily life.</a:t>
            </a:r>
          </a:p>
          <a:p>
            <a:pPr algn="l">
              <a:spcAft>
                <a:spcPts val="585"/>
              </a:spcAft>
            </a:pPr>
            <a:r>
              <a:rPr sz="1050" b="0" i="0">
                <a:solidFill>
                  <a:srgbClr val="5D5A54"/>
                </a:solidFill>
                <a:latin typeface="Inter Tight"/>
              </a:rPr>
              <a:t>Forbes et al., American Journal of Psychiatry, 2009</a:t>
            </a:r>
          </a:p>
          <a:p>
            <a:pPr algn="l">
              <a:spcAft>
                <a:spcPts val="585"/>
              </a:spcAft>
            </a:pPr>
            <a:r>
              <a:rPr sz="1300" b="0" i="0">
                <a:solidFill>
                  <a:srgbClr val="1C1B19"/>
                </a:solidFill>
                <a:latin typeface="Source Serif 4"/>
              </a:rPr>
              <a:t>Pooling scans from nearly 9,000 people, the hippocampus was slightly smaller on average in people with repeated episodes or depression that began by 21; people in a first episode didn't differ.</a:t>
            </a:r>
          </a:p>
          <a:p>
            <a:pPr algn="l">
              <a:spcAft>
                <a:spcPts val="585"/>
              </a:spcAft>
            </a:pPr>
            <a:r>
              <a:rPr sz="1050" b="0" i="0">
                <a:solidFill>
                  <a:srgbClr val="5D5A54"/>
                </a:solidFill>
                <a:latin typeface="Inter Tight"/>
              </a:rPr>
              <a:t>Schmaal et al., Molecular Psychiatry, 2016</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Pooling 11 long-term studies, teens who used cannabis had about 37% higher odds of depression as young adults, after accounting for earlier depression. A link, not proof of cause.</a:t>
            </a:r>
          </a:p>
          <a:p>
            <a:pPr algn="l">
              <a:spcAft>
                <a:spcPts val="585"/>
              </a:spcAft>
            </a:pPr>
            <a:r>
              <a:rPr sz="1050" b="0" i="0">
                <a:solidFill>
                  <a:srgbClr val="5D5A54"/>
                </a:solidFill>
                <a:latin typeface="Inter Tight"/>
              </a:rPr>
              <a:t>Gobbi et al., JAMA Psychiatry, 2019</a:t>
            </a:r>
          </a:p>
          <a:p>
            <a:pPr algn="l">
              <a:spcAft>
                <a:spcPts val="585"/>
              </a:spcAft>
            </a:pPr>
            <a:r>
              <a:rPr sz="1300" b="0" i="0">
                <a:solidFill>
                  <a:srgbClr val="1C1B19"/>
                </a:solidFill>
                <a:latin typeface="Source Serif 4"/>
              </a:rPr>
              <a:t>A review of 26 trials found behavioral activation had a solid, moderate benefit over control groups.</a:t>
            </a:r>
          </a:p>
          <a:p>
            <a:pPr algn="l">
              <a:spcAft>
                <a:spcPts val="585"/>
              </a:spcAft>
            </a:pPr>
            <a:r>
              <a:rPr sz="1050" b="0" i="0">
                <a:solidFill>
                  <a:srgbClr val="5D5A54"/>
                </a:solidFill>
                <a:latin typeface="Inter Tight"/>
              </a:rPr>
              <a:t>Ekers et al., PLoS ONE, 2014</a:t>
            </a:r>
          </a:p>
          <a:p>
            <a:pPr algn="l">
              <a:spcAft>
                <a:spcPts val="585"/>
              </a:spcAft>
            </a:pPr>
            <a:r>
              <a:rPr sz="1300" b="0" i="0">
                <a:solidFill>
                  <a:srgbClr val="1C1B19"/>
                </a:solidFill>
                <a:latin typeface="Source Serif 4"/>
              </a:rPr>
              <a:t>A review of 218 trials (mostly adults) found walking or jogging, yoga and strength training eased depression, more so at higher effort.</a:t>
            </a:r>
          </a:p>
          <a:p>
            <a:pPr algn="l">
              <a:spcAft>
                <a:spcPts val="585"/>
              </a:spcAft>
            </a:pPr>
            <a:r>
              <a:rPr sz="1050" b="0" i="0">
                <a:solidFill>
                  <a:srgbClr val="5D5A54"/>
                </a:solidFill>
                <a:latin typeface="Inter Tight"/>
              </a:rPr>
              <a:t>Noetel et al., BMJ, 2024</a:t>
            </a:r>
          </a:p>
          <a:p>
            <a:pPr algn="l">
              <a:spcAft>
                <a:spcPts val="585"/>
              </a:spcAft>
            </a:pPr>
            <a:r>
              <a:rPr sz="1300" b="0" i="0">
                <a:solidFill>
                  <a:srgbClr val="1C1B19"/>
                </a:solidFill>
                <a:latin typeface="Source Serif 4"/>
              </a:rPr>
              <a:t>In 2,342 New York high school students randomly assigned to be asked about suicide or not, asking didn't raise distress or suicidal thinking. In a large trial, about 8 in 10 teens with depression responded after nine months of therapy, medicine or both.</a:t>
            </a:r>
          </a:p>
          <a:p>
            <a:pPr algn="l">
              <a:spcAft>
                <a:spcPts val="585"/>
              </a:spcAft>
            </a:pPr>
            <a:r>
              <a:rPr sz="1050" b="0" i="0">
                <a:solidFill>
                  <a:srgbClr val="5D5A54"/>
                </a:solidFill>
                <a:latin typeface="Inter Tight"/>
              </a:rPr>
              <a:t>Gould et al., JAMA, 2005  ·  March et al. (TADS), Archives of General Psychiatry, 2007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