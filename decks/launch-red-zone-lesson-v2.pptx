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your tone steady and warm, without making it a joke.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Say it slowly: "This lesson talks about sexual assault. Some people in any room have experienced it, at home, at school, in a relationship. Not because of what you drank, wore, said or didn't say. If you need to step out, go; I'll check in with you after." Pause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Kimble: first-year women at higher risk than second-years early in the fall; treat it as a warning about new situations, not a calendar. Lindo and colleagues: reports rose 28% on football game days at Division 1 schools; crowds, heavy drinking and unfamiliar places are the conditions. AAU 2019 also found 22.8% among transgender, genderqueer and nonbinary students; only about 1 in 5 cases reached police. Abbey: at least half involve alcohol. Use the icy sidewalk: ice makes falls likelier, and if someone pushes you, the person who pushed is always at fault.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Most of the room stands; no stories needed. Darley and Latané: people who believed they were the only one hearing someone have a seizure were much more likely to help than people who thought others heard too. Responsibility spreads thin in a crowd, and a party is a crowd. The fix is deciding ahead of time that you're the someone.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Coker and colleagues found students with Green Dot bystander training stepped in more and held fewer victim-blaming myths. Ask: "Which D fits you best?" Quiet students often pick distract or delegate, and those count. Guys have extra pull: another guy saying "Not cool, man" often lands harder than anything else.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Half the groups take each card. Mateo: any D works. Direct: "Hey, I think your friends are looking for you. Come get some water." Distract: stop the junior with a question. Delegate: the host, someone who knows her, campus safety. And to his floormate: "Not funny. She's wasted." Priya: first words, "I believe you. It's not your fault, no matter how much you drank or where you were." Let her roommate set the pace; mention options without pushing (medical care within about five days, a confidential counselor or advocate, RAINN). Avoid any question that sounds like blame. Don't tell anyone else.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Share the student page link. Remind students that counselors, health staff and advocates are usually confidential, and RAs often aren't. RAINN: 800-656-4673 or rainn.org, any time. Close with: "If anything today brought something up for you, come find me, today or any day." Stay in the room for a few minutes after.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Red Zone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why the first months of college carry higher risk, why people don't step in, four ways to step in, and what to say if a friend tells them. Say at the start that some students may have experienced assault and anyone can step out, and never discuss what a victim should have done.</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talk-it-over questions, say plainly that assault happens to people of every gender, including men and transgender and nonbinary students, and in same-gender situations.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RED ZONE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Red Zone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The first months of college, how to step in, and what to say if a friend tells you.</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WE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If it ever happened to you, it was not your fault.</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Some people here may have experienced this. You can step out any time, no explanation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THE RESEARCH SHOWS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Kimble et al., 2008  ·  Fisher et al., 2000  ·  AAU, 2019</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New places, mostly people they know.</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Risk is higher in the first months, when nobody knows you yet.</a:t>
            </a:r>
          </a:p>
          <a:p>
            <a:pPr algn="l">
              <a:spcAft>
                <a:spcPts val="855"/>
              </a:spcAft>
            </a:pPr>
            <a:r>
              <a:rPr sz="1900" b="0" i="0">
                <a:solidFill>
                  <a:srgbClr val="1C1B19"/>
                </a:solidFill>
                <a:latin typeface="Source Serif 4"/>
              </a:rPr>
              <a:t>•  About 9 in 10 college survivors knew the person who did it.</a:t>
            </a:r>
          </a:p>
          <a:p>
            <a:pPr algn="l">
              <a:spcAft>
                <a:spcPts val="855"/>
              </a:spcAft>
            </a:pPr>
            <a:r>
              <a:rPr sz="1900" b="0" i="0">
                <a:solidFill>
                  <a:srgbClr val="1C1B19"/>
                </a:solidFill>
                <a:latin typeface="Source Serif 4"/>
              </a:rPr>
              <a:t>•  1 in 4 undergraduate women, and 1 in 15 men, reported it since enrolling.</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The only person responsible for an assault is the person who commits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NOBODY STEPS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Everyone assumes someone else will.</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Stand up if you've ever seen something off at a party or in a group, and waited for someone else to 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WAYS TO STEP 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four Ds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Direct</a:t>
            </a:r>
          </a:p>
          <a:p>
            <a:pPr algn="l">
              <a:spcAft>
                <a:spcPts val="945"/>
              </a:spcAft>
            </a:pPr>
            <a:r>
              <a:rPr sz="1600" b="0" i="0">
                <a:solidFill>
                  <a:srgbClr val="5D5A54"/>
                </a:solidFill>
                <a:latin typeface="Source Serif 4"/>
              </a:rPr>
              <a:t>"Hey, are you okay?" "She's coming with us."</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Distract</a:t>
            </a:r>
          </a:p>
          <a:p>
            <a:pPr algn="l">
              <a:spcAft>
                <a:spcPts val="945"/>
              </a:spcAft>
            </a:pPr>
            <a:r>
              <a:rPr sz="1600" b="0" i="0">
                <a:solidFill>
                  <a:srgbClr val="5D5A54"/>
                </a:solidFill>
                <a:latin typeface="Source Serif 4"/>
              </a:rPr>
              <a:t>"Your Uber's here." Spill a drink. Ask for directions.</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Delegate</a:t>
            </a:r>
          </a:p>
          <a:p>
            <a:pPr algn="l">
              <a:spcAft>
                <a:spcPts val="945"/>
              </a:spcAft>
            </a:pPr>
            <a:r>
              <a:rPr sz="1600" b="0" i="0">
                <a:solidFill>
                  <a:srgbClr val="5D5A54"/>
                </a:solidFill>
                <a:latin typeface="Source Serif 4"/>
              </a:rPr>
              <a:t>Their friends, the host, an RA, campus safety, 911.</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Delay</a:t>
            </a:r>
          </a:p>
          <a:p>
            <a:pPr algn="l">
              <a:spcAft>
                <a:spcPts val="945"/>
              </a:spcAft>
            </a:pPr>
            <a:r>
              <a:rPr sz="1600" b="0" i="0">
                <a:solidFill>
                  <a:srgbClr val="5D5A54"/>
                </a:solidFill>
                <a:latin typeface="Source Serif 4"/>
              </a:rPr>
              <a:t>"I saw what happened. Are you okay?"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NIGHTS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a:t>
            </a:r>
          </a:p>
        </p:txBody>
      </p:sp>
      <p:sp>
        <p:nvSpPr>
          <p:cNvPr id="6" name="Rectangle 5"/>
          <p:cNvSpPr/>
          <p:nvPr/>
        </p:nvSpPr>
        <p:spPr>
          <a:xfrm>
            <a:off x="82296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MATEO AT THE PARTY</a:t>
            </a:r>
          </a:p>
        </p:txBody>
      </p:sp>
      <p:sp>
        <p:nvSpPr>
          <p:cNvPr id="8" name="TextBox 7"/>
          <p:cNvSpPr txBox="1"/>
          <p:nvPr/>
        </p:nvSpPr>
        <p:spPr>
          <a:xfrm>
            <a:off x="105156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First home game. A first-year he knows from orientation can barely stand. A junior keeps refilling her cup and steering her toward the stairs. Mateo's floormate laughs: "He's doing well tonight."</a:t>
            </a:r>
          </a:p>
        </p:txBody>
      </p:sp>
      <p:sp>
        <p:nvSpPr>
          <p:cNvPr id="9" name="Rectangle 8"/>
          <p:cNvSpPr/>
          <p:nvPr/>
        </p:nvSpPr>
        <p:spPr>
          <a:xfrm>
            <a:off x="6217920" y="2103120"/>
            <a:ext cx="512064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286000"/>
            <a:ext cx="466344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PRIYA THE NEXT MORNING</a:t>
            </a:r>
          </a:p>
        </p:txBody>
      </p:sp>
      <p:sp>
        <p:nvSpPr>
          <p:cNvPr id="11" name="TextBox 10"/>
          <p:cNvSpPr txBox="1"/>
          <p:nvPr/>
        </p:nvSpPr>
        <p:spPr>
          <a:xfrm>
            <a:off x="6446520" y="2743200"/>
            <a:ext cx="466344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Her roommate comes back at 9 a.m. and says, "I think something happened. I was really drunk. It's probably my fault for going back to his room. Please don't make this a big deal."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IF A FRIEND TELLS YOU</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"I believe you. It's not your fault. What do you need?"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Then help them reach the people they choose.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https://rmwtoolkit.github.io/bcds-toolkit/launch-red-zone-high-school.html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Red Zone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senior seminar or advisory, with time for your opening check-in; 10-minute version below)  ·  12th grade, spring of senior year</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what the research says about sexual assault risk in the first months of college, why bystanders freeze and four ways to step in, and how to respond if a friend tells them something happened. The frame stays on bystander action and on the person who commits an assault.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Before we start: take care of yourself</a:t>
            </a:r>
          </a:p>
          <a:p>
            <a:pPr algn="l">
              <a:spcAft>
                <a:spcPts val="630"/>
              </a:spcAft>
            </a:pPr>
            <a:r>
              <a:rPr sz="1300" b="1" i="0">
                <a:solidFill>
                  <a:srgbClr val="F47B20"/>
                </a:solidFill>
                <a:latin typeface="Inter Tight"/>
              </a:rPr>
              <a:t>4 min   </a:t>
            </a:r>
            <a:r>
              <a:rPr sz="1400" b="0" i="0">
                <a:solidFill>
                  <a:srgbClr val="1C1B19"/>
                </a:solidFill>
                <a:latin typeface="Source Serif 4"/>
              </a:rPr>
              <a:t>What the research shows</a:t>
            </a:r>
          </a:p>
          <a:p>
            <a:pPr algn="l">
              <a:spcAft>
                <a:spcPts val="630"/>
              </a:spcAft>
            </a:pPr>
            <a:r>
              <a:rPr sz="1300" b="1" i="0">
                <a:solidFill>
                  <a:srgbClr val="F47B20"/>
                </a:solidFill>
                <a:latin typeface="Inter Tight"/>
              </a:rPr>
              <a:t>3 min   </a:t>
            </a:r>
            <a:r>
              <a:rPr sz="1400" b="0" i="0">
                <a:solidFill>
                  <a:srgbClr val="1C1B19"/>
                </a:solidFill>
                <a:latin typeface="Source Serif 4"/>
              </a:rPr>
              <a:t>Why nobody steps in</a:t>
            </a:r>
          </a:p>
          <a:p>
            <a:pPr algn="l">
              <a:spcAft>
                <a:spcPts val="630"/>
              </a:spcAft>
            </a:pPr>
            <a:r>
              <a:rPr sz="1300" b="1" i="0">
                <a:solidFill>
                  <a:srgbClr val="F47B20"/>
                </a:solidFill>
                <a:latin typeface="Inter Tight"/>
              </a:rPr>
              <a:t>3 min   </a:t>
            </a:r>
            <a:r>
              <a:rPr sz="1400" b="0" i="0">
                <a:solidFill>
                  <a:srgbClr val="1C1B19"/>
                </a:solidFill>
                <a:latin typeface="Source Serif 4"/>
              </a:rPr>
              <a:t>The four Ds</a:t>
            </a:r>
          </a:p>
          <a:p>
            <a:pPr algn="l">
              <a:spcAft>
                <a:spcPts val="630"/>
              </a:spcAft>
            </a:pPr>
            <a:r>
              <a:rPr sz="1300" b="1" i="0">
                <a:solidFill>
                  <a:srgbClr val="F47B20"/>
                </a:solidFill>
                <a:latin typeface="Inter Tight"/>
              </a:rPr>
              <a:t>5 min   </a:t>
            </a:r>
            <a:r>
              <a:rPr sz="1400" b="0" i="0">
                <a:solidFill>
                  <a:srgbClr val="1C1B19"/>
                </a:solidFill>
                <a:latin typeface="Source Serif 4"/>
              </a:rPr>
              <a:t>Two nights: Mateo at the party, Priya the next morning</a:t>
            </a:r>
          </a:p>
          <a:p>
            <a:pPr algn="l">
              <a:spcAft>
                <a:spcPts val="630"/>
              </a:spcAft>
            </a:pPr>
            <a:r>
              <a:rPr sz="1300" b="1" i="0">
                <a:solidFill>
                  <a:srgbClr val="F47B20"/>
                </a:solidFill>
                <a:latin typeface="Inter Tight"/>
              </a:rPr>
              <a:t>2 min   </a:t>
            </a:r>
            <a:r>
              <a:rPr sz="1400" b="0" i="0">
                <a:solidFill>
                  <a:srgbClr val="1C1B19"/>
                </a:solidFill>
                <a:latin typeface="Source Serif 4"/>
              </a:rPr>
              <a:t>What to say first, and who's confidential</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VERSION)</a:t>
            </a:r>
          </a:p>
          <a:p>
            <a:pPr algn="l">
              <a:spcAft>
                <a:spcPts val="630"/>
              </a:spcAft>
            </a:pPr>
            <a:r>
              <a:rPr sz="1400" b="0" i="0">
                <a:solidFill>
                  <a:srgbClr val="1C1B19"/>
                </a:solidFill>
                <a:latin typeface="Source Serif 4"/>
              </a:rPr>
              <a:t>Before we start (2), the four Ds (3), Mateo at the party (3), what to say first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have experienced this.</a:t>
            </a:r>
          </a:p>
          <a:p>
            <a:pPr algn="l">
              <a:spcAft>
                <a:spcPts val="585"/>
              </a:spcAft>
            </a:pPr>
            <a:r>
              <a:rPr sz="1300" b="0" i="0">
                <a:solidFill>
                  <a:srgbClr val="1C1B19"/>
                </a:solidFill>
                <a:latin typeface="Source Serif 4"/>
              </a:rPr>
              <a:t>Assume someone in the room has, at home, at school or in a relationship. Say so at the start, say it was not their fault, and say anyone can step out without explaining. Check in later with anyone who leaves.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Never ask what a victim should have done.</a:t>
            </a:r>
          </a:p>
          <a:p>
            <a:pPr algn="l">
              <a:spcAft>
                <a:spcPts val="585"/>
              </a:spcAft>
            </a:pPr>
            <a:r>
              <a:rPr sz="1300" b="0" i="0">
                <a:solidFill>
                  <a:srgbClr val="1C1B19"/>
                </a:solidFill>
                <a:latin typeface="Source Serif 4"/>
              </a:rPr>
              <a:t>Questions about drinking, clothes or whose room it was put the blame on the wrong person. If a student goes there, use the icy sidewalk analogy: ice makes falls likelier, and the person who pushes you is always at fault.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 personal stories.</a:t>
            </a:r>
          </a:p>
          <a:p>
            <a:pPr algn="l">
              <a:spcAft>
                <a:spcPts val="585"/>
              </a:spcAft>
            </a:pPr>
            <a:r>
              <a:rPr sz="1300" b="0" i="0">
                <a:solidFill>
                  <a:srgbClr val="1C1B19"/>
                </a:solidFill>
                <a:latin typeface="Source Serif 4"/>
              </a:rPr>
              <a:t>Keep every example invented. If a student starts to share their own experience, thank them gently, protect them from the room, and talk privately afterward.</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Medical facts change by state.</a:t>
            </a:r>
          </a:p>
          <a:p>
            <a:pPr algn="l">
              <a:spcAft>
                <a:spcPts val="585"/>
              </a:spcAft>
            </a:pPr>
            <a:r>
              <a:rPr sz="1300" b="0" i="0">
                <a:solidFill>
                  <a:srgbClr val="1C1B19"/>
                </a:solidFill>
                <a:latin typeface="Source Serif 4"/>
              </a:rPr>
              <a:t>Evidence collection usually needs to happen within about five days, and many states let you have an exam without reporting to police. Tell students to check the rules where they'll be.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RAs may not be confidential.</a:t>
            </a:r>
          </a:p>
          <a:p>
            <a:pPr algn="l">
              <a:spcAft>
                <a:spcPts val="585"/>
              </a:spcAft>
            </a:pPr>
            <a:r>
              <a:rPr sz="1300" b="0" i="0">
                <a:solidFill>
                  <a:srgbClr val="1C1B19"/>
                </a:solidFill>
                <a:latin typeface="Source Serif 4"/>
              </a:rPr>
              <a:t>At many colleges, RAs must pass reports to the Title IX office. Counselors, health staff and advocates usually are confidential. Students should know who's who before they need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After the lesson.</a:t>
            </a:r>
          </a:p>
          <a:p>
            <a:pPr algn="l">
              <a:spcAft>
                <a:spcPts val="585"/>
              </a:spcAft>
            </a:pPr>
            <a:r>
              <a:rPr sz="1300" b="0" i="0">
                <a:solidFill>
                  <a:srgbClr val="1C1B19"/>
                </a:solidFill>
                <a:latin typeface="Source Serif 4"/>
              </a:rPr>
              <a:t>If a student discloses, believe them, thank them, and follow up one on one that day. State your reporting limits up front, and don't promise secrecy you can't keep.</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Every gender.</a:t>
            </a:r>
          </a:p>
          <a:p>
            <a:pPr algn="l">
              <a:spcAft>
                <a:spcPts val="585"/>
              </a:spcAft>
            </a:pPr>
            <a:r>
              <a:rPr sz="1300" b="0" i="0">
                <a:solidFill>
                  <a:srgbClr val="1C1B19"/>
                </a:solidFill>
                <a:latin typeface="Source Serif 4"/>
              </a:rPr>
              <a:t>1 in 15 undergraduate men and 22.8% of transgender, genderqueer and nonbinary students reported nonconsensual sexual contact. Make sure examples include men and LGBTQ+ students as possible survivors, and say men are often the least likely to tell anyone.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Families, cultures and faiths talk about sex differently.</a:t>
            </a:r>
          </a:p>
          <a:p>
            <a:pPr algn="l">
              <a:spcAft>
                <a:spcPts val="585"/>
              </a:spcAft>
            </a:pPr>
            <a:r>
              <a:rPr sz="1300" b="0" i="0">
                <a:solidFill>
                  <a:srgbClr val="1C1B19"/>
                </a:solidFill>
                <a:latin typeface="Source Serif 4"/>
              </a:rPr>
              <a:t>Some students grew up where sex and assault are never discussed. That can shape who a survivor tells. Present options without assuming anyone's family will or won't be supportive.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Calling for help isn't the same for everyone.</a:t>
            </a:r>
          </a:p>
          <a:p>
            <a:pPr algn="l">
              <a:spcAft>
                <a:spcPts val="585"/>
              </a:spcAft>
            </a:pPr>
            <a:r>
              <a:rPr sz="1300" b="0" i="0">
                <a:solidFill>
                  <a:srgbClr val="1C1B19"/>
                </a:solidFill>
                <a:latin typeface="Source Serif 4"/>
              </a:rPr>
              <a:t>Some students fear police or immigration consequences. Name confidential advocates, campus safety and RAINN as options alongside 911.</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Race and who gets believed.</a:t>
            </a:r>
          </a:p>
          <a:p>
            <a:pPr algn="l">
              <a:spcAft>
                <a:spcPts val="585"/>
              </a:spcAft>
            </a:pPr>
            <a:r>
              <a:rPr sz="1300" b="0" i="0">
                <a:solidFill>
                  <a:srgbClr val="1C1B19"/>
                </a:solidFill>
                <a:latin typeface="Source Serif 4"/>
              </a:rPr>
              <a:t>Students of color and immigrant students may worry about not being believed or about how police will treat them or the person reported. Name that worry and the confidential options.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a:t>
            </a:r>
          </a:p>
          <a:p>
            <a:pPr algn="l">
              <a:spcAft>
                <a:spcPts val="585"/>
              </a:spcAft>
            </a:pPr>
            <a:r>
              <a:rPr sz="1300" b="0" i="0">
                <a:solidFill>
                  <a:srgbClr val="1C1B19"/>
                </a:solidFill>
                <a:latin typeface="Source Serif 4"/>
              </a:rPr>
              <a:t>Students with disabilities face higher risk and more barriers to reporting. Mention that advocates and disability services can help.</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Not every student is going to a campus.</a:t>
            </a:r>
          </a:p>
          <a:p>
            <a:pPr algn="l">
              <a:spcAft>
                <a:spcPts val="585"/>
              </a:spcAft>
            </a:pPr>
            <a:r>
              <a:rPr sz="1300" b="0" i="0">
                <a:solidFill>
                  <a:srgbClr val="1C1B19"/>
                </a:solidFill>
                <a:latin typeface="Source Serif 4"/>
              </a:rPr>
              <a:t>Students headed to work, the military or a gap year face the same risks in new places. The four Ds and the "if a friend tells you" steps work anywhere.</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Researchers call the stretch from move-in to Thanksgiving the red zone. In one campus study, first-year women were at higher risk of unwanted sex than second-year women, especially early in the fall. Other studies are more mixed on timing.</a:t>
            </a:r>
          </a:p>
          <a:p>
            <a:pPr algn="l">
              <a:spcAft>
                <a:spcPts val="585"/>
              </a:spcAft>
            </a:pPr>
            <a:r>
              <a:rPr sz="1050" b="0" i="0">
                <a:solidFill>
                  <a:srgbClr val="5D5A54"/>
                </a:solidFill>
                <a:latin typeface="Inter Tight"/>
              </a:rPr>
              <a:t>Kimble et al., 2008</a:t>
            </a:r>
          </a:p>
          <a:p>
            <a:pPr algn="l">
              <a:spcAft>
                <a:spcPts val="585"/>
              </a:spcAft>
            </a:pPr>
            <a:r>
              <a:rPr sz="1300" b="0" i="0">
                <a:solidFill>
                  <a:srgbClr val="1C1B19"/>
                </a:solidFill>
                <a:latin typeface="Source Serif 4"/>
              </a:rPr>
              <a:t>At Division 1 schools, reports of rape involving victims aged 17 to 24 rose 28% on football game days.</a:t>
            </a:r>
          </a:p>
          <a:p>
            <a:pPr algn="l">
              <a:spcAft>
                <a:spcPts val="585"/>
              </a:spcAft>
            </a:pPr>
            <a:r>
              <a:rPr sz="1050" b="0" i="0">
                <a:solidFill>
                  <a:srgbClr val="5D5A54"/>
                </a:solidFill>
                <a:latin typeface="Inter Tight"/>
              </a:rPr>
              <a:t>Lindo, Siminski and Swensen, 2018</a:t>
            </a:r>
          </a:p>
          <a:p>
            <a:pPr algn="l">
              <a:spcAft>
                <a:spcPts val="585"/>
              </a:spcAft>
            </a:pPr>
            <a:r>
              <a:rPr sz="1300" b="0" i="0">
                <a:solidFill>
                  <a:srgbClr val="1C1B19"/>
                </a:solidFill>
                <a:latin typeface="Source Serif 4"/>
              </a:rPr>
              <a:t>In a national study of college women, about 9 in 10 victims of rape or attempted rape knew the person who did it.</a:t>
            </a:r>
          </a:p>
          <a:p>
            <a:pPr algn="l">
              <a:spcAft>
                <a:spcPts val="585"/>
              </a:spcAft>
            </a:pPr>
            <a:r>
              <a:rPr sz="1050" b="0" i="0">
                <a:solidFill>
                  <a:srgbClr val="5D5A54"/>
                </a:solidFill>
                <a:latin typeface="Inter Tight"/>
              </a:rPr>
              <a:t>Fisher, Cullen and Turner, 2000</a:t>
            </a:r>
          </a:p>
          <a:p>
            <a:pPr algn="l">
              <a:spcAft>
                <a:spcPts val="585"/>
              </a:spcAft>
            </a:pPr>
            <a:r>
              <a:rPr sz="1300" b="0" i="0">
                <a:solidFill>
                  <a:srgbClr val="1C1B19"/>
                </a:solidFill>
                <a:latin typeface="Source Serif 4"/>
              </a:rPr>
              <a:t>Since enrolling, 25.9% of undergraduate women, 22.8% of transgender, genderqueer and nonbinary students, and 6.8% of undergraduate men reported nonconsensual sexual contact by force or incapacitation. About 1 in 5 rapes and sexual assaults of female college students were reported to police.</a:t>
            </a:r>
          </a:p>
          <a:p>
            <a:pPr algn="l">
              <a:spcAft>
                <a:spcPts val="585"/>
              </a:spcAft>
            </a:pPr>
            <a:r>
              <a:rPr sz="1050" b="0" i="0">
                <a:solidFill>
                  <a:srgbClr val="5D5A54"/>
                </a:solidFill>
                <a:latin typeface="Inter Tight"/>
              </a:rPr>
              <a:t>AAU Campus Climate Survey, 2019  ·  Sinozich and Langton, Bureau of Justice Statistics, 2014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At least half of college sexual assaults involve alcohol, used by the person who commits the assault, the victim, or both. Someone who is incapacitated can't consent.</a:t>
            </a:r>
          </a:p>
          <a:p>
            <a:pPr algn="l">
              <a:spcAft>
                <a:spcPts val="585"/>
              </a:spcAft>
            </a:pPr>
            <a:r>
              <a:rPr sz="1050" b="0" i="0">
                <a:solidFill>
                  <a:srgbClr val="5D5A54"/>
                </a:solidFill>
                <a:latin typeface="Inter Tight"/>
              </a:rPr>
              <a:t>Abbey, 2002</a:t>
            </a:r>
          </a:p>
          <a:p>
            <a:pPr algn="l">
              <a:spcAft>
                <a:spcPts val="585"/>
              </a:spcAft>
            </a:pPr>
            <a:r>
              <a:rPr sz="1300" b="0" i="0">
                <a:solidFill>
                  <a:srgbClr val="1C1B19"/>
                </a:solidFill>
                <a:latin typeface="Source Serif 4"/>
              </a:rPr>
              <a:t>People who believed they were the only one hearing someone have a seizure were much more likely to go for help than people who believed others could hear it too.</a:t>
            </a:r>
          </a:p>
          <a:p>
            <a:pPr algn="l">
              <a:spcAft>
                <a:spcPts val="585"/>
              </a:spcAft>
            </a:pPr>
            <a:r>
              <a:rPr sz="1050" b="0" i="0">
                <a:solidFill>
                  <a:srgbClr val="5D5A54"/>
                </a:solidFill>
                <a:latin typeface="Inter Tight"/>
              </a:rPr>
              <a:t>Darley and Latané, 1968</a:t>
            </a:r>
          </a:p>
          <a:p>
            <a:pPr algn="l">
              <a:spcAft>
                <a:spcPts val="585"/>
              </a:spcAft>
            </a:pPr>
            <a:r>
              <a:rPr sz="1300" b="0" i="0">
                <a:solidFill>
                  <a:srgbClr val="1C1B19"/>
                </a:solidFill>
                <a:latin typeface="Source Serif 4"/>
              </a:rPr>
              <a:t>In a survey of about 2,500 undergraduates at one university, students who'd had Green Dot bystander training reported stepping in more and held fewer myths that blame victims.</a:t>
            </a:r>
          </a:p>
          <a:p>
            <a:pPr algn="l">
              <a:spcAft>
                <a:spcPts val="585"/>
              </a:spcAft>
            </a:pPr>
            <a:r>
              <a:rPr sz="1050" b="0" i="0">
                <a:solidFill>
                  <a:srgbClr val="5D5A54"/>
                </a:solidFill>
                <a:latin typeface="Inter Tight"/>
              </a:rPr>
              <a:t>Coker et al., 2011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