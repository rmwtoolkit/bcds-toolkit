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Open plainly: "Today is about how power works in friend groups. Every group has some. We're going to talk about situations, not people, so nobody names anyone in our grade or anyone in this room." Say that up front, before any examples.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Let students read silently. Nobody needs to say which one they've seen. Add: "You've probably seen versions of this since middle school. Today goes a little further: what researchers have actually measured, and what you can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Everyone votes at the same time so nobody stands out. Ask one or two people with different thumbs why. Then the research: when students are asked "Who's popular?" and then "Who do you like?", the lists don't match. One team followed about 300 students every year from 5th to 12th grade. Leaving people out and spreading rumors made a student seem more popular and less liked, and that trade-off peaked during the move into high school. Researchers call these moves relational aggression: hurting someone through their relationships. Ask: "Why might someone trade being liked for being powerful?" Expect: fear of being the one left out, wanting control, it worked in middle school. If someone says "because it works," add the long view: kids who chased status by acting older were seen as cool at 13 and had more trouble with relationships and substances by their early 20s.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These often get labeled "girl drama" and "guy stuff," and counselors do see the quieter moves more in a lot of girls' groups and the louder ones more in a lot of guys' groups. But a review of 148 studies and about 74,000 kids found the gender difference in relational aggression was trivial. Both do both, and most people of every gender don't run friendships this way. In mixed groups, dating gets pulled in: a couple runs the group or a breakup splits it. Trans and nonbinary students can end up outside both, and outing someone is one of the most harmful moves there is. On "soft": a sociologist who spent 18 months in a California high school found that guys used anti-gay insults mostly to police who counted as a "real guy." Ask: "Which of these do you see more in our grade? No names." If the talk turns to "girls are just mean," come back to the 148 studies.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Collect the scraps, shuffle, and tally out loud. In most rooms the yes pile is big. That's the point: several people privately thought it was wrong, and each assumed they were alone, so the group looked united when it wasn't. Then the research: in a Canadian study that recorded kids at recess, other kids were around for 88% of bullying episodes and stepped in only 19% of the time. When someone did step in, it stopped 57% of the time. If the tally is small, say so honestly and ask why it might be hard to admit, even anonymously. Don't ask anyone to tell their story.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Most people only see two options: take it, or be mean back. Assertive is the third: standing up for yourself while respecting the other person. "I'm not okay with that" works without being mean back. On move 1, one on one and calm takes the audience out of it. On move 3, add the mountain biker idea from the student page: if you stare at the rock, you ride into it. Put your eyes on the people who make you feel like yourself. A quick warning on venting: going over the same group problem every night with a best friend builds closeness and also predicts more anxiety and low mood. Talk it through, then go do something.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Pairs take one card each, then two or three share. Maya: hearting the message is how the group looks united when it isn't. A strong move: "If we have to change it, someone should tell her straight. I'll do it with you." Another: offer to go with Maya in a different group. Dev: adding a GIF keeps the bit going. A strong move is to text Dev the time and place, and in the chat: "Dev's coming, we need the numbers." Sofia: an ambitious guy gets called a leader; an ambitious girl gets called "doing too much." A strong move: "I really want this. I'd love your support, and I'm doing it either way." Dropping out so things go back to normal teaches the group it works. Close with: "You won't always get it right. Doing it once is more than most people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Students write it for themselves and keep it. Nobody shares. A few words for anyone on the outside right now: groups reshuffle a lot in high school, one good friend counts, and a counselor can help quietly. For anyone who's been doing it: the person who decides who's in can also decide everyone's in. Share the student page link. It has all the moves, what to do if you're on the outside or have been the one doing it, and when to get an adult involved.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Inner Circle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the difference between popular and liked, spot the quiet and loud versions of the same power moves, and name one move that's assertive without being mean. Bring scrap paper, keep it to situations with no names, and treat outing or shared photos as a same-day counselor conversation.</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Present every move as something any gender does, and when insults like "soft" come up, name them as power moves that police every guy, gay or straight.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INNER CIRCLE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Inner Circle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Nobody said anything. Everybody knew.</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SOUND FAMILIAR?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quiet stuff that runs a group</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chat got renamed.</a:t>
            </a:r>
          </a:p>
          <a:p>
            <a:pPr algn="l">
              <a:spcAft>
                <a:spcPts val="945"/>
              </a:spcAft>
            </a:pPr>
            <a:r>
              <a:rPr sz="1600" b="0" i="0">
                <a:solidFill>
                  <a:srgbClr val="5D5A54"/>
                </a:solidFill>
                <a:latin typeface="Source Serif 4"/>
              </a:rPr>
              <a:t>You weren't added to the new one.</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Warm one on one, cold in the group.</a:t>
            </a:r>
          </a:p>
          <a:p>
            <a:pPr algn="l">
              <a:spcAft>
                <a:spcPts val="945"/>
              </a:spcAft>
            </a:pPr>
            <a:r>
              <a:rPr sz="1600" b="0" i="0">
                <a:solidFill>
                  <a:srgbClr val="5D5A54"/>
                </a:solidFill>
                <a:latin typeface="Source Serif 4"/>
              </a:rPr>
              <a:t>Same friend, different person.</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private message came back as a screenshot.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roast always lands on the same person.</a:t>
            </a:r>
          </a:p>
          <a:p>
            <a:pPr algn="l">
              <a:spcAft>
                <a:spcPts val="945"/>
              </a:spcAft>
            </a:pPr>
            <a:r>
              <a:rPr sz="1600" b="0" i="0">
                <a:solidFill>
                  <a:srgbClr val="5D5A54"/>
                </a:solidFill>
                <a:latin typeface="Source Serif 4"/>
              </a:rPr>
              <a:t>Everyone knows who's at the bottom this week.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THUMBS VOTE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"The most popular people are the most liked."</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Thumbs up if true, down if false, sideways if it depends. Everyone at once.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SAME GAME, DIFFERENT MOVES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Every gender plays. The moves just sound different.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QUIETER MOVES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Plans made where one person can see</a:t>
            </a:r>
          </a:p>
          <a:p>
            <a:pPr algn="l">
              <a:spcAft>
                <a:spcPts val="855"/>
              </a:spcAft>
            </a:pPr>
            <a:r>
              <a:rPr sz="1900" b="0" i="0">
                <a:solidFill>
                  <a:srgbClr val="1C1B19"/>
                </a:solidFill>
                <a:latin typeface="Source Serif 4"/>
              </a:rPr>
              <a:t>Secrets turned into screenshots</a:t>
            </a:r>
          </a:p>
          <a:p>
            <a:pPr algn="l">
              <a:spcAft>
                <a:spcPts val="855"/>
              </a:spcAft>
            </a:pPr>
            <a:r>
              <a:rPr sz="1900" b="0" i="0">
                <a:solidFill>
                  <a:srgbClr val="1C1B19"/>
                </a:solidFill>
                <a:latin typeface="Source Serif 4"/>
              </a:rPr>
              <a:t>The freeze-out: left on read</a:t>
            </a:r>
          </a:p>
          <a:p>
            <a:pPr algn="l">
              <a:spcAft>
                <a:spcPts val="855"/>
              </a:spcAft>
            </a:pPr>
            <a:r>
              <a:rPr sz="1900" b="0" i="0">
                <a:solidFill>
                  <a:srgbClr val="1C1B19"/>
                </a:solidFill>
                <a:latin typeface="Source Serif 4"/>
              </a:rPr>
              <a:t>"If you hang out with her, we're done"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LOUDER MOVES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roast that always picks one person</a:t>
            </a:r>
          </a:p>
          <a:p>
            <a:pPr algn="l">
              <a:spcAft>
                <a:spcPts val="855"/>
              </a:spcAft>
            </a:pPr>
            <a:r>
              <a:rPr sz="1900" b="0" i="0">
                <a:solidFill>
                  <a:srgbClr val="1C1B19"/>
                </a:solidFill>
                <a:latin typeface="Source Serif 4"/>
              </a:rPr>
              <a:t>Ranking who's in and who's out</a:t>
            </a:r>
          </a:p>
          <a:p>
            <a:pPr algn="l">
              <a:spcAft>
                <a:spcPts val="855"/>
              </a:spcAft>
            </a:pPr>
            <a:r>
              <a:rPr sz="1900" b="0" i="0">
                <a:solidFill>
                  <a:srgbClr val="1C1B19"/>
                </a:solidFill>
                <a:latin typeface="Source Serif 4"/>
              </a:rPr>
              <a:t>Quietly dropped from the game or the lift</a:t>
            </a:r>
          </a:p>
          <a:p>
            <a:pPr algn="l">
              <a:spcAft>
                <a:spcPts val="855"/>
              </a:spcAft>
            </a:pPr>
            <a:r>
              <a:rPr sz="1900" b="0" i="0">
                <a:solidFill>
                  <a:srgbClr val="1C1B19"/>
                </a:solidFill>
                <a:latin typeface="Source Serif 4"/>
              </a:rPr>
              <a:t>Calling someone "soft" to keep him in 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ANONYMOUS CARDS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Have you ever thought something a group did was wrong, and said nothing?</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Yes or no on a scrap. Fold it.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NOT A DOORMAT. NOT A BULLY.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Assertive: stand up and still respect them</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Go to the person, not the group.</a:t>
            </a:r>
          </a:p>
          <a:p>
            <a:pPr algn="l">
              <a:spcAft>
                <a:spcPts val="945"/>
              </a:spcAft>
            </a:pPr>
            <a:r>
              <a:rPr sz="1600" b="0" i="0">
                <a:solidFill>
                  <a:srgbClr val="5D5A54"/>
                </a:solidFill>
                <a:latin typeface="Source Serif 4"/>
              </a:rPr>
              <a:t>"I noticed I wasn't in the new chat. Is something up with us?"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Let it stop with you.</a:t>
            </a:r>
          </a:p>
          <a:p>
            <a:pPr algn="l">
              <a:spcAft>
                <a:spcPts val="945"/>
              </a:spcAft>
            </a:pPr>
            <a:r>
              <a:rPr sz="1600" b="0" i="0">
                <a:solidFill>
                  <a:srgbClr val="5D5A54"/>
                </a:solidFill>
                <a:latin typeface="Source Serif 4"/>
              </a:rPr>
              <a:t>Rumors and screenshots need people to pass them on.</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Keep more than one circle.</a:t>
            </a:r>
          </a:p>
          <a:p>
            <a:pPr algn="l">
              <a:spcAft>
                <a:spcPts val="945"/>
              </a:spcAft>
            </a:pPr>
            <a:r>
              <a:rPr sz="1600" b="0" i="0">
                <a:solidFill>
                  <a:srgbClr val="5D5A54"/>
                </a:solidFill>
                <a:latin typeface="Source Serif 4"/>
              </a:rPr>
              <a:t>Team, job, club, cousins, online friends.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Pull someone in.</a:t>
            </a:r>
          </a:p>
          <a:p>
            <a:pPr algn="l">
              <a:spcAft>
                <a:spcPts val="945"/>
              </a:spcAft>
            </a:pPr>
            <a:r>
              <a:rPr sz="1600" b="0" i="0">
                <a:solidFill>
                  <a:srgbClr val="5D5A54"/>
                </a:solidFill>
                <a:latin typeface="Source Serif 4"/>
              </a:rPr>
              <a:t>"Want to come with us?" The best use of social power.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MAYA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The prom group has one spot too many. In a side chat, someone suggests "just not telling Maya" the plan changed.</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The guys' chat has a running bit about who's most "soft." This week it's Dev, and nobody told him about the pickup game.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SOFIA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She's running for class president. Her group starts calling her "try-hard" and stops inviting 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move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Privately: one thing you could do this week, for yourself or for someone on the outside.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https://rmwtoolkit.github.io/bcds-toolkit/inner-circle-high-school.html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Inner Circle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the difference between popular and liked, recognize the quiet and loud versions of the same power moves in any friend group, and name one assertive move they could use, for themselves or for someone on the outside. Nobody names a real person or group.</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Scraps of paper for the anonymous yes/no cards</a:t>
            </a:r>
          </a:p>
          <a:p>
            <a:pPr algn="l">
              <a:spcAft>
                <a:spcPts val="675"/>
              </a:spcAft>
            </a:pPr>
            <a:r>
              <a:rPr sz="1500" b="0" i="0">
                <a:solidFill>
                  <a:srgbClr val="1C1B19"/>
                </a:solidFill>
                <a:latin typeface="Source Serif 4"/>
              </a:rPr>
              <a:t>Index cards or notebooks for the private one-move reflection</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2 min   </a:t>
            </a:r>
            <a:r>
              <a:rPr sz="1400" b="0" i="0">
                <a:solidFill>
                  <a:srgbClr val="1C1B19"/>
                </a:solidFill>
                <a:latin typeface="Source Serif 4"/>
              </a:rPr>
              <a:t>Open: nobody said anything, everybody knew</a:t>
            </a:r>
          </a:p>
          <a:p>
            <a:pPr algn="l">
              <a:spcAft>
                <a:spcPts val="630"/>
              </a:spcAft>
            </a:pPr>
            <a:r>
              <a:rPr sz="1300" b="1" i="0">
                <a:solidFill>
                  <a:srgbClr val="F47B20"/>
                </a:solidFill>
                <a:latin typeface="Inter Tight"/>
              </a:rPr>
              <a:t>3 min   </a:t>
            </a:r>
            <a:r>
              <a:rPr sz="1400" b="0" i="0">
                <a:solidFill>
                  <a:srgbClr val="1C1B19"/>
                </a:solidFill>
                <a:latin typeface="Source Serif 4"/>
              </a:rPr>
              <a:t>Popular or liked? (thumbs vote)</a:t>
            </a:r>
          </a:p>
          <a:p>
            <a:pPr algn="l">
              <a:spcAft>
                <a:spcPts val="630"/>
              </a:spcAft>
            </a:pPr>
            <a:r>
              <a:rPr sz="1300" b="1" i="0">
                <a:solidFill>
                  <a:srgbClr val="F47B20"/>
                </a:solidFill>
                <a:latin typeface="Inter Tight"/>
              </a:rPr>
              <a:t>4 min   </a:t>
            </a:r>
            <a:r>
              <a:rPr sz="1400" b="0" i="0">
                <a:solidFill>
                  <a:srgbClr val="1C1B19"/>
                </a:solidFill>
                <a:latin typeface="Source Serif 4"/>
              </a:rPr>
              <a:t>Same game, different moves (discussion)</a:t>
            </a:r>
          </a:p>
          <a:p>
            <a:pPr algn="l">
              <a:spcAft>
                <a:spcPts val="630"/>
              </a:spcAft>
            </a:pPr>
            <a:r>
              <a:rPr sz="1300" b="1" i="0">
                <a:solidFill>
                  <a:srgbClr val="F47B20"/>
                </a:solidFill>
                <a:latin typeface="Inter Tight"/>
              </a:rPr>
              <a:t>3 min   </a:t>
            </a:r>
            <a:r>
              <a:rPr sz="1400" b="0" i="0">
                <a:solidFill>
                  <a:srgbClr val="1C1B19"/>
                </a:solidFill>
                <a:latin typeface="Source Serif 4"/>
              </a:rPr>
              <a:t>Why nobody says anything (anonymous yes/no cards)</a:t>
            </a:r>
          </a:p>
          <a:p>
            <a:pPr algn="l">
              <a:spcAft>
                <a:spcPts val="630"/>
              </a:spcAft>
            </a:pPr>
            <a:r>
              <a:rPr sz="1300" b="1" i="0">
                <a:solidFill>
                  <a:srgbClr val="F47B20"/>
                </a:solidFill>
                <a:latin typeface="Inter Tight"/>
              </a:rPr>
              <a:t>2 min   </a:t>
            </a:r>
            <a:r>
              <a:rPr sz="1400" b="0" i="0">
                <a:solidFill>
                  <a:srgbClr val="1C1B19"/>
                </a:solidFill>
                <a:latin typeface="Source Serif 4"/>
              </a:rPr>
              <a:t>Not a doormat, not a bully: assertive</a:t>
            </a:r>
          </a:p>
          <a:p>
            <a:pPr algn="l">
              <a:spcAft>
                <a:spcPts val="630"/>
              </a:spcAft>
            </a:pPr>
            <a:r>
              <a:rPr sz="1300" b="1" i="0">
                <a:solidFill>
                  <a:srgbClr val="F47B20"/>
                </a:solidFill>
                <a:latin typeface="Inter Tight"/>
              </a:rPr>
              <a:t>4 min   </a:t>
            </a:r>
            <a:r>
              <a:rPr sz="1400" b="0" i="0">
                <a:solidFill>
                  <a:srgbClr val="1C1B19"/>
                </a:solidFill>
                <a:latin typeface="Source Serif 4"/>
              </a:rPr>
              <a:t>Three moments (pairs)</a:t>
            </a:r>
          </a:p>
          <a:p>
            <a:pPr algn="l">
              <a:spcAft>
                <a:spcPts val="630"/>
              </a:spcAft>
            </a:pPr>
            <a:r>
              <a:rPr sz="1300" b="1" i="0">
                <a:solidFill>
                  <a:srgbClr val="F47B20"/>
                </a:solidFill>
                <a:latin typeface="Inter Tight"/>
              </a:rPr>
              <a:t>2 min   </a:t>
            </a:r>
            <a:r>
              <a:rPr sz="1400" b="0" i="0">
                <a:solidFill>
                  <a:srgbClr val="1C1B19"/>
                </a:solidFill>
                <a:latin typeface="Source Serif 4"/>
              </a:rPr>
              <a:t>One move (private)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Popular or liked? thumbs vote (3), anonymous yes/no cards (3), one moment in pairs, Maya or Dev (3), one move and the student page link (1). The student page has the rest of the moves and what to do if you're on the outside.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Situations only, never names.</a:t>
            </a:r>
          </a:p>
          <a:p>
            <a:pPr algn="l">
              <a:spcAft>
                <a:spcPts val="585"/>
              </a:spcAft>
            </a:pPr>
            <a:r>
              <a:rPr sz="1300" b="0" i="0">
                <a:solidFill>
                  <a:srgbClr val="1C1B19"/>
                </a:solidFill>
                <a:latin typeface="Source Serif 4"/>
              </a:rPr>
              <a:t>Keep every example about situations on the slides. Don't let students name classmates, groups or chats, and don't ask anyone where they sit or who they're with. Your advisory is a friend group too, and someone in the circle may be on the outside right now, maybe with the people doing it sitting across from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Leave a way back for the one who's done it.</a:t>
            </a:r>
          </a:p>
          <a:p>
            <a:pPr algn="l">
              <a:spcAft>
                <a:spcPts val="585"/>
              </a:spcAft>
            </a:pPr>
            <a:r>
              <a:rPr sz="1300" b="0" i="0">
                <a:solidFill>
                  <a:srgbClr val="1C1B19"/>
                </a:solidFill>
                <a:latin typeface="Source Serif 4"/>
              </a:rPr>
              <a:t>Some students will recognize themselves as the one running the side chat. Keep shame out of it so they can use what they hear: change one thing, and keep the apology short. "I left you out, and that wasn't okay. I'm sorry."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what goes to a counselor the same day.</a:t>
            </a:r>
          </a:p>
          <a:p>
            <a:pPr algn="l">
              <a:spcAft>
                <a:spcPts val="585"/>
              </a:spcAft>
            </a:pPr>
            <a:r>
              <a:rPr sz="1300" b="0" i="0">
                <a:solidFill>
                  <a:srgbClr val="1C1B19"/>
                </a:solidFill>
                <a:latin typeface="Source Serif 4"/>
              </a:rPr>
              <a:t>Someone being outed, photos of a person (real or AI-made) being shared, threats, or the same student targeted for weeks. Also a student who is dreading school, not eating or not sleeping because of a group. Don't ask about any of this in the circle. If a student brings up a real situation, thank them, say you'd like to help privately, and follow up with a counselor that day.</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Outing is one of the most harmful moves there is.</a:t>
            </a:r>
          </a:p>
          <a:p>
            <a:pPr algn="l">
              <a:spcAft>
                <a:spcPts val="585"/>
              </a:spcAft>
            </a:pPr>
            <a:r>
              <a:rPr sz="1300" b="0" i="0">
                <a:solidFill>
                  <a:srgbClr val="1C1B19"/>
                </a:solidFill>
                <a:latin typeface="Source Serif 4"/>
              </a:rPr>
              <a:t>If a student's gender identity or orientation is being spread around, treat it as urgent and private, never a discussion topic. Know where to point students: a counselor, The Trevor Project (call 1-866-488-7386 or text START to 678-678), and Trans Lifeline (877-565-8860).</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the talk turns to "girls are like this."</a:t>
            </a:r>
          </a:p>
          <a:p>
            <a:pPr algn="l">
              <a:spcAft>
                <a:spcPts val="585"/>
              </a:spcAft>
            </a:pPr>
            <a:r>
              <a:rPr sz="1300" b="0" i="0">
                <a:solidFill>
                  <a:srgbClr val="1C1B19"/>
                </a:solidFill>
                <a:latin typeface="Source Serif 4"/>
              </a:rPr>
              <a:t>Or "guys are like this." Bring in the research: across 148 studies the gender difference was trivial, and most people of every gender don't run their friendships this way. Students who hear their group mocked will stop talking.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 self-harm questions in the circle.</a:t>
            </a:r>
          </a:p>
          <a:p>
            <a:pPr algn="l">
              <a:spcAft>
                <a:spcPts val="585"/>
              </a:spcAft>
            </a:pPr>
            <a:r>
              <a:rPr sz="1300" b="0" i="0">
                <a:solidFill>
                  <a:srgbClr val="1C1B19"/>
                </a:solidFill>
                <a:latin typeface="Source Serif 4"/>
              </a:rPr>
              <a:t>Being shut out can hit hard. If a student says something that worries you, check in privately after advisory and walk them to a counselor. Any disclosure goes to a counselor, and 988 (call or text) is open any time.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Every gender plays, and none is the villain.</a:t>
            </a:r>
          </a:p>
          <a:p>
            <a:pPr algn="l">
              <a:spcAft>
                <a:spcPts val="585"/>
              </a:spcAft>
            </a:pPr>
            <a:r>
              <a:rPr sz="1300" b="0" i="0">
                <a:solidFill>
                  <a:srgbClr val="1C1B19"/>
                </a:solidFill>
                <a:latin typeface="Source Serif 4"/>
              </a:rPr>
              <a:t>Present the quiet moves and the loud moves as patterns that show up in any group. Girls can be loud, competitive and ambitious; guys can be gentle and close with their friends. If the circle starts sorting people into "mean girls" and "meathead guys," say so and point back to the 148 studies.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Trans and nonbinary students can land outside both scripts.</a:t>
            </a:r>
          </a:p>
          <a:p>
            <a:pPr algn="l">
              <a:spcAft>
                <a:spcPts val="585"/>
              </a:spcAft>
            </a:pPr>
            <a:r>
              <a:rPr sz="1300" b="0" i="0">
                <a:solidFill>
                  <a:srgbClr val="1C1B19"/>
                </a:solidFill>
                <a:latin typeface="Source Serif 4"/>
              </a:rPr>
              <a:t>Many friend groups are quietly sorted by gender, so a trans or nonbinary student may feel the group deciding which "side" they belong on. Don't ask anyone to speak for that experience. Use the scenarios as written and keep identity talk general.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"Soft" and anti-gay insults are power moves.</a:t>
            </a:r>
          </a:p>
          <a:p>
            <a:pPr algn="l">
              <a:spcAft>
                <a:spcPts val="585"/>
              </a:spcAft>
            </a:pPr>
            <a:r>
              <a:rPr sz="1300" b="0" i="0">
                <a:solidFill>
                  <a:srgbClr val="1C1B19"/>
                </a:solidFill>
                <a:latin typeface="Source Serif 4"/>
              </a:rPr>
              <a:t>Pascoe found these words were used mostly to police who counts as a "real guy," whatever anyone's orientation. Name that plainly so gay, bi and questioning students hear the adult in the room treat it as a power move.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Loyalty means different things in different families.</a:t>
            </a:r>
          </a:p>
          <a:p>
            <a:pPr algn="l">
              <a:spcAft>
                <a:spcPts val="585"/>
              </a:spcAft>
            </a:pPr>
            <a:r>
              <a:rPr sz="1300" b="0" i="0">
                <a:solidFill>
                  <a:srgbClr val="1C1B19"/>
                </a:solidFill>
                <a:latin typeface="Source Serif 4"/>
              </a:rPr>
              <a:t>In some families friends become family; in others private things stay private. Avoid "In X families" generalizations. Ask students what they were taught about loyalty, privately, and treat every answer as valid. Students of color in a mostly white grade, and students new to Beaver or new to the country, may carry extra pressure to fit the group's idea of how to act.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Groups often form around money.</a:t>
            </a:r>
          </a:p>
          <a:p>
            <a:pPr algn="l">
              <a:spcAft>
                <a:spcPts val="585"/>
              </a:spcAft>
            </a:pPr>
            <a:r>
              <a:rPr sz="1300" b="0" i="0">
                <a:solidFill>
                  <a:srgbClr val="1C1B19"/>
                </a:solidFill>
                <a:latin typeface="Source Serif 4"/>
              </a:rPr>
              <a:t>Prom groups, formal tables, rides and weekend plans can quietly sort people by who has a car or spending money. "Keep more than one circle" includes a job, cousins, a youth group or online friends, so students who work or care for siblings hear their circles counted.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freeze-out is harder for some students to read.</a:t>
            </a:r>
          </a:p>
          <a:p>
            <a:pPr algn="l">
              <a:spcAft>
                <a:spcPts val="585"/>
              </a:spcAft>
            </a:pPr>
            <a:r>
              <a:rPr sz="1300" b="0" i="0">
                <a:solidFill>
                  <a:srgbClr val="1C1B19"/>
                </a:solidFill>
                <a:latin typeface="Source Serif 4"/>
              </a:rPr>
              <a:t>Autistic students and students with social anxiety may miss quiet cues, or read every silence as rejection. Say that asking the person directly ("Is something going on with us?") is a strong move for everyone. Let students show a thumbs vote at their desk, without having to speak.</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When students name who is popular and who they like, the lists overlap but don't match. Perceived popularity and being liked are two separate measures.</a:t>
            </a:r>
          </a:p>
          <a:p>
            <a:pPr algn="l">
              <a:spcAft>
                <a:spcPts val="585"/>
              </a:spcAft>
            </a:pPr>
            <a:r>
              <a:rPr sz="1050" b="0" i="0">
                <a:solidFill>
                  <a:srgbClr val="5D5A54"/>
                </a:solidFill>
                <a:latin typeface="Inter Tight"/>
              </a:rPr>
              <a:t>Parkhurst and Hopmeyer, Journal of Early Adolescence, 1998</a:t>
            </a:r>
          </a:p>
          <a:p>
            <a:pPr algn="l">
              <a:spcAft>
                <a:spcPts val="585"/>
              </a:spcAft>
            </a:pPr>
            <a:r>
              <a:rPr sz="1300" b="0" i="0">
                <a:solidFill>
                  <a:srgbClr val="1C1B19"/>
                </a:solidFill>
                <a:latin typeface="Source Serif 4"/>
              </a:rPr>
              <a:t>Following about 300 students every year from 5th to 12th grade, researchers found that leaving people out and spreading rumors raised how popular a student seemed and lowered how much they were liked. The trade-off was strongest for girls and peaked during the move to high school.</a:t>
            </a:r>
          </a:p>
          <a:p>
            <a:pPr algn="l">
              <a:spcAft>
                <a:spcPts val="585"/>
              </a:spcAft>
            </a:pPr>
            <a:r>
              <a:rPr sz="1050" b="0" i="0">
                <a:solidFill>
                  <a:srgbClr val="5D5A54"/>
                </a:solidFill>
                <a:latin typeface="Inter Tight"/>
              </a:rPr>
              <a:t>Cillessen and Borch, Journal of Adolescence, 2006</a:t>
            </a:r>
          </a:p>
          <a:p>
            <a:pPr algn="l">
              <a:spcAft>
                <a:spcPts val="585"/>
              </a:spcAft>
            </a:pPr>
            <a:r>
              <a:rPr sz="1300" b="0" i="0">
                <a:solidFill>
                  <a:srgbClr val="1C1B19"/>
                </a:solidFill>
                <a:latin typeface="Source Serif 4"/>
              </a:rPr>
              <a:t>Hurting someone through their relationships instead of with fists was named relational aggression in 1995.</a:t>
            </a:r>
          </a:p>
          <a:p>
            <a:pPr algn="l">
              <a:spcAft>
                <a:spcPts val="585"/>
              </a:spcAft>
            </a:pPr>
            <a:r>
              <a:rPr sz="1050" b="0" i="0">
                <a:solidFill>
                  <a:srgbClr val="5D5A54"/>
                </a:solidFill>
                <a:latin typeface="Inter Tight"/>
              </a:rPr>
              <a:t>Crick and Grotpeter, Child Development, 1995</a:t>
            </a:r>
          </a:p>
          <a:p>
            <a:pPr algn="l">
              <a:spcAft>
                <a:spcPts val="585"/>
              </a:spcAft>
            </a:pPr>
            <a:r>
              <a:rPr sz="1300" b="0" i="0">
                <a:solidFill>
                  <a:srgbClr val="1C1B19"/>
                </a:solidFill>
                <a:latin typeface="Source Serif 4"/>
              </a:rPr>
              <a:t>A review of 148 studies and about 74,000 kids found girls use relational aggression only slightly more than boys, a difference the authors called trivial. Boys also fight physically more.</a:t>
            </a:r>
          </a:p>
          <a:p>
            <a:pPr algn="l">
              <a:spcAft>
                <a:spcPts val="585"/>
              </a:spcAft>
            </a:pPr>
            <a:r>
              <a:rPr sz="1050" b="0" i="0">
                <a:solidFill>
                  <a:srgbClr val="5D5A54"/>
                </a:solidFill>
                <a:latin typeface="Inter Tight"/>
              </a:rPr>
              <a:t>Card, Stucky, Sawalani and Little, Child Development, 2008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18 months at a California high school, a sociologist found guys used anti-gay insults mostly to police who counted as a "real guy," whatever anyone's orientation.</a:t>
            </a:r>
          </a:p>
          <a:p>
            <a:pPr algn="l">
              <a:spcAft>
                <a:spcPts val="585"/>
              </a:spcAft>
            </a:pPr>
            <a:r>
              <a:rPr sz="1050" b="0" i="0">
                <a:solidFill>
                  <a:srgbClr val="5D5A54"/>
                </a:solidFill>
                <a:latin typeface="Inter Tight"/>
              </a:rPr>
              <a:t>Pascoe, Dude, You're a F*g, 2007</a:t>
            </a:r>
          </a:p>
          <a:p>
            <a:pPr algn="l">
              <a:spcAft>
                <a:spcPts val="585"/>
              </a:spcAft>
            </a:pPr>
            <a:r>
              <a:rPr sz="1300" b="0" i="0">
                <a:solidFill>
                  <a:srgbClr val="1C1B19"/>
                </a:solidFill>
                <a:latin typeface="Source Serif 4"/>
              </a:rPr>
              <a:t>Kids who chased status at 13 by acting older were seen as cool. By their early 20s they had more trouble in close relationships and more problems with alcohol, drugs and the law than their peers.</a:t>
            </a:r>
          </a:p>
          <a:p>
            <a:pPr algn="l">
              <a:spcAft>
                <a:spcPts val="585"/>
              </a:spcAft>
            </a:pPr>
            <a:r>
              <a:rPr sz="1050" b="0" i="0">
                <a:solidFill>
                  <a:srgbClr val="5D5A54"/>
                </a:solidFill>
                <a:latin typeface="Inter Tight"/>
              </a:rPr>
              <a:t>Allen, Schad, Oudekerk and Chango, Child Development, 2014</a:t>
            </a:r>
          </a:p>
          <a:p>
            <a:pPr algn="l">
              <a:spcAft>
                <a:spcPts val="585"/>
              </a:spcAft>
            </a:pPr>
            <a:r>
              <a:rPr sz="1300" b="0" i="0">
                <a:solidFill>
                  <a:srgbClr val="1C1B19"/>
                </a:solidFill>
                <a:latin typeface="Source Serif 4"/>
              </a:rPr>
              <a:t>When other players stopped throwing to them in an online game of catch, people showed activity in a brain area that also responds to physical pain, and it tracked how upset they felt. Scientists still debate how close the overlap is.</a:t>
            </a:r>
          </a:p>
          <a:p>
            <a:pPr algn="l">
              <a:spcAft>
                <a:spcPts val="585"/>
              </a:spcAft>
            </a:pPr>
            <a:r>
              <a:rPr sz="1050" b="0" i="0">
                <a:solidFill>
                  <a:srgbClr val="5D5A54"/>
                </a:solidFill>
                <a:latin typeface="Inter Tight"/>
              </a:rPr>
              <a:t>Eisenberger, Lieberman and Williams, Science, 2003</a:t>
            </a:r>
          </a:p>
          <a:p>
            <a:pPr algn="l">
              <a:spcAft>
                <a:spcPts val="585"/>
              </a:spcAft>
            </a:pPr>
            <a:r>
              <a:rPr sz="1300" b="0" i="0">
                <a:solidFill>
                  <a:srgbClr val="1C1B19"/>
                </a:solidFill>
                <a:latin typeface="Source Serif 4"/>
              </a:rPr>
              <a:t>In recorded recess observations, other kids were around for 88% of bullying episodes and stepped in during 19%. When someone stepped in, the bullying stopped 57% of the time.</a:t>
            </a:r>
          </a:p>
          <a:p>
            <a:pPr algn="l">
              <a:spcAft>
                <a:spcPts val="585"/>
              </a:spcAft>
            </a:pPr>
            <a:r>
              <a:rPr sz="1050" b="0" i="0">
                <a:solidFill>
                  <a:srgbClr val="5D5A54"/>
                </a:solidFill>
                <a:latin typeface="Inter Tight"/>
              </a:rPr>
              <a:t>Hawkins, Pepler and Craig, Social Development, 2001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