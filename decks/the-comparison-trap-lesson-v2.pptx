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it: "Everyone here has closed an app feeling a little smaller than when they opened it. Today is about why, and what helps."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the yes/no scraps and tally them out loud next to the average guess. The room almost always underestimates. That's the Stanford finding happening live: people hide the hard parts, so everyone assumes they're the only one. If the guess happens to match, say so honestly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The comparison is rigged before it starts. Add the UCLA likes study: likes light up the reward system, and teens liked photos more when others already had. Popularity is partly contagious. Ask: "So what is a like count actually measuring?"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four questions. You can't stop the brain from comparing, but you can audit the comparison before it decides anything. Next slide: practice on a sample post.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(with the previous slide). Groups take one question each and report back. Good answers to expect: we don't know what else is going on; they may have had help, money or connections; is there something here worth asking them about; how did reading it feel? Point out that "Is it useful?" can be yes, which is fine.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On an index card, privately sort the five. Nobody shares. Then: muting is private and isn't a judgment of the person. You can like a friend and not need their vacation in your feed during finals.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December: mute decision posts for the week and talk to someone about the wait; looking up other people's scores makes it worse. Jae: name the different starting lines and what his work has built. Riley: keep the discussion on the after-feeling (it leaves her feeling worse), and on swapping in accounts about skill. Don't discuss bodies or weights.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OPTIONAL. Some families compare openly to siblings, cousins or the neighbor's kid, and for some it's how care and high hopes are expressed. In others achievement rarely comes up. Neither is the right way. Nobody shares.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Mention the Penn study if there's time: a 10-minute-per-app limit for three weeks lowered loneliness and depression symptoms. Share the take-home link. It has the four questions, the moves,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Comparison Trap</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comparing to a feed feels worse than reality (the highlight filter and hidden struggle), use a four-question check on a post that stings, and choose one change to what they see.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 paper for the opening guess</a:t>
            </a:r>
          </a:p>
          <a:p>
            <a:pPr algn="l">
              <a:spcAft>
                <a:spcPts val="675"/>
              </a:spcAft>
            </a:pPr>
            <a:r>
              <a:rPr sz="1500" b="0" i="0">
                <a:solidFill>
                  <a:srgbClr val="1C1B19"/>
                </a:solidFill>
                <a:latin typeface="Source Serif 4"/>
              </a:rPr>
              <a:t>Index cards for the private account audit</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The guess (anonymous tally)</a:t>
            </a:r>
          </a:p>
          <a:p>
            <a:pPr algn="l">
              <a:spcAft>
                <a:spcPts val="630"/>
              </a:spcAft>
            </a:pPr>
            <a:r>
              <a:rPr sz="1300" b="1" i="0">
                <a:solidFill>
                  <a:srgbClr val="F47B20"/>
                </a:solidFill>
                <a:latin typeface="Inter Tight"/>
              </a:rPr>
              <a:t>8 min   </a:t>
            </a:r>
            <a:r>
              <a:rPr sz="1400" b="0" i="0">
                <a:solidFill>
                  <a:srgbClr val="1C1B19"/>
                </a:solidFill>
                <a:latin typeface="Source Serif 4"/>
              </a:rPr>
              <a:t>The highlight filter</a:t>
            </a:r>
          </a:p>
          <a:p>
            <a:pPr algn="l">
              <a:spcAft>
                <a:spcPts val="630"/>
              </a:spcAft>
            </a:pPr>
            <a:r>
              <a:rPr sz="1300" b="1" i="0">
                <a:solidFill>
                  <a:srgbClr val="F47B20"/>
                </a:solidFill>
                <a:latin typeface="Inter Tight"/>
              </a:rPr>
              <a:t>10 min   </a:t>
            </a:r>
            <a:r>
              <a:rPr sz="1400" b="0" i="0">
                <a:solidFill>
                  <a:srgbClr val="1C1B19"/>
                </a:solidFill>
                <a:latin typeface="Source Serif 4"/>
              </a:rPr>
              <a:t>The four-question check on a sample post</a:t>
            </a:r>
          </a:p>
          <a:p>
            <a:pPr algn="l">
              <a:spcAft>
                <a:spcPts val="630"/>
              </a:spcAft>
            </a:pPr>
            <a:r>
              <a:rPr sz="1300" b="1" i="0">
                <a:solidFill>
                  <a:srgbClr val="F47B20"/>
                </a:solidFill>
                <a:latin typeface="Inter Tight"/>
              </a:rPr>
              <a:t>7 min   </a:t>
            </a:r>
            <a:r>
              <a:rPr sz="1400" b="0" i="0">
                <a:solidFill>
                  <a:srgbClr val="1C1B19"/>
                </a:solidFill>
                <a:latin typeface="Source Serif 4"/>
              </a:rPr>
              <a:t>Private account audit</a:t>
            </a:r>
          </a:p>
          <a:p>
            <a:pPr algn="l">
              <a:spcAft>
                <a:spcPts val="630"/>
              </a:spcAft>
            </a:pPr>
            <a:r>
              <a:rPr sz="1300" b="1" i="0">
                <a:solidFill>
                  <a:srgbClr val="F47B20"/>
                </a:solidFill>
                <a:latin typeface="Inter Tight"/>
              </a:rPr>
              <a:t>8 min   </a:t>
            </a:r>
            <a:r>
              <a:rPr sz="1400" b="0" i="0">
                <a:solidFill>
                  <a:srgbClr val="1C1B19"/>
                </a:solidFill>
                <a:latin typeface="Source Serif 4"/>
              </a:rPr>
              <a:t>Three moments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Comparison you didn't pick (optional reflection)</a:t>
            </a:r>
          </a:p>
          <a:p>
            <a:pPr algn="l">
              <a:spcAft>
                <a:spcPts val="630"/>
              </a:spcAft>
            </a:pPr>
            <a:r>
              <a:rPr sz="1300" b="1" i="0">
                <a:solidFill>
                  <a:srgbClr val="F47B20"/>
                </a:solidFill>
                <a:latin typeface="Inter Tight"/>
              </a:rPr>
              <a:t>2 min   </a:t>
            </a:r>
            <a:r>
              <a:rPr sz="1400" b="0" i="0">
                <a:solidFill>
                  <a:srgbClr val="1C1B19"/>
                </a:solidFill>
                <a:latin typeface="Source Serif 4"/>
              </a:rPr>
              <a:t>One change, and the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The guess (5), the four-question check (10), one change and the link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Seniors in decision season.</a:t>
            </a:r>
          </a:p>
          <a:p>
            <a:pPr algn="l">
              <a:spcAft>
                <a:spcPts val="585"/>
              </a:spcAft>
            </a:pPr>
            <a:r>
              <a:rPr sz="1300" b="0" i="0">
                <a:solidFill>
                  <a:srgbClr val="1C1B19"/>
                </a:solidFill>
                <a:latin typeface="Source Serif 4"/>
              </a:rPr>
              <a:t>In December and March, acceptance posts hit hard. Don't ask anyone to share where they applied or heard back.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Body comparison is close to the surface.</a:t>
            </a:r>
          </a:p>
          <a:p>
            <a:pPr algn="l">
              <a:spcAft>
                <a:spcPts val="585"/>
              </a:spcAft>
            </a:pPr>
            <a:r>
              <a:rPr sz="1300" b="0" i="0">
                <a:solidFill>
                  <a:srgbClr val="1C1B19"/>
                </a:solidFill>
                <a:latin typeface="Source Serif 4"/>
              </a:rPr>
              <a:t>The fitness-account example can land hard for students with eating concerns. Keep it about the feeling and the inputs, never weights or bodies. If a student seems to be struggling, connect them with a counselor afterward.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audit private.</a:t>
            </a:r>
          </a:p>
          <a:p>
            <a:pPr algn="l">
              <a:spcAft>
                <a:spcPts val="585"/>
              </a:spcAft>
            </a:pPr>
            <a:r>
              <a:rPr sz="1300" b="0" i="0">
                <a:solidFill>
                  <a:srgbClr val="1C1B19"/>
                </a:solidFill>
                <a:latin typeface="Source Serif 4"/>
              </a:rPr>
              <a:t>Nobody shares which accounts they follow or mute. The card goes home with them.</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compare differently.</a:t>
            </a:r>
          </a:p>
          <a:p>
            <a:pPr algn="l">
              <a:spcAft>
                <a:spcPts val="585"/>
              </a:spcAft>
            </a:pPr>
            <a:r>
              <a:rPr sz="1300" b="0" i="0">
                <a:solidFill>
                  <a:srgbClr val="1C1B19"/>
                </a:solidFill>
                <a:latin typeface="Source Serif 4"/>
              </a:rPr>
              <a:t>In some families, comparing to a sibling or cousin is how high hopes get said out loud. In others it never comes up. Present both as normal. The reflection is private.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preach quitting social media.</a:t>
            </a:r>
          </a:p>
          <a:p>
            <a:pPr algn="l">
              <a:spcAft>
                <a:spcPts val="585"/>
              </a:spcAft>
            </a:pPr>
            <a:r>
              <a:rPr sz="1300" b="0" i="0">
                <a:solidFill>
                  <a:srgbClr val="1C1B19"/>
                </a:solidFill>
                <a:latin typeface="Source Serif 4"/>
              </a:rPr>
              <a:t>Most students won't, and the research supports limits and better inputs, not only full breaks. Meet them there.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someone is being targeted online.</a:t>
            </a:r>
          </a:p>
          <a:p>
            <a:pPr algn="l">
              <a:spcAft>
                <a:spcPts val="585"/>
              </a:spcAft>
            </a:pPr>
            <a:r>
              <a:rPr sz="1300" b="0" i="0">
                <a:solidFill>
                  <a:srgbClr val="1C1B19"/>
                </a:solidFill>
                <a:latin typeface="Source Serif 4"/>
              </a:rPr>
              <a:t>Bullying or threats are a counselor conversation that day, not a discussion topic.</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"Is it a fair match?" carries the equity piece.</a:t>
            </a:r>
          </a:p>
          <a:p>
            <a:pPr algn="l">
              <a:spcAft>
                <a:spcPts val="585"/>
              </a:spcAft>
            </a:pPr>
            <a:r>
              <a:rPr sz="1300" b="0" i="0">
                <a:solidFill>
                  <a:srgbClr val="1C1B19"/>
                </a:solidFill>
                <a:latin typeface="Source Serif 4"/>
              </a:rPr>
              <a:t>Some students work, care for siblings, or have no paid summer options. Name that work as building something real (Jae's scenario), so the lesson doesn't treat a paid program as the standard.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compare in different ways.</a:t>
            </a:r>
          </a:p>
          <a:p>
            <a:pPr algn="l">
              <a:spcAft>
                <a:spcPts val="585"/>
              </a:spcAft>
            </a:pPr>
            <a:r>
              <a:rPr sz="1300" b="0" i="0">
                <a:solidFill>
                  <a:srgbClr val="1C1B19"/>
                </a:solidFill>
                <a:latin typeface="Source Serif 4"/>
              </a:rPr>
              <a:t>Openly comparing to siblings or cousins is how some families show high hopes; others never mention achievement. Present both as normal and keep the reflection private. Avoid "In X families" generalizations.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students see in their feeds.</a:t>
            </a:r>
          </a:p>
          <a:p>
            <a:pPr algn="l">
              <a:spcAft>
                <a:spcPts val="585"/>
              </a:spcAft>
            </a:pPr>
            <a:r>
              <a:rPr sz="1300" b="0" i="0">
                <a:solidFill>
                  <a:srgbClr val="1C1B19"/>
                </a:solidFill>
                <a:latin typeface="Source Serif 4"/>
              </a:rPr>
              <a:t>Students of color, LGBTQ+ students and disabled students may rarely see people like them, or may see them mocked. Following creators who share your identity is a valid "keep." Harassment aimed at identity is a counselor conversation that day.</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Bodies.</a:t>
            </a:r>
          </a:p>
          <a:p>
            <a:pPr algn="l">
              <a:spcAft>
                <a:spcPts val="585"/>
              </a:spcAft>
            </a:pPr>
            <a:r>
              <a:rPr sz="1300" b="0" i="0">
                <a:solidFill>
                  <a:srgbClr val="1C1B19"/>
                </a:solidFill>
                <a:latin typeface="Source Serif 4"/>
              </a:rPr>
              <a:t>Keep every example about the after-feeling, never weight or shape. Students of every size and ability are in the room.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everyone is online.</a:t>
            </a:r>
          </a:p>
          <a:p>
            <a:pPr algn="l">
              <a:spcAft>
                <a:spcPts val="585"/>
              </a:spcAft>
            </a:pPr>
            <a:r>
              <a:rPr sz="1300" b="0" i="0">
                <a:solidFill>
                  <a:srgbClr val="1C1B19"/>
                </a:solidFill>
                <a:latin typeface="Source Serif 4"/>
              </a:rPr>
              <a:t>Some families limit social media for religious, family or money reasons. Let those students apply the four questions to school, sports or family comparisons.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 cost to any of the moves.</a:t>
            </a:r>
          </a:p>
          <a:p>
            <a:pPr algn="l">
              <a:spcAft>
                <a:spcPts val="585"/>
              </a:spcAft>
            </a:pPr>
            <a:r>
              <a:rPr sz="1300" b="0" i="0">
                <a:solidFill>
                  <a:srgbClr val="1C1B19"/>
                </a:solidFill>
                <a:latin typeface="Source Serif 4"/>
              </a:rPr>
              <a:t>Muting, hiding like counts and app limits are built into phones and apps. Nothing in the lesson requires a paid tool.</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judge themselves by comparing to others, especially when there's no objective measure. For most of history the comparison group was a few dozen people you knew.</a:t>
            </a:r>
          </a:p>
          <a:p>
            <a:pPr algn="l">
              <a:spcAft>
                <a:spcPts val="585"/>
              </a:spcAft>
            </a:pPr>
            <a:r>
              <a:rPr sz="1050" b="0" i="0">
                <a:solidFill>
                  <a:srgbClr val="5D5A54"/>
                </a:solidFill>
                <a:latin typeface="Inter Tight"/>
              </a:rPr>
              <a:t>Festinger, 1954</a:t>
            </a:r>
          </a:p>
          <a:p>
            <a:pPr algn="l">
              <a:spcAft>
                <a:spcPts val="585"/>
              </a:spcAft>
            </a:pPr>
            <a:r>
              <a:rPr sz="1300" b="0" i="0">
                <a:solidFill>
                  <a:srgbClr val="1C1B19"/>
                </a:solidFill>
                <a:latin typeface="Source Serif 4"/>
              </a:rPr>
              <a:t>In a simulated Instagram feed, photos with more likes activated teens' reward circuitry, and teens were more likely to like photos that already had many likes, including risky ones.</a:t>
            </a:r>
          </a:p>
          <a:p>
            <a:pPr algn="l">
              <a:spcAft>
                <a:spcPts val="585"/>
              </a:spcAft>
            </a:pPr>
            <a:r>
              <a:rPr sz="1050" b="0" i="0">
                <a:solidFill>
                  <a:srgbClr val="5D5A54"/>
                </a:solidFill>
                <a:latin typeface="Inter Tight"/>
              </a:rPr>
              <a:t>Sherman et al., Psychological Science, 2016 (UCLA)</a:t>
            </a:r>
          </a:p>
          <a:p>
            <a:pPr algn="l">
              <a:spcAft>
                <a:spcPts val="585"/>
              </a:spcAft>
            </a:pPr>
            <a:r>
              <a:rPr sz="1300" b="0" i="0">
                <a:solidFill>
                  <a:srgbClr val="1C1B19"/>
                </a:solidFill>
                <a:latin typeface="Source Serif 4"/>
              </a:rPr>
              <a:t>People consistently underestimate how often peers feel sad, lonely or anxious. Those who underestimated more reported more loneliness.</a:t>
            </a:r>
          </a:p>
          <a:p>
            <a:pPr algn="l">
              <a:spcAft>
                <a:spcPts val="585"/>
              </a:spcAft>
            </a:pPr>
            <a:r>
              <a:rPr sz="1050" b="0" i="0">
                <a:solidFill>
                  <a:srgbClr val="5D5A54"/>
                </a:solidFill>
                <a:latin typeface="Inter Tight"/>
              </a:rPr>
              <a:t>Jordan et al., 2011 (Stanford)</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Heavier Facebook users had lower self-esteem, explained by exposure to people who seemed to be doing better. Viewing one upbeat profile lowered how people felt about themselves.</a:t>
            </a:r>
          </a:p>
          <a:p>
            <a:pPr algn="l">
              <a:spcAft>
                <a:spcPts val="585"/>
              </a:spcAft>
            </a:pPr>
            <a:r>
              <a:rPr sz="1050" b="0" i="0">
                <a:solidFill>
                  <a:srgbClr val="5D5A54"/>
                </a:solidFill>
                <a:latin typeface="Inter Tight"/>
              </a:rPr>
              <a:t>Vogel et al., 2014</a:t>
            </a:r>
          </a:p>
          <a:p>
            <a:pPr algn="l">
              <a:spcAft>
                <a:spcPts val="585"/>
              </a:spcAft>
            </a:pPr>
            <a:r>
              <a:rPr sz="1300" b="0" i="0">
                <a:solidFill>
                  <a:srgbClr val="1C1B19"/>
                </a:solidFill>
                <a:latin typeface="Source Serif 4"/>
              </a:rPr>
              <a:t>143 college students limited Facebook, Instagram and Snapchat to 10 minutes each per day for three weeks and reported less loneliness and fewer depression symptoms. Small sample, a strong hint rather than the final word.</a:t>
            </a:r>
          </a:p>
          <a:p>
            <a:pPr algn="l">
              <a:spcAft>
                <a:spcPts val="585"/>
              </a:spcAft>
            </a:pPr>
            <a:r>
              <a:rPr sz="1050" b="0" i="0">
                <a:solidFill>
                  <a:srgbClr val="5D5A54"/>
                </a:solidFill>
                <a:latin typeface="Inter Tight"/>
              </a:rPr>
              <a:t>Hunt et al., 2018 (Penn)</a:t>
            </a:r>
          </a:p>
          <a:p>
            <a:pPr algn="l">
              <a:spcAft>
                <a:spcPts val="585"/>
              </a:spcAft>
            </a:pPr>
            <a:r>
              <a:rPr sz="1300" b="0" i="0">
                <a:solidFill>
                  <a:srgbClr val="1C1B19"/>
                </a:solidFill>
                <a:latin typeface="Source Serif 4"/>
              </a:rPr>
              <a:t>Young women who saw "Instagram vs reality" pairs felt better about their bodies than those who saw only the posed photos.</a:t>
            </a:r>
          </a:p>
          <a:p>
            <a:pPr algn="l">
              <a:spcAft>
                <a:spcPts val="585"/>
              </a:spcAft>
            </a:pPr>
            <a:r>
              <a:rPr sz="1050" b="0" i="0">
                <a:solidFill>
                  <a:srgbClr val="5D5A54"/>
                </a:solidFill>
                <a:latin typeface="Inter Tight"/>
              </a:rPr>
              <a:t>Tiggemann and Anderberg, 2020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COMPARISON TRAP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Comparison Trap</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know feeds are highlight reels. It still lands. Here's why.</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many people in this room felt left out or behind at least once this week?</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your guess. Then, on a separate scrap, write yes or no for yourself. Fold it.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HIGHLIGHT FILTER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Their outside, your inside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YOU SEE OF THEM</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 best take</a:t>
            </a:r>
          </a:p>
          <a:p>
            <a:pPr algn="l">
              <a:spcAft>
                <a:spcPts val="855"/>
              </a:spcAft>
            </a:pPr>
            <a:r>
              <a:rPr sz="1900" b="0" i="0">
                <a:solidFill>
                  <a:srgbClr val="1C1B19"/>
                </a:solidFill>
                <a:latin typeface="Source Serif 4"/>
              </a:rPr>
              <a:t>The good news</a:t>
            </a:r>
          </a:p>
          <a:p>
            <a:pPr algn="l">
              <a:spcAft>
                <a:spcPts val="855"/>
              </a:spcAft>
            </a:pPr>
            <a:r>
              <a:rPr sz="1900" b="0" i="0">
                <a:solidFill>
                  <a:srgbClr val="1C1B19"/>
                </a:solidFill>
                <a:latin typeface="Source Serif 4"/>
              </a:rPr>
              <a:t>The trip, the win, the party</a:t>
            </a:r>
          </a:p>
          <a:p>
            <a:pPr algn="l">
              <a:spcAft>
                <a:spcPts val="855"/>
              </a:spcAft>
            </a:pPr>
            <a:r>
              <a:rPr sz="1900" b="0" i="0">
                <a:solidFill>
                  <a:srgbClr val="1C1B19"/>
                </a:solidFill>
                <a:latin typeface="Source Serif 4"/>
              </a:rPr>
              <a:t>Edited and captioned</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YOU KNOW ABOUT YOU</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The doubts</a:t>
            </a:r>
          </a:p>
          <a:p>
            <a:pPr algn="l">
              <a:spcAft>
                <a:spcPts val="855"/>
              </a:spcAft>
            </a:pPr>
            <a:r>
              <a:rPr sz="1900" b="0" i="0">
                <a:solidFill>
                  <a:srgbClr val="1C1B19"/>
                </a:solidFill>
                <a:latin typeface="Source Serif 4"/>
              </a:rPr>
              <a:t>The bad days</a:t>
            </a:r>
          </a:p>
          <a:p>
            <a:pPr algn="l">
              <a:spcAft>
                <a:spcPts val="855"/>
              </a:spcAft>
            </a:pPr>
            <a:r>
              <a:rPr sz="1900" b="0" i="0">
                <a:solidFill>
                  <a:srgbClr val="1C1B19"/>
                </a:solidFill>
                <a:latin typeface="Source Serif 4"/>
              </a:rPr>
              <a:t>The unfiltered face</a:t>
            </a:r>
          </a:p>
          <a:p>
            <a:pPr algn="l">
              <a:spcAft>
                <a:spcPts val="855"/>
              </a:spcAft>
            </a:pPr>
            <a:r>
              <a:rPr sz="1900" b="0" i="0">
                <a:solidFill>
                  <a:srgbClr val="1C1B19"/>
                </a:solidFill>
                <a:latin typeface="Source Serif 4"/>
              </a:rPr>
              <a:t>Everything that didn't make the post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FOUR-QUESTION CHECK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When a post stings, ask:</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Is it real?</a:t>
            </a:r>
          </a:p>
          <a:p>
            <a:pPr algn="l">
              <a:spcAft>
                <a:spcPts val="945"/>
              </a:spcAft>
            </a:pPr>
            <a:r>
              <a:rPr sz="1600" b="0" i="0">
                <a:solidFill>
                  <a:srgbClr val="5D5A54"/>
                </a:solidFill>
                <a:latin typeface="Source Serif 4"/>
              </a:rPr>
              <a:t>How much is the best take, cropped and captioned?</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Is it a fair match?</a:t>
            </a:r>
          </a:p>
          <a:p>
            <a:pPr algn="l">
              <a:spcAft>
                <a:spcPts val="945"/>
              </a:spcAft>
            </a:pPr>
            <a:r>
              <a:rPr sz="1600" b="0" i="0">
                <a:solidFill>
                  <a:srgbClr val="5D5A54"/>
                </a:solidFill>
                <a:latin typeface="Source Serif 4"/>
              </a:rPr>
              <a:t>Same starting line? Same money, time, help and luck?</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Is it useful?</a:t>
            </a:r>
          </a:p>
          <a:p>
            <a:pPr algn="l">
              <a:spcAft>
                <a:spcPts val="945"/>
              </a:spcAft>
            </a:pPr>
            <a:r>
              <a:rPr sz="1600" b="0" i="0">
                <a:solidFill>
                  <a:srgbClr val="5D5A54"/>
                </a:solidFill>
                <a:latin typeface="Source Serif 4"/>
              </a:rPr>
              <a:t>Anything to learn or act on? If not, it's noise that hurts.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What's the after-feeling?</a:t>
            </a:r>
          </a:p>
          <a:p>
            <a:pPr algn="l">
              <a:spcAft>
                <a:spcPts val="945"/>
              </a:spcAft>
            </a:pPr>
            <a:r>
              <a:rPr sz="1600" b="0" i="0">
                <a:solidFill>
                  <a:srgbClr val="5D5A54"/>
                </a:solidFill>
                <a:latin typeface="Source Serif 4"/>
              </a:rPr>
              <a:t>If an account reliably leaves you worse, that's worth acting 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"Got into my dream summer program!! So grateful 🙏"</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 classmate's post. Run the four questions in your group.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 ACCOUNT AUDIT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Think of the five accounts you see most.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KEEP</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Makes me laugh</a:t>
            </a:r>
          </a:p>
          <a:p>
            <a:pPr algn="l">
              <a:spcAft>
                <a:spcPts val="855"/>
              </a:spcAft>
            </a:pPr>
            <a:r>
              <a:rPr sz="1900" b="0" i="0">
                <a:solidFill>
                  <a:srgbClr val="1C1B19"/>
                </a:solidFill>
                <a:latin typeface="Source Serif 4"/>
              </a:rPr>
              <a:t>Teaches me something I use</a:t>
            </a:r>
          </a:p>
          <a:p>
            <a:pPr algn="l">
              <a:spcAft>
                <a:spcPts val="855"/>
              </a:spcAft>
            </a:pPr>
            <a:r>
              <a:rPr sz="1900" b="0" i="0">
                <a:solidFill>
                  <a:srgbClr val="1C1B19"/>
                </a:solidFill>
                <a:latin typeface="Source Serif 4"/>
              </a:rPr>
              <a:t>Real people, real life</a:t>
            </a:r>
          </a:p>
          <a:p>
            <a:pPr algn="l">
              <a:spcAft>
                <a:spcPts val="855"/>
              </a:spcAft>
            </a:pPr>
            <a:r>
              <a:rPr sz="1900" b="0" i="0">
                <a:solidFill>
                  <a:srgbClr val="1C1B19"/>
                </a:solidFill>
                <a:latin typeface="Source Serif 4"/>
              </a:rPr>
              <a:t>Makes me want to go do something</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MUTE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Leaves me feeling not enough</a:t>
            </a:r>
          </a:p>
          <a:p>
            <a:pPr algn="l">
              <a:spcAft>
                <a:spcPts val="855"/>
              </a:spcAft>
            </a:pPr>
            <a:r>
              <a:rPr sz="1900" b="0" i="0">
                <a:solidFill>
                  <a:srgbClr val="1C1B19"/>
                </a:solidFill>
                <a:latin typeface="Source Serif 4"/>
              </a:rPr>
              <a:t>Leaves me feeling left out</a:t>
            </a:r>
          </a:p>
          <a:p>
            <a:pPr algn="l">
              <a:spcAft>
                <a:spcPts val="855"/>
              </a:spcAft>
            </a:pPr>
            <a:r>
              <a:rPr sz="1900" b="0" i="0">
                <a:solidFill>
                  <a:srgbClr val="1C1B19"/>
                </a:solidFill>
                <a:latin typeface="Source Serif 4"/>
              </a:rPr>
              <a:t>Makes me want to buy something to fix myself</a:t>
            </a:r>
          </a:p>
          <a:p>
            <a:pPr algn="l">
              <a:spcAft>
                <a:spcPts val="855"/>
              </a:spcAft>
            </a:pPr>
            <a:r>
              <a:rPr sz="1900" b="0" i="0">
                <a:solidFill>
                  <a:srgbClr val="1C1B19"/>
                </a:solidFill>
                <a:latin typeface="Source Serif 4"/>
              </a:rPr>
              <a:t>Leaves me anxious or angry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helps most?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DECEMBER, SENIOR YEAR</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feed is wall-to-wall early decision acceptances. You haven't heard back yet.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Sees a classmate's research internship. Jae spends summers working at his family's restaurant and suddenly feels behind.</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RILEY</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Follows fitness creators. Every video leaves her feeling like her body is wrong, but she says it's motivation.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COMPARISON YOU DIDN'T PICK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How does comparing work in your family? What part do you want to keep, and what part do you want to set down?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Private. Write it for yourself.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change</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Mute one account, hide like counts, or put a ceiling on your worst app. Which one, starting when?</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TAKE-HOME SHEET</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https://rmwtoolkit.github.io/bcds-toolkit/the-comparison-trap-high-school.html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