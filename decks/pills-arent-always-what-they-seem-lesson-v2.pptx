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Something like: "Today is about what to do if a friend is in trouble. Nobody's going to be asked about their own choices." Then say the care line: "This topic is close for some people. If you need to step out, you can."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Show the two pill photos from the take-home page's "Real or fake?" question on the screen. Students move. Reveal: you can't tell. Neither can the seller. Fentanyl isn't spread evenly when pills are pressed, so two pills from the same batch can be completely different. Line to land: "The only pills you can trust come from a pharmacy with your name on the label."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Draw it as a line, not a circle. Talking points: opioids, including fentanyl, oxycodone and heroin, hit mu-opioid receptors in the reward circuit (the rush and calm, and why tolerance builds fast). A small cluster of neurons in the brainstem sets the rhythm of every breath without you thinking. Opioids slow it; enough of them and the rhythm stalls. After a few minutes without enough oxygen the brain is damaged, then the heart stops. Naloxone binds the same receptors more tightly and pushes the opioid off. Ask: "Why would someone who's overdosing look like they're just asleep?" (Snoring or gurgling sounds, no response.)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Make the point slowly: teen drug use has been going down while deaths went up, because the supply changed. Two out of three teens who died had a potential bystander, and usually there was no record of anyone responding. Ask: "Why might people not respond?" Expect: they thought he was sleeping, they were scared of getting in trouble, they didn't know what to do. Today fixes the last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Walk through each step, then run the pair drill: one partner says all five steps from memory while the other checks, then switch. Details: to check, shout their name and rub the breastbone hard. Massachusetts' Good Samaritan law means neither the caller nor the person overdosing can be charged with drug possession for calling; it covers possession, not every charge. Naloxone can't hurt someone who isn't on opioids, so when in doubt, give it. Xylazine isn't reversed by naloxone, but the fentanyl mixed with it is, so always give it. Naloxone wears off in 30 to 90 minutes; the overdose can come back. Expect the person to wake up sick, shaky or angry. That's withdrawal.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One card per group, then report back. Sofia: tell her why you're scared for her and help her find real help for sleep. The plug can't see fentanyl either, and half a pill can hold all of it. Devin: try to wake him; no response, call 911 and give naloxone. Snoring and gray lips are overdose signs, not sleep. After the Narcan: stay, explain why, and wait for EMS. Naloxone can wear off before the opioid does.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Pairs write a reply. A few share. The group picks the ones that sound most like a real friend and least like a parent. Good replies keep the friendship and give a real reason: "nah, those are pressed, my cousin's friend almost died," or "I'm out, come over Saturday instead." Point out that the best line is the one someone would actually send.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the cards. If many students don't know where naloxone is kept, find out and tell them next class. Share the take-home link on the slide. It has the five steps, the myths, the Good Samaritan law, and who to talk to, including after hours. Check in quietly with anyone who seemed shaken.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Pills Aren't Always What They Seem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why fake pills can carry fentanyl, how an opioid overdose stops breathing, and the five steps to take: Recognize, Call, Narcan, Breathe, Stay. Ask the nurse if you can borrow a naloxone box to show, keep it about helping a friend, and know some students may have lost someone to an overdose; let people pass.</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Some students have lost a family member or friend to an overdose, and some fear calling 911; name the Good Samaritan law clearly and let anyone step out who needs to.</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Real or fake (3), the data (4), the five steps with the pair drill (8), exit card (5). Share the take-home link so students get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PILLS AREN'T ALWAYS WHAT THEY SEEM</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371600"/>
            <a:ext cx="10515600" cy="2377440"/>
          </a:xfrm>
          <a:prstGeom prst="rect">
            <a:avLst/>
          </a:prstGeom>
          <a:noFill/>
        </p:spPr>
        <p:txBody>
          <a:bodyPr wrap="square" anchor="b" lIns="0" rIns="0" tIns="0" bIns="0">
            <a:spAutoFit/>
          </a:bodyPr>
          <a:lstStyle/>
          <a:p>
            <a:pPr algn="l">
              <a:spcAft>
                <a:spcPts val="2430"/>
              </a:spcAft>
            </a:pPr>
            <a:r>
              <a:rPr sz="5400" b="1" i="0">
                <a:solidFill>
                  <a:srgbClr val="FFFFFF"/>
                </a:solidFill>
                <a:latin typeface="Source Serif 4"/>
              </a:rPr>
              <a:t>Pills Aren't Always What They Seem</a:t>
            </a:r>
          </a:p>
        </p:txBody>
      </p:sp>
      <p:sp>
        <p:nvSpPr>
          <p:cNvPr id="6" name="TextBox 5"/>
          <p:cNvSpPr txBox="1"/>
          <p:nvPr/>
        </p:nvSpPr>
        <p:spPr>
          <a:xfrm>
            <a:off x="822960" y="393192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Fake pills, real fentanyl, and the five steps that save a life.</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REAL OR FAKE?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One is a real pharmacy oxycodone. One came from a pill press.</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Left wall for A, right wall for B, middle if you can't tell.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HOW IT HAPPENS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How an opioid overdose stops breathing</a:t>
            </a:r>
          </a:p>
        </p:txBody>
      </p:sp>
      <p:sp>
        <p:nvSpPr>
          <p:cNvPr id="6" name="Rectangle 5"/>
          <p:cNvSpPr/>
          <p:nvPr/>
        </p:nvSpPr>
        <p:spPr>
          <a:xfrm>
            <a:off x="82296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Pill</a:t>
            </a:r>
          </a:p>
        </p:txBody>
      </p:sp>
      <p:cxnSp>
        <p:nvCxnSpPr>
          <p:cNvPr id="8" name="Connector 7"/>
          <p:cNvCxnSpPr/>
          <p:nvPr/>
        </p:nvCxnSpPr>
        <p:spPr>
          <a:xfrm>
            <a:off x="2752344" y="3246120"/>
            <a:ext cx="176021"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983229"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3229"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Rush</a:t>
            </a:r>
          </a:p>
        </p:txBody>
      </p:sp>
      <p:cxnSp>
        <p:nvCxnSpPr>
          <p:cNvPr id="11" name="Connector 10"/>
          <p:cNvCxnSpPr/>
          <p:nvPr/>
        </p:nvCxnSpPr>
        <p:spPr>
          <a:xfrm>
            <a:off x="491261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14350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350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Breathing slows</a:t>
            </a:r>
          </a:p>
        </p:txBody>
      </p:sp>
      <p:cxnSp>
        <p:nvCxnSpPr>
          <p:cNvPr id="14" name="Connector 13"/>
          <p:cNvCxnSpPr/>
          <p:nvPr/>
        </p:nvCxnSpPr>
        <p:spPr>
          <a:xfrm>
            <a:off x="7072883" y="3246120"/>
            <a:ext cx="176023"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30377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0377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Oxygen drops</a:t>
            </a:r>
          </a:p>
        </p:txBody>
      </p:sp>
      <p:cxnSp>
        <p:nvCxnSpPr>
          <p:cNvPr id="17" name="Connector 16"/>
          <p:cNvCxnSpPr/>
          <p:nvPr/>
        </p:nvCxnSpPr>
        <p:spPr>
          <a:xfrm>
            <a:off x="923315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46404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Heart stops</a:t>
            </a:r>
          </a:p>
        </p:txBody>
      </p:sp>
      <p:sp>
        <p:nvSpPr>
          <p:cNvPr id="20" name="TextBox 19"/>
          <p:cNvSpPr txBox="1"/>
          <p:nvPr/>
        </p:nvSpPr>
        <p:spPr>
          <a:xfrm>
            <a:off x="822960" y="4160520"/>
            <a:ext cx="10515600" cy="457200"/>
          </a:xfrm>
          <a:prstGeom prst="rect">
            <a:avLst/>
          </a:prstGeom>
          <a:noFill/>
        </p:spPr>
        <p:txBody>
          <a:bodyPr wrap="square" anchor="t" lIns="0" rIns="0" tIns="0" bIns="0">
            <a:spAutoFit/>
          </a:bodyPr>
          <a:lstStyle/>
          <a:p>
            <a:pPr algn="ctr">
              <a:spcAft>
                <a:spcPts val="810"/>
              </a:spcAft>
            </a:pPr>
            <a:r>
              <a:rPr sz="1800" b="1" i="0">
                <a:solidFill>
                  <a:srgbClr val="F47B20"/>
                </a:solidFill>
                <a:latin typeface="Inter Tight"/>
              </a:rPr>
              <a:t/>
            </a:r>
          </a:p>
        </p:txBody>
      </p:sp>
      <p:sp>
        <p:nvSpPr>
          <p:cNvPr id="21" name="TextBox 20"/>
          <p:cNvSpPr txBox="1"/>
          <p:nvPr/>
        </p:nvSpPr>
        <p:spPr>
          <a:xfrm>
            <a:off x="822960" y="4846320"/>
            <a:ext cx="10515600" cy="1188720"/>
          </a:xfrm>
          <a:prstGeom prst="rect">
            <a:avLst/>
          </a:prstGeom>
          <a:noFill/>
        </p:spPr>
        <p:txBody>
          <a:bodyPr wrap="square" anchor="t" lIns="0" rIns="0" tIns="0" bIns="0">
            <a:spAutoFit/>
          </a:bodyPr>
          <a:lstStyle/>
          <a:p>
            <a:pPr algn="ctr">
              <a:spcAft>
                <a:spcPts val="900"/>
              </a:spcAft>
            </a:pPr>
            <a:r>
              <a:rPr sz="2000" b="0" i="1">
                <a:solidFill>
                  <a:srgbClr val="5D5A54"/>
                </a:solidFill>
                <a:latin typeface="Source Serif 4"/>
              </a:rPr>
              <a:t>Naloxone knocks opioids off the receptors and restarts breathing, usually within minutes.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DATA</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Friedman and Hadland, 2024  ·  Tanz et al., CDC, 2022  ·  DEA, 2024</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Most teens who died weren't alone.</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22 U.S. teens died of an overdose each week in 2022.</a:t>
            </a:r>
          </a:p>
          <a:p>
            <a:pPr algn="l">
              <a:spcAft>
                <a:spcPts val="855"/>
              </a:spcAft>
            </a:pPr>
            <a:r>
              <a:rPr sz="1900" b="0" i="0">
                <a:solidFill>
                  <a:srgbClr val="1C1B19"/>
                </a:solidFill>
                <a:latin typeface="Source Serif 4"/>
              </a:rPr>
              <a:t>•  84% of teen overdose deaths involved fentanyl.</a:t>
            </a:r>
          </a:p>
          <a:p>
            <a:pPr algn="l">
              <a:spcAft>
                <a:spcPts val="855"/>
              </a:spcAft>
            </a:pPr>
            <a:r>
              <a:rPr sz="1900" b="0" i="0">
                <a:solidFill>
                  <a:srgbClr val="1C1B19"/>
                </a:solidFill>
                <a:latin typeface="Source Serif 4"/>
              </a:rPr>
              <a:t>•  Two out of three had someone nearby who could have helped.</a:t>
            </a:r>
          </a:p>
          <a:p>
            <a:pPr algn="l">
              <a:spcAft>
                <a:spcPts val="855"/>
              </a:spcAft>
            </a:pPr>
            <a:r>
              <a:rPr sz="1900" b="0" i="0">
                <a:solidFill>
                  <a:srgbClr val="1C1B19"/>
                </a:solidFill>
                <a:latin typeface="Source Serif 4"/>
              </a:rPr>
              <a:t>•  Half of fake pills tested held a deadly dose.</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Teen drug use has been falling. The supply got more dangerous. The person nearby is the best chance.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MINUTES THAT MATTER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Recognize. Call. Narcan. Breathe. Stay.</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Recognize it.</a:t>
            </a:r>
          </a:p>
          <a:p>
            <a:pPr algn="l">
              <a:spcAft>
                <a:spcPts val="945"/>
              </a:spcAft>
            </a:pPr>
            <a:r>
              <a:rPr sz="1600" b="0" i="0">
                <a:solidFill>
                  <a:srgbClr val="5D5A54"/>
                </a:solidFill>
                <a:latin typeface="Source Serif 4"/>
              </a:rPr>
              <a:t>Won't respond, slow or no breathing, gray lips, snoring sounds.</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Call 911.</a:t>
            </a:r>
          </a:p>
          <a:p>
            <a:pPr algn="l">
              <a:spcAft>
                <a:spcPts val="945"/>
              </a:spcAft>
            </a:pPr>
            <a:r>
              <a:rPr sz="1600" b="0" i="0">
                <a:solidFill>
                  <a:srgbClr val="5D5A54"/>
                </a:solidFill>
                <a:latin typeface="Source Serif 4"/>
              </a:rPr>
              <a:t>"Someone isn't breathing." Give the address.</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Give naloxone.</a:t>
            </a:r>
          </a:p>
          <a:p>
            <a:pPr algn="l">
              <a:spcAft>
                <a:spcPts val="945"/>
              </a:spcAft>
            </a:pPr>
            <a:r>
              <a:rPr sz="1600" b="0" i="0">
                <a:solidFill>
                  <a:srgbClr val="5D5A54"/>
                </a:solidFill>
                <a:latin typeface="Source Serif 4"/>
              </a:rPr>
              <a:t>One spray, one nostril. Nothing in 2 to 3 minutes: again.</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Help them breathe.</a:t>
            </a:r>
          </a:p>
          <a:p>
            <a:pPr algn="l">
              <a:spcAft>
                <a:spcPts val="945"/>
              </a:spcAft>
            </a:pPr>
            <a:r>
              <a:rPr sz="1600" b="0" i="0">
                <a:solidFill>
                  <a:srgbClr val="5D5A54"/>
                </a:solidFill>
                <a:latin typeface="Source Serif 4"/>
              </a:rPr>
              <a:t>On their side. Follow the dispatcher.</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Stay.</a:t>
            </a:r>
          </a:p>
          <a:p>
            <a:pPr algn="l">
              <a:spcAft>
                <a:spcPts val="945"/>
              </a:spcAft>
            </a:pPr>
            <a:r>
              <a:rPr sz="1600" b="0" i="0">
                <a:solidFill>
                  <a:srgbClr val="5D5A54"/>
                </a:solidFill>
                <a:latin typeface="Source Serif 4"/>
              </a:rPr>
              <a:t>Naloxone can wear off first. Wait for EMS.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What's your move?</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SOFIA</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Buys "bars" from a Snapchat plug to sleep before big tests. "He only sells pressed-from-pharma."</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DEVIN</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Slumped on a bathroom floor, snoring loudly, lips gray. "He just took a Perc. He's sleeping."</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AFTER THE NARCAN</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Devin wakes up, throws up, and is angry and shaky. He wants to leave before the ambulance comes.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WRITE THE TEXT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"my cousin can get us percs for saturday, u in?"</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With your partner, write the reply you'd actually send.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Write the five steps from memory. Then: where is naloxone kept at school?</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https://rmwtoolkit.github.io/bcds-toolkit/pills-arent-always-what-they-seem-high-school.html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Pills Aren't Always What They Seem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why a pill that didn't come from a pharmacy can contain fentanyl, how an opioid overdose stops breathing, and the five steps to take if it happens in front of them: Recognize, Call, Narcan, Breathe, Stay. The focus is helping a friend. Nobody's own use comes up.</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A naloxone (Narcan) trainer or box, if your nurse has one to show</a:t>
            </a:r>
          </a:p>
          <a:p>
            <a:pPr algn="l">
              <a:spcAft>
                <a:spcPts val="675"/>
              </a:spcAft>
            </a:pPr>
            <a:r>
              <a:rPr sz="1500" b="0" i="0">
                <a:solidFill>
                  <a:srgbClr val="1C1B19"/>
                </a:solidFill>
                <a:latin typeface="Source Serif 4"/>
              </a:rPr>
              <a:t>Scrap paper for the text-reply activity</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Real or fake? (move to a side)</a:t>
            </a:r>
          </a:p>
          <a:p>
            <a:pPr algn="l">
              <a:spcAft>
                <a:spcPts val="630"/>
              </a:spcAft>
            </a:pPr>
            <a:r>
              <a:rPr sz="1300" b="1" i="0">
                <a:solidFill>
                  <a:srgbClr val="F47B20"/>
                </a:solidFill>
                <a:latin typeface="Inter Tight"/>
              </a:rPr>
              <a:t>8 min   </a:t>
            </a:r>
            <a:r>
              <a:rPr sz="1400" b="0" i="0">
                <a:solidFill>
                  <a:srgbClr val="1C1B19"/>
                </a:solidFill>
                <a:latin typeface="Source Serif 4"/>
              </a:rPr>
              <a:t>How an overdose stops breathing</a:t>
            </a:r>
          </a:p>
          <a:p>
            <a:pPr algn="l">
              <a:spcAft>
                <a:spcPts val="630"/>
              </a:spcAft>
            </a:pPr>
            <a:r>
              <a:rPr sz="1300" b="1" i="0">
                <a:solidFill>
                  <a:srgbClr val="F47B20"/>
                </a:solidFill>
                <a:latin typeface="Inter Tight"/>
              </a:rPr>
              <a:t>5 min   </a:t>
            </a:r>
            <a:r>
              <a:rPr sz="1400" b="0" i="0">
                <a:solidFill>
                  <a:srgbClr val="1C1B19"/>
                </a:solidFill>
                <a:latin typeface="Source Serif 4"/>
              </a:rPr>
              <a:t>The data: most teens who died weren't alone</a:t>
            </a:r>
          </a:p>
          <a:p>
            <a:pPr algn="l">
              <a:spcAft>
                <a:spcPts val="630"/>
              </a:spcAft>
            </a:pPr>
            <a:r>
              <a:rPr sz="1300" b="1" i="0">
                <a:solidFill>
                  <a:srgbClr val="F47B20"/>
                </a:solidFill>
                <a:latin typeface="Inter Tight"/>
              </a:rPr>
              <a:t>10 min   </a:t>
            </a:r>
            <a:r>
              <a:rPr sz="1400" b="0" i="0">
                <a:solidFill>
                  <a:srgbClr val="1C1B19"/>
                </a:solidFill>
                <a:latin typeface="Source Serif 4"/>
              </a:rPr>
              <a:t>Recognize, Call, Narcan, Breathe, Stay (pair drill)</a:t>
            </a:r>
          </a:p>
          <a:p>
            <a:pPr algn="l">
              <a:spcAft>
                <a:spcPts val="630"/>
              </a:spcAft>
            </a:pPr>
            <a:r>
              <a:rPr sz="1300" b="1" i="0">
                <a:solidFill>
                  <a:srgbClr val="F47B20"/>
                </a:solidFill>
                <a:latin typeface="Inter Tight"/>
              </a:rPr>
              <a:t>7 min   </a:t>
            </a:r>
            <a:r>
              <a:rPr sz="1400" b="0" i="0">
                <a:solidFill>
                  <a:srgbClr val="1C1B19"/>
                </a:solidFill>
                <a:latin typeface="Source Serif 4"/>
              </a:rPr>
              <a:t>Three moments (small groups)</a:t>
            </a:r>
          </a:p>
          <a:p>
            <a:pPr algn="l">
              <a:spcAft>
                <a:spcPts val="630"/>
              </a:spcAft>
            </a:pPr>
            <a:r>
              <a:rPr sz="1300" b="1" i="0">
                <a:solidFill>
                  <a:srgbClr val="F47B20"/>
                </a:solidFill>
                <a:latin typeface="Inter Tight"/>
              </a:rPr>
              <a:t>5 min   </a:t>
            </a:r>
            <a:r>
              <a:rPr sz="1400" b="0" i="0">
                <a:solidFill>
                  <a:srgbClr val="1C1B19"/>
                </a:solidFill>
                <a:latin typeface="Source Serif 4"/>
              </a:rPr>
              <a:t>Write the text</a:t>
            </a:r>
          </a:p>
          <a:p>
            <a:pPr algn="l">
              <a:spcAft>
                <a:spcPts val="630"/>
              </a:spcAft>
            </a:pPr>
            <a:r>
              <a:rPr sz="1300" b="1" i="0">
                <a:solidFill>
                  <a:srgbClr val="F47B20"/>
                </a:solidFill>
                <a:latin typeface="Inter Tight"/>
              </a:rPr>
              <a:t>5 min   </a:t>
            </a:r>
            <a:r>
              <a:rPr sz="1400" b="0" i="0">
                <a:solidFill>
                  <a:srgbClr val="1C1B19"/>
                </a:solidFill>
                <a:latin typeface="Source Serif 4"/>
              </a:rPr>
              <a:t>Exit card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Real or fake (3), the data (4), the five steps with the pair drill (8), exit card (5). Share the take-home link so students get the rest.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Some students have lost someone.</a:t>
            </a:r>
          </a:p>
          <a:p>
            <a:pPr algn="l">
              <a:spcAft>
                <a:spcPts val="585"/>
              </a:spcAft>
            </a:pPr>
            <a:r>
              <a:rPr sz="1300" b="0" i="0">
                <a:solidFill>
                  <a:srgbClr val="1C1B19"/>
                </a:solidFill>
                <a:latin typeface="Source Serif 4"/>
              </a:rPr>
              <a:t>Overdose has touched many families. Say at the start that this topic is close for some people and anyone can step out or pass. Afterward, check in quietly with anyone who looked shaken and walk them to a counselor if they want.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it about helping a friend.</a:t>
            </a:r>
          </a:p>
          <a:p>
            <a:pPr algn="l">
              <a:spcAft>
                <a:spcPts val="585"/>
              </a:spcAft>
            </a:pPr>
            <a:r>
              <a:rPr sz="1300" b="0" i="0">
                <a:solidFill>
                  <a:srgbClr val="1C1B19"/>
                </a:solidFill>
                <a:latin typeface="Source Serif 4"/>
              </a:rPr>
              <a:t>Never ask about anyone's own use. Frame every question as "if you saw this" or "people our age." That framing keeps the room open.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Show the naloxone if you can.</a:t>
            </a:r>
          </a:p>
          <a:p>
            <a:pPr algn="l">
              <a:spcAft>
                <a:spcPts val="585"/>
              </a:spcAft>
            </a:pPr>
            <a:r>
              <a:rPr sz="1300" b="0" i="0">
                <a:solidFill>
                  <a:srgbClr val="1C1B19"/>
                </a:solidFill>
                <a:latin typeface="Source Serif 4"/>
              </a:rPr>
              <a:t>Holding the box makes the steps real. The nasal spray has been sold over the counter since 2023, and it can't hurt someone who isn't on opioids.</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Be exact about the Good Samaritan law.</a:t>
            </a:r>
          </a:p>
          <a:p>
            <a:pPr algn="l">
              <a:spcAft>
                <a:spcPts val="585"/>
              </a:spcAft>
            </a:pPr>
            <a:r>
              <a:rPr sz="1300" b="0" i="0">
                <a:solidFill>
                  <a:srgbClr val="1C1B19"/>
                </a:solidFill>
                <a:latin typeface="Source Serif 4"/>
              </a:rPr>
              <a:t>In Massachusetts, neither the caller nor the person overdosing can be charged with drug possession for calling. It covers possession, not every possible charge. Say both halves.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a student says they've bought pills.</a:t>
            </a:r>
          </a:p>
          <a:p>
            <a:pPr algn="l">
              <a:spcAft>
                <a:spcPts val="585"/>
              </a:spcAft>
            </a:pPr>
            <a:r>
              <a:rPr sz="1300" b="0" i="0">
                <a:solidFill>
                  <a:srgbClr val="1C1B19"/>
                </a:solidFill>
                <a:latin typeface="Source Serif 4"/>
              </a:rPr>
              <a:t>Thank them, stay calm, and walk them to a counselor or the nurse that day. A pill that didn't come from a pharmacy is the danger, and they just told you something that matters.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Expect the "fake pill" fear to spread to real meds.</a:t>
            </a:r>
          </a:p>
          <a:p>
            <a:pPr algn="l">
              <a:spcAft>
                <a:spcPts val="585"/>
              </a:spcAft>
            </a:pPr>
            <a:r>
              <a:rPr sz="1300" b="0" i="0">
                <a:solidFill>
                  <a:srgbClr val="1C1B19"/>
                </a:solidFill>
                <a:latin typeface="Source Serif 4"/>
              </a:rPr>
              <a:t>Some students take prescribed medication. Be clear: a pill from a pharmacy with your name on the label is the safe kind.</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Grief in the room.</a:t>
            </a:r>
          </a:p>
          <a:p>
            <a:pPr algn="l">
              <a:spcAft>
                <a:spcPts val="585"/>
              </a:spcAft>
            </a:pPr>
            <a:r>
              <a:rPr sz="1300" b="0" i="0">
                <a:solidFill>
                  <a:srgbClr val="1C1B19"/>
                </a:solidFill>
                <a:latin typeface="Source Serif 4"/>
              </a:rPr>
              <a:t>Overdose deaths reach every kind of family and neighborhood. Avoid any picture of who "those people" are. The person who died may be someone's parent, sibling or cousin.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Fear of police.</a:t>
            </a:r>
          </a:p>
          <a:p>
            <a:pPr algn="l">
              <a:spcAft>
                <a:spcPts val="585"/>
              </a:spcAft>
            </a:pPr>
            <a:r>
              <a:rPr sz="1300" b="0" i="0">
                <a:solidFill>
                  <a:srgbClr val="1C1B19"/>
                </a:solidFill>
                <a:latin typeface="Source Serif 4"/>
              </a:rPr>
              <a:t>For some students, calling 911 raises worries about immigration status or how police treat their community. Name it, explain the Good Samaritan law, and be clear that a stopped-breathing emergency is still a 911 call.</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Family members in recovery.</a:t>
            </a:r>
          </a:p>
          <a:p>
            <a:pPr algn="l">
              <a:spcAft>
                <a:spcPts val="585"/>
              </a:spcAft>
            </a:pPr>
            <a:r>
              <a:rPr sz="1300" b="0" i="0">
                <a:solidFill>
                  <a:srgbClr val="1C1B19"/>
                </a:solidFill>
                <a:latin typeface="Source Serif 4"/>
              </a:rPr>
              <a:t>Some students have a parent in recovery, on medication like methadone or buprenorphine, or still using. Talk about overdose as a medical emergency and addiction as a health problem, never as a character flaw.</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Pharmacy access.</a:t>
            </a:r>
          </a:p>
          <a:p>
            <a:pPr algn="l">
              <a:spcAft>
                <a:spcPts val="585"/>
              </a:spcAft>
            </a:pPr>
            <a:r>
              <a:rPr sz="1300" b="0" i="0">
                <a:solidFill>
                  <a:srgbClr val="1C1B19"/>
                </a:solidFill>
                <a:latin typeface="Source Serif 4"/>
              </a:rPr>
              <a:t>"Get it from a pharmacy" assumes insurance and a doctor. Mention that naloxone is sold over the counter and that the nurse or a counselor can help find free sources.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Faith and culture.</a:t>
            </a:r>
          </a:p>
          <a:p>
            <a:pPr algn="l">
              <a:spcAft>
                <a:spcPts val="585"/>
              </a:spcAft>
            </a:pPr>
            <a:r>
              <a:rPr sz="1300" b="0" i="0">
                <a:solidFill>
                  <a:srgbClr val="1C1B19"/>
                </a:solidFill>
                <a:latin typeface="Source Serif 4"/>
              </a:rPr>
              <a:t>Some families don't talk about drugs at all. Students may be the first in their house to learn this. The take-home link lets them share it at home if they want.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Neurodivergent students.</a:t>
            </a:r>
          </a:p>
          <a:p>
            <a:pPr algn="l">
              <a:spcAft>
                <a:spcPts val="585"/>
              </a:spcAft>
            </a:pPr>
            <a:r>
              <a:rPr sz="1300" b="0" i="0">
                <a:solidFill>
                  <a:srgbClr val="1C1B19"/>
                </a:solidFill>
                <a:latin typeface="Source Serif 4"/>
              </a:rPr>
              <a:t>Students with ADHD may hear about "Adderall" from a plug. Note that fake study pills have contained fentanyl and meth, and that a real prescription comes with a doctor who can adjust it.</a:t>
            </a:r>
          </a:p>
          <a:p>
            <a:pPr algn="l">
              <a:spcAft>
                <a:spcPts val="585"/>
              </a:spcAft>
            </a:pPr>
            <a:r>
              <a:rPr sz="1300" b="0" i="0">
                <a:solidFill>
                  <a:srgbClr val="1C1B19"/>
                </a:solidFill>
                <a:latin typeface="Source Serif 4"/>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22 U.S. teens aged 14 to 18 died of a drug overdose each week in 2022, while teen drug use was falling. Most deaths involved fentanyl, often in counterfeit pills.</a:t>
            </a:r>
          </a:p>
          <a:p>
            <a:pPr algn="l">
              <a:spcAft>
                <a:spcPts val="585"/>
              </a:spcAft>
            </a:pPr>
            <a:r>
              <a:rPr sz="1050" b="0" i="0">
                <a:solidFill>
                  <a:srgbClr val="5D5A54"/>
                </a:solidFill>
                <a:latin typeface="Inter Tight"/>
              </a:rPr>
              <a:t>Friedman and Hadland, New England Journal of Medicine, 2024</a:t>
            </a:r>
          </a:p>
          <a:p>
            <a:pPr algn="l">
              <a:spcAft>
                <a:spcPts val="585"/>
              </a:spcAft>
            </a:pPr>
            <a:r>
              <a:rPr sz="1300" b="0" i="0">
                <a:solidFill>
                  <a:srgbClr val="1C1B19"/>
                </a:solidFill>
                <a:latin typeface="Source Serif 4"/>
              </a:rPr>
              <a:t>Of U.S. overdose deaths among 10 to 19 year olds from mid-2019 to 2021, 84% involved illicit fentanyl and about 1 in 4 had evidence of counterfeit pills. Two out of three had a potential bystander nearby.</a:t>
            </a:r>
          </a:p>
          <a:p>
            <a:pPr algn="l">
              <a:spcAft>
                <a:spcPts val="585"/>
              </a:spcAft>
            </a:pPr>
            <a:r>
              <a:rPr sz="1050" b="0" i="0">
                <a:solidFill>
                  <a:srgbClr val="5D5A54"/>
                </a:solidFill>
                <a:latin typeface="Inter Tight"/>
              </a:rPr>
              <a:t>Tanz et al., CDC MMWR, 2022</a:t>
            </a:r>
          </a:p>
          <a:p>
            <a:pPr algn="l">
              <a:spcAft>
                <a:spcPts val="585"/>
              </a:spcAft>
            </a:pPr>
            <a:r>
              <a:rPr sz="1300" b="0" i="0">
                <a:solidFill>
                  <a:srgbClr val="1C1B19"/>
                </a:solidFill>
                <a:latin typeface="Source Serif 4"/>
              </a:rPr>
              <a:t>Opioid receptors in two small brainstem sites account for the slowed breathing that kills in an overdose.</a:t>
            </a:r>
          </a:p>
          <a:p>
            <a:pPr algn="l">
              <a:spcAft>
                <a:spcPts val="585"/>
              </a:spcAft>
            </a:pPr>
            <a:r>
              <a:rPr sz="1050" b="0" i="0">
                <a:solidFill>
                  <a:srgbClr val="5D5A54"/>
                </a:solidFill>
                <a:latin typeface="Inter Tight"/>
              </a:rPr>
              <a:t>Bachmutsky et al., eLife, 2020 (mouse study)</a:t>
            </a:r>
          </a:p>
          <a:p>
            <a:pPr algn="l">
              <a:spcAft>
                <a:spcPts val="585"/>
              </a:spcAft>
            </a:pPr>
            <a:r>
              <a:rPr sz="1300" b="0" i="0">
                <a:solidFill>
                  <a:srgbClr val="1C1B19"/>
                </a:solidFill>
                <a:latin typeface="Source Serif 4"/>
              </a:rPr>
              <a:t>Half of the fake pills the DEA tested in 2024 contained a potentially deadly dose of fentanyl (2 milligrams), down from 7 in 10 in 2023.</a:t>
            </a:r>
          </a:p>
          <a:p>
            <a:pPr algn="l">
              <a:spcAft>
                <a:spcPts val="585"/>
              </a:spcAft>
            </a:pPr>
            <a:r>
              <a:rPr sz="1050" b="0" i="0">
                <a:solidFill>
                  <a:srgbClr val="5D5A54"/>
                </a:solidFill>
                <a:latin typeface="Inter Tight"/>
              </a:rPr>
              <a:t>U.S. Drug Enforcement Administration, 2024</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Narcan nasal spray was approved for over-the-counter sale in 2023.</a:t>
            </a:r>
          </a:p>
          <a:p>
            <a:pPr algn="l">
              <a:spcAft>
                <a:spcPts val="585"/>
              </a:spcAft>
            </a:pPr>
            <a:r>
              <a:rPr sz="1050" b="0" i="0">
                <a:solidFill>
                  <a:srgbClr val="5D5A54"/>
                </a:solidFill>
                <a:latin typeface="Inter Tight"/>
              </a:rPr>
              <a:t>U.S. Food and Drug Administration, 2023</a:t>
            </a:r>
          </a:p>
          <a:p>
            <a:pPr algn="l">
              <a:spcAft>
                <a:spcPts val="585"/>
              </a:spcAft>
            </a:pPr>
            <a:r>
              <a:rPr sz="1300" b="0" i="0">
                <a:solidFill>
                  <a:srgbClr val="1C1B19"/>
                </a:solidFill>
                <a:latin typeface="Source Serif 4"/>
              </a:rPr>
              <a:t>Xylazine, an animal sedative often mixed with fentanyl, isn't reversed by naloxone, but naloxone still reverses the fentanyl mixed with it.</a:t>
            </a:r>
          </a:p>
          <a:p>
            <a:pPr algn="l">
              <a:spcAft>
                <a:spcPts val="585"/>
              </a:spcAft>
            </a:pPr>
            <a:r>
              <a:rPr sz="1050" b="0" i="0">
                <a:solidFill>
                  <a:srgbClr val="5D5A54"/>
                </a:solidFill>
                <a:latin typeface="Inter Tight"/>
              </a:rPr>
              <a:t>CDC, Xylazine: What clinicians need to know</a:t>
            </a:r>
          </a:p>
          <a:p>
            <a:pPr algn="l">
              <a:spcAft>
                <a:spcPts val="585"/>
              </a:spcAft>
            </a:pPr>
            <a:r>
              <a:rPr sz="1300" b="0" i="0">
                <a:solidFill>
                  <a:srgbClr val="1C1B19"/>
                </a:solidFill>
                <a:latin typeface="Source Serif 4"/>
              </a:rPr>
              <a:t>In Massachusetts, a person who calls for help in an overdose, and the person overdosing, can't be charged with drug possession because of the call.</a:t>
            </a:r>
          </a:p>
          <a:p>
            <a:pPr algn="l">
              <a:spcAft>
                <a:spcPts val="585"/>
              </a:spcAft>
            </a:pPr>
            <a:r>
              <a:rPr sz="1050" b="0" i="0">
                <a:solidFill>
                  <a:srgbClr val="5D5A54"/>
                </a:solidFill>
                <a:latin typeface="Inter Tight"/>
              </a:rPr>
              <a:t>Massachusetts General Laws, chapter 94C, section 34A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