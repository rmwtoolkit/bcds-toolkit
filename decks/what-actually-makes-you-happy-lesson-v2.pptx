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lightly: "You've heard relationships matter more than stuff. Today is the next layer: why your brain keeps chasing anyway, and how to make better bets with your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Give a minute of silence, then invite a few volunteers. Expect: it was amazing for a few days, then normal. Some will say it still feels great, which is fine; say so. Ask: "Why does the thing we wanted so much fade so fast?"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Draw both on the board. Dopamine is about anticipation more than pleasure; it surges for what's next and what's uncertain. Kent Berridge's work suggests pleasure comes from a few small spots while wanting runs through a much larger network. That's how you can want something intensely and barely enjoy it. Connect to phones: likes and feeds run on unpredictable rewards, exactly what the wanting system responds to. Ask: "Can you think of something you want a lot but don't like that much?" Then hand out cards: rate one thing from yesterday, want and like, 1 to 10.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Impact bias: when you imagine getting into a school, you picture the moment you find out, not an ordinary Tuesday three months later with laundry and a lab report. The hedonic treadmill was revised: most people's baseline is mildly positive and can shift. The 2023 money study was run jointly by researchers who had disagreed. Say clearly: money matters, especially when there isn't enough. The Harvard study has run more than 85 years.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Students write their own "I'll be happy when" privately and rewrite it as a better question. Volunteers can share. Goals are worth chasing; the trap is putting your whole life on hold until you reach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One card per group, then report back. Sofia: ask the person from chem who makes her laugh to get food after school. The liking gap says she comes across better than she thinks. Jamal: join one thing that meets every week and go every time. Friendship takes hours, and nine months is plenty for a few. Mei-Lin: picture an ordinary day in each and talk it through with her family. There's no single right answer; some families need the paid job, and that's a real reason. Ask: "Which bet would you make?"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Do things with people, not just near them: sitting in the same room on separate phones barely counts. Mention Jeanne Tsai's research: cultures differ in the good feeling people aim for, excitement or calm. Ask students to think privately about what their family hopes their life will feel like.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Students write the text on a card and keep it. Sending it is up to them. Remind them of the liking gap: the other person is more likely to be glad than they'd guess. Share the take-home link on the slide. It has the want-versus-like tracker, the one-solid-person check, and who to talk to if low mood has stuck around for weeks, including 988.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Actually Makes You Happy</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the difference between wanting and liking, why goals feel less amazing once reached, and why time with people is the best bet the research has found. Keep it light and curious, let students who are between friend groups stay private, and if a student says nothing feels good anymore or they feel hopeless, walk them to a counselor that day.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Families and cultures picture a good life differently (excitement or calm, achievement or family, faith or freedom), and some students are between friend groups or lonely right now; honor every version and never treat having few friends as a failing.</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Something you couldn't wait for (3), want versus like (5), people pay off (5), exit card with one text to send (5).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ACTUALLY MAKES YOU HAPPY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371600"/>
            <a:ext cx="10515600" cy="2377440"/>
          </a:xfrm>
          <a:prstGeom prst="rect">
            <a:avLst/>
          </a:prstGeom>
          <a:noFill/>
        </p:spPr>
        <p:txBody>
          <a:bodyPr wrap="square" anchor="b" lIns="0" rIns="0" tIns="0" bIns="0">
            <a:spAutoFit/>
          </a:bodyPr>
          <a:lstStyle/>
          <a:p>
            <a:pPr algn="l">
              <a:spcAft>
                <a:spcPts val="2430"/>
              </a:spcAft>
            </a:pPr>
            <a:r>
              <a:rPr sz="5400" b="1" i="0">
                <a:solidFill>
                  <a:srgbClr val="FFFFFF"/>
                </a:solidFill>
                <a:latin typeface="Source Serif 4"/>
              </a:rPr>
              <a:t>What Actually Makes You Happy</a:t>
            </a:r>
          </a:p>
        </p:txBody>
      </p:sp>
      <p:sp>
        <p:nvSpPr>
          <p:cNvPr id="6" name="TextBox 5"/>
          <p:cNvSpPr txBox="1"/>
          <p:nvPr/>
        </p:nvSpPr>
        <p:spPr>
          <a:xfrm>
            <a:off x="822960" y="393192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Wanting something isn't the same as liking it.</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THINK BACK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Something you couldn't wait for. How did it feel a month later?</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A license, an acceptance, a starting spot, a phone. Just think. No sharing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TWO SYSTEMS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One wants. One enjoys.</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WANTING</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Dopamine from the VTA</a:t>
            </a:r>
          </a:p>
          <a:p>
            <a:pPr algn="l">
              <a:spcAft>
                <a:spcPts val="855"/>
              </a:spcAft>
            </a:pPr>
            <a:r>
              <a:rPr sz="1900" b="0" i="0">
                <a:solidFill>
                  <a:srgbClr val="1C1B19"/>
                </a:solidFill>
                <a:latin typeface="Source Serif 4"/>
              </a:rPr>
              <a:t>Anticipation and pursuit</a:t>
            </a:r>
          </a:p>
          <a:p>
            <a:pPr algn="l">
              <a:spcAft>
                <a:spcPts val="855"/>
              </a:spcAft>
            </a:pPr>
            <a:r>
              <a:rPr sz="1900" b="0" i="0">
                <a:solidFill>
                  <a:srgbClr val="1C1B19"/>
                </a:solidFill>
                <a:latin typeface="Source Serif 4"/>
              </a:rPr>
              <a:t>Big network, strong pull</a:t>
            </a:r>
          </a:p>
          <a:p>
            <a:pPr algn="l">
              <a:spcAft>
                <a:spcPts val="855"/>
              </a:spcAft>
            </a:pPr>
            <a:r>
              <a:rPr sz="1900" b="0" i="0">
                <a:solidFill>
                  <a:srgbClr val="1C1B19"/>
                </a:solidFill>
                <a:latin typeface="Source Serif 4"/>
              </a:rPr>
              <a:t>Surges for the reply, the refresh</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LIKING</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 few small hotspots</a:t>
            </a:r>
          </a:p>
          <a:p>
            <a:pPr algn="l">
              <a:spcAft>
                <a:spcPts val="855"/>
              </a:spcAft>
            </a:pPr>
            <a:r>
              <a:rPr sz="1900" b="0" i="0">
                <a:solidFill>
                  <a:srgbClr val="1C1B19"/>
                </a:solidFill>
                <a:latin typeface="Source Serif 4"/>
              </a:rPr>
              <a:t>The actual feeling of enjoying</a:t>
            </a:r>
          </a:p>
          <a:p>
            <a:pPr algn="l">
              <a:spcAft>
                <a:spcPts val="855"/>
              </a:spcAft>
            </a:pPr>
            <a:r>
              <a:rPr sz="1900" b="0" i="0">
                <a:solidFill>
                  <a:srgbClr val="1C1B19"/>
                </a:solidFill>
                <a:latin typeface="Source Serif 4"/>
              </a:rPr>
              <a:t>Fades as you get your fill</a:t>
            </a:r>
          </a:p>
          <a:p>
            <a:pPr algn="l">
              <a:spcAft>
                <a:spcPts val="855"/>
              </a:spcAft>
            </a:pPr>
            <a:r>
              <a:rPr sz="1900" b="0" i="0">
                <a:solidFill>
                  <a:srgbClr val="1C1B19"/>
                </a:solidFill>
                <a:latin typeface="Source Serif 4"/>
              </a:rPr>
              <a:t>Why the tenth time isn't the first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Wilson and Gilbert, 2005  ·  Diener et al., 2006  ·  Killingsworth et al., 2023  ·  Waldinger and Schulz, 2023</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Your brain is a bad fortune teller.</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We overestimate how good a goal will feel, and for how long.</a:t>
            </a:r>
          </a:p>
          <a:p>
            <a:pPr algn="l">
              <a:spcAft>
                <a:spcPts val="855"/>
              </a:spcAft>
            </a:pPr>
            <a:r>
              <a:rPr sz="1900" b="0" i="0">
                <a:solidFill>
                  <a:srgbClr val="1C1B19"/>
                </a:solidFill>
                <a:latin typeface="Source Serif 4"/>
              </a:rPr>
              <a:t>•  We adapt, but our baseline can still shift.</a:t>
            </a:r>
          </a:p>
          <a:p>
            <a:pPr algn="l">
              <a:spcAft>
                <a:spcPts val="855"/>
              </a:spcAft>
            </a:pPr>
            <a:r>
              <a:rPr sz="1900" b="0" i="0">
                <a:solidFill>
                  <a:srgbClr val="1C1B19"/>
                </a:solidFill>
                <a:latin typeface="Source Serif 4"/>
              </a:rPr>
              <a:t>•  Money helps most people, with smaller gains per dollar.</a:t>
            </a:r>
          </a:p>
          <a:p>
            <a:pPr algn="l">
              <a:spcAft>
                <a:spcPts val="855"/>
              </a:spcAft>
            </a:pPr>
            <a:r>
              <a:rPr sz="1900" b="0" i="0">
                <a:solidFill>
                  <a:srgbClr val="1C1B19"/>
                </a:solidFill>
                <a:latin typeface="Source Serif 4"/>
              </a:rPr>
              <a:t>•  Relationships at 50 predicted health at 80 better than cholesterol.</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What you do with your time can move your baseline. People are the best bet found so far.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ASK A BETTER QUESTION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"I'll be happy when..."</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 get into that school."</a:t>
            </a:r>
          </a:p>
          <a:p>
            <a:pPr algn="l">
              <a:spcAft>
                <a:spcPts val="945"/>
              </a:spcAft>
            </a:pPr>
            <a:r>
              <a:rPr sz="1600" b="0" i="0">
                <a:solidFill>
                  <a:srgbClr val="5D5A54"/>
                </a:solidFill>
                <a:latin typeface="Source Serif 4"/>
              </a:rPr>
              <a:t>What do I want a regular Tuesday there to feel like?</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"...I'm in a relationship."</a:t>
            </a:r>
          </a:p>
          <a:p>
            <a:pPr algn="l">
              <a:spcAft>
                <a:spcPts val="945"/>
              </a:spcAft>
            </a:pPr>
            <a:r>
              <a:rPr sz="1600" b="0" i="0">
                <a:solidFill>
                  <a:srgbClr val="5D5A54"/>
                </a:solidFill>
                <a:latin typeface="Source Serif 4"/>
              </a:rPr>
              <a:t>Who do I already feel most like myself around?</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"...I'm making my own money."</a:t>
            </a:r>
          </a:p>
          <a:p>
            <a:pPr algn="l">
              <a:spcAft>
                <a:spcPts val="945"/>
              </a:spcAft>
            </a:pPr>
            <a:r>
              <a:rPr sz="1600" b="0" i="0">
                <a:solidFill>
                  <a:srgbClr val="5D5A54"/>
                </a:solidFill>
                <a:latin typeface="Source Serif 4"/>
              </a:rPr>
              <a:t>What do I want that money to make room for?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CHOICES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Which bet pays off?</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SOFIA</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Has 900 followers and posts almost every day. At lunch she usually eats alone with her phone.</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JAMAL</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Moved for senior year. He figures there's no point making friends with nine months left.</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MEI-LIN</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Can take a paid camp job where her friends work, or an unpaid lab internship that "looks better."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LASTS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People pay off more than you predict.</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Start the conversation.</a:t>
            </a:r>
          </a:p>
          <a:p>
            <a:pPr algn="l">
              <a:spcAft>
                <a:spcPts val="945"/>
              </a:spcAft>
            </a:pPr>
            <a:r>
              <a:rPr sz="1600" b="0" i="0">
                <a:solidFill>
                  <a:srgbClr val="5D5A54"/>
                </a:solidFill>
                <a:latin typeface="Source Serif 4"/>
              </a:rPr>
              <a:t>Commuters who talked to strangers had the best rides.</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Assume you're liked.</a:t>
            </a:r>
          </a:p>
          <a:p>
            <a:pPr algn="l">
              <a:spcAft>
                <a:spcPts val="945"/>
              </a:spcAft>
            </a:pPr>
            <a:r>
              <a:rPr sz="1600" b="0" i="0">
                <a:solidFill>
                  <a:srgbClr val="5D5A54"/>
                </a:solidFill>
                <a:latin typeface="Source Serif 4"/>
              </a:rPr>
              <a:t>People like us more than we think.</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Put in the hours.</a:t>
            </a:r>
          </a:p>
          <a:p>
            <a:pPr algn="l">
              <a:spcAft>
                <a:spcPts val="945"/>
              </a:spcAft>
            </a:pPr>
            <a:r>
              <a:rPr sz="1600" b="0" i="0">
                <a:solidFill>
                  <a:srgbClr val="5D5A54"/>
                </a:solidFill>
                <a:latin typeface="Source Serif 4"/>
              </a:rPr>
              <a:t>About 50 for a casual friend, 200+ for a close one.</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Care about something beyond you.</a:t>
            </a:r>
          </a:p>
          <a:p>
            <a:pPr algn="l">
              <a:spcAft>
                <a:spcPts val="945"/>
              </a:spcAft>
            </a:pPr>
            <a:r>
              <a:rPr sz="1600" b="0" i="0">
                <a:solidFill>
                  <a:srgbClr val="5D5A54"/>
                </a:solidFill>
                <a:latin typeface="Source Serif 4"/>
              </a:rPr>
              <a:t>Family, faith, a cause, coaching younger kids.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One small bet</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Think of someone you've drifted from. Write a short text you could send them.</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https://rmwtoolkit.github.io/bcds-toolkit/what-actually-makes-you-happy-high-school.html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Actually Makes You Happy</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the difference between wanting and liking, why we overestimate how happy a goal will make us, and what the research says pays off most: time with people. They leave with one small bet to try this week. A good life looks different across families and cultures, and the lesson leaves room for that.</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want-versus-like rating and exit card</a:t>
            </a:r>
          </a:p>
          <a:p>
            <a:pPr algn="l">
              <a:spcAft>
                <a:spcPts val="675"/>
              </a:spcAft>
            </a:pPr>
            <a:r>
              <a:rPr sz="1500" b="0" i="0">
                <a:solidFill>
                  <a:srgbClr val="1C1B19"/>
                </a:solidFill>
                <a:latin typeface="Source Serif 4"/>
              </a:rPr>
              <a:t>Board space for the two systems</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Think of something you couldn't wait for</a:t>
            </a:r>
          </a:p>
          <a:p>
            <a:pPr algn="l">
              <a:spcAft>
                <a:spcPts val="630"/>
              </a:spcAft>
            </a:pPr>
            <a:r>
              <a:rPr sz="1300" b="1" i="0">
                <a:solidFill>
                  <a:srgbClr val="F47B20"/>
                </a:solidFill>
                <a:latin typeface="Inter Tight"/>
              </a:rPr>
              <a:t>8 min   </a:t>
            </a:r>
            <a:r>
              <a:rPr sz="1400" b="0" i="0">
                <a:solidFill>
                  <a:srgbClr val="1C1B19"/>
                </a:solidFill>
                <a:latin typeface="Source Serif 4"/>
              </a:rPr>
              <a:t>Two systems: one wants, one enjoys</a:t>
            </a:r>
          </a:p>
          <a:p>
            <a:pPr algn="l">
              <a:spcAft>
                <a:spcPts val="630"/>
              </a:spcAft>
            </a:pPr>
            <a:r>
              <a:rPr sz="1300" b="1" i="0">
                <a:solidFill>
                  <a:srgbClr val="F47B20"/>
                </a:solidFill>
                <a:latin typeface="Inter Tight"/>
              </a:rPr>
              <a:t>7 min   </a:t>
            </a:r>
            <a:r>
              <a:rPr sz="1400" b="0" i="0">
                <a:solidFill>
                  <a:srgbClr val="1C1B19"/>
                </a:solidFill>
                <a:latin typeface="Source Serif 4"/>
              </a:rPr>
              <a:t>Your brain is a bad fortune teller</a:t>
            </a:r>
          </a:p>
          <a:p>
            <a:pPr algn="l">
              <a:spcAft>
                <a:spcPts val="630"/>
              </a:spcAft>
            </a:pPr>
            <a:r>
              <a:rPr sz="1300" b="1" i="0">
                <a:solidFill>
                  <a:srgbClr val="F47B20"/>
                </a:solidFill>
                <a:latin typeface="Inter Tight"/>
              </a:rPr>
              <a:t>5 min   </a:t>
            </a:r>
            <a:r>
              <a:rPr sz="1400" b="0" i="0">
                <a:solidFill>
                  <a:srgbClr val="1C1B19"/>
                </a:solidFill>
                <a:latin typeface="Source Serif 4"/>
              </a:rPr>
              <a:t>"I'll be happy when..." (rewrite it)</a:t>
            </a:r>
          </a:p>
          <a:p>
            <a:pPr algn="l">
              <a:spcAft>
                <a:spcPts val="630"/>
              </a:spcAft>
            </a:pPr>
            <a:r>
              <a:rPr sz="1300" b="1" i="0">
                <a:solidFill>
                  <a:srgbClr val="F47B20"/>
                </a:solidFill>
                <a:latin typeface="Inter Tight"/>
              </a:rPr>
              <a:t>10 min   </a:t>
            </a:r>
            <a:r>
              <a:rPr sz="1400" b="0" i="0">
                <a:solidFill>
                  <a:srgbClr val="1C1B19"/>
                </a:solidFill>
                <a:latin typeface="Source Serif 4"/>
              </a:rPr>
              <a:t>Three choices: which bet pays off? (small groups)</a:t>
            </a:r>
          </a:p>
          <a:p>
            <a:pPr algn="l">
              <a:spcAft>
                <a:spcPts val="630"/>
              </a:spcAft>
            </a:pPr>
            <a:r>
              <a:rPr sz="1300" b="1" i="0">
                <a:solidFill>
                  <a:srgbClr val="F47B20"/>
                </a:solidFill>
                <a:latin typeface="Inter Tight"/>
              </a:rPr>
              <a:t>5 min   </a:t>
            </a:r>
            <a:r>
              <a:rPr sz="1400" b="0" i="0">
                <a:solidFill>
                  <a:srgbClr val="1C1B19"/>
                </a:solidFill>
                <a:latin typeface="Source Serif 4"/>
              </a:rPr>
              <a:t>People pay off more than you predict</a:t>
            </a:r>
          </a:p>
          <a:p>
            <a:pPr algn="l">
              <a:spcAft>
                <a:spcPts val="630"/>
              </a:spcAft>
            </a:pPr>
            <a:r>
              <a:rPr sz="1300" b="1" i="0">
                <a:solidFill>
                  <a:srgbClr val="F47B20"/>
                </a:solidFill>
                <a:latin typeface="Inter Tight"/>
              </a:rPr>
              <a:t>5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Something you couldn't wait for (3), want versus like (5), people pay off (5), exit card with one text to send (5). Share the take-home link so students get the rest.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Some students are lonely right now.</a:t>
            </a:r>
          </a:p>
          <a:p>
            <a:pPr algn="l">
              <a:spcAft>
                <a:spcPts val="585"/>
              </a:spcAft>
            </a:pPr>
            <a:r>
              <a:rPr sz="1300" b="0" i="0">
                <a:solidFill>
                  <a:srgbClr val="1C1B19"/>
                </a:solidFill>
                <a:latin typeface="Source Serif 4"/>
              </a:rPr>
              <a:t>The "one solid person" check can sting for a student who's between friend groups, especially after a move. Keep it private, and say out loud that it's common and not a verdict on anyone.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knock ambition.</a:t>
            </a:r>
          </a:p>
          <a:p>
            <a:pPr algn="l">
              <a:spcAft>
                <a:spcPts val="585"/>
              </a:spcAft>
            </a:pPr>
            <a:r>
              <a:rPr sz="1300" b="0" i="0">
                <a:solidFill>
                  <a:srgbClr val="1C1B19"/>
                </a:solidFill>
                <a:latin typeface="Source Serif 4"/>
              </a:rPr>
              <a:t>Students who are working hard for college, a team or a job should hear that their goals are worth chasing. The lesson is about not putting all of life on hold until then.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Be fair about money.</a:t>
            </a:r>
          </a:p>
          <a:p>
            <a:pPr algn="l">
              <a:spcAft>
                <a:spcPts val="585"/>
              </a:spcAft>
            </a:pPr>
            <a:r>
              <a:rPr sz="1300" b="0" i="0">
                <a:solidFill>
                  <a:srgbClr val="1C1B19"/>
                </a:solidFill>
                <a:latin typeface="Source Serif 4"/>
              </a:rPr>
              <a:t>Some students' families are under real money pressure. Say plainly that money matters, especially when there isn't enough. It's one ingredient, not the whole recipe.</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Watch for low mood.</a:t>
            </a:r>
          </a:p>
          <a:p>
            <a:pPr algn="l">
              <a:spcAft>
                <a:spcPts val="585"/>
              </a:spcAft>
            </a:pPr>
            <a:r>
              <a:rPr sz="1300" b="0" i="0">
                <a:solidFill>
                  <a:srgbClr val="1C1B19"/>
                </a:solidFill>
                <a:latin typeface="Source Serif 4"/>
              </a:rPr>
              <a:t>If a student says nothing feels good anymore, even things they used to love, or that they feel hopeless, take it seriously and walk them to a counselor that day. 988 is there any time.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the phone piece light.</a:t>
            </a:r>
          </a:p>
          <a:p>
            <a:pPr algn="l">
              <a:spcAft>
                <a:spcPts val="585"/>
              </a:spcAft>
            </a:pPr>
            <a:r>
              <a:rPr sz="1300" b="0" i="0">
                <a:solidFill>
                  <a:srgbClr val="1C1B19"/>
                </a:solidFill>
                <a:latin typeface="Source Serif 4"/>
              </a:rPr>
              <a:t>The point is "did I like that, or just want more of it?" Not a lecture about screens.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Make the text real but optional.</a:t>
            </a:r>
          </a:p>
          <a:p>
            <a:pPr algn="l">
              <a:spcAft>
                <a:spcPts val="585"/>
              </a:spcAft>
            </a:pPr>
            <a:r>
              <a:rPr sz="1300" b="0" i="0">
                <a:solidFill>
                  <a:srgbClr val="1C1B19"/>
                </a:solidFill>
                <a:latin typeface="Source Serif 4"/>
              </a:rPr>
              <a:t>Inviting students to send one text to someone they miss works well. Make sure nobody has to show what they wrote.</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Different pictures of a good life.</a:t>
            </a:r>
          </a:p>
          <a:p>
            <a:pPr algn="l">
              <a:spcAft>
                <a:spcPts val="585"/>
              </a:spcAft>
            </a:pPr>
            <a:r>
              <a:rPr sz="1300" b="0" i="0">
                <a:solidFill>
                  <a:srgbClr val="1C1B19"/>
                </a:solidFill>
                <a:latin typeface="Source Serif 4"/>
              </a:rPr>
              <a:t>Jeanne Tsai's research finds cultures differ in the good feeling people aim for: some lean toward excitement, others toward calm and contentment. Neither is right. Invite students to ask what their family hopes their life will feel like.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duty.</a:t>
            </a:r>
          </a:p>
          <a:p>
            <a:pPr algn="l">
              <a:spcAft>
                <a:spcPts val="585"/>
              </a:spcAft>
            </a:pPr>
            <a:r>
              <a:rPr sz="1300" b="0" i="0">
                <a:solidFill>
                  <a:srgbClr val="1C1B19"/>
                </a:solidFill>
                <a:latin typeface="Source Serif 4"/>
              </a:rPr>
              <a:t>For some students, caring for siblings, working in a family business or honoring parents' sacrifices is part of what makes life meaningful. Count it as "caring about something beyond you," not as a barrier to happiness.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 and work.</a:t>
            </a:r>
          </a:p>
          <a:p>
            <a:pPr algn="l">
              <a:spcAft>
                <a:spcPts val="585"/>
              </a:spcAft>
            </a:pPr>
            <a:r>
              <a:rPr sz="1300" b="0" i="0">
                <a:solidFill>
                  <a:srgbClr val="1C1B19"/>
                </a:solidFill>
                <a:latin typeface="Source Serif 4"/>
              </a:rPr>
              <a:t>Mei-Lin's choice (paid camp job or unpaid internship) is easier for some families than others. Some students don't have the option to work unpaid. Treat the paid job as just as legitimate.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Faith.</a:t>
            </a:r>
          </a:p>
          <a:p>
            <a:pPr algn="l">
              <a:spcAft>
                <a:spcPts val="585"/>
              </a:spcAft>
            </a:pPr>
            <a:r>
              <a:rPr sz="1300" b="0" i="0">
                <a:solidFill>
                  <a:srgbClr val="1C1B19"/>
                </a:solidFill>
                <a:latin typeface="Source Serif 4"/>
              </a:rPr>
              <a:t>For many students, faith is a central source of meaning and community. Include it by name when talking about what lasts.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New students and movers.</a:t>
            </a:r>
          </a:p>
          <a:p>
            <a:pPr algn="l">
              <a:spcAft>
                <a:spcPts val="585"/>
              </a:spcAft>
            </a:pPr>
            <a:r>
              <a:rPr sz="1300" b="0" i="0">
                <a:solidFill>
                  <a:srgbClr val="1C1B19"/>
                </a:solidFill>
                <a:latin typeface="Source Serif 4"/>
              </a:rPr>
              <a:t>Jamal's card fits students who moved, immigrated or changed schools. The 50, 90 and 200 hours for friendship can be reassuring: it takes time for everyone.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Neurodivergent and shy students.</a:t>
            </a:r>
          </a:p>
          <a:p>
            <a:pPr algn="l">
              <a:spcAft>
                <a:spcPts val="585"/>
              </a:spcAft>
            </a:pPr>
            <a:r>
              <a:rPr sz="1300" b="0" i="0">
                <a:solidFill>
                  <a:srgbClr val="1C1B19"/>
                </a:solidFill>
                <a:latin typeface="Source Serif 4"/>
              </a:rPr>
              <a:t>Talking to strangers costs more for some students. Offer smaller versions: one text, one weekly activity, one person at lunch.</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Wanting runs through a large dopamine network, while the feeling of enjoyment comes from a few small hotspots, such as the ventral pallidum.</a:t>
            </a:r>
          </a:p>
          <a:p>
            <a:pPr algn="l">
              <a:spcAft>
                <a:spcPts val="585"/>
              </a:spcAft>
            </a:pPr>
            <a:r>
              <a:rPr sz="1050" b="0" i="0">
                <a:solidFill>
                  <a:srgbClr val="5D5A54"/>
                </a:solidFill>
                <a:latin typeface="Inter Tight"/>
              </a:rPr>
              <a:t>Berridge and Kringelbach, Neuron, 2015</a:t>
            </a:r>
          </a:p>
          <a:p>
            <a:pPr algn="l">
              <a:spcAft>
                <a:spcPts val="585"/>
              </a:spcAft>
            </a:pPr>
            <a:r>
              <a:rPr sz="1300" b="0" i="0">
                <a:solidFill>
                  <a:srgbClr val="1C1B19"/>
                </a:solidFill>
                <a:latin typeface="Source Serif 4"/>
              </a:rPr>
              <a:t>People overestimate how good an event will make them feel and for how long (the impact bias).</a:t>
            </a:r>
          </a:p>
          <a:p>
            <a:pPr algn="l">
              <a:spcAft>
                <a:spcPts val="585"/>
              </a:spcAft>
            </a:pPr>
            <a:r>
              <a:rPr sz="1050" b="0" i="0">
                <a:solidFill>
                  <a:srgbClr val="5D5A54"/>
                </a:solidFill>
                <a:latin typeface="Inter Tight"/>
              </a:rPr>
              <a:t>Wilson and Gilbert, Current Directions in Psychological Science, 2005</a:t>
            </a:r>
          </a:p>
          <a:p>
            <a:pPr algn="l">
              <a:spcAft>
                <a:spcPts val="585"/>
              </a:spcAft>
            </a:pPr>
            <a:r>
              <a:rPr sz="1300" b="0" i="0">
                <a:solidFill>
                  <a:srgbClr val="1C1B19"/>
                </a:solidFill>
                <a:latin typeface="Source Serif 4"/>
              </a:rPr>
              <a:t>Most people's happiness baseline is mildly positive, differs between people, and can shift.</a:t>
            </a:r>
          </a:p>
          <a:p>
            <a:pPr algn="l">
              <a:spcAft>
                <a:spcPts val="585"/>
              </a:spcAft>
            </a:pPr>
            <a:r>
              <a:rPr sz="1050" b="0" i="0">
                <a:solidFill>
                  <a:srgbClr val="5D5A54"/>
                </a:solidFill>
                <a:latin typeface="Inter Tight"/>
              </a:rPr>
              <a:t>Diener, Lucas and Scollon, American Psychologist, 2006</a:t>
            </a:r>
          </a:p>
          <a:p>
            <a:pPr algn="l">
              <a:spcAft>
                <a:spcPts val="585"/>
              </a:spcAft>
            </a:pPr>
            <a:r>
              <a:rPr sz="1300" b="0" i="0">
                <a:solidFill>
                  <a:srgbClr val="1C1B19"/>
                </a:solidFill>
                <a:latin typeface="Source Serif 4"/>
              </a:rPr>
              <a:t>For most people, happiness kept rising with income; it leveled off around $100,000 only for the least happy group.</a:t>
            </a:r>
          </a:p>
          <a:p>
            <a:pPr algn="l">
              <a:spcAft>
                <a:spcPts val="585"/>
              </a:spcAft>
            </a:pPr>
            <a:r>
              <a:rPr sz="1050" b="0" i="0">
                <a:solidFill>
                  <a:srgbClr val="5D5A54"/>
                </a:solidFill>
                <a:latin typeface="Inter Tight"/>
              </a:rPr>
              <a:t>Killingsworth, Kahneman and Mellers, PNAS, 2023</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How satisfied people were in their relationships at 50 predicted their health at 80 better than their cholesterol did.</a:t>
            </a:r>
          </a:p>
          <a:p>
            <a:pPr algn="l">
              <a:spcAft>
                <a:spcPts val="585"/>
              </a:spcAft>
            </a:pPr>
            <a:r>
              <a:rPr sz="1050" b="0" i="0">
                <a:solidFill>
                  <a:srgbClr val="5D5A54"/>
                </a:solidFill>
                <a:latin typeface="Inter Tight"/>
              </a:rPr>
              <a:t>Waldinger and Schulz, The Good Life, 2023 (Harvard Study of Adult Development)</a:t>
            </a:r>
          </a:p>
          <a:p>
            <a:pPr algn="l">
              <a:spcAft>
                <a:spcPts val="585"/>
              </a:spcAft>
            </a:pPr>
            <a:r>
              <a:rPr sz="1300" b="0" i="0">
                <a:solidFill>
                  <a:srgbClr val="1C1B19"/>
                </a:solidFill>
                <a:latin typeface="Source Serif 4"/>
              </a:rPr>
              <a:t>Commuters predicted talking to a stranger would be the worst way to spend the ride; those asked to do it had the most pleasant commutes.</a:t>
            </a:r>
          </a:p>
          <a:p>
            <a:pPr algn="l">
              <a:spcAft>
                <a:spcPts val="585"/>
              </a:spcAft>
            </a:pPr>
            <a:r>
              <a:rPr sz="1050" b="0" i="0">
                <a:solidFill>
                  <a:srgbClr val="5D5A54"/>
                </a:solidFill>
                <a:latin typeface="Inter Tight"/>
              </a:rPr>
              <a:t>Epley and Schroeder, Journal of Experimental Psychology: General, 2014</a:t>
            </a:r>
          </a:p>
          <a:p>
            <a:pPr algn="l">
              <a:spcAft>
                <a:spcPts val="585"/>
              </a:spcAft>
            </a:pPr>
            <a:r>
              <a:rPr sz="1300" b="0" i="0">
                <a:solidFill>
                  <a:srgbClr val="1C1B19"/>
                </a:solidFill>
                <a:latin typeface="Source Serif 4"/>
              </a:rPr>
              <a:t>After talking with someone new, people underestimate how much the other person liked them (the liking gap).</a:t>
            </a:r>
          </a:p>
          <a:p>
            <a:pPr algn="l">
              <a:spcAft>
                <a:spcPts val="585"/>
              </a:spcAft>
            </a:pPr>
            <a:r>
              <a:rPr sz="1050" b="0" i="0">
                <a:solidFill>
                  <a:srgbClr val="5D5A54"/>
                </a:solidFill>
                <a:latin typeface="Inter Tight"/>
              </a:rPr>
              <a:t>Boothby et al., Psychological Science, 2018</a:t>
            </a:r>
          </a:p>
          <a:p>
            <a:pPr algn="l">
              <a:spcAft>
                <a:spcPts val="585"/>
              </a:spcAft>
            </a:pPr>
            <a:r>
              <a:rPr sz="1300" b="0" i="0">
                <a:solidFill>
                  <a:srgbClr val="1C1B19"/>
                </a:solidFill>
                <a:latin typeface="Source Serif 4"/>
              </a:rPr>
              <a:t>It takes about 50 hours together to go from acquaintance to casual friend, about 90 to friend, and more than 200 to close friend.</a:t>
            </a:r>
          </a:p>
          <a:p>
            <a:pPr algn="l">
              <a:spcAft>
                <a:spcPts val="585"/>
              </a:spcAft>
            </a:pPr>
            <a:r>
              <a:rPr sz="1050" b="0" i="0">
                <a:solidFill>
                  <a:srgbClr val="5D5A54"/>
                </a:solidFill>
                <a:latin typeface="Inter Tight"/>
              </a:rPr>
              <a:t>Hall, Journal of Social and Personal Relationships, 2019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