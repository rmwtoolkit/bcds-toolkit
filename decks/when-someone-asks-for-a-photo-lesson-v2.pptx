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"Nobody's going to be asked about their own phone today. This is about two situations you'll almost certainly run into, and what to do about each."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Both situations are someone else doing something wrong. Both have a way out. Ask: "Which one do you think happens to boys more?" Let them guess before the numbers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Draw the script left to right. The account often looks like someone your age, often a girl if the target is a guy. The photo they send is usually stolen. Speed is the giveaway: real people rarely go from hello to nudes in an hour. Once they have an image the tone flips: screenshots of your followers, family or school, and a demand for money, often gift cards. Paying almost never ends it; it tells them you'll pay again. Ask: "At which step would you first notice something's off?" Then write the exit under it: stop responding, save the messages and account name, block and report, tell an adult you trust.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Pause on the first point and look at the boys in the room without singling anyone out. Say: "If this happens to you, it's a crime someone is committing against you, and adults help with this all the time." Mention the law briefly: images of anyone under 18 are illegal to make, ask for, keep or share, even with agreement, but Massachusetts created a diversion program for teen sexting, and the person being threatened is the victim.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After going through the four, hand out cards. Each student writes the no they'd actually use. Examples: "No. I don't send those." "I like you. Still no." "I've said no. If you ask again, I'm done talking." Or change the subject, or block. Collect a few and read them aloud anonymously. The best line is the one that sounds like the student.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One per group, then report back. 1: "I do trust you. I'm still not sending that." 2: don't send, block and report. A video call doesn't prove anything; the speed is the red flag. 3: stop responding, save evidence, block, and tell an adult now. Don't pay, don't send more. 4: don't look or take it, tell a trusted adult, and check on her if you know her. Since 2024, sharing it is a crime in Massachusetts. Ask: "What would make it easier for someone in situation 3 to tell an adult?"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Say this slowly: "If you already sent something, it is not too late, and you are not in trouble." NCMEC's CyberTipline takes reports at report.cybertip.org or 1-800-843-5678. Take It Down helps remove images of people under 18 without anyone sending the image. If home isn't the right place to tell, school staff can help. Anyone who feels hopeless can call or text 988.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anonymously. Share the take-home link on the slide. It has the scam script, the no lines, the stop-save-block-tell steps, Take It Down, and who to talk to, including after hours.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When Someone Asks for a Photo</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how sextortion scams run, how pressure from someone they know sounds, and what to do if a photo is being used against them: stop, save, block, tell. Say early that nobody will be asked about their own phone, make sure boys hear that they're the main target, and if a student says they're being threatened, stay with them and walk them to a counselor right away.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Financial sextortion mostly targets teen boys, LGBTQ+ students can be targeted with threats to out them, and some students can't go to family first; every one of them should hear that school staff can help and they aren't in trouble.</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The scam script (6), stop, save, block, tell (4), two of the four situations (7), exit card (3). Share the take-home link so students get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WHEN SOMEONE ASKS FOR A PHOTO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371600"/>
            <a:ext cx="10515600" cy="2377440"/>
          </a:xfrm>
          <a:prstGeom prst="rect">
            <a:avLst/>
          </a:prstGeom>
          <a:noFill/>
        </p:spPr>
        <p:txBody>
          <a:bodyPr wrap="square" anchor="b" lIns="0" rIns="0" tIns="0" bIns="0">
            <a:spAutoFit/>
          </a:bodyPr>
          <a:lstStyle/>
          <a:p>
            <a:pPr algn="l">
              <a:spcAft>
                <a:spcPts val="2430"/>
              </a:spcAft>
            </a:pPr>
            <a:r>
              <a:rPr sz="5400" b="1" i="0">
                <a:solidFill>
                  <a:srgbClr val="FFFFFF"/>
                </a:solidFill>
                <a:latin typeface="Source Serif 4"/>
              </a:rPr>
              <a:t>When Someone Asks for a Photo</a:t>
            </a:r>
          </a:p>
        </p:txBody>
      </p:sp>
      <p:sp>
        <p:nvSpPr>
          <p:cNvPr id="6" name="TextBox 5"/>
          <p:cNvSpPr txBox="1"/>
          <p:nvPr/>
        </p:nvSpPr>
        <p:spPr>
          <a:xfrm>
            <a:off x="822960" y="393192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You never owe anyone a picture. And there's always a way out.</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TWO DIFFERENT SITUATIONS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Pressure from someone you know. A scam from strangers.</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SOMEONE YOU KNOW</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A partner or crush</a:t>
            </a:r>
          </a:p>
          <a:p>
            <a:pPr algn="l">
              <a:spcAft>
                <a:spcPts val="855"/>
              </a:spcAft>
            </a:pPr>
            <a:r>
              <a:rPr sz="1900" b="0" i="0">
                <a:solidFill>
                  <a:srgbClr val="1C1B19"/>
                </a:solidFill>
                <a:latin typeface="Source Serif 4"/>
              </a:rPr>
              <a:t>"If you trusted me, you would."</a:t>
            </a:r>
          </a:p>
          <a:p>
            <a:pPr algn="l">
              <a:spcAft>
                <a:spcPts val="855"/>
              </a:spcAft>
            </a:pPr>
            <a:r>
              <a:rPr sz="1900" b="0" i="0">
                <a:solidFill>
                  <a:srgbClr val="1C1B19"/>
                </a:solidFill>
                <a:latin typeface="Source Serif 4"/>
              </a:rPr>
              <a:t>Pressure builds over time</a:t>
            </a:r>
          </a:p>
          <a:p>
            <a:pPr algn="l">
              <a:spcAft>
                <a:spcPts val="855"/>
              </a:spcAft>
            </a:pPr>
            <a:r>
              <a:rPr sz="1900" b="0" i="0">
                <a:solidFill>
                  <a:srgbClr val="1C1B19"/>
                </a:solidFill>
                <a:latin typeface="Source Serif 4"/>
              </a:rPr>
              <a:t>Trust can break later</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 SCAM</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A stranger, often overseas</a:t>
            </a:r>
          </a:p>
          <a:p>
            <a:pPr algn="l">
              <a:spcAft>
                <a:spcPts val="855"/>
              </a:spcAft>
            </a:pPr>
            <a:r>
              <a:rPr sz="1900" b="0" i="0">
                <a:solidFill>
                  <a:srgbClr val="1C1B19"/>
                </a:solidFill>
                <a:latin typeface="Source Serif 4"/>
              </a:rPr>
              <a:t>Looks like someone your age</a:t>
            </a:r>
          </a:p>
          <a:p>
            <a:pPr algn="l">
              <a:spcAft>
                <a:spcPts val="855"/>
              </a:spcAft>
            </a:pPr>
            <a:r>
              <a:rPr sz="1900" b="0" i="0">
                <a:solidFill>
                  <a:srgbClr val="1C1B19"/>
                </a:solidFill>
                <a:latin typeface="Source Serif 4"/>
              </a:rPr>
              <a:t>Fast: hello to nudes in an hour</a:t>
            </a:r>
          </a:p>
          <a:p>
            <a:pPr algn="l">
              <a:spcAft>
                <a:spcPts val="855"/>
              </a:spcAft>
            </a:pPr>
            <a:r>
              <a:rPr sz="1900" b="0" i="0">
                <a:solidFill>
                  <a:srgbClr val="1C1B19"/>
                </a:solidFill>
                <a:latin typeface="Source Serif 4"/>
              </a:rPr>
              <a:t>Built to get one image, then money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HOW A SCAM RUNS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Scammers follow a script.</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Follow</a:t>
            </a:r>
          </a:p>
        </p:txBody>
      </p:sp>
      <p:cxnSp>
        <p:nvCxnSpPr>
          <p:cNvPr id="8" name="Connector 7"/>
          <p:cNvCxnSpPr/>
          <p:nvPr/>
        </p:nvCxnSpPr>
        <p:spPr>
          <a:xfrm>
            <a:off x="2752344" y="3246120"/>
            <a:ext cx="176021"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983229"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3229"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Flirt fast</a:t>
            </a:r>
          </a:p>
        </p:txBody>
      </p:sp>
      <p:cxnSp>
        <p:nvCxnSpPr>
          <p:cNvPr id="11" name="Connector 10"/>
          <p:cNvCxnSpPr/>
          <p:nvPr/>
        </p:nvCxnSpPr>
        <p:spPr>
          <a:xfrm>
            <a:off x="491261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14350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350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Send a photo</a:t>
            </a:r>
          </a:p>
        </p:txBody>
      </p:sp>
      <p:cxnSp>
        <p:nvCxnSpPr>
          <p:cNvPr id="14" name="Connector 13"/>
          <p:cNvCxnSpPr/>
          <p:nvPr/>
        </p:nvCxnSpPr>
        <p:spPr>
          <a:xfrm>
            <a:off x="7072883" y="3246120"/>
            <a:ext cx="176023"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0377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0377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Ask for one back</a:t>
            </a:r>
          </a:p>
        </p:txBody>
      </p:sp>
      <p:cxnSp>
        <p:nvCxnSpPr>
          <p:cNvPr id="17" name="Connector 16"/>
          <p:cNvCxnSpPr/>
          <p:nvPr/>
        </p:nvCxnSpPr>
        <p:spPr>
          <a:xfrm>
            <a:off x="923315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Threaten and demand</a:t>
            </a:r>
          </a:p>
        </p:txBody>
      </p:sp>
      <p:sp>
        <p:nvSpPr>
          <p:cNvPr id="20" name="TextBox 19"/>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r>
          </a:p>
        </p:txBody>
      </p:sp>
      <p:sp>
        <p:nvSpPr>
          <p:cNvPr id="21" name="TextBox 20"/>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The exit works at any step: stop, save, block, tell.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NUMBERS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FBI, 2024  ·  Thorn and NCMEC, 2024  ·  Madigan et al., 2018  ·  Englander and McCoy, 2017</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Mostly aimed at teen boys.</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12,600+ minors targeted for money in about 18 months, mostly boys.</a:t>
            </a:r>
          </a:p>
          <a:p>
            <a:pPr algn="l">
              <a:spcAft>
                <a:spcPts val="855"/>
              </a:spcAft>
            </a:pPr>
            <a:r>
              <a:rPr sz="1900" b="0" i="0">
                <a:solidFill>
                  <a:srgbClr val="1C1B19"/>
                </a:solidFill>
                <a:latin typeface="Source Serif 4"/>
              </a:rPr>
              <a:t>•  By 2025, about 137 reports a day.</a:t>
            </a:r>
          </a:p>
          <a:p>
            <a:pPr algn="l">
              <a:spcAft>
                <a:spcPts val="855"/>
              </a:spcAft>
            </a:pPr>
            <a:r>
              <a:rPr sz="1900" b="0" i="0">
                <a:solidFill>
                  <a:srgbClr val="1C1B19"/>
                </a:solidFill>
                <a:latin typeface="Source Serif 4"/>
              </a:rPr>
              <a:t>•  About 15% of teens have sent a sext. "Everyone does it" isn't true.</a:t>
            </a:r>
          </a:p>
          <a:p>
            <a:pPr algn="l">
              <a:spcAft>
                <a:spcPts val="855"/>
              </a:spcAft>
            </a:pPr>
            <a:r>
              <a:rPr sz="1900" b="0" i="0">
                <a:solidFill>
                  <a:srgbClr val="1C1B19"/>
                </a:solidFill>
                <a:latin typeface="Source Serif 4"/>
              </a:rPr>
              <a:t>•  Almost half of Massachusetts senders had it passed on.</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If you're being threatened, the law treats you as the victim.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READ THE PRESSURE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How someone takes no tells you who they are.</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Trust as a test.</a:t>
            </a:r>
          </a:p>
          <a:p>
            <a:pPr algn="l">
              <a:spcAft>
                <a:spcPts val="945"/>
              </a:spcAft>
            </a:pPr>
            <a:r>
              <a:rPr sz="1600" b="0" i="0">
                <a:solidFill>
                  <a:srgbClr val="5D5A54"/>
                </a:solidFill>
                <a:latin typeface="Source Serif 4"/>
              </a:rPr>
              <a:t>"If you trusted me, you would."</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Owed.</a:t>
            </a:r>
          </a:p>
          <a:p>
            <a:pPr algn="l">
              <a:spcAft>
                <a:spcPts val="945"/>
              </a:spcAft>
            </a:pPr>
            <a:r>
              <a:rPr sz="1600" b="0" i="0">
                <a:solidFill>
                  <a:srgbClr val="5D5A54"/>
                </a:solidFill>
                <a:latin typeface="Source Serif 4"/>
              </a:rPr>
              <a:t>"I sent one, your turn." No debt.</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Wearing you down.</a:t>
            </a:r>
          </a:p>
          <a:p>
            <a:pPr algn="l">
              <a:spcAft>
                <a:spcPts val="945"/>
              </a:spcAft>
            </a:pPr>
            <a:r>
              <a:rPr sz="1600" b="0" i="0">
                <a:solidFill>
                  <a:srgbClr val="5D5A54"/>
                </a:solidFill>
                <a:latin typeface="Source Serif 4"/>
              </a:rPr>
              <a:t>Asking until yes feels easier.</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Promises.</a:t>
            </a:r>
          </a:p>
          <a:p>
            <a:pPr algn="l">
              <a:spcAft>
                <a:spcPts val="945"/>
              </a:spcAft>
            </a:pPr>
            <a:r>
              <a:rPr sz="1600" b="0" i="0">
                <a:solidFill>
                  <a:srgbClr val="5D5A54"/>
                </a:solidFill>
                <a:latin typeface="Source Serif 4"/>
              </a:rPr>
              <a:t>"I'll delete it." They can't guarantee that.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FOUR REAL SITUATIONS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What's your move?</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Two months in.</a:t>
            </a:r>
          </a:p>
          <a:p>
            <a:pPr algn="l">
              <a:spcAft>
                <a:spcPts val="945"/>
              </a:spcAft>
            </a:pPr>
            <a:r>
              <a:rPr sz="1600" b="0" i="0">
                <a:solidFill>
                  <a:srgbClr val="5D5A54"/>
                </a:solidFill>
                <a:latin typeface="Source Serif 4"/>
              </a:rPr>
              <a:t>"If you trusted me, you'd send one."</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new follower.</a:t>
            </a:r>
          </a:p>
          <a:p>
            <a:pPr algn="l">
              <a:spcAft>
                <a:spcPts val="945"/>
              </a:spcAft>
            </a:pPr>
            <a:r>
              <a:rPr sz="1600" b="0" i="0">
                <a:solidFill>
                  <a:srgbClr val="5D5A54"/>
                </a:solidFill>
                <a:latin typeface="Source Serif 4"/>
              </a:rPr>
              <a:t>Flirts hard, sends a photo, asks for one back. 40 minutes.</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 threat.</a:t>
            </a:r>
          </a:p>
          <a:p>
            <a:pPr algn="l">
              <a:spcAft>
                <a:spcPts val="945"/>
              </a:spcAft>
            </a:pPr>
            <a:r>
              <a:rPr sz="1600" b="0" i="0">
                <a:solidFill>
                  <a:srgbClr val="5D5A54"/>
                </a:solidFill>
                <a:latin typeface="Source Serif 4"/>
              </a:rPr>
              <a:t>"Pay $300 in gift cards or your followers see it."</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 hallway.</a:t>
            </a:r>
          </a:p>
          <a:p>
            <a:pPr algn="l">
              <a:spcAft>
                <a:spcPts val="945"/>
              </a:spcAft>
            </a:pPr>
            <a:r>
              <a:rPr sz="1600" b="0" i="0">
                <a:solidFill>
                  <a:srgbClr val="5D5A54"/>
                </a:solidFill>
                <a:latin typeface="Source Serif 4"/>
              </a:rPr>
              <a:t>A friend shows you a nude of a girl in your grade.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IF IT'S ALREADY HAPPENED</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Don't pay. Don't send more. Tell someone.</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Stop responding.</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Save the messages and account name.</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Block and report.</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Tell an adult you trust, today.</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Take It Down helps remove images.</a:t>
            </a:r>
          </a:p>
          <a:p>
            <a:pPr algn="l">
              <a:spcAft>
                <a:spcPts val="945"/>
              </a:spcAft>
            </a:pPr>
            <a:r>
              <a:rPr sz="1600" b="0" i="0">
                <a:solidFill>
                  <a:srgbClr val="5D5A54"/>
                </a:solidFill>
                <a:latin typeface="Source Serif 4"/>
              </a:rPr>
              <a:t>takeitdown.ncmec.org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A friend tells you a stranger is threatening them. What's the first thing you'd say?</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https://rmwtoolkit.github.io/bcds-toolkit/when-someone-asks-for-a-photo-high-school.html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When Someone Asks for a Photo</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tell pressure from someone they know apart from a sextortion scam, recognize the scam script early, say no in words that sound like them, and know the exit if something they sent is being used against them: stop, save, block, tell. The message to land: it's never too late to get help, and the person being threatened is the victim.</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"no" lines and the exit card</a:t>
            </a:r>
          </a:p>
          <a:p>
            <a:pPr algn="l">
              <a:spcAft>
                <a:spcPts val="675"/>
              </a:spcAft>
            </a:pPr>
            <a:r>
              <a:rPr sz="1500" b="0" i="0">
                <a:solidFill>
                  <a:srgbClr val="1C1B19"/>
                </a:solidFill>
                <a:latin typeface="Source Serif 4"/>
              </a:rPr>
              <a:t>Board space for the scam script</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Two different situations</a:t>
            </a:r>
          </a:p>
          <a:p>
            <a:pPr algn="l">
              <a:spcAft>
                <a:spcPts val="630"/>
              </a:spcAft>
            </a:pPr>
            <a:r>
              <a:rPr sz="1300" b="1" i="0">
                <a:solidFill>
                  <a:srgbClr val="F47B20"/>
                </a:solidFill>
                <a:latin typeface="Inter Tight"/>
              </a:rPr>
              <a:t>10 min   </a:t>
            </a:r>
            <a:r>
              <a:rPr sz="1400" b="0" i="0">
                <a:solidFill>
                  <a:srgbClr val="1C1B19"/>
                </a:solidFill>
                <a:latin typeface="Source Serif 4"/>
              </a:rPr>
              <a:t>How a sextortion scam runs</a:t>
            </a:r>
          </a:p>
          <a:p>
            <a:pPr algn="l">
              <a:spcAft>
                <a:spcPts val="630"/>
              </a:spcAft>
            </a:pPr>
            <a:r>
              <a:rPr sz="1300" b="1" i="0">
                <a:solidFill>
                  <a:srgbClr val="F47B20"/>
                </a:solidFill>
                <a:latin typeface="Inter Tight"/>
              </a:rPr>
              <a:t>5 min   </a:t>
            </a:r>
            <a:r>
              <a:rPr sz="1400" b="0" i="0">
                <a:solidFill>
                  <a:srgbClr val="1C1B19"/>
                </a:solidFill>
                <a:latin typeface="Source Serif 4"/>
              </a:rPr>
              <a:t>What the numbers show</a:t>
            </a:r>
          </a:p>
          <a:p>
            <a:pPr algn="l">
              <a:spcAft>
                <a:spcPts val="630"/>
              </a:spcAft>
            </a:pPr>
            <a:r>
              <a:rPr sz="1300" b="1" i="0">
                <a:solidFill>
                  <a:srgbClr val="F47B20"/>
                </a:solidFill>
                <a:latin typeface="Inter Tight"/>
              </a:rPr>
              <a:t>7 min   </a:t>
            </a:r>
            <a:r>
              <a:rPr sz="1400" b="0" i="0">
                <a:solidFill>
                  <a:srgbClr val="1C1B19"/>
                </a:solidFill>
                <a:latin typeface="Source Serif 4"/>
              </a:rPr>
              <a:t>Read the pressure, then write your no</a:t>
            </a:r>
          </a:p>
          <a:p>
            <a:pPr algn="l">
              <a:spcAft>
                <a:spcPts val="630"/>
              </a:spcAft>
            </a:pPr>
            <a:r>
              <a:rPr sz="1300" b="1" i="0">
                <a:solidFill>
                  <a:srgbClr val="F47B20"/>
                </a:solidFill>
                <a:latin typeface="Inter Tight"/>
              </a:rPr>
              <a:t>10 min   </a:t>
            </a:r>
            <a:r>
              <a:rPr sz="1400" b="0" i="0">
                <a:solidFill>
                  <a:srgbClr val="1C1B19"/>
                </a:solidFill>
                <a:latin typeface="Source Serif 4"/>
              </a:rPr>
              <a:t>Four real situations (small groups)</a:t>
            </a:r>
          </a:p>
          <a:p>
            <a:pPr algn="l">
              <a:spcAft>
                <a:spcPts val="630"/>
              </a:spcAft>
            </a:pPr>
            <a:r>
              <a:rPr sz="1300" b="1" i="0">
                <a:solidFill>
                  <a:srgbClr val="F47B20"/>
                </a:solidFill>
                <a:latin typeface="Inter Tight"/>
              </a:rPr>
              <a:t>3 min   </a:t>
            </a:r>
            <a:r>
              <a:rPr sz="1400" b="0" i="0">
                <a:solidFill>
                  <a:srgbClr val="1C1B19"/>
                </a:solidFill>
                <a:latin typeface="Source Serif 4"/>
              </a:rPr>
              <a:t>If it's already happened</a:t>
            </a:r>
          </a:p>
          <a:p>
            <a:pPr algn="l">
              <a:spcAft>
                <a:spcPts val="630"/>
              </a:spcAft>
            </a:pPr>
            <a:r>
              <a:rPr sz="1300" b="1" i="0">
                <a:solidFill>
                  <a:srgbClr val="F47B20"/>
                </a:solidFill>
                <a:latin typeface="Inter Tight"/>
              </a:rPr>
              <a:t>5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The scam script (6), stop, save, block, tell (4), two of the four situations (7), exit card (3). Share the take-home link so students get the rest.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Assume someone in the room has sent a photo.</a:t>
            </a:r>
          </a:p>
          <a:p>
            <a:pPr algn="l">
              <a:spcAft>
                <a:spcPts val="585"/>
              </a:spcAft>
            </a:pPr>
            <a:r>
              <a:rPr sz="1300" b="0" i="0">
                <a:solidFill>
                  <a:srgbClr val="1C1B19"/>
                </a:solidFill>
                <a:latin typeface="Source Serif 4"/>
              </a:rPr>
              <a:t>Statistically, someone has, and someone may be under threat right now. Keep the tone free of blame: pressure and scams are someone else doing wrong. Never ask who has sent anything.</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Talk directly to the boys.</a:t>
            </a:r>
          </a:p>
          <a:p>
            <a:pPr algn="l">
              <a:spcAft>
                <a:spcPts val="585"/>
              </a:spcAft>
            </a:pPr>
            <a:r>
              <a:rPr sz="1300" b="0" i="0">
                <a:solidFill>
                  <a:srgbClr val="1C1B19"/>
                </a:solidFill>
                <a:latin typeface="Source Serif 4"/>
              </a:rPr>
              <a:t>Financial sextortion mostly targets teen boys 14 to 17. Many boys think this is a girls' issue. Say the numbers out loud.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student is being threatened.</a:t>
            </a:r>
          </a:p>
          <a:p>
            <a:pPr algn="l">
              <a:spcAft>
                <a:spcPts val="585"/>
              </a:spcAft>
            </a:pPr>
            <a:r>
              <a:rPr sz="1300" b="0" i="0">
                <a:solidFill>
                  <a:srgbClr val="1C1B19"/>
                </a:solidFill>
                <a:latin typeface="Source Serif 4"/>
              </a:rPr>
              <a:t>Act the same day, ideally right away. Stay with them, tell them they aren't in trouble, and walk them to a counselor. Remind them not to pay or send more, and to save the messages before blocking.</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Watch for hopelessness.</a:t>
            </a:r>
          </a:p>
          <a:p>
            <a:pPr algn="l">
              <a:spcAft>
                <a:spcPts val="585"/>
              </a:spcAft>
            </a:pPr>
            <a:r>
              <a:rPr sz="1300" b="0" i="0">
                <a:solidFill>
                  <a:srgbClr val="1C1B19"/>
                </a:solidFill>
                <a:latin typeface="Source Serif 4"/>
              </a:rPr>
              <a:t>Students caught in a sextortion threat can feel there's no way out. If anyone says that, take it seriously and walk them to a counselor that day. 988 is there any time.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Be accurate about the law without scaring.</a:t>
            </a:r>
          </a:p>
          <a:p>
            <a:pPr algn="l">
              <a:spcAft>
                <a:spcPts val="585"/>
              </a:spcAft>
            </a:pPr>
            <a:r>
              <a:rPr sz="1300" b="0" i="0">
                <a:solidFill>
                  <a:srgbClr val="1C1B19"/>
                </a:solidFill>
                <a:latin typeface="Source Serif 4"/>
              </a:rPr>
              <a:t>Images of anyone under 18 are illegal to create, ask for, keep or share, even with agreement. Also say that Massachusetts created a diversion program for teen sexting, and that a person being threatened is treated as the victim.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student mentions an image going around.</a:t>
            </a:r>
          </a:p>
          <a:p>
            <a:pPr algn="l">
              <a:spcAft>
                <a:spcPts val="585"/>
              </a:spcAft>
            </a:pPr>
            <a:r>
              <a:rPr sz="1300" b="0" i="0">
                <a:solidFill>
                  <a:srgbClr val="1C1B19"/>
                </a:solidFill>
                <a:latin typeface="Source Serif 4"/>
              </a:rPr>
              <a:t>Don't ask for names in class. Afterward, connect the student with a counselor. Take It Down can help remove images of people under 18.</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Boys as targets.</a:t>
            </a:r>
          </a:p>
          <a:p>
            <a:pPr algn="l">
              <a:spcAft>
                <a:spcPts val="585"/>
              </a:spcAft>
            </a:pPr>
            <a:r>
              <a:rPr sz="1300" b="0" i="0">
                <a:solidFill>
                  <a:srgbClr val="1C1B19"/>
                </a:solidFill>
                <a:latin typeface="Source Serif 4"/>
              </a:rPr>
              <a:t>Boys are often ashamed to tell anyone and expect to be laughed at. Normalize telling: "This is a crime done to you, and adults help boys with this all the time."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LGBTQ+ students.</a:t>
            </a:r>
          </a:p>
          <a:p>
            <a:pPr algn="l">
              <a:spcAft>
                <a:spcPts val="585"/>
              </a:spcAft>
            </a:pPr>
            <a:r>
              <a:rPr sz="1300" b="0" i="0">
                <a:solidFill>
                  <a:srgbClr val="1C1B19"/>
                </a:solidFill>
                <a:latin typeface="Source Serif 4"/>
              </a:rPr>
              <a:t>Scammers may threaten to out someone. Students who aren't out at home may feel they can't tell family. Make clear that a counselor or NCMEC can help without going through family first.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When home isn't the right place.</a:t>
            </a:r>
          </a:p>
          <a:p>
            <a:pPr algn="l">
              <a:spcAft>
                <a:spcPts val="585"/>
              </a:spcAft>
            </a:pPr>
            <a:r>
              <a:rPr sz="1300" b="0" i="0">
                <a:solidFill>
                  <a:srgbClr val="1C1B19"/>
                </a:solidFill>
                <a:latin typeface="Source Serif 4"/>
              </a:rPr>
              <a:t>Some students live with relatives, foster parents or adults who would react harshly. "Tell an adult you trust" can mean a counselor, nurse or coach.</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Faith and culture.</a:t>
            </a:r>
          </a:p>
          <a:p>
            <a:pPr algn="l">
              <a:spcAft>
                <a:spcPts val="585"/>
              </a:spcAft>
            </a:pPr>
            <a:r>
              <a:rPr sz="1300" b="0" i="0">
                <a:solidFill>
                  <a:srgbClr val="1C1B19"/>
                </a:solidFill>
                <a:latin typeface="Source Serif 4"/>
              </a:rPr>
              <a:t>In some families, any sexual image would bring deep shame. That shame is what scammers use. Say plainly that the person being threatened did nothing that makes them deserve this.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a:t>
            </a:r>
          </a:p>
          <a:p>
            <a:pPr algn="l">
              <a:spcAft>
                <a:spcPts val="585"/>
              </a:spcAft>
            </a:pPr>
            <a:r>
              <a:rPr sz="1300" b="0" i="0">
                <a:solidFill>
                  <a:srgbClr val="1C1B19"/>
                </a:solidFill>
                <a:latin typeface="Source Serif 4"/>
              </a:rPr>
              <a:t>Scammers ask for gift cards or payment apps. Students with little money may panic more. Paying almost never ends it, whatever someone can afford.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Language and immigration.</a:t>
            </a:r>
          </a:p>
          <a:p>
            <a:pPr algn="l">
              <a:spcAft>
                <a:spcPts val="585"/>
              </a:spcAft>
            </a:pPr>
            <a:r>
              <a:rPr sz="1300" b="0" i="0">
                <a:solidFill>
                  <a:srgbClr val="1C1B19"/>
                </a:solidFill>
                <a:latin typeface="Source Serif 4"/>
              </a:rPr>
              <a:t>Students from immigrant families may fear police contact. NCMEC's CyberTipline and Take It Down are ways to report and remove images that don't start with police.</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From October 2021 to March 2023, the FBI and Homeland Security Investigations received more than 13,000 reports of financial sextortion of minors, involving at least 12,600 victims, mostly boys.</a:t>
            </a:r>
          </a:p>
          <a:p>
            <a:pPr algn="l">
              <a:spcAft>
                <a:spcPts val="585"/>
              </a:spcAft>
            </a:pPr>
            <a:r>
              <a:rPr sz="1050" b="0" i="0">
                <a:solidFill>
                  <a:srgbClr val="5D5A54"/>
                </a:solidFill>
                <a:latin typeface="Inter Tight"/>
              </a:rPr>
              <a:t>Federal Bureau of Investigation, 2024</a:t>
            </a:r>
          </a:p>
          <a:p>
            <a:pPr algn="l">
              <a:spcAft>
                <a:spcPts val="585"/>
              </a:spcAft>
            </a:pPr>
            <a:r>
              <a:rPr sz="1300" b="0" i="0">
                <a:solidFill>
                  <a:srgbClr val="1C1B19"/>
                </a:solidFill>
                <a:latin typeface="Source Serif 4"/>
              </a:rPr>
              <a:t>From August 2022 to August 2023, NCMEC received an average of 812 sextortion reports a week, most financial and mostly involving boys 14 to 17.</a:t>
            </a:r>
          </a:p>
          <a:p>
            <a:pPr algn="l">
              <a:spcAft>
                <a:spcPts val="585"/>
              </a:spcAft>
            </a:pPr>
            <a:r>
              <a:rPr sz="1050" b="0" i="0">
                <a:solidFill>
                  <a:srgbClr val="5D5A54"/>
                </a:solidFill>
                <a:latin typeface="Inter Tight"/>
              </a:rPr>
              <a:t>Thorn and NCMEC, 2024</a:t>
            </a:r>
          </a:p>
          <a:p>
            <a:pPr algn="l">
              <a:spcAft>
                <a:spcPts val="585"/>
              </a:spcAft>
            </a:pPr>
            <a:r>
              <a:rPr sz="1300" b="0" i="0">
                <a:solidFill>
                  <a:srgbClr val="1C1B19"/>
                </a:solidFill>
                <a:latin typeface="Source Serif 4"/>
              </a:rPr>
              <a:t>By 2025, NCMEC was receiving about 137 financial sextortion reports a day.</a:t>
            </a:r>
          </a:p>
          <a:p>
            <a:pPr algn="l">
              <a:spcAft>
                <a:spcPts val="585"/>
              </a:spcAft>
            </a:pPr>
            <a:r>
              <a:rPr sz="1050" b="0" i="0">
                <a:solidFill>
                  <a:srgbClr val="5D5A54"/>
                </a:solidFill>
                <a:latin typeface="Inter Tight"/>
              </a:rPr>
              <a:t>NCMEC CyberTipline data, 2025</a:t>
            </a:r>
          </a:p>
          <a:p>
            <a:pPr algn="l">
              <a:spcAft>
                <a:spcPts val="585"/>
              </a:spcAft>
            </a:pPr>
            <a:r>
              <a:rPr sz="1300" b="0" i="0">
                <a:solidFill>
                  <a:srgbClr val="1C1B19"/>
                </a:solidFill>
                <a:latin typeface="Source Serif 4"/>
              </a:rPr>
              <a:t>Across 39 studies with more than 110,000 young people, about 15% had sent a sext and about 27% had received one.</a:t>
            </a:r>
          </a:p>
          <a:p>
            <a:pPr algn="l">
              <a:spcAft>
                <a:spcPts val="585"/>
              </a:spcAft>
            </a:pPr>
            <a:r>
              <a:rPr sz="1050" b="0" i="0">
                <a:solidFill>
                  <a:srgbClr val="5D5A54"/>
                </a:solidFill>
                <a:latin typeface="Inter Tight"/>
              </a:rPr>
              <a:t>Madigan et al., JAMA Pediatrics, 2018</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a survey of Massachusetts students, almost half of those who had sent a sexual image said it had been passed on without their consent.</a:t>
            </a:r>
          </a:p>
          <a:p>
            <a:pPr algn="l">
              <a:spcAft>
                <a:spcPts val="585"/>
              </a:spcAft>
            </a:pPr>
            <a:r>
              <a:rPr sz="1050" b="0" i="0">
                <a:solidFill>
                  <a:srgbClr val="5D5A54"/>
                </a:solidFill>
                <a:latin typeface="Inter Tight"/>
              </a:rPr>
              <a:t>Englander and McCoy, International Journal of Technoethics, 2017</a:t>
            </a:r>
          </a:p>
          <a:p>
            <a:pPr algn="l">
              <a:spcAft>
                <a:spcPts val="585"/>
              </a:spcAft>
            </a:pPr>
            <a:r>
              <a:rPr sz="1300" b="0" i="0">
                <a:solidFill>
                  <a:srgbClr val="1C1B19"/>
                </a:solidFill>
                <a:latin typeface="Source Serif 4"/>
              </a:rPr>
              <a:t>Most college students who had sexted reported at least some pressure or coercion.</a:t>
            </a:r>
          </a:p>
          <a:p>
            <a:pPr algn="l">
              <a:spcAft>
                <a:spcPts val="585"/>
              </a:spcAft>
            </a:pPr>
            <a:r>
              <a:rPr sz="1050" b="0" i="0">
                <a:solidFill>
                  <a:srgbClr val="5D5A54"/>
                </a:solidFill>
                <a:latin typeface="Inter Tight"/>
              </a:rPr>
              <a:t>Englander, 2015</a:t>
            </a:r>
          </a:p>
          <a:p>
            <a:pPr algn="l">
              <a:spcAft>
                <a:spcPts val="585"/>
              </a:spcAft>
            </a:pPr>
            <a:r>
              <a:rPr sz="1300" b="0" i="0">
                <a:solidFill>
                  <a:srgbClr val="1C1B19"/>
                </a:solidFill>
                <a:latin typeface="Source Serif 4"/>
              </a:rPr>
              <a:t>Massachusetts made sharing intimate images without consent a crime in 2024, including AI fakes, with a diversion program for teen sexting. The federal TAKE IT DOWN Act (2025) requires covered platforms to remove reported images within 48 hours.</a:t>
            </a:r>
          </a:p>
          <a:p>
            <a:pPr algn="l">
              <a:spcAft>
                <a:spcPts val="585"/>
              </a:spcAft>
            </a:pPr>
            <a:r>
              <a:rPr sz="1050" b="0" i="0">
                <a:solidFill>
                  <a:srgbClr val="5D5A54"/>
                </a:solidFill>
                <a:latin typeface="Inter Tight"/>
              </a:rPr>
              <a:t>Mass. Acts 2024, c. 118; TAKE IT DOWN Act,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