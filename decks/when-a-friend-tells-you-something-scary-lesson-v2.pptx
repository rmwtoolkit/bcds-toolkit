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no real names or details today. Tell them up front what you'd have to act on if something comes up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6,020 students aged 15 and 16. Ask: "What makes a friend the first person someone tells?" Expect: trust, they won't freak out, they won't tell parents. Acknowledge all of it, then: "That trust is exactly why your next move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When unsure, treat it as the more urgent level. Simon and colleagues: about 1 in 4 survivors of a nearly fatal attempt said under five minutes passed between deciding and acting, which is why Now can't wait until morning. Help get pills, weapons or anything they might use out of reach. Quick sort: read three one-line examples and have students hold up 1, 2 or 3 fingers.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Explain what you actually do: listen, check how safe the friend is, talk with them, make a plan, involve family when that's safe. If the danger is an adult at home, staff must report it to child protection; that means the student isn't the one who has to fix it. Students can ask whether their name has to come up; often it doesn't, and you can't always promise. Most people later say they're glad someone cared enough.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Pairs: each student says the direct question out loud to their partner, in their own words. It's awkward; that's the point of practicing. Gould's trial with 2,342 high schoolers: asking didn't raise distress or suicidal thinking. Wyman's Sources of Strength trial: trained peer leaders were about four times more likely to connect a suicidal friend with an adult. If the friend refuses, the student still tells, and can say so first: "I'm going to talk to the counselor after lunch. I'd rather you came."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Dev: "I can't keep this. Can we see the counselor first thing tomorrow? I'll come with you." Not confronting the stepdad. Ana: the trainer, coach or counselor today, not after the season. Jalen: wake a parent and call 988 now; 911 if he might be in danger. Talking about not being here is a warning sign even as a joke. Ask what makes the DM feel like enough, and why it isn't.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Replaying the conversation, bad sleep, guilt, anger at the friend for putting you there: all normal, none of it means you did something wrong. Invite them to tell you how they're doing, not only how the friend is. Share the student page link. 988 takes calls about a friend, any hour.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a Friend Tells You Something Scary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sort what they hear into now, today and this week, practice asking the direct suicide question out loud, and learn what happens after they tell. Bring index cards, and be ready to explain plainly what you'd have to share and with whom.</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what-happens-after slide, name that some families keep problems inside or fear agencies, including families with immigration worries, and that a counselor plans around that.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A FRIEND TELLS YOU SOMETHING SCARY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When a Friend Tells You Something Scary</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How urgent it is, what to say, and who to bring in.</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THEY CHOSE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Evans, Hawton and Rodham, 2005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You are probably the first to know.</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Teens who self-harm or think about it go to friends before anyone else.</a:t>
            </a:r>
          </a:p>
          <a:p>
            <a:pPr algn="l">
              <a:spcAft>
                <a:spcPts val="855"/>
              </a:spcAft>
            </a:pPr>
            <a:r>
              <a:rPr sz="1900" b="0" i="0">
                <a:solidFill>
                  <a:srgbClr val="1C1B19"/>
                </a:solidFill>
                <a:latin typeface="Source Serif 4"/>
              </a:rPr>
              <a:t>•  Many who needed help never asked anyone at all.</a:t>
            </a:r>
          </a:p>
          <a:p>
            <a:pPr algn="l">
              <a:spcAft>
                <a:spcPts val="855"/>
              </a:spcAft>
            </a:pPr>
            <a:r>
              <a:rPr sz="1900" b="0" i="0">
                <a:solidFill>
                  <a:srgbClr val="1C1B19"/>
                </a:solidFill>
                <a:latin typeface="Source Serif 4"/>
              </a:rPr>
              <a:t>•  That makes what a friend does next matter.</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"Tell an adult" is still the rule. Knowing how is the hard part.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FIRST QUESTION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How urgent is it?</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Now</a:t>
            </a:r>
          </a:p>
          <a:p>
            <a:pPr algn="l">
              <a:spcAft>
                <a:spcPts val="945"/>
              </a:spcAft>
            </a:pPr>
            <a:r>
              <a:rPr sz="1600" b="0" i="0">
                <a:solidFill>
                  <a:srgbClr val="5D5A54"/>
                </a:solidFill>
                <a:latin typeface="Source Serif 4"/>
              </a:rPr>
              <a:t>A plan, a date, a goodbye post. Stay, call 988 or 911, get an adult there.</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Today</a:t>
            </a:r>
          </a:p>
          <a:p>
            <a:pPr algn="l">
              <a:spcAft>
                <a:spcPts val="945"/>
              </a:spcAft>
            </a:pPr>
            <a:r>
              <a:rPr sz="1600" b="0" i="0">
                <a:solidFill>
                  <a:srgbClr val="5D5A54"/>
                </a:solidFill>
                <a:latin typeface="Source Serif 4"/>
              </a:rPr>
              <a:t>Self-harm, abuse, an eating problem, scary drug use. An adult before you sleep.</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This week</a:t>
            </a:r>
          </a:p>
          <a:p>
            <a:pPr algn="l">
              <a:spcAft>
                <a:spcPts val="945"/>
              </a:spcAft>
            </a:pPr>
            <a:r>
              <a:rPr sz="1600" b="0" i="0">
                <a:solidFill>
                  <a:srgbClr val="5D5A54"/>
                </a:solidFill>
                <a:latin typeface="Source Serif 4"/>
              </a:rPr>
              <a:t>Quieter, checked out. Keep showing up, and tell a counselor.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IT'S HARD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Loyalty and safety pull opposite ways.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STOPS PEOPLE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"I promised"</a:t>
            </a:r>
          </a:p>
          <a:p>
            <a:pPr algn="l">
              <a:spcAft>
                <a:spcPts val="855"/>
              </a:spcAft>
            </a:pPr>
            <a:r>
              <a:rPr sz="1900" b="0" i="0">
                <a:solidFill>
                  <a:srgbClr val="1C1B19"/>
                </a:solidFill>
                <a:latin typeface="Source Serif 4"/>
              </a:rPr>
              <a:t>"I'll make it worse"</a:t>
            </a:r>
          </a:p>
          <a:p>
            <a:pPr algn="l">
              <a:spcAft>
                <a:spcPts val="855"/>
              </a:spcAft>
            </a:pPr>
            <a:r>
              <a:rPr sz="1900" b="0" i="0">
                <a:solidFill>
                  <a:srgbClr val="1C1B19"/>
                </a:solidFill>
                <a:latin typeface="Source Serif 4"/>
              </a:rPr>
              <a:t>"It's snitching"</a:t>
            </a:r>
          </a:p>
          <a:p>
            <a:pPr algn="l">
              <a:spcAft>
                <a:spcPts val="855"/>
              </a:spcAft>
            </a:pPr>
            <a:r>
              <a:rPr sz="1900" b="0" i="0">
                <a:solidFill>
                  <a:srgbClr val="1C1B19"/>
                </a:solidFill>
                <a:latin typeface="Source Serif 4"/>
              </a:rPr>
              <a:t>"I don't know what happens next"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WHAT'S TRUE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secret that risks a life is the exception</a:t>
            </a:r>
          </a:p>
          <a:p>
            <a:pPr algn="l">
              <a:spcAft>
                <a:spcPts val="855"/>
              </a:spcAft>
            </a:pPr>
            <a:r>
              <a:rPr sz="1900" b="0" i="0">
                <a:solidFill>
                  <a:srgbClr val="1C1B19"/>
                </a:solidFill>
                <a:latin typeface="Source Serif 4"/>
              </a:rPr>
              <a:t>Asking doesn't plant the idea</a:t>
            </a:r>
          </a:p>
          <a:p>
            <a:pPr algn="l">
              <a:spcAft>
                <a:spcPts val="855"/>
              </a:spcAft>
            </a:pPr>
            <a:r>
              <a:rPr sz="1900" b="0" i="0">
                <a:solidFill>
                  <a:srgbClr val="1C1B19"/>
                </a:solidFill>
                <a:latin typeface="Source Serif 4"/>
              </a:rPr>
              <a:t>Snitching gets trouble; telling gets help</a:t>
            </a:r>
          </a:p>
          <a:p>
            <a:pPr algn="l">
              <a:spcAft>
                <a:spcPts val="855"/>
              </a:spcAft>
            </a:pPr>
            <a:r>
              <a:rPr sz="1900" b="0" i="0">
                <a:solidFill>
                  <a:srgbClr val="1C1B19"/>
                </a:solidFill>
                <a:latin typeface="Source Serif 4"/>
              </a:rPr>
              <a:t>Usually a conversation and a plan, not sirens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FIRST FIVE MINUTES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Listen, ask straight, bring in an adult.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Slow down</a:t>
            </a:r>
          </a:p>
          <a:p>
            <a:pPr algn="l">
              <a:spcAft>
                <a:spcPts val="945"/>
              </a:spcAft>
            </a:pPr>
            <a:r>
              <a:rPr sz="1600" b="0" i="0">
                <a:solidFill>
                  <a:srgbClr val="5D5A54"/>
                </a:solidFill>
                <a:latin typeface="Source Serif 4"/>
              </a:rPr>
              <a:t>"Thank you for telling me. Keep going."</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the direct question</a:t>
            </a:r>
          </a:p>
          <a:p>
            <a:pPr algn="l">
              <a:spcAft>
                <a:spcPts val="945"/>
              </a:spcAft>
            </a:pPr>
            <a:r>
              <a:rPr sz="1600" b="0" i="0">
                <a:solidFill>
                  <a:srgbClr val="5D5A54"/>
                </a:solidFill>
                <a:latin typeface="Source Serif 4"/>
              </a:rPr>
              <a:t>"Are you thinking about killing yourself?"</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about a plan</a:t>
            </a:r>
          </a:p>
          <a:p>
            <a:pPr algn="l">
              <a:spcAft>
                <a:spcPts val="945"/>
              </a:spcAft>
            </a:pPr>
            <a:r>
              <a:rPr sz="1600" b="0" i="0">
                <a:solidFill>
                  <a:srgbClr val="5D5A54"/>
                </a:solidFill>
                <a:latin typeface="Source Serif 4"/>
              </a:rPr>
              <a:t>"Have you thought about how?"</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Offer company, not secrecy</a:t>
            </a:r>
          </a:p>
          <a:p>
            <a:pPr algn="l">
              <a:spcAft>
                <a:spcPts val="945"/>
              </a:spcAft>
            </a:pPr>
            <a:r>
              <a:rPr sz="1600" b="0" i="0">
                <a:solidFill>
                  <a:srgbClr val="5D5A54"/>
                </a:solidFill>
                <a:latin typeface="Source Serif 4"/>
              </a:rPr>
              <a:t>"Let's go together. I'll stay."</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Stay their friend</a:t>
            </a:r>
          </a:p>
          <a:p>
            <a:pPr algn="l">
              <a:spcAft>
                <a:spcPts val="945"/>
              </a:spcAft>
            </a:pPr>
            <a:r>
              <a:rPr sz="1600" b="0" i="0">
                <a:solidFill>
                  <a:srgbClr val="5D5A54"/>
                </a:solidFill>
                <a:latin typeface="Source Serif 4"/>
              </a:rPr>
              <a:t>Text, sit at lunch, act normal.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HARD CALLS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the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girlfriend says her stepdad has been hitting her and her mom. She makes him swear not to tell.</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teammate fainted at practice. She's eating almost nothing to make weight and asks you to wait until the season's over.</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JALEN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12:40 a.m. in the group chat: "it's fine, i won't be a problem much longer." People react with laughing emojis. He jokes like this a lot.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CARRYING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Hearing it can stay with you too.</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your card: your first adult, your backup, and how you'd reach each after 9 p.m.</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https://rmwtoolkit.github.io/bcds-toolkit/when-a-friend-tells-you-something-scary-high-school.html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a Friend Tells You Something Scary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how to sort what a friend tells them by urgency, practice the direct suicide question and the first five minutes, know which adult to reach at any hour, and recognize that hearing a disclosure can weigh on them too.</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Pens</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They chose you</a:t>
            </a:r>
          </a:p>
          <a:p>
            <a:pPr algn="l">
              <a:spcAft>
                <a:spcPts val="630"/>
              </a:spcAft>
            </a:pPr>
            <a:r>
              <a:rPr sz="1300" b="1" i="0">
                <a:solidFill>
                  <a:srgbClr val="F47B20"/>
                </a:solidFill>
                <a:latin typeface="Inter Tight"/>
              </a:rPr>
              <a:t>5 min   </a:t>
            </a:r>
            <a:r>
              <a:rPr sz="1400" b="0" i="0">
                <a:solidFill>
                  <a:srgbClr val="1C1B19"/>
                </a:solidFill>
                <a:latin typeface="Source Serif 4"/>
              </a:rPr>
              <a:t>How urgent is it? Now, today, this week</a:t>
            </a:r>
          </a:p>
          <a:p>
            <a:pPr algn="l">
              <a:spcAft>
                <a:spcPts val="630"/>
              </a:spcAft>
            </a:pPr>
            <a:r>
              <a:rPr sz="1300" b="1" i="0">
                <a:solidFill>
                  <a:srgbClr val="F47B20"/>
                </a:solidFill>
                <a:latin typeface="Inter Tight"/>
              </a:rPr>
              <a:t>4 min   </a:t>
            </a:r>
            <a:r>
              <a:rPr sz="1400" b="0" i="0">
                <a:solidFill>
                  <a:srgbClr val="1C1B19"/>
                </a:solidFill>
                <a:latin typeface="Source Serif 4"/>
              </a:rPr>
              <a:t>Why it's hard, and what happens after you tell</a:t>
            </a:r>
          </a:p>
          <a:p>
            <a:pPr algn="l">
              <a:spcAft>
                <a:spcPts val="630"/>
              </a:spcAft>
            </a:pPr>
            <a:r>
              <a:rPr sz="1300" b="1" i="0">
                <a:solidFill>
                  <a:srgbClr val="F47B20"/>
                </a:solidFill>
                <a:latin typeface="Inter Tight"/>
              </a:rPr>
              <a:t>6 min   </a:t>
            </a:r>
            <a:r>
              <a:rPr sz="1400" b="0" i="0">
                <a:solidFill>
                  <a:srgbClr val="1C1B19"/>
                </a:solidFill>
                <a:latin typeface="Source Serif 4"/>
              </a:rPr>
              <a:t>The first five minutes: say the words out loud</a:t>
            </a:r>
          </a:p>
          <a:p>
            <a:pPr algn="l">
              <a:spcAft>
                <a:spcPts val="630"/>
              </a:spcAft>
            </a:pPr>
            <a:r>
              <a:rPr sz="1300" b="1" i="0">
                <a:solidFill>
                  <a:srgbClr val="F47B20"/>
                </a:solidFill>
                <a:latin typeface="Inter Tight"/>
              </a:rPr>
              <a:t>4 min   </a:t>
            </a:r>
            <a:r>
              <a:rPr sz="1400" b="0" i="0">
                <a:solidFill>
                  <a:srgbClr val="1C1B19"/>
                </a:solidFill>
                <a:latin typeface="Source Serif 4"/>
              </a:rPr>
              <a:t>Three hard calls</a:t>
            </a:r>
          </a:p>
          <a:p>
            <a:pPr algn="l">
              <a:spcAft>
                <a:spcPts val="630"/>
              </a:spcAft>
            </a:pPr>
            <a:r>
              <a:rPr sz="1300" b="1" i="0">
                <a:solidFill>
                  <a:srgbClr val="F47B20"/>
                </a:solidFill>
                <a:latin typeface="Inter Tight"/>
              </a:rPr>
              <a:t>3 min   </a:t>
            </a:r>
            <a:r>
              <a:rPr sz="1400" b="0" i="0">
                <a:solidFill>
                  <a:srgbClr val="1C1B19"/>
                </a:solidFill>
                <a:latin typeface="Source Serif 4"/>
              </a:rPr>
              <a:t>Carrying it, and your adults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ONE ON ONE (ABOUT 15 MINUTES)</a:t>
            </a:r>
          </a:p>
          <a:p>
            <a:pPr algn="l">
              <a:spcAft>
                <a:spcPts val="630"/>
              </a:spcAft>
            </a:pPr>
            <a:r>
              <a:rPr sz="1400" b="0" i="0">
                <a:solidFill>
                  <a:srgbClr val="1C1B19"/>
                </a:solidFill>
                <a:latin typeface="Source Serif 4"/>
              </a:rPr>
              <a:t>One on one, often after a student has heard something: what they heard and how urgent it is (4). What happens after they tell, including what you'd have to share and whether their name comes up (4). How they're doing with it (4). Who they'd call after 9 p.m. next time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Often a follow-up.</a:t>
            </a:r>
          </a:p>
          <a:p>
            <a:pPr algn="l">
              <a:spcAft>
                <a:spcPts val="585"/>
              </a:spcAft>
            </a:pPr>
            <a:r>
              <a:rPr sz="1300" b="0" i="0">
                <a:solidFill>
                  <a:srgbClr val="1C1B19"/>
                </a:solidFill>
                <a:latin typeface="Source Serif 4"/>
              </a:rPr>
              <a:t>This group fits students who've recently heard something hard, or a peer-support group. A student currently holding a disclosure may need an individual conversation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Explain your own role plainly.</a:t>
            </a:r>
          </a:p>
          <a:p>
            <a:pPr algn="l">
              <a:spcAft>
                <a:spcPts val="585"/>
              </a:spcAft>
            </a:pPr>
            <a:r>
              <a:rPr sz="1300" b="0" i="0">
                <a:solidFill>
                  <a:srgbClr val="1C1B19"/>
                </a:solidFill>
                <a:latin typeface="Source Serif 4"/>
              </a:rPr>
              <a:t>Students hold back because they don't know what happens next. Tell them what you do after a student comes to you, what you'd have to report, and when their name does or doesn't come 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Practice the words out loud.</a:t>
            </a:r>
          </a:p>
          <a:p>
            <a:pPr algn="l">
              <a:spcAft>
                <a:spcPts val="585"/>
              </a:spcAft>
            </a:pPr>
            <a:r>
              <a:rPr sz="1300" b="0" i="0">
                <a:solidFill>
                  <a:srgbClr val="1C1B19"/>
                </a:solidFill>
                <a:latin typeface="Source Serif 4"/>
              </a:rPr>
              <a:t>The direct question is hard to say the first time. Have each student say it to a partner. It lands very differently than reading it.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 real names.</a:t>
            </a:r>
          </a:p>
          <a:p>
            <a:pPr algn="l">
              <a:spcAft>
                <a:spcPts val="585"/>
              </a:spcAft>
            </a:pPr>
            <a:r>
              <a:rPr sz="1300" b="0" i="0">
                <a:solidFill>
                  <a:srgbClr val="1C1B19"/>
                </a:solidFill>
                <a:latin typeface="Source Serif 4"/>
              </a:rPr>
              <a:t>Remind the group not to use real names or identifying details. If someone starts describing a real situation, move it to an individual conversation.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listener carries it too.</a:t>
            </a:r>
          </a:p>
          <a:p>
            <a:pPr algn="l">
              <a:spcAft>
                <a:spcPts val="585"/>
              </a:spcAft>
            </a:pPr>
            <a:r>
              <a:rPr sz="1300" b="0" i="0">
                <a:solidFill>
                  <a:srgbClr val="1C1B19"/>
                </a:solidFill>
                <a:latin typeface="Source Serif 4"/>
              </a:rPr>
              <a:t>Students who've received disclosures often feel guilt, anger at the friend, or trouble sleeping. Give that its own time at the end.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Jalen's card is the hardest.</a:t>
            </a:r>
          </a:p>
          <a:p>
            <a:pPr algn="l">
              <a:spcAft>
                <a:spcPts val="585"/>
              </a:spcAft>
            </a:pPr>
            <a:r>
              <a:rPr sz="1300" b="0" i="0">
                <a:solidFill>
                  <a:srgbClr val="1C1B19"/>
                </a:solidFill>
                <a:latin typeface="Source Serif 4"/>
              </a:rPr>
              <a:t>Students tend to choose the DM. Name that a post at 12:40 a.m. that sounds like a goodbye means waking an adult and calling 988, even when the person jokes like this often.</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handle hard things differently.</a:t>
            </a:r>
          </a:p>
          <a:p>
            <a:pPr algn="l">
              <a:spcAft>
                <a:spcPts val="585"/>
              </a:spcAft>
            </a:pPr>
            <a:r>
              <a:rPr sz="1300" b="0" i="0">
                <a:solidFill>
                  <a:srgbClr val="1C1B19"/>
                </a:solidFill>
                <a:latin typeface="Source Serif 4"/>
              </a:rPr>
              <a:t>In some families problems stay inside, mental health isn't discussed, or contact with any agency is frightening. Students should know that telling a counselor about this changes how the counselor helps.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Immigration and police.</a:t>
            </a:r>
          </a:p>
          <a:p>
            <a:pPr algn="l">
              <a:spcAft>
                <a:spcPts val="585"/>
              </a:spcAft>
            </a:pPr>
            <a:r>
              <a:rPr sz="1300" b="0" i="0">
                <a:solidFill>
                  <a:srgbClr val="1C1B19"/>
                </a:solidFill>
                <a:latin typeface="Source Serif 4"/>
              </a:rPr>
              <a:t>Fear of police or immigration consequences keeps some students silent. Name mobile crisis and 988 as options that usually don't involve police, and be honest that 911 is for immediate danger.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Every gender and relationship.</a:t>
            </a:r>
          </a:p>
          <a:p>
            <a:pPr algn="l">
              <a:spcAft>
                <a:spcPts val="585"/>
              </a:spcAft>
            </a:pPr>
            <a:r>
              <a:rPr sz="1300" b="0" i="0">
                <a:solidFill>
                  <a:srgbClr val="1C1B19"/>
                </a:solidFill>
                <a:latin typeface="Source Serif 4"/>
              </a:rPr>
              <a:t>The partner-control example can involve any genders. Make sure students hear that boys and LGBTQ+ teens can be on either side of a controlling relationship.</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LGBTQ+ friends.</a:t>
            </a:r>
          </a:p>
          <a:p>
            <a:pPr algn="l">
              <a:spcAft>
                <a:spcPts val="585"/>
              </a:spcAft>
            </a:pPr>
            <a:r>
              <a:rPr sz="1300" b="0" i="0">
                <a:solidFill>
                  <a:srgbClr val="1C1B19"/>
                </a:solidFill>
                <a:latin typeface="Source Serif 4"/>
              </a:rPr>
              <a:t>A friend who came out may also be the one at risk at home. Name that outing someone is never the adult step; going to a counselor is.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Different hours, different adults.</a:t>
            </a:r>
          </a:p>
          <a:p>
            <a:pPr algn="l">
              <a:spcAft>
                <a:spcPts val="585"/>
              </a:spcAft>
            </a:pPr>
            <a:r>
              <a:rPr sz="1300" b="0" i="0">
                <a:solidFill>
                  <a:srgbClr val="1C1B19"/>
                </a:solidFill>
                <a:latin typeface="Source Serif 4"/>
              </a:rPr>
              <a:t>Not every student has a parent they can wake at 1 a.m. Build the who-to-call list with relatives, a friend's parent, faith leaders and 988.</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Many crisis lines offer interpretation. If a friend's family doesn't speak English at home, name that as a solvable problem, not a reason to wait.</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6,020 students aged 15 and 16, teens who had self-harmed or thought about it were more likely to go to a friend than anyone else, and many who felt they needed help never asked anyone.</a:t>
            </a:r>
          </a:p>
          <a:p>
            <a:pPr algn="l">
              <a:spcAft>
                <a:spcPts val="585"/>
              </a:spcAft>
            </a:pPr>
            <a:r>
              <a:rPr sz="1050" b="0" i="0">
                <a:solidFill>
                  <a:srgbClr val="5D5A54"/>
                </a:solidFill>
                <a:latin typeface="Inter Tight"/>
              </a:rPr>
              <a:t>Evans, Hawton and Rodham, Journal of Adolescence, 2005</a:t>
            </a:r>
          </a:p>
          <a:p>
            <a:pPr algn="l">
              <a:spcAft>
                <a:spcPts val="585"/>
              </a:spcAft>
            </a:pPr>
            <a:r>
              <a:rPr sz="1300" b="0" i="0">
                <a:solidFill>
                  <a:srgbClr val="1C1B19"/>
                </a:solidFill>
                <a:latin typeface="Source Serif 4"/>
              </a:rPr>
              <a:t>Among people aged 13 to 34 who survived a nearly fatal attempt, about 1 in 4 said less than five minutes passed between deciding and acting.</a:t>
            </a:r>
          </a:p>
          <a:p>
            <a:pPr algn="l">
              <a:spcAft>
                <a:spcPts val="585"/>
              </a:spcAft>
            </a:pPr>
            <a:r>
              <a:rPr sz="1050" b="0" i="0">
                <a:solidFill>
                  <a:srgbClr val="5D5A54"/>
                </a:solidFill>
                <a:latin typeface="Inter Tight"/>
              </a:rPr>
              <a:t>Simon et al., Suicide and Life-Threatening Behavior, 2001</a:t>
            </a:r>
          </a:p>
          <a:p>
            <a:pPr algn="l">
              <a:spcAft>
                <a:spcPts val="585"/>
              </a:spcAft>
            </a:pPr>
            <a:r>
              <a:rPr sz="1300" b="0" i="0">
                <a:solidFill>
                  <a:srgbClr val="1C1B19"/>
                </a:solidFill>
                <a:latin typeface="Source Serif 4"/>
              </a:rPr>
              <a:t>In 2,342 New York high school students randomly assigned to be asked about suicide or not, those asked were no more distressed or suicidal, including the students at highest risk.</a:t>
            </a:r>
          </a:p>
          <a:p>
            <a:pPr algn="l">
              <a:spcAft>
                <a:spcPts val="585"/>
              </a:spcAft>
            </a:pPr>
            <a:r>
              <a:rPr sz="1050" b="0" i="0">
                <a:solidFill>
                  <a:srgbClr val="5D5A54"/>
                </a:solidFill>
                <a:latin typeface="Inter Tight"/>
              </a:rPr>
              <a:t>Gould et al., JAMA, 2005</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Reviews keep finding that asking about suicide doesn't raise suicidal thinking.</a:t>
            </a:r>
          </a:p>
          <a:p>
            <a:pPr algn="l">
              <a:spcAft>
                <a:spcPts val="585"/>
              </a:spcAft>
            </a:pPr>
            <a:r>
              <a:rPr sz="1050" b="0" i="0">
                <a:solidFill>
                  <a:srgbClr val="5D5A54"/>
                </a:solidFill>
                <a:latin typeface="Inter Tight"/>
              </a:rPr>
              <a:t>Dazzi et al., Psychological Medicine, 2014</a:t>
            </a:r>
          </a:p>
          <a:p>
            <a:pPr algn="l">
              <a:spcAft>
                <a:spcPts val="585"/>
              </a:spcAft>
            </a:pPr>
            <a:r>
              <a:rPr sz="1300" b="0" i="0">
                <a:solidFill>
                  <a:srgbClr val="1C1B19"/>
                </a:solidFill>
                <a:latin typeface="Source Serif 4"/>
              </a:rPr>
              <a:t>In a randomized trial in 18 high schools, trained peer leaders were about four times more likely than untrained peers to connect a suicidal friend with an adult.</a:t>
            </a:r>
          </a:p>
          <a:p>
            <a:pPr algn="l">
              <a:spcAft>
                <a:spcPts val="585"/>
              </a:spcAft>
            </a:pPr>
            <a:r>
              <a:rPr sz="1050" b="0" i="0">
                <a:solidFill>
                  <a:srgbClr val="5D5A54"/>
                </a:solidFill>
                <a:latin typeface="Inter Tight"/>
              </a:rPr>
              <a:t>Wyman et al. (Sources of Strength), American Journal of Public Health, 2010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