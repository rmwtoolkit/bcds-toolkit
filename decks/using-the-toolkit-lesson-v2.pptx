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and the next three are hidden. They stay in the deck for you and are skipped when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Something like: "This will take about twenty-five minutes. By the end you'll know where the toolkit lives, how a lesson works, and you'll have one in mind to try. You don't have to use any of it. My hope is you'll want to."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Give them thirty quiet seconds, then invite a few people to name the topic, not the student. Expect: friend drama, a breakup, vaping, anxiety before tests, a kid who stopped doing anything. Say: "Most of what you just named is in here."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Every topic has three parts: a teacher lesson with slides and notes, a version you can download as PowerPoint, and a student page students keep after. Upper School has teacher lessons now; Middle School has student pages, with teacher lessons on the way.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If you have internet, click the button and show the live page. Point to the Middle School / Upper School switch and the key that explains Open lesson, Download PowerPoint and Student page. Say: "If you remember one link from today, it's this 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The toolkit is organized by how you'll use a lesson, not by topic. Advisors: the advisory lessons fit a 30-minute advisory with time for your own check-in, and each has a 10-minute version for short days. If you're not sure where to start, the box below this list has six lessons that work well for 9th graders in the fall.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Click into Group Chat Drama as the example. Scroll a little: plan, before you teach, every student in the room, the research, then each slide with its notes. Ten minutes of reading the night before is plenty.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If you're live, press Present the slides, then N to show the notes. The notes give timing and what to say, in plain language. Some of you will want to change the slides; that's what the PowerPoint download is for, and it opens in Google Slides.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Share the link after the lesson, in Canvas, email, or on the board. The page is short and works on a phone or printed. Privacy matters to students: nobody can see what they write on it, including us.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This is the part I care most about. The toolkit supplements people; it doesn't replace them. Every student page names who to talk to, including you, and says plainly that nobody is watching the page. If a student says something in a lesson that worries you, do what you'd do anywhere at Beaver: let counseling know that day. You don't have to handle it alone.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Most of the toolkit is adult-led. These twelve are the exception: students can open them any time from the BVR Diner. They land best after an adult has introduced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Say this plainly; it answers the questions people are too polite to ask. Adapt the lessons. Skip a slide. Tell a story of your own. The lessons are a scaffold, not a script.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Pairs, one card each, using the toolkit link if they have a laptop. Then a quick share. Likely answers: Group Chat Drama as an advisory lesson. Why You Can't Start or Study Smarter, Not Longer: share the student page, and loop in the advisor or counseling if it sounds bigger than procrastination. Vaping and Your Brain as a full class. There are no wrong picks; the point is that they found one in under a minute.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Offer to co-teach anyone's first lesson. That one offer tends to get more people started than anything on a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Invite, don't assign: "If you try one, tell me how it went, especially what didn't work." Put the link in the meeting chat or invite. Thank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rmwtoolkit.github.io/bcds-toolkit/toolkit.html" TargetMode="External"/><Relationship Id="rId4"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hyperlink" Target="https://rmwtoolkit.github.io/bcds-toolkit/toolkit.html#advisory" TargetMode="External"/><Relationship Id="rId4"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hyperlink" Target="https://rmwtoolkit.github.io/bcds-toolkit/teacher/group-chat-drama-lesson.html" TargetMode="External"/><Relationship Id="rId4"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hyperlink" Target="https://rmwtoolkit.github.io/bcds-toolkit/teacher/group-chat-drama-lesson.html" TargetMode="External"/><Relationship Id="rId4"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hyperlink" Target="https://rmwtoolkit.github.io/bcds-toolkit/anger-is-information-high-school.html" TargetMode="External"/><Relationship Id="rId4"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hyperlink" Target="https://rmwtoolkit.github.io/bcds-toolkit/anger-is-information-high-school.html#help" TargetMode="External"/><Relationship Id="rId4"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hyperlink" Target="https://rmwtoolkit.github.io/bcds-toolkit/index.html" TargetMode="External"/><Relationship Id="rId4"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Session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Meet the Student Toolkit</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Faculty meeting  ·  25 minutes (15-minute version below)  ·  Led by Dr. Wilson  ·  Middle and Upper School faculty and advisors</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Faculty leave knowing where the toolkit lives, how a lesson works from start to finish, where every page points students for help, and with one lesson in mind to try this month.</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The live toolkit open in a second browser tab, in case you want to click around</a:t>
            </a:r>
          </a:p>
          <a:p>
            <a:pPr algn="l">
              <a:spcAft>
                <a:spcPts val="675"/>
              </a:spcAft>
            </a:pPr>
            <a:r>
              <a:rPr sz="1500" b="0" i="0">
                <a:solidFill>
                  <a:srgbClr val="1C1B19"/>
                </a:solidFill>
                <a:latin typeface="Source Serif 4"/>
              </a:rPr>
              <a:t>A projector with internet (each screenshot slide links to the real page)</a:t>
            </a:r>
          </a:p>
          <a:p>
            <a:pPr algn="l">
              <a:spcAft>
                <a:spcPts val="675"/>
              </a:spcAft>
            </a:pPr>
            <a:r>
              <a:rPr sz="1500" b="0" i="0">
                <a:solidFill>
                  <a:srgbClr val="1C1B19"/>
                </a:solidFill>
                <a:latin typeface="Source Serif 4"/>
              </a:rPr>
              <a:t>Optional: the toolkit link in the meeting invite or chat so people can follow along</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Opening: a conversation you wish you'd had something for</a:t>
            </a:r>
          </a:p>
          <a:p>
            <a:pPr algn="l">
              <a:spcAft>
                <a:spcPts val="630"/>
              </a:spcAft>
            </a:pPr>
            <a:r>
              <a:rPr sz="1300" b="1" i="0">
                <a:solidFill>
                  <a:srgbClr val="F47B20"/>
                </a:solidFill>
                <a:latin typeface="Inter Tight"/>
              </a:rPr>
              <a:t>2 min   </a:t>
            </a:r>
            <a:r>
              <a:rPr sz="1400" b="0" i="0">
                <a:solidFill>
                  <a:srgbClr val="1C1B19"/>
                </a:solidFill>
                <a:latin typeface="Source Serif 4"/>
              </a:rPr>
              <a:t>What the toolkit is</a:t>
            </a:r>
          </a:p>
          <a:p>
            <a:pPr algn="l">
              <a:spcAft>
                <a:spcPts val="630"/>
              </a:spcAft>
            </a:pPr>
            <a:r>
              <a:rPr sz="1300" b="1" i="0">
                <a:solidFill>
                  <a:srgbClr val="F47B20"/>
                </a:solidFill>
                <a:latin typeface="Inter Tight"/>
              </a:rPr>
              <a:t>10 min   </a:t>
            </a:r>
            <a:r>
              <a:rPr sz="1400" b="0" i="0">
                <a:solidFill>
                  <a:srgbClr val="1C1B19"/>
                </a:solidFill>
                <a:latin typeface="Source Serif 4"/>
              </a:rPr>
              <a:t>A walk through one lesson, start to finish (6 screenshots)</a:t>
            </a:r>
          </a:p>
          <a:p>
            <a:pPr algn="l">
              <a:spcAft>
                <a:spcPts val="630"/>
              </a:spcAft>
            </a:pPr>
            <a:r>
              <a:rPr sz="1300" b="1" i="0">
                <a:solidFill>
                  <a:srgbClr val="F47B20"/>
                </a:solidFill>
                <a:latin typeface="Inter Tight"/>
              </a:rPr>
              <a:t>2 min   </a:t>
            </a:r>
            <a:r>
              <a:rPr sz="1400" b="0" i="0">
                <a:solidFill>
                  <a:srgbClr val="1C1B19"/>
                </a:solidFill>
                <a:latin typeface="Source Serif 4"/>
              </a:rPr>
              <a:t>What it is and what it isn't</a:t>
            </a:r>
          </a:p>
          <a:p>
            <a:pPr algn="l">
              <a:spcAft>
                <a:spcPts val="630"/>
              </a:spcAft>
            </a:pPr>
            <a:r>
              <a:rPr sz="1300" b="1" i="0">
                <a:solidFill>
                  <a:srgbClr val="F47B20"/>
                </a:solidFill>
                <a:latin typeface="Inter Tight"/>
              </a:rPr>
              <a:t>5 min   </a:t>
            </a:r>
            <a:r>
              <a:rPr sz="1400" b="0" i="0">
                <a:solidFill>
                  <a:srgbClr val="1C1B19"/>
                </a:solidFill>
                <a:latin typeface="Source Serif 4"/>
              </a:rPr>
              <a:t>Which would you open? (pairs)</a:t>
            </a:r>
          </a:p>
          <a:p>
            <a:pPr algn="l">
              <a:spcAft>
                <a:spcPts val="630"/>
              </a:spcAft>
            </a:pPr>
            <a:r>
              <a:rPr sz="1300" b="1" i="0">
                <a:solidFill>
                  <a:srgbClr val="F47B20"/>
                </a:solidFill>
                <a:latin typeface="Inter Tight"/>
              </a:rPr>
              <a:t>3 min   </a:t>
            </a:r>
            <a:r>
              <a:rPr sz="1400" b="0" i="0">
                <a:solidFill>
                  <a:srgbClr val="1C1B19"/>
                </a:solidFill>
                <a:latin typeface="Source Serif 4"/>
              </a:rPr>
              <a:t>Where to begin, and one lesson this month</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(15 MINUTES)</a:t>
            </a:r>
          </a:p>
          <a:p>
            <a:pPr algn="l">
              <a:spcAft>
                <a:spcPts val="630"/>
              </a:spcAft>
            </a:pPr>
            <a:r>
              <a:rPr sz="1400" b="0" i="0">
                <a:solidFill>
                  <a:srgbClr val="1C1B19"/>
                </a:solidFill>
                <a:latin typeface="Source Serif 4"/>
              </a:rPr>
              <a:t>Fifteen minutes: what it is (2), the toolkit page and the four ways in (3), open a lesson and present it (3), the student page and the help box (3), what it isn't (2), one lesson this month (2). Skip the opening and the pairs activity.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present</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present</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Show, don't tell.</a:t>
            </a:r>
          </a:p>
          <a:p>
            <a:pPr algn="l">
              <a:spcAft>
                <a:spcPts val="585"/>
              </a:spcAft>
            </a:pPr>
            <a:r>
              <a:rPr sz="1300" b="0" i="0">
                <a:solidFill>
                  <a:srgbClr val="1C1B19"/>
                </a:solidFill>
                <a:latin typeface="Source Serif 4"/>
              </a:rPr>
              <a:t>Most of this talk is screenshots of the real pages. If the room has internet, click the button on any screenshot slide and show the live page for a moment, then come back. The pictures are there so the talk still works if the Wi-Fi doesn't.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An invitation, not an assignment.</a:t>
            </a:r>
          </a:p>
          <a:p>
            <a:pPr algn="l">
              <a:spcAft>
                <a:spcPts val="585"/>
              </a:spcAft>
            </a:pPr>
            <a:r>
              <a:rPr sz="1300" b="0" i="0">
                <a:solidFill>
                  <a:srgbClr val="1C1B19"/>
                </a:solidFill>
                <a:latin typeface="Source Serif 4"/>
              </a:rPr>
              <a:t>Nobody has to use this. Say so early. Teachers who feel told to do one more thing will tune out; teachers who see a tool that saves them time on a hard conversation will come back to it.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Name the nerves.</a:t>
            </a:r>
          </a:p>
          <a:p>
            <a:pPr algn="l">
              <a:spcAft>
                <a:spcPts val="585"/>
              </a:spcAft>
            </a:pPr>
            <a:r>
              <a:rPr sz="1300" b="0" i="0">
                <a:solidFill>
                  <a:srgbClr val="1C1B19"/>
                </a:solidFill>
                <a:latin typeface="Source Serif 4"/>
              </a:rPr>
              <a:t>Some faculty worry about saying the wrong thing on topics like substances, breakups or anger. The teacher side of each lesson exists for exactly that: what to say, what to watch for, and who to send a student to.</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Be clear about what it isn't.</a:t>
            </a:r>
          </a:p>
          <a:p>
            <a:pPr algn="l">
              <a:spcAft>
                <a:spcPts val="585"/>
              </a:spcAft>
            </a:pPr>
            <a:r>
              <a:rPr sz="1300" b="0" i="0">
                <a:solidFill>
                  <a:srgbClr val="1C1B19"/>
                </a:solidFill>
                <a:latin typeface="Source Serif 4"/>
              </a:rPr>
              <a:t>It isn't therapy, a screening tool, or something counseling watches. A student who says something worrying in a lesson gets the same response as anywhere else at Beaver: let counseling know that day.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Middle School is coming along.</a:t>
            </a:r>
          </a:p>
          <a:p>
            <a:pPr algn="l">
              <a:spcAft>
                <a:spcPts val="585"/>
              </a:spcAft>
            </a:pPr>
            <a:r>
              <a:rPr sz="1300" b="0" i="0">
                <a:solidFill>
                  <a:srgbClr val="1C1B19"/>
                </a:solidFill>
                <a:latin typeface="Source Serif 4"/>
              </a:rPr>
              <a:t>Middle School student pages are there now; Middle School teacher lessons are still being written. Tell Middle School faculty they can read a student page, talk it through, and share the link, and that slides are on the way.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Leave with one.</a:t>
            </a:r>
          </a:p>
          <a:p>
            <a:pPr algn="l">
              <a:spcAft>
                <a:spcPts val="585"/>
              </a:spcAft>
            </a:pPr>
            <a:r>
              <a:rPr sz="1300" b="0" i="0">
                <a:solidFill>
                  <a:srgbClr val="1C1B19"/>
                </a:solidFill>
                <a:latin typeface="Source Serif 4"/>
              </a:rPr>
              <a:t>The ask at the end is small on purpose: one lesson, one group, this month. Offer to help anyone pick.</a:t>
            </a:r>
          </a:p>
          <a:p>
            <a:pPr algn="l">
              <a:spcAft>
                <a:spcPts val="585"/>
              </a:spcAft>
            </a:pPr>
            <a:r>
              <a:rPr sz="1300" b="0" i="0">
                <a:solidFill>
                  <a:srgbClr val="1C1B19"/>
                </a:solidFill>
                <a:latin typeface="Source Serif 4"/>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Every lesson has a page on this.</a:t>
            </a:r>
          </a:p>
          <a:p>
            <a:pPr algn="l">
              <a:spcAft>
                <a:spcPts val="585"/>
              </a:spcAft>
            </a:pPr>
            <a:r>
              <a:rPr sz="1300" b="0" i="0">
                <a:solidFill>
                  <a:srgbClr val="1C1B19"/>
                </a:solidFill>
                <a:latin typeface="Source Serif 4"/>
              </a:rPr>
              <a:t>Point out the 'Every student in the room' page in each teacher lesson. It covers culture, family, identity, ability and money for that topic, so teachers don't have to guess.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Not every family talks about these things.</a:t>
            </a:r>
          </a:p>
          <a:p>
            <a:pPr algn="l">
              <a:spcAft>
                <a:spcPts val="585"/>
              </a:spcAft>
            </a:pPr>
            <a:r>
              <a:rPr sz="1300" b="0" i="0">
                <a:solidFill>
                  <a:srgbClr val="1C1B19"/>
                </a:solidFill>
                <a:latin typeface="Source Serif 4"/>
              </a:rPr>
              <a:t>Some students come from homes where mental health, dating or substances aren't discussed, or are discussed very differently. The lessons are written to respect that and to avoid assuming one kind of family.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Students who learn differently.</a:t>
            </a:r>
          </a:p>
          <a:p>
            <a:pPr algn="l">
              <a:spcAft>
                <a:spcPts val="585"/>
              </a:spcAft>
            </a:pPr>
            <a:r>
              <a:rPr sz="1300" b="0" i="0">
                <a:solidFill>
                  <a:srgbClr val="1C1B19"/>
                </a:solidFill>
                <a:latin typeface="Source Serif 4"/>
              </a:rPr>
              <a:t>Student pages are short, visual and readable on a phone or on paper. Students with a learning plan can keep the page and come back to it at their own pace.</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Language at home.</a:t>
            </a:r>
          </a:p>
          <a:p>
            <a:pPr algn="l">
              <a:spcAft>
                <a:spcPts val="585"/>
              </a:spcAft>
            </a:pPr>
            <a:r>
              <a:rPr sz="1300" b="0" i="0">
                <a:solidFill>
                  <a:srgbClr val="1C1B19"/>
                </a:solidFill>
                <a:latin typeface="Source Serif 4"/>
              </a:rPr>
              <a:t>A student's parents may not read English comfortably. The student page is the student's to keep; if a family wants something in another language, loop in counseling.</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Teachers differ too.</a:t>
            </a:r>
          </a:p>
          <a:p>
            <a:pPr algn="l">
              <a:spcAft>
                <a:spcPts val="585"/>
              </a:spcAft>
            </a:pPr>
            <a:r>
              <a:rPr sz="1300" b="0" i="0">
                <a:solidFill>
                  <a:srgbClr val="1C1B19"/>
                </a:solidFill>
                <a:latin typeface="Source Serif 4"/>
              </a:rPr>
              <a:t>Faculty bring their own cultures and comfort levels. It's fine for a teacher to say 'I'm still learning about this' in front of students. That models the lesson better than a perfect script.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Privacy for everyone.</a:t>
            </a:r>
          </a:p>
          <a:p>
            <a:pPr algn="l">
              <a:spcAft>
                <a:spcPts val="585"/>
              </a:spcAft>
            </a:pPr>
            <a:r>
              <a:rPr sz="1300" b="0" i="0">
                <a:solidFill>
                  <a:srgbClr val="1C1B19"/>
                </a:solidFill>
                <a:latin typeface="Source Serif 4"/>
              </a:rPr>
              <a:t>Nothing students tap or type on a page is saved or sent. Nobody, including counseling, can see what a student wrote. Say this plainly, because students and families will ask.</a:t>
            </a:r>
          </a:p>
          <a:p>
            <a:pPr algn="l">
              <a:spcAft>
                <a:spcPts val="585"/>
              </a:spcAft>
            </a:pPr>
            <a:r>
              <a:rPr sz="1300" b="0" i="0">
                <a:solidFill>
                  <a:srgbClr val="1C1B19"/>
                </a:solidFill>
                <a:latin typeface="Source Serif 4"/>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A meta-analysis of 213 school-based social and emotional learning programs (about 270,000 students) found better social skills, attitudes and behavior, and an 11 percentile point gain in academic achievement.</a:t>
            </a:r>
          </a:p>
          <a:p>
            <a:pPr algn="l">
              <a:spcAft>
                <a:spcPts val="585"/>
              </a:spcAft>
            </a:pPr>
            <a:r>
              <a:rPr sz="1050" b="0" i="0">
                <a:solidFill>
                  <a:srgbClr val="5D5A54"/>
                </a:solidFill>
                <a:latin typeface="Inter Tight"/>
              </a:rPr>
              <a:t>Durlak et al., 2011, Child Development</a:t>
            </a:r>
          </a:p>
          <a:p>
            <a:pPr algn="l">
              <a:spcAft>
                <a:spcPts val="585"/>
              </a:spcAft>
            </a:pPr>
            <a:r>
              <a:rPr sz="1300" b="0" i="0">
                <a:solidFill>
                  <a:srgbClr val="1C1B19"/>
                </a:solidFill>
                <a:latin typeface="Source Serif 4"/>
              </a:rPr>
              <a:t>Across 99 studies, warmer teacher-student relationships were linked to higher student engagement and achievement, with the strongest links for older students and students at risk.</a:t>
            </a:r>
          </a:p>
          <a:p>
            <a:pPr algn="l">
              <a:spcAft>
                <a:spcPts val="585"/>
              </a:spcAft>
            </a:pPr>
            <a:r>
              <a:rPr sz="1050" b="0" i="0">
                <a:solidFill>
                  <a:srgbClr val="5D5A54"/>
                </a:solidFill>
                <a:latin typeface="Inter Tight"/>
              </a:rPr>
              <a:t>Roorda et al., 2011, Review of Educational Research</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Students who felt connected at school and at home as teens had lower odds of poor mental health, substance use and risky behavior as adults.</a:t>
            </a:r>
          </a:p>
          <a:p>
            <a:pPr algn="l">
              <a:spcAft>
                <a:spcPts val="585"/>
              </a:spcAft>
            </a:pPr>
            <a:r>
              <a:rPr sz="1050" b="0" i="0">
                <a:solidFill>
                  <a:srgbClr val="5D5A54"/>
                </a:solidFill>
                <a:latin typeface="Inter Tight"/>
              </a:rPr>
              <a:t>Steiner et al., 2019, Pediatrics</a:t>
            </a:r>
          </a:p>
          <a:p>
            <a:pPr algn="l">
              <a:spcAft>
                <a:spcPts val="585"/>
              </a:spcAft>
            </a:pPr>
            <a:r>
              <a:rPr sz="1300" b="0" i="0">
                <a:solidFill>
                  <a:srgbClr val="1C1B19"/>
                </a:solidFill>
                <a:latin typeface="Source Serif 4"/>
              </a:rPr>
              <a:t>Single-session interventions for youth mental health showed small but real benefits across 50 trials. Short, well-built lessons can help; they don't replace ongoing care.</a:t>
            </a:r>
          </a:p>
          <a:p>
            <a:pPr algn="l">
              <a:spcAft>
                <a:spcPts val="585"/>
              </a:spcAft>
            </a:pPr>
            <a:r>
              <a:rPr sz="1050" b="0" i="0">
                <a:solidFill>
                  <a:srgbClr val="5D5A54"/>
                </a:solidFill>
                <a:latin typeface="Inter Tight"/>
              </a:rPr>
              <a:t>Schleider &amp; Weisz, 2017, Journal of the American Academy of Child and Adolescent Psychiatry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MEET THE STUDENT TOOLKIT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Meet the Student Toolkit</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Short lessons for the conversations that matter, and how to use them.</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 Faculty professional development</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Rick drafted this talk with help from AI, then reviewed and edited every slide.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TO START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Think of a conversation with a student this year you wish you'd had something for.</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Just think. You don't have to share.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IT IS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A short lesson, a plan for you, and a page students keep.</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Written by counseling for Beaver students, grounded in research, Middle and Upper School.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STEP 1</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pic>
        <p:nvPicPr>
          <p:cNvPr id="5" name="Picture 4" descr="toolkit-top.jpg">
            <a:hlinkClick r:id="rId3"/>
          </p:cNvPr>
          <p:cNvPicPr>
            <a:picLocks noChangeAspect="1"/>
          </p:cNvPicPr>
          <p:nvPr/>
        </p:nvPicPr>
        <p:blipFill>
          <a:blip r:embed="rId2"/>
          <a:stretch>
            <a:fillRect/>
          </a:stretch>
        </p:blipFill>
        <p:spPr>
          <a:xfrm>
            <a:off x="822960" y="960120"/>
            <a:ext cx="6766560" cy="5074920"/>
          </a:xfrm>
          <a:prstGeom prst="rect">
            <a:avLst/>
          </a:prstGeom>
          <a:ln>
            <a:solidFill>
              <a:srgbClr val="D8D2C6"/>
            </a:solidFill>
          </a:ln>
        </p:spPr>
      </p:pic>
      <p:sp>
        <p:nvSpPr>
          <p:cNvPr id="6" name="TextBox 5"/>
          <p:cNvSpPr txBox="1"/>
          <p:nvPr/>
        </p:nvSpPr>
        <p:spPr>
          <a:xfrm>
            <a:off x="7955279" y="960120"/>
            <a:ext cx="3504895" cy="1280160"/>
          </a:xfrm>
          <a:prstGeom prst="rect">
            <a:avLst/>
          </a:prstGeom>
          <a:noFill/>
        </p:spPr>
        <p:txBody>
          <a:bodyPr wrap="square" anchor="t" lIns="0" rIns="0" tIns="0" bIns="0">
            <a:spAutoFit/>
          </a:bodyPr>
          <a:lstStyle/>
          <a:p>
            <a:pPr algn="l">
              <a:spcAft>
                <a:spcPts val="1170"/>
              </a:spcAft>
            </a:pPr>
            <a:r>
              <a:rPr sz="2600" b="1" i="0">
                <a:solidFill>
                  <a:srgbClr val="1C1B19"/>
                </a:solidFill>
                <a:latin typeface="Source Serif 4"/>
              </a:rPr>
              <a:t>Start at one page.</a:t>
            </a:r>
          </a:p>
        </p:txBody>
      </p:sp>
      <p:sp>
        <p:nvSpPr>
          <p:cNvPr id="7" name="TextBox 6"/>
          <p:cNvSpPr txBox="1"/>
          <p:nvPr/>
        </p:nvSpPr>
        <p:spPr>
          <a:xfrm>
            <a:off x="7955279" y="2331720"/>
            <a:ext cx="3504895" cy="2743200"/>
          </a:xfrm>
          <a:prstGeom prst="rect">
            <a:avLst/>
          </a:prstGeom>
          <a:noFill/>
        </p:spPr>
        <p:txBody>
          <a:bodyPr wrap="square" anchor="t" lIns="0" rIns="0" tIns="0" bIns="0">
            <a:spAutoFit/>
          </a:bodyPr>
          <a:lstStyle/>
          <a:p>
            <a:pPr algn="l">
              <a:spcAft>
                <a:spcPts val="720"/>
              </a:spcAft>
            </a:pPr>
            <a:r>
              <a:rPr sz="1600" b="0" i="0">
                <a:solidFill>
                  <a:srgbClr val="1C1B19"/>
                </a:solidFill>
                <a:latin typeface="Source Serif 4"/>
              </a:rPr>
              <a:t>—  Bookmark it. Everything starts here.</a:t>
            </a:r>
          </a:p>
          <a:p>
            <a:pPr algn="l">
              <a:spcAft>
                <a:spcPts val="720"/>
              </a:spcAft>
            </a:pPr>
            <a:r>
              <a:rPr sz="1600" b="0" i="0">
                <a:solidFill>
                  <a:srgbClr val="1C1B19"/>
                </a:solidFill>
                <a:latin typeface="Source Serif 4"/>
              </a:rPr>
              <a:t>—  Switch between Middle and Upper School at the top.</a:t>
            </a:r>
          </a:p>
          <a:p>
            <a:pPr algn="l">
              <a:spcAft>
                <a:spcPts val="720"/>
              </a:spcAft>
            </a:pPr>
            <a:r>
              <a:rPr sz="1600" b="0" i="0">
                <a:solidFill>
                  <a:srgbClr val="1C1B19"/>
                </a:solidFill>
                <a:latin typeface="Source Serif 4"/>
              </a:rPr>
              <a:t>—  The three steps and the link key are right under the title.</a:t>
            </a:r>
          </a:p>
        </p:txBody>
      </p:sp>
      <p:sp>
        <p:nvSpPr>
          <p:cNvPr id="8" name="TextBox 7"/>
          <p:cNvSpPr txBox="1"/>
          <p:nvPr/>
        </p:nvSpPr>
        <p:spPr>
          <a:xfrm>
            <a:off x="7955279" y="5440680"/>
            <a:ext cx="3504895" cy="457200"/>
          </a:xfrm>
          <a:prstGeom prst="rect">
            <a:avLst/>
          </a:prstGeom>
          <a:noFill/>
        </p:spPr>
        <p:txBody>
          <a:bodyPr wrap="square" anchor="t" lIns="0" rIns="0" tIns="0" bIns="0">
            <a:spAutoFit/>
          </a:bodyPr>
          <a:lstStyle/>
          <a:p>
            <a:pPr algn="l">
              <a:spcAft>
                <a:spcPts val="675"/>
              </a:spcAft>
            </a:pPr>
            <a:r>
              <a:rPr sz="1500" b="1" i="0">
                <a:solidFill>
                  <a:srgbClr val="0B2D5B"/>
                </a:solidFill>
                <a:latin typeface="Inter Tight"/>
              </a:rPr>
              <a:t/>
            </a:r>
            <a:r>
              <a:rPr sz="1500" b="1">
                <a:solidFill>
                  <a:srgbClr val="0B2D5B"/>
                </a:solidFill>
                <a:latin typeface="Inter Tight"/>
                <a:hlinkClick r:id="rId3"/>
              </a:rPr>
              <a:t>Open the toolkit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STEP 2</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pic>
        <p:nvPicPr>
          <p:cNvPr id="5" name="Picture 4" descr="toolkit-ways.jpg">
            <a:hlinkClick r:id="rId3"/>
          </p:cNvPr>
          <p:cNvPicPr>
            <a:picLocks noChangeAspect="1"/>
          </p:cNvPicPr>
          <p:nvPr/>
        </p:nvPicPr>
        <p:blipFill>
          <a:blip r:embed="rId2"/>
          <a:stretch>
            <a:fillRect/>
          </a:stretch>
        </p:blipFill>
        <p:spPr>
          <a:xfrm>
            <a:off x="822960" y="960120"/>
            <a:ext cx="6766560" cy="5074920"/>
          </a:xfrm>
          <a:prstGeom prst="rect">
            <a:avLst/>
          </a:prstGeom>
          <a:ln>
            <a:solidFill>
              <a:srgbClr val="D8D2C6"/>
            </a:solidFill>
          </a:ln>
        </p:spPr>
      </p:pic>
      <p:sp>
        <p:nvSpPr>
          <p:cNvPr id="6" name="TextBox 5"/>
          <p:cNvSpPr txBox="1"/>
          <p:nvPr/>
        </p:nvSpPr>
        <p:spPr>
          <a:xfrm>
            <a:off x="7955279" y="960120"/>
            <a:ext cx="3504895" cy="1280160"/>
          </a:xfrm>
          <a:prstGeom prst="rect">
            <a:avLst/>
          </a:prstGeom>
          <a:noFill/>
        </p:spPr>
        <p:txBody>
          <a:bodyPr wrap="square" anchor="t" lIns="0" rIns="0" tIns="0" bIns="0">
            <a:spAutoFit/>
          </a:bodyPr>
          <a:lstStyle/>
          <a:p>
            <a:pPr algn="l">
              <a:spcAft>
                <a:spcPts val="1170"/>
              </a:spcAft>
            </a:pPr>
            <a:r>
              <a:rPr sz="2600" b="1" i="0">
                <a:solidFill>
                  <a:srgbClr val="1C1B19"/>
                </a:solidFill>
                <a:latin typeface="Source Serif 4"/>
              </a:rPr>
              <a:t>Pick by how you'll use it.</a:t>
            </a:r>
          </a:p>
        </p:txBody>
      </p:sp>
      <p:sp>
        <p:nvSpPr>
          <p:cNvPr id="7" name="TextBox 6"/>
          <p:cNvSpPr txBox="1"/>
          <p:nvPr/>
        </p:nvSpPr>
        <p:spPr>
          <a:xfrm>
            <a:off x="7955279" y="2331720"/>
            <a:ext cx="3504895" cy="2743200"/>
          </a:xfrm>
          <a:prstGeom prst="rect">
            <a:avLst/>
          </a:prstGeom>
          <a:noFill/>
        </p:spPr>
        <p:txBody>
          <a:bodyPr wrap="square" anchor="t" lIns="0" rIns="0" tIns="0" bIns="0">
            <a:spAutoFit/>
          </a:bodyPr>
          <a:lstStyle/>
          <a:p>
            <a:pPr algn="l">
              <a:spcAft>
                <a:spcPts val="720"/>
              </a:spcAft>
            </a:pPr>
            <a:r>
              <a:rPr sz="1600" b="0" i="0">
                <a:solidFill>
                  <a:srgbClr val="1C1B19"/>
                </a:solidFill>
                <a:latin typeface="Source Serif 4"/>
              </a:rPr>
              <a:t>—  Teach a class: a full period.</a:t>
            </a:r>
          </a:p>
          <a:p>
            <a:pPr algn="l">
              <a:spcAft>
                <a:spcPts val="720"/>
              </a:spcAft>
            </a:pPr>
            <a:r>
              <a:rPr sz="1600" b="0" i="0">
                <a:solidFill>
                  <a:srgbClr val="1C1B19"/>
                </a:solidFill>
                <a:latin typeface="Source Serif 4"/>
              </a:rPr>
              <a:t>—  Run an advisory: 20 minutes, with time to check in.</a:t>
            </a:r>
          </a:p>
          <a:p>
            <a:pPr algn="l">
              <a:spcAft>
                <a:spcPts val="720"/>
              </a:spcAft>
            </a:pPr>
            <a:r>
              <a:rPr sz="1600" b="0" i="0">
                <a:solidFill>
                  <a:srgbClr val="1C1B19"/>
                </a:solidFill>
                <a:latin typeface="Source Serif 4"/>
              </a:rPr>
              <a:t>—  Meet with a student: for counselors.</a:t>
            </a:r>
          </a:p>
          <a:p>
            <a:pPr algn="l">
              <a:spcAft>
                <a:spcPts val="720"/>
              </a:spcAft>
            </a:pPr>
            <a:r>
              <a:rPr sz="1600" b="0" i="0">
                <a:solidFill>
                  <a:srgbClr val="1C1B19"/>
                </a:solidFill>
                <a:latin typeface="Source Serif 4"/>
              </a:rPr>
              <a:t>—  Practice mindfulness: a few minutes, anywhere.</a:t>
            </a:r>
          </a:p>
        </p:txBody>
      </p:sp>
      <p:sp>
        <p:nvSpPr>
          <p:cNvPr id="8" name="TextBox 7"/>
          <p:cNvSpPr txBox="1"/>
          <p:nvPr/>
        </p:nvSpPr>
        <p:spPr>
          <a:xfrm>
            <a:off x="7955279" y="5440680"/>
            <a:ext cx="3504895" cy="457200"/>
          </a:xfrm>
          <a:prstGeom prst="rect">
            <a:avLst/>
          </a:prstGeom>
          <a:noFill/>
        </p:spPr>
        <p:txBody>
          <a:bodyPr wrap="square" anchor="t" lIns="0" rIns="0" tIns="0" bIns="0">
            <a:spAutoFit/>
          </a:bodyPr>
          <a:lstStyle/>
          <a:p>
            <a:pPr algn="l">
              <a:spcAft>
                <a:spcPts val="675"/>
              </a:spcAft>
            </a:pPr>
            <a:r>
              <a:rPr sz="1500" b="1" i="0">
                <a:solidFill>
                  <a:srgbClr val="0B2D5B"/>
                </a:solidFill>
                <a:latin typeface="Inter Tight"/>
              </a:rPr>
              <a:t/>
            </a:r>
            <a:r>
              <a:rPr sz="1500" b="1">
                <a:solidFill>
                  <a:srgbClr val="0B2D5B"/>
                </a:solidFill>
                <a:latin typeface="Inter Tight"/>
                <a:hlinkClick r:id="rId3"/>
              </a:rPr>
              <a:t>See the advisory lessons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STEP 3</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pic>
        <p:nvPicPr>
          <p:cNvPr id="5" name="Picture 4" descr="teacher-view.jpg">
            <a:hlinkClick r:id="rId3"/>
          </p:cNvPr>
          <p:cNvPicPr>
            <a:picLocks noChangeAspect="1"/>
          </p:cNvPicPr>
          <p:nvPr/>
        </p:nvPicPr>
        <p:blipFill>
          <a:blip r:embed="rId2"/>
          <a:stretch>
            <a:fillRect/>
          </a:stretch>
        </p:blipFill>
        <p:spPr>
          <a:xfrm>
            <a:off x="822960" y="960120"/>
            <a:ext cx="6766560" cy="5074920"/>
          </a:xfrm>
          <a:prstGeom prst="rect">
            <a:avLst/>
          </a:prstGeom>
          <a:ln>
            <a:solidFill>
              <a:srgbClr val="D8D2C6"/>
            </a:solidFill>
          </a:ln>
        </p:spPr>
      </p:pic>
      <p:sp>
        <p:nvSpPr>
          <p:cNvPr id="6" name="TextBox 5"/>
          <p:cNvSpPr txBox="1"/>
          <p:nvPr/>
        </p:nvSpPr>
        <p:spPr>
          <a:xfrm>
            <a:off x="7955279" y="960120"/>
            <a:ext cx="3504895" cy="1280160"/>
          </a:xfrm>
          <a:prstGeom prst="rect">
            <a:avLst/>
          </a:prstGeom>
          <a:noFill/>
        </p:spPr>
        <p:txBody>
          <a:bodyPr wrap="square" anchor="t" lIns="0" rIns="0" tIns="0" bIns="0">
            <a:spAutoFit/>
          </a:bodyPr>
          <a:lstStyle/>
          <a:p>
            <a:pPr algn="l">
              <a:spcAft>
                <a:spcPts val="1170"/>
              </a:spcAft>
            </a:pPr>
            <a:r>
              <a:rPr sz="2600" b="1" i="0">
                <a:solidFill>
                  <a:srgbClr val="1C1B19"/>
                </a:solidFill>
                <a:latin typeface="Source Serif 4"/>
              </a:rPr>
              <a:t>Open the lesson. Read the teacher side first.</a:t>
            </a:r>
          </a:p>
        </p:txBody>
      </p:sp>
      <p:sp>
        <p:nvSpPr>
          <p:cNvPr id="7" name="TextBox 6"/>
          <p:cNvSpPr txBox="1"/>
          <p:nvPr/>
        </p:nvSpPr>
        <p:spPr>
          <a:xfrm>
            <a:off x="7955279" y="2331720"/>
            <a:ext cx="3504895" cy="2743200"/>
          </a:xfrm>
          <a:prstGeom prst="rect">
            <a:avLst/>
          </a:prstGeom>
          <a:noFill/>
        </p:spPr>
        <p:txBody>
          <a:bodyPr wrap="square" anchor="t" lIns="0" rIns="0" tIns="0" bIns="0">
            <a:spAutoFit/>
          </a:bodyPr>
          <a:lstStyle/>
          <a:p>
            <a:pPr algn="l">
              <a:spcAft>
                <a:spcPts val="720"/>
              </a:spcAft>
            </a:pPr>
            <a:r>
              <a:rPr sz="1600" b="0" i="0">
                <a:solidFill>
                  <a:srgbClr val="1C1B19"/>
                </a:solidFill>
                <a:latin typeface="Source Serif 4"/>
              </a:rPr>
              <a:t>—  The plan and timing.</a:t>
            </a:r>
          </a:p>
          <a:p>
            <a:pPr algn="l">
              <a:spcAft>
                <a:spcPts val="720"/>
              </a:spcAft>
            </a:pPr>
            <a:r>
              <a:rPr sz="1600" b="0" i="0">
                <a:solidFill>
                  <a:srgbClr val="1C1B19"/>
                </a:solidFill>
                <a:latin typeface="Source Serif 4"/>
              </a:rPr>
              <a:t>—  What to watch for, and every student in the room.</a:t>
            </a:r>
          </a:p>
          <a:p>
            <a:pPr algn="l">
              <a:spcAft>
                <a:spcPts val="720"/>
              </a:spcAft>
            </a:pPr>
            <a:r>
              <a:rPr sz="1600" b="0" i="0">
                <a:solidFill>
                  <a:srgbClr val="1C1B19"/>
                </a:solidFill>
                <a:latin typeface="Source Serif 4"/>
              </a:rPr>
              <a:t>—  The research, so you can answer the 'says who?' question.</a:t>
            </a:r>
          </a:p>
        </p:txBody>
      </p:sp>
      <p:sp>
        <p:nvSpPr>
          <p:cNvPr id="8" name="TextBox 7"/>
          <p:cNvSpPr txBox="1"/>
          <p:nvPr/>
        </p:nvSpPr>
        <p:spPr>
          <a:xfrm>
            <a:off x="7955279" y="5440680"/>
            <a:ext cx="3504895" cy="457200"/>
          </a:xfrm>
          <a:prstGeom prst="rect">
            <a:avLst/>
          </a:prstGeom>
          <a:noFill/>
        </p:spPr>
        <p:txBody>
          <a:bodyPr wrap="square" anchor="t" lIns="0" rIns="0" tIns="0" bIns="0">
            <a:spAutoFit/>
          </a:bodyPr>
          <a:lstStyle/>
          <a:p>
            <a:pPr algn="l">
              <a:spcAft>
                <a:spcPts val="675"/>
              </a:spcAft>
            </a:pPr>
            <a:r>
              <a:rPr sz="1500" b="1" i="0">
                <a:solidFill>
                  <a:srgbClr val="0B2D5B"/>
                </a:solidFill>
                <a:latin typeface="Inter Tight"/>
              </a:rPr>
              <a:t/>
            </a:r>
            <a:r>
              <a:rPr sz="1500" b="1">
                <a:solidFill>
                  <a:srgbClr val="0B2D5B"/>
                </a:solidFill>
                <a:latin typeface="Inter Tight"/>
                <a:hlinkClick r:id="rId3"/>
              </a:rPr>
              <a:t>Open a sample lesson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STEP 4</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pic>
        <p:nvPicPr>
          <p:cNvPr id="5" name="Picture 4" descr="present-mode.jpg">
            <a:hlinkClick r:id="rId3"/>
          </p:cNvPr>
          <p:cNvPicPr>
            <a:picLocks noChangeAspect="1"/>
          </p:cNvPicPr>
          <p:nvPr/>
        </p:nvPicPr>
        <p:blipFill>
          <a:blip r:embed="rId2"/>
          <a:stretch>
            <a:fillRect/>
          </a:stretch>
        </p:blipFill>
        <p:spPr>
          <a:xfrm>
            <a:off x="822960" y="960120"/>
            <a:ext cx="6766560" cy="5074920"/>
          </a:xfrm>
          <a:prstGeom prst="rect">
            <a:avLst/>
          </a:prstGeom>
          <a:ln>
            <a:solidFill>
              <a:srgbClr val="D8D2C6"/>
            </a:solidFill>
          </a:ln>
        </p:spPr>
      </p:pic>
      <p:sp>
        <p:nvSpPr>
          <p:cNvPr id="6" name="TextBox 5"/>
          <p:cNvSpPr txBox="1"/>
          <p:nvPr/>
        </p:nvSpPr>
        <p:spPr>
          <a:xfrm>
            <a:off x="7955279" y="960120"/>
            <a:ext cx="3504895" cy="1280160"/>
          </a:xfrm>
          <a:prstGeom prst="rect">
            <a:avLst/>
          </a:prstGeom>
          <a:noFill/>
        </p:spPr>
        <p:txBody>
          <a:bodyPr wrap="square" anchor="t" lIns="0" rIns="0" tIns="0" bIns="0">
            <a:spAutoFit/>
          </a:bodyPr>
          <a:lstStyle/>
          <a:p>
            <a:pPr algn="l">
              <a:spcAft>
                <a:spcPts val="1170"/>
              </a:spcAft>
            </a:pPr>
            <a:r>
              <a:rPr sz="2600" b="1" i="0">
                <a:solidFill>
                  <a:srgbClr val="1C1B19"/>
                </a:solidFill>
                <a:latin typeface="Source Serif 4"/>
              </a:rPr>
              <a:t>Present it.</a:t>
            </a:r>
          </a:p>
        </p:txBody>
      </p:sp>
      <p:sp>
        <p:nvSpPr>
          <p:cNvPr id="7" name="TextBox 6"/>
          <p:cNvSpPr txBox="1"/>
          <p:nvPr/>
        </p:nvSpPr>
        <p:spPr>
          <a:xfrm>
            <a:off x="7955279" y="2331720"/>
            <a:ext cx="3504895" cy="2743200"/>
          </a:xfrm>
          <a:prstGeom prst="rect">
            <a:avLst/>
          </a:prstGeom>
          <a:noFill/>
        </p:spPr>
        <p:txBody>
          <a:bodyPr wrap="square" anchor="t" lIns="0" rIns="0" tIns="0" bIns="0">
            <a:spAutoFit/>
          </a:bodyPr>
          <a:lstStyle/>
          <a:p>
            <a:pPr algn="l">
              <a:spcAft>
                <a:spcPts val="720"/>
              </a:spcAft>
            </a:pPr>
            <a:r>
              <a:rPr sz="1600" b="0" i="0">
                <a:solidFill>
                  <a:srgbClr val="1C1B19"/>
                </a:solidFill>
                <a:latin typeface="Source Serif 4"/>
              </a:rPr>
              <a:t>—  Arrow keys or a clicker move the slides.</a:t>
            </a:r>
          </a:p>
          <a:p>
            <a:pPr algn="l">
              <a:spcAft>
                <a:spcPts val="720"/>
              </a:spcAft>
            </a:pPr>
            <a:r>
              <a:rPr sz="1600" b="0" i="0">
                <a:solidFill>
                  <a:srgbClr val="1C1B19"/>
                </a:solidFill>
                <a:latin typeface="Source Serif 4"/>
              </a:rPr>
              <a:t>—  Press N to see your notes.</a:t>
            </a:r>
          </a:p>
          <a:p>
            <a:pPr algn="l">
              <a:spcAft>
                <a:spcPts val="720"/>
              </a:spcAft>
            </a:pPr>
            <a:r>
              <a:rPr sz="1600" b="0" i="0">
                <a:solidFill>
                  <a:srgbClr val="1C1B19"/>
                </a:solidFill>
                <a:latin typeface="Source Serif 4"/>
              </a:rPr>
              <a:t>—  Prefer Google Slides? Download the PowerPoint.</a:t>
            </a:r>
          </a:p>
        </p:txBody>
      </p:sp>
      <p:sp>
        <p:nvSpPr>
          <p:cNvPr id="8" name="TextBox 7"/>
          <p:cNvSpPr txBox="1"/>
          <p:nvPr/>
        </p:nvSpPr>
        <p:spPr>
          <a:xfrm>
            <a:off x="7955279" y="5440680"/>
            <a:ext cx="3504895" cy="457200"/>
          </a:xfrm>
          <a:prstGeom prst="rect">
            <a:avLst/>
          </a:prstGeom>
          <a:noFill/>
        </p:spPr>
        <p:txBody>
          <a:bodyPr wrap="square" anchor="t" lIns="0" rIns="0" tIns="0" bIns="0">
            <a:spAutoFit/>
          </a:bodyPr>
          <a:lstStyle/>
          <a:p>
            <a:pPr algn="l">
              <a:spcAft>
                <a:spcPts val="675"/>
              </a:spcAft>
            </a:pPr>
            <a:r>
              <a:rPr sz="1500" b="1" i="0">
                <a:solidFill>
                  <a:srgbClr val="0B2D5B"/>
                </a:solidFill>
                <a:latin typeface="Inter Tight"/>
              </a:rPr>
              <a:t/>
            </a:r>
            <a:r>
              <a:rPr sz="1500" b="1">
                <a:solidFill>
                  <a:srgbClr val="0B2D5B"/>
                </a:solidFill>
                <a:latin typeface="Inter Tight"/>
                <a:hlinkClick r:id="rId3"/>
              </a:rPr>
              <a:t>Try present mode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STEP 5</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pic>
        <p:nvPicPr>
          <p:cNvPr id="5" name="Picture 4" descr="student-page.jpg">
            <a:hlinkClick r:id="rId3"/>
          </p:cNvPr>
          <p:cNvPicPr>
            <a:picLocks noChangeAspect="1"/>
          </p:cNvPicPr>
          <p:nvPr/>
        </p:nvPicPr>
        <p:blipFill>
          <a:blip r:embed="rId2"/>
          <a:stretch>
            <a:fillRect/>
          </a:stretch>
        </p:blipFill>
        <p:spPr>
          <a:xfrm>
            <a:off x="822960" y="960120"/>
            <a:ext cx="6766560" cy="5074920"/>
          </a:xfrm>
          <a:prstGeom prst="rect">
            <a:avLst/>
          </a:prstGeom>
          <a:ln>
            <a:solidFill>
              <a:srgbClr val="D8D2C6"/>
            </a:solidFill>
          </a:ln>
        </p:spPr>
      </p:pic>
      <p:sp>
        <p:nvSpPr>
          <p:cNvPr id="6" name="TextBox 5"/>
          <p:cNvSpPr txBox="1"/>
          <p:nvPr/>
        </p:nvSpPr>
        <p:spPr>
          <a:xfrm>
            <a:off x="7955279" y="960120"/>
            <a:ext cx="3504895" cy="1280160"/>
          </a:xfrm>
          <a:prstGeom prst="rect">
            <a:avLst/>
          </a:prstGeom>
          <a:noFill/>
        </p:spPr>
        <p:txBody>
          <a:bodyPr wrap="square" anchor="t" lIns="0" rIns="0" tIns="0" bIns="0">
            <a:spAutoFit/>
          </a:bodyPr>
          <a:lstStyle/>
          <a:p>
            <a:pPr algn="l">
              <a:spcAft>
                <a:spcPts val="1170"/>
              </a:spcAft>
            </a:pPr>
            <a:r>
              <a:rPr sz="2600" b="1" i="0">
                <a:solidFill>
                  <a:srgbClr val="1C1B19"/>
                </a:solidFill>
                <a:latin typeface="Source Serif 4"/>
              </a:rPr>
              <a:t>Share the student page.</a:t>
            </a:r>
          </a:p>
        </p:txBody>
      </p:sp>
      <p:sp>
        <p:nvSpPr>
          <p:cNvPr id="7" name="TextBox 6"/>
          <p:cNvSpPr txBox="1"/>
          <p:nvPr/>
        </p:nvSpPr>
        <p:spPr>
          <a:xfrm>
            <a:off x="7955279" y="2331720"/>
            <a:ext cx="3504895" cy="2743200"/>
          </a:xfrm>
          <a:prstGeom prst="rect">
            <a:avLst/>
          </a:prstGeom>
          <a:noFill/>
        </p:spPr>
        <p:txBody>
          <a:bodyPr wrap="square" anchor="t" lIns="0" rIns="0" tIns="0" bIns="0">
            <a:spAutoFit/>
          </a:bodyPr>
          <a:lstStyle/>
          <a:p>
            <a:pPr algn="l">
              <a:spcAft>
                <a:spcPts val="720"/>
              </a:spcAft>
            </a:pPr>
            <a:r>
              <a:rPr sz="1600" b="0" i="0">
                <a:solidFill>
                  <a:srgbClr val="1C1B19"/>
                </a:solidFill>
                <a:latin typeface="Source Serif 4"/>
              </a:rPr>
              <a:t>—  The last slide has the link.</a:t>
            </a:r>
          </a:p>
          <a:p>
            <a:pPr algn="l">
              <a:spcAft>
                <a:spcPts val="720"/>
              </a:spcAft>
            </a:pPr>
            <a:r>
              <a:rPr sz="1600" b="0" i="0">
                <a:solidFill>
                  <a:srgbClr val="1C1B19"/>
                </a:solidFill>
                <a:latin typeface="Source Serif 4"/>
              </a:rPr>
              <a:t>—  Students keep it and can come back to it.</a:t>
            </a:r>
          </a:p>
          <a:p>
            <a:pPr algn="l">
              <a:spcAft>
                <a:spcPts val="720"/>
              </a:spcAft>
            </a:pPr>
            <a:r>
              <a:rPr sz="1600" b="0" i="0">
                <a:solidFill>
                  <a:srgbClr val="1C1B19"/>
                </a:solidFill>
                <a:latin typeface="Source Serif 4"/>
              </a:rPr>
              <a:t>—  Nothing they tap or type is saved or sent.</a:t>
            </a:r>
          </a:p>
        </p:txBody>
      </p:sp>
      <p:sp>
        <p:nvSpPr>
          <p:cNvPr id="8" name="TextBox 7"/>
          <p:cNvSpPr txBox="1"/>
          <p:nvPr/>
        </p:nvSpPr>
        <p:spPr>
          <a:xfrm>
            <a:off x="7955279" y="5440680"/>
            <a:ext cx="3504895" cy="457200"/>
          </a:xfrm>
          <a:prstGeom prst="rect">
            <a:avLst/>
          </a:prstGeom>
          <a:noFill/>
        </p:spPr>
        <p:txBody>
          <a:bodyPr wrap="square" anchor="t" lIns="0" rIns="0" tIns="0" bIns="0">
            <a:spAutoFit/>
          </a:bodyPr>
          <a:lstStyle/>
          <a:p>
            <a:pPr algn="l">
              <a:spcAft>
                <a:spcPts val="675"/>
              </a:spcAft>
            </a:pPr>
            <a:r>
              <a:rPr sz="1500" b="1" i="0">
                <a:solidFill>
                  <a:srgbClr val="0B2D5B"/>
                </a:solidFill>
                <a:latin typeface="Inter Tight"/>
              </a:rPr>
              <a:t/>
            </a:r>
            <a:r>
              <a:rPr sz="1500" b="1">
                <a:solidFill>
                  <a:srgbClr val="0B2D5B"/>
                </a:solidFill>
                <a:latin typeface="Inter Tight"/>
                <a:hlinkClick r:id="rId3"/>
              </a:rPr>
              <a:t>See a student page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EVERY PAGE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pic>
        <p:nvPicPr>
          <p:cNvPr id="5" name="Picture 4" descr="help-box.jpg">
            <a:hlinkClick r:id="rId3"/>
          </p:cNvPr>
          <p:cNvPicPr>
            <a:picLocks noChangeAspect="1"/>
          </p:cNvPicPr>
          <p:nvPr/>
        </p:nvPicPr>
        <p:blipFill>
          <a:blip r:embed="rId2"/>
          <a:stretch>
            <a:fillRect/>
          </a:stretch>
        </p:blipFill>
        <p:spPr>
          <a:xfrm>
            <a:off x="822960" y="960120"/>
            <a:ext cx="6766560" cy="5074920"/>
          </a:xfrm>
          <a:prstGeom prst="rect">
            <a:avLst/>
          </a:prstGeom>
          <a:ln>
            <a:solidFill>
              <a:srgbClr val="D8D2C6"/>
            </a:solidFill>
          </a:ln>
        </p:spPr>
      </p:pic>
      <p:sp>
        <p:nvSpPr>
          <p:cNvPr id="6" name="TextBox 5"/>
          <p:cNvSpPr txBox="1"/>
          <p:nvPr/>
        </p:nvSpPr>
        <p:spPr>
          <a:xfrm>
            <a:off x="7955279" y="960120"/>
            <a:ext cx="3504895" cy="1280160"/>
          </a:xfrm>
          <a:prstGeom prst="rect">
            <a:avLst/>
          </a:prstGeom>
          <a:noFill/>
        </p:spPr>
        <p:txBody>
          <a:bodyPr wrap="square" anchor="t" lIns="0" rIns="0" tIns="0" bIns="0">
            <a:spAutoFit/>
          </a:bodyPr>
          <a:lstStyle/>
          <a:p>
            <a:pPr algn="l">
              <a:spcAft>
                <a:spcPts val="1170"/>
              </a:spcAft>
            </a:pPr>
            <a:r>
              <a:rPr sz="2600" b="1" i="0">
                <a:solidFill>
                  <a:srgbClr val="1C1B19"/>
                </a:solidFill>
                <a:latin typeface="Source Serif 4"/>
              </a:rPr>
              <a:t>Every page points to a person.</a:t>
            </a:r>
          </a:p>
        </p:txBody>
      </p:sp>
      <p:sp>
        <p:nvSpPr>
          <p:cNvPr id="7" name="TextBox 6"/>
          <p:cNvSpPr txBox="1"/>
          <p:nvPr/>
        </p:nvSpPr>
        <p:spPr>
          <a:xfrm>
            <a:off x="7955279" y="2331720"/>
            <a:ext cx="3504895" cy="2743200"/>
          </a:xfrm>
          <a:prstGeom prst="rect">
            <a:avLst/>
          </a:prstGeom>
          <a:noFill/>
        </p:spPr>
        <p:txBody>
          <a:bodyPr wrap="square" anchor="t" lIns="0" rIns="0" tIns="0" bIns="0">
            <a:spAutoFit/>
          </a:bodyPr>
          <a:lstStyle/>
          <a:p>
            <a:pPr algn="l">
              <a:spcAft>
                <a:spcPts val="720"/>
              </a:spcAft>
            </a:pPr>
            <a:r>
              <a:rPr sz="1600" b="0" i="0">
                <a:solidFill>
                  <a:srgbClr val="1C1B19"/>
                </a:solidFill>
                <a:latin typeface="Source Serif 4"/>
              </a:rPr>
              <a:t>—  Counselors first, by name and office.</a:t>
            </a:r>
          </a:p>
          <a:p>
            <a:pPr algn="l">
              <a:spcAft>
                <a:spcPts val="720"/>
              </a:spcAft>
            </a:pPr>
            <a:r>
              <a:rPr sz="1600" b="0" i="0">
                <a:solidFill>
                  <a:srgbClr val="1C1B19"/>
                </a:solidFill>
                <a:latin typeface="Source Serif 4"/>
              </a:rPr>
              <a:t>—  988 and 911 for after hours.</a:t>
            </a:r>
          </a:p>
          <a:p>
            <a:pPr algn="l">
              <a:spcAft>
                <a:spcPts val="720"/>
              </a:spcAft>
            </a:pPr>
            <a:r>
              <a:rPr sz="1600" b="0" i="0">
                <a:solidFill>
                  <a:srgbClr val="1C1B19"/>
                </a:solidFill>
                <a:latin typeface="Source Serif 4"/>
              </a:rPr>
              <a:t>—  "This page isn't monitored."</a:t>
            </a:r>
          </a:p>
        </p:txBody>
      </p:sp>
      <p:sp>
        <p:nvSpPr>
          <p:cNvPr id="8" name="TextBox 7"/>
          <p:cNvSpPr txBox="1"/>
          <p:nvPr/>
        </p:nvSpPr>
        <p:spPr>
          <a:xfrm>
            <a:off x="7955279" y="5440680"/>
            <a:ext cx="3504895" cy="457200"/>
          </a:xfrm>
          <a:prstGeom prst="rect">
            <a:avLst/>
          </a:prstGeom>
          <a:noFill/>
        </p:spPr>
        <p:txBody>
          <a:bodyPr wrap="square" anchor="t" lIns="0" rIns="0" tIns="0" bIns="0">
            <a:spAutoFit/>
          </a:bodyPr>
          <a:lstStyle/>
          <a:p>
            <a:pPr algn="l">
              <a:spcAft>
                <a:spcPts val="675"/>
              </a:spcAft>
            </a:pPr>
            <a:r>
              <a:rPr sz="1500" b="1" i="0">
                <a:solidFill>
                  <a:srgbClr val="0B2D5B"/>
                </a:solidFill>
                <a:latin typeface="Inter Tight"/>
              </a:rPr>
              <a:t/>
            </a:r>
            <a:r>
              <a:rPr sz="1500" b="1">
                <a:solidFill>
                  <a:srgbClr val="0B2D5B"/>
                </a:solidFill>
                <a:latin typeface="Inter Tight"/>
                <a:hlinkClick r:id="rId3"/>
              </a:rPr>
              <a:t>See the help box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STUDENTS SEE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pic>
        <p:nvPicPr>
          <p:cNvPr id="5" name="Picture 4" descr="bvr-diner.jpg">
            <a:hlinkClick r:id="rId3"/>
          </p:cNvPr>
          <p:cNvPicPr>
            <a:picLocks noChangeAspect="1"/>
          </p:cNvPicPr>
          <p:nvPr/>
        </p:nvPicPr>
        <p:blipFill>
          <a:blip r:embed="rId2"/>
          <a:stretch>
            <a:fillRect/>
          </a:stretch>
        </p:blipFill>
        <p:spPr>
          <a:xfrm>
            <a:off x="822960" y="960120"/>
            <a:ext cx="6766560" cy="5074920"/>
          </a:xfrm>
          <a:prstGeom prst="rect">
            <a:avLst/>
          </a:prstGeom>
          <a:ln>
            <a:solidFill>
              <a:srgbClr val="D8D2C6"/>
            </a:solidFill>
          </a:ln>
        </p:spPr>
      </p:pic>
      <p:sp>
        <p:nvSpPr>
          <p:cNvPr id="6" name="TextBox 5"/>
          <p:cNvSpPr txBox="1"/>
          <p:nvPr/>
        </p:nvSpPr>
        <p:spPr>
          <a:xfrm>
            <a:off x="7955279" y="960120"/>
            <a:ext cx="3504895" cy="1280160"/>
          </a:xfrm>
          <a:prstGeom prst="rect">
            <a:avLst/>
          </a:prstGeom>
          <a:noFill/>
        </p:spPr>
        <p:txBody>
          <a:bodyPr wrap="square" anchor="t" lIns="0" rIns="0" tIns="0" bIns="0">
            <a:spAutoFit/>
          </a:bodyPr>
          <a:lstStyle/>
          <a:p>
            <a:pPr algn="l">
              <a:spcAft>
                <a:spcPts val="1170"/>
              </a:spcAft>
            </a:pPr>
            <a:r>
              <a:rPr sz="2600" b="1" i="0">
                <a:solidFill>
                  <a:srgbClr val="1C1B19"/>
                </a:solidFill>
                <a:latin typeface="Source Serif 4"/>
              </a:rPr>
              <a:t>Twelve lessons students can open on their own.</a:t>
            </a:r>
          </a:p>
        </p:txBody>
      </p:sp>
      <p:sp>
        <p:nvSpPr>
          <p:cNvPr id="7" name="TextBox 6"/>
          <p:cNvSpPr txBox="1"/>
          <p:nvPr/>
        </p:nvSpPr>
        <p:spPr>
          <a:xfrm>
            <a:off x="7955279" y="2331720"/>
            <a:ext cx="3504895" cy="2743200"/>
          </a:xfrm>
          <a:prstGeom prst="rect">
            <a:avLst/>
          </a:prstGeom>
          <a:noFill/>
        </p:spPr>
        <p:txBody>
          <a:bodyPr wrap="square" anchor="t" lIns="0" rIns="0" tIns="0" bIns="0">
            <a:spAutoFit/>
          </a:bodyPr>
          <a:lstStyle/>
          <a:p>
            <a:pPr algn="l">
              <a:spcAft>
                <a:spcPts val="720"/>
              </a:spcAft>
            </a:pPr>
            <a:r>
              <a:rPr sz="1600" b="0" i="0">
                <a:solidFill>
                  <a:srgbClr val="1C1B19"/>
                </a:solidFill>
                <a:latin typeface="Source Serif 4"/>
              </a:rPr>
              <a:t>—  The BVR Diner menu: study, friends, stress and sleep.</a:t>
            </a:r>
          </a:p>
          <a:p>
            <a:pPr algn="l">
              <a:spcAft>
                <a:spcPts val="720"/>
              </a:spcAft>
            </a:pPr>
            <a:r>
              <a:rPr sz="1600" b="0" i="0">
                <a:solidFill>
                  <a:srgbClr val="1C1B19"/>
                </a:solidFill>
                <a:latin typeface="Source Serif 4"/>
              </a:rPr>
              <a:t>—  Teach them first if you can, especially with 9th graders.</a:t>
            </a:r>
          </a:p>
          <a:p>
            <a:pPr algn="l">
              <a:spcAft>
                <a:spcPts val="720"/>
              </a:spcAft>
            </a:pPr>
            <a:r>
              <a:rPr sz="1600" b="0" i="0">
                <a:solidFill>
                  <a:srgbClr val="1C1B19"/>
                </a:solidFill>
                <a:latin typeface="Source Serif 4"/>
              </a:rPr>
              <a:t>—  Then students know where to find them again.</a:t>
            </a:r>
          </a:p>
        </p:txBody>
      </p:sp>
      <p:sp>
        <p:nvSpPr>
          <p:cNvPr id="8" name="TextBox 7"/>
          <p:cNvSpPr txBox="1"/>
          <p:nvPr/>
        </p:nvSpPr>
        <p:spPr>
          <a:xfrm>
            <a:off x="7955279" y="5440680"/>
            <a:ext cx="3504895" cy="457200"/>
          </a:xfrm>
          <a:prstGeom prst="rect">
            <a:avLst/>
          </a:prstGeom>
          <a:noFill/>
        </p:spPr>
        <p:txBody>
          <a:bodyPr wrap="square" anchor="t" lIns="0" rIns="0" tIns="0" bIns="0">
            <a:spAutoFit/>
          </a:bodyPr>
          <a:lstStyle/>
          <a:p>
            <a:pPr algn="l">
              <a:spcAft>
                <a:spcPts val="675"/>
              </a:spcAft>
            </a:pPr>
            <a:r>
              <a:rPr sz="1500" b="1" i="0">
                <a:solidFill>
                  <a:srgbClr val="0B2D5B"/>
                </a:solidFill>
                <a:latin typeface="Inter Tight"/>
              </a:rPr>
              <a:t/>
            </a:r>
            <a:r>
              <a:rPr sz="1500" b="1">
                <a:solidFill>
                  <a:srgbClr val="0B2D5B"/>
                </a:solidFill>
                <a:latin typeface="Inter Tight"/>
                <a:hlinkClick r:id="rId3"/>
              </a:rPr>
              <a:t>Open the BVR Diner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PLAINLY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it is, and what it isn't</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IT IS</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A starting point for a conversation</a:t>
            </a:r>
          </a:p>
          <a:p>
            <a:pPr algn="l">
              <a:spcAft>
                <a:spcPts val="855"/>
              </a:spcAft>
            </a:pPr>
            <a:r>
              <a:rPr sz="1900" b="0" i="0">
                <a:solidFill>
                  <a:srgbClr val="1C1B19"/>
                </a:solidFill>
                <a:latin typeface="Source Serif 4"/>
              </a:rPr>
              <a:t>Short, research-based lessons</a:t>
            </a:r>
          </a:p>
          <a:p>
            <a:pPr algn="l">
              <a:spcAft>
                <a:spcPts val="855"/>
              </a:spcAft>
            </a:pPr>
            <a:r>
              <a:rPr sz="1900" b="0" i="0">
                <a:solidFill>
                  <a:srgbClr val="1C1B19"/>
                </a:solidFill>
                <a:latin typeface="Source Serif 4"/>
              </a:rPr>
              <a:t>A page students keep</a:t>
            </a:r>
          </a:p>
          <a:p>
            <a:pPr algn="l">
              <a:spcAft>
                <a:spcPts val="855"/>
              </a:spcAft>
            </a:pPr>
            <a:r>
              <a:rPr sz="1900" b="0" i="0">
                <a:solidFill>
                  <a:srgbClr val="1C1B19"/>
                </a:solidFill>
                <a:latin typeface="Source Serif 4"/>
              </a:rPr>
              <a:t>Private: saves and sends nothing</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IT ISN'T</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Therapy or counseling</a:t>
            </a:r>
          </a:p>
          <a:p>
            <a:pPr algn="l">
              <a:spcAft>
                <a:spcPts val="855"/>
              </a:spcAft>
            </a:pPr>
            <a:r>
              <a:rPr sz="1900" b="0" i="0">
                <a:solidFill>
                  <a:srgbClr val="1C1B19"/>
                </a:solidFill>
                <a:latin typeface="Source Serif 4"/>
              </a:rPr>
              <a:t>A screening tool</a:t>
            </a:r>
          </a:p>
          <a:p>
            <a:pPr algn="l">
              <a:spcAft>
                <a:spcPts val="855"/>
              </a:spcAft>
            </a:pPr>
            <a:r>
              <a:rPr sz="1900" b="0" i="0">
                <a:solidFill>
                  <a:srgbClr val="1C1B19"/>
                </a:solidFill>
                <a:latin typeface="Source Serif 4"/>
              </a:rPr>
              <a:t>Watched by anyone</a:t>
            </a:r>
          </a:p>
          <a:p>
            <a:pPr algn="l">
              <a:spcAft>
                <a:spcPts val="855"/>
              </a:spcAft>
            </a:pPr>
            <a:r>
              <a:rPr sz="1900" b="0" i="0">
                <a:solidFill>
                  <a:srgbClr val="1C1B19"/>
                </a:solidFill>
                <a:latin typeface="Source Serif 4"/>
              </a:rPr>
              <a:t>A script you have to follow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TRY IT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Which would you open?</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ADVISORY, TUESDAY</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Your 9th graders have 25 minutes, and the group chat has been ugly all week.</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AFTER CLASS</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 student says they can't make themselves start anything and they're drowning.</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HEALTH CLASS</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Your unit on vaping starts next week.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WHERE TO BEGIN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If you're not sure where to start</a:t>
            </a:r>
          </a:p>
        </p:txBody>
      </p:sp>
      <p:sp>
        <p:nvSpPr>
          <p:cNvPr id="6" name="TextBox 5"/>
          <p:cNvSpPr txBox="1"/>
          <p:nvPr/>
        </p:nvSpPr>
        <p:spPr>
          <a:xfrm>
            <a:off x="822960" y="219456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Try the 9th-grade fall set.</a:t>
            </a:r>
          </a:p>
          <a:p>
            <a:pPr algn="l">
              <a:spcAft>
                <a:spcPts val="945"/>
              </a:spcAft>
            </a:pPr>
            <a:r>
              <a:rPr sz="1600" b="0" i="0">
                <a:solidFill>
                  <a:srgbClr val="5D5A54"/>
                </a:solidFill>
                <a:latin typeface="Source Serif 4"/>
              </a:rPr>
              <a:t>Six lessons that work well in order. Use them, mix them, or skip around.</a:t>
            </a:r>
          </a:p>
        </p:txBody>
      </p:sp>
      <p:sp>
        <p:nvSpPr>
          <p:cNvPr id="8" name="TextBox 7"/>
          <p:cNvSpPr txBox="1"/>
          <p:nvPr/>
        </p:nvSpPr>
        <p:spPr>
          <a:xfrm>
            <a:off x="822960" y="324612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8269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Pick one advisory lesson this month.</a:t>
            </a:r>
          </a:p>
          <a:p>
            <a:pPr algn="l">
              <a:spcAft>
                <a:spcPts val="945"/>
              </a:spcAft>
            </a:pPr>
            <a:r>
              <a:rPr sz="1600" b="0" i="0">
                <a:solidFill>
                  <a:srgbClr val="5D5A54"/>
                </a:solidFill>
                <a:latin typeface="Source Serif 4"/>
              </a:rPr>
              <a:t>Twenty minutes, with time to check in.</a:t>
            </a:r>
          </a:p>
        </p:txBody>
      </p:sp>
      <p:sp>
        <p:nvSpPr>
          <p:cNvPr id="10" name="TextBox 9"/>
          <p:cNvSpPr txBox="1"/>
          <p:nvPr/>
        </p:nvSpPr>
        <p:spPr>
          <a:xfrm>
            <a:off x="822960" y="4297679"/>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334255"/>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Ask us.</a:t>
            </a:r>
          </a:p>
          <a:p>
            <a:pPr algn="l">
              <a:spcAft>
                <a:spcPts val="945"/>
              </a:spcAft>
            </a:pPr>
            <a:r>
              <a:rPr sz="1600" b="0" i="0">
                <a:solidFill>
                  <a:srgbClr val="5D5A54"/>
                </a:solidFill>
                <a:latin typeface="Source Serif 4"/>
              </a:rPr>
              <a:t>Dr. Wilson or Ms. Garcia will help you pick or co-teach the first one.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Try one this month</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One lesson, one group. Tell us how it went.</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THE STUDENT TOOLKIT (BOOKMARK IT)</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https://rmwtoolkit.github.io/bcds-toolkit/toolkit.html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