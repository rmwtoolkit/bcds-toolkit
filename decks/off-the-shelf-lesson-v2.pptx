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"Most of you know these aren't harmless. Today is about how they cause harm, and how to read a label that's trying to sell you something."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stand for fact, sit for myth. Answers: 1, myth: in a 2021 series of 20 patients, the average B12 test looked normal even with spinal cord damage. 2, fact: it's called sudden sniffing death. 3, myth: it binds the same receptors as morphine and may be up to 13 times as potent. 4, fact: a New Jersey cluster found synthetic cannabinoids not on the label.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Dentists use nitrous mixed with oxygen, for minutes, with someone watching. Balloons are pure gas, often dozens in a night. Nitrous inactivates vitamin B12, which nerves need to keep their myelin coat in repair. The spinal cord's dorsal columns carry your sense of where your feet are; when they break down, people feel numbness and tingling in hands and feet, then walk unsteadily, especially in the dark. In the Sydney series, seven of 20 couldn't walk when they arrived, and most still had symptoms later. Ask: "Why might someone ignore tingling toes for weeks?"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 1970 report described 110 sudden deaths in young people who had been sniffing solvents and aerosols. Computer dusters, spray paint and lighter fluid also cut oxygen to the brain with every hit, so falls and head injuries are common. Gas from a nitrous tank or duster comes out freezing cold and can cause frostbite to the lips, mouth and throat. Practical rule: keep the person sitting, and don't chase or startle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Kratom comes from Southeast Asia. Regular use can bring dependence with flu-like withdrawal. 7-OH binds the same mu-opioid receptors as morphine. Tianeptine is sometimes called "gas station heroin." Then the family note: some adults use kratom for pain or to cut back on opioids, and the research is limited. If someone in a student's family does, the safest step is talking it through with a doctor, not judging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Small groups, one sheet each. Give them five minutes to list, five to rewrite and share. Points to draw out: "natural," "botanical" and "legal" are sales words. "Lab tested" doesn't say what for. "Not for human consumption" usually means "we don't want to be responsible." A pharmacy product is FDA-reviewed for safety and dose; a counter product usually isn't. Being on a shelf only means nobody has stopped it yet. Ask: "Which honest label would make people stop and think?"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IN PAIRS. Andre: tell him to sit down for a minute first. Most injuries happen when people stand, faint and fall. Lin: tell her you're worried and suggest a doctor. Feeling awful without it is dependence. Jordan: tingling is a warning sign. He should see a doctor soon and tell them what he's been using.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Share the take-home link on the slide. It has the nerve damage explanation, the label decoder, the warning signs, when to call 911, and who to talk to, including when it's a family member who uses.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Off the Shelf</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what nitrous, inhalants and opioid-like counter products do, and they practice reading past the label. Bring paper for the label rewrite, keep it about products rather than anyone's use, and remember some students have a family member who uses kratom for pain or recovery.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Some students have a parent or grandparent who uses kratom for pain or to get off pain pills; treat that adult with respect and point toward a doctor, never toward judgment.</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Myth or fact (4), nitrous and nerves (5), take apart the package (8), exit card (3).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OFF THE SHELF</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Off the Shelf</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Nitrous, dusters, kratom and the products by the register.</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normal B12 test means nitrous hasn't hurt your nerves.</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can die from sniffing a duster the first time.</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7-OH is just a stronger energy supplement.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Tianeptine products have held drugs not on the label.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NITROUS DOES DAMAGE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From balloon to numb feet</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Balloons</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B12 knocked out</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Myelin breaks down</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Signals scramble</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Numb, unsteady</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Damage shows up first in the spinal cord fibers that tell you where your feet 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DUSTERS AND THE HEART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 duster can stop a heart on the first try.</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The chemicals make the heart oversensitive to adrenaline. A scare or a chase can set off a fatal rhythm.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BEHIND THE COUNTER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Opioid effects, gas-station packaging</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THEY ARE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Kratom: a plant; stimulant at low doses, opioid-like higher</a:t>
            </a:r>
          </a:p>
          <a:p>
            <a:pPr algn="l">
              <a:spcAft>
                <a:spcPts val="855"/>
              </a:spcAft>
            </a:pPr>
            <a:r>
              <a:rPr sz="1900" b="0" i="0">
                <a:solidFill>
                  <a:srgbClr val="1C1B19"/>
                </a:solidFill>
                <a:latin typeface="Source Serif 4"/>
              </a:rPr>
              <a:t>7-OH: a kratom chemical concentrated in a lab</a:t>
            </a:r>
          </a:p>
          <a:p>
            <a:pPr algn="l">
              <a:spcAft>
                <a:spcPts val="855"/>
              </a:spcAft>
            </a:pPr>
            <a:r>
              <a:rPr sz="1900" b="0" i="0">
                <a:solidFill>
                  <a:srgbClr val="1C1B19"/>
                </a:solidFill>
                <a:latin typeface="Source Serif 4"/>
              </a:rPr>
              <a:t>Tianeptine: not approved for any use in the U.S.</a:t>
            </a:r>
          </a:p>
          <a:p>
            <a:pPr algn="l">
              <a:spcAft>
                <a:spcPts val="855"/>
              </a:spcAft>
            </a:pPr>
            <a:r>
              <a:rPr sz="1900" b="0" i="0">
                <a:solidFill>
                  <a:srgbClr val="1C1B19"/>
                </a:solidFill>
                <a:latin typeface="Source Serif 4"/>
              </a:rPr>
              <a:t>All three can cause dependence</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WHAT'S HAPPENED</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7-OH may be up to 13x as potent as morphine</a:t>
            </a:r>
          </a:p>
          <a:p>
            <a:pPr algn="l">
              <a:spcAft>
                <a:spcPts val="855"/>
              </a:spcAft>
            </a:pPr>
            <a:r>
              <a:rPr sz="1900" b="0" i="0">
                <a:solidFill>
                  <a:srgbClr val="1C1B19"/>
                </a:solidFill>
                <a:latin typeface="Source Serif 4"/>
              </a:rPr>
              <a:t>FDA recommended controlling 7-OH in 2025</a:t>
            </a:r>
          </a:p>
          <a:p>
            <a:pPr algn="l">
              <a:spcAft>
                <a:spcPts val="855"/>
              </a:spcAft>
            </a:pPr>
            <a:r>
              <a:rPr sz="1900" b="0" i="0">
                <a:solidFill>
                  <a:srgbClr val="1C1B19"/>
                </a:solidFill>
                <a:latin typeface="Source Serif 4"/>
              </a:rPr>
              <a:t>17 severe tianeptine illnesses in New Jersey</a:t>
            </a:r>
          </a:p>
          <a:p>
            <a:pPr algn="l">
              <a:spcAft>
                <a:spcPts val="855"/>
              </a:spcAft>
            </a:pPr>
            <a:r>
              <a:rPr sz="1900" b="0" i="0">
                <a:solidFill>
                  <a:srgbClr val="1C1B19"/>
                </a:solidFill>
                <a:latin typeface="Source Serif 4"/>
              </a:rPr>
              <a:t>Seven needed a breathing tube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TAKE APART THE PACKAGE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"All natural. Focus and calm. Lab tested. Not for human consumption."</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What does it want you to believe? What does it leave out? Who benefits? Then write an honest label.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ANDRE</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At a party, people pass balloons from a Galaxy Gas tank. He's done six and is getting up to walk to the kitchen.</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LIN</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coworker takes 7-OH tablets every day "for stress" and feels awful when she skips a day.</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JORDAN</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Does whippets most weekends. His toes have been tingling for a couple of weeks.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a one-line reply to a friend who says "it's legal, so it's fine."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https://rmwtoolkit.github.io/bcds-toolkit/off-the-shelf-high-school.html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Off the Shelf</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how nitrous damages nerves, why inhalants can stop a heart, and what kratom, 7-OH and tianeptine actually are. They practice reading past product marketing. Students whose family members use kratom for pain should feel respected.</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Paper for the honest-label rewrite, one per group</a:t>
            </a:r>
          </a:p>
          <a:p>
            <a:pPr algn="l">
              <a:spcAft>
                <a:spcPts val="675"/>
              </a:spcAft>
            </a:pPr>
            <a:r>
              <a:rPr sz="1500" b="0" i="0">
                <a:solidFill>
                  <a:srgbClr val="1C1B19"/>
                </a:solidFill>
                <a:latin typeface="Source Serif 4"/>
              </a:rPr>
              <a:t>Board space for the label breakdown</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How nitrous damages nerves</a:t>
            </a:r>
          </a:p>
          <a:p>
            <a:pPr algn="l">
              <a:spcAft>
                <a:spcPts val="630"/>
              </a:spcAft>
            </a:pPr>
            <a:r>
              <a:rPr sz="1300" b="1" i="0">
                <a:solidFill>
                  <a:srgbClr val="F47B20"/>
                </a:solidFill>
                <a:latin typeface="Inter Tight"/>
              </a:rPr>
              <a:t>5 min   </a:t>
            </a:r>
            <a:r>
              <a:rPr sz="1400" b="0" i="0">
                <a:solidFill>
                  <a:srgbClr val="1C1B19"/>
                </a:solidFill>
                <a:latin typeface="Source Serif 4"/>
              </a:rPr>
              <a:t>Dusters and the heart</a:t>
            </a:r>
          </a:p>
          <a:p>
            <a:pPr algn="l">
              <a:spcAft>
                <a:spcPts val="630"/>
              </a:spcAft>
            </a:pPr>
            <a:r>
              <a:rPr sz="1300" b="1" i="0">
                <a:solidFill>
                  <a:srgbClr val="F47B20"/>
                </a:solidFill>
                <a:latin typeface="Inter Tight"/>
              </a:rPr>
              <a:t>7 min   </a:t>
            </a:r>
            <a:r>
              <a:rPr sz="1400" b="0" i="0">
                <a:solidFill>
                  <a:srgbClr val="1C1B19"/>
                </a:solidFill>
                <a:latin typeface="Source Serif 4"/>
              </a:rPr>
              <a:t>Kratom, 7-OH and tianeptine</a:t>
            </a:r>
          </a:p>
          <a:p>
            <a:pPr algn="l">
              <a:spcAft>
                <a:spcPts val="630"/>
              </a:spcAft>
            </a:pPr>
            <a:r>
              <a:rPr sz="1300" b="1" i="0">
                <a:solidFill>
                  <a:srgbClr val="F47B20"/>
                </a:solidFill>
                <a:latin typeface="Inter Tight"/>
              </a:rPr>
              <a:t>10 min   </a:t>
            </a:r>
            <a:r>
              <a:rPr sz="1400" b="0" i="0">
                <a:solidFill>
                  <a:srgbClr val="1C1B19"/>
                </a:solidFill>
                <a:latin typeface="Source Serif 4"/>
              </a:rPr>
              <a:t>Take apart the package (small groups)</a:t>
            </a:r>
          </a:p>
          <a:p>
            <a:pPr algn="l">
              <a:spcAft>
                <a:spcPts val="630"/>
              </a:spcAft>
            </a:pPr>
            <a:r>
              <a:rPr sz="1300" b="1" i="0">
                <a:solidFill>
                  <a:srgbClr val="F47B20"/>
                </a:solidFill>
                <a:latin typeface="Inter Tight"/>
              </a:rPr>
              <a:t>5 min   </a:t>
            </a:r>
            <a:r>
              <a:rPr sz="1400" b="0" i="0">
                <a:solidFill>
                  <a:srgbClr val="1C1B19"/>
                </a:solidFill>
                <a:latin typeface="Source Serif 4"/>
              </a:rPr>
              <a:t>Three moments (pairs)</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(4), nitrous and nerves (5), take apart the package (8), exit card (3).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Keep it about products and claims.</a:t>
            </a:r>
          </a:p>
          <a:p>
            <a:pPr algn="l">
              <a:spcAft>
                <a:spcPts val="585"/>
              </a:spcAft>
            </a:pPr>
            <a:r>
              <a:rPr sz="1300" b="0" i="0">
                <a:solidFill>
                  <a:srgbClr val="1C1B19"/>
                </a:solidFill>
                <a:latin typeface="Source Serif 4"/>
              </a:rPr>
              <a:t>This lesson works as media literacy. Ask what the package wants you to believe, not who has tried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Respect family members who use kratom.</a:t>
            </a:r>
          </a:p>
          <a:p>
            <a:pPr algn="l">
              <a:spcAft>
                <a:spcPts val="585"/>
              </a:spcAft>
            </a:pPr>
            <a:r>
              <a:rPr sz="1300" b="0" i="0">
                <a:solidFill>
                  <a:srgbClr val="1C1B19"/>
                </a:solidFill>
                <a:latin typeface="Source Serif 4"/>
              </a:rPr>
              <a:t>Some adults use it to manage pain or cut back on opioids, and the research on that is limited. The safest step is talking it through with a doctor. Never make that adult sound foolish.</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Give the nerve warning plainly.</a:t>
            </a:r>
          </a:p>
          <a:p>
            <a:pPr algn="l">
              <a:spcAft>
                <a:spcPts val="585"/>
              </a:spcAft>
            </a:pPr>
            <a:r>
              <a:rPr sz="1300" b="0" i="0">
                <a:solidFill>
                  <a:srgbClr val="1C1B19"/>
                </a:solidFill>
                <a:latin typeface="Source Serif 4"/>
              </a:rPr>
              <a:t>Numbness, tingling, or weak or clumsy legs after nitrous means see a doctor soon. A normal B12 test doesn't rule out damage. Say it twice.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Teach "keep them sitting."</a:t>
            </a:r>
          </a:p>
          <a:p>
            <a:pPr algn="l">
              <a:spcAft>
                <a:spcPts val="585"/>
              </a:spcAft>
            </a:pPr>
            <a:r>
              <a:rPr sz="1300" b="0" i="0">
                <a:solidFill>
                  <a:srgbClr val="1C1B19"/>
                </a:solidFill>
                <a:latin typeface="Source Serif 4"/>
              </a:rPr>
              <a:t>Most inhalant injuries happen when people stand, faint and fall. Startling or chasing someone who's been sniffing can trigger a fatal heart rhythm.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the 911 signs.</a:t>
            </a:r>
          </a:p>
          <a:p>
            <a:pPr algn="l">
              <a:spcAft>
                <a:spcPts val="585"/>
              </a:spcAft>
            </a:pPr>
            <a:r>
              <a:rPr sz="1300" b="0" i="0">
                <a:solidFill>
                  <a:srgbClr val="1C1B19"/>
                </a:solidFill>
                <a:latin typeface="Source Serif 4"/>
              </a:rPr>
              <a:t>Won't wake up, slow or no breathing, blue lips, a seizure, chest pain, or a head injury. With kratom, 7-OH or tianeptine, give naloxone if you have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says they can't stop.</a:t>
            </a:r>
          </a:p>
          <a:p>
            <a:pPr algn="l">
              <a:spcAft>
                <a:spcPts val="585"/>
              </a:spcAft>
            </a:pPr>
            <a:r>
              <a:rPr sz="1300" b="0" i="0">
                <a:solidFill>
                  <a:srgbClr val="1C1B19"/>
                </a:solidFill>
                <a:latin typeface="Source Serif 4"/>
              </a:rPr>
              <a:t>Needing more, or feeling sick without it, is dependence. Thank them and connect them with the nurse or a counselor that day.</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use for pain or recovery.</a:t>
            </a:r>
          </a:p>
          <a:p>
            <a:pPr algn="l">
              <a:spcAft>
                <a:spcPts val="585"/>
              </a:spcAft>
            </a:pPr>
            <a:r>
              <a:rPr sz="1300" b="0" i="0">
                <a:solidFill>
                  <a:srgbClr val="1C1B19"/>
                </a:solidFill>
                <a:latin typeface="Source Serif 4"/>
              </a:rPr>
              <a:t>Kratom may be how a family member manages chronic pain or stays off pain pills. Students may feel protective. Keep the message "talk to a doctor" and leave the judgment out.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Work and money.</a:t>
            </a:r>
          </a:p>
          <a:p>
            <a:pPr algn="l">
              <a:spcAft>
                <a:spcPts val="585"/>
              </a:spcAft>
            </a:pPr>
            <a:r>
              <a:rPr sz="1300" b="0" i="0">
                <a:solidFill>
                  <a:srgbClr val="1C1B19"/>
                </a:solidFill>
                <a:latin typeface="Source Serif 4"/>
              </a:rPr>
              <a:t>Kratom shots get sold for getting through a double shift. Some students work long hours to help their families. Name the pressure as real while explaining the product.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Where products are sold.</a:t>
            </a:r>
          </a:p>
          <a:p>
            <a:pPr algn="l">
              <a:spcAft>
                <a:spcPts val="585"/>
              </a:spcAft>
            </a:pPr>
            <a:r>
              <a:rPr sz="1300" b="0" i="0">
                <a:solidFill>
                  <a:srgbClr val="1C1B19"/>
                </a:solidFill>
                <a:latin typeface="Source Serif 4"/>
              </a:rPr>
              <a:t>Smoke shops and gas stations cluster in some neighborhoods more than others. Talk about the marketing, not the neighborhood or the people who shop there.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Culture and plant medicine.</a:t>
            </a:r>
          </a:p>
          <a:p>
            <a:pPr algn="l">
              <a:spcAft>
                <a:spcPts val="585"/>
              </a:spcAft>
            </a:pPr>
            <a:r>
              <a:rPr sz="1300" b="0" i="0">
                <a:solidFill>
                  <a:srgbClr val="1C1B19"/>
                </a:solidFill>
                <a:latin typeface="Source Serif 4"/>
              </a:rPr>
              <a:t>Kratom is a traditional plant in parts of Southeast Asia. Separate the plant's history from concentrated lab products like 7-OH.</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on labels.</a:t>
            </a:r>
          </a:p>
          <a:p>
            <a:pPr algn="l">
              <a:spcAft>
                <a:spcPts val="585"/>
              </a:spcAft>
            </a:pPr>
            <a:r>
              <a:rPr sz="1300" b="0" i="0">
                <a:solidFill>
                  <a:srgbClr val="1C1B19"/>
                </a:solidFill>
                <a:latin typeface="Source Serif 4"/>
              </a:rPr>
              <a:t>For students or families who read English as a second language, "botanical" and "not for human consumption" may be confusing. Plain-language rewrites help everyone.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Mixed names and situations.</a:t>
            </a:r>
          </a:p>
          <a:p>
            <a:pPr algn="l">
              <a:spcAft>
                <a:spcPts val="585"/>
              </a:spcAft>
            </a:pPr>
            <a:r>
              <a:rPr sz="1300" b="0" i="0">
                <a:solidFill>
                  <a:srgbClr val="1C1B19"/>
                </a:solidFill>
                <a:latin typeface="Source Serif 4"/>
              </a:rPr>
              <a:t>Use the scenario names as written, and include coworkers and family as well as friends.</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Michigan saw 60 emergency room visits for nitrous oxide misuse in 2023, up from 7 in 2019. EMS calls rose from 15 to 78.</a:t>
            </a:r>
          </a:p>
          <a:p>
            <a:pPr algn="l">
              <a:spcAft>
                <a:spcPts val="585"/>
              </a:spcAft>
            </a:pPr>
            <a:r>
              <a:rPr sz="1050" b="0" i="0">
                <a:solidFill>
                  <a:srgbClr val="5D5A54"/>
                </a:solidFill>
                <a:latin typeface="Inter Tight"/>
              </a:rPr>
              <a:t>Vohra et al., CDC MMWR, 2025</a:t>
            </a:r>
          </a:p>
          <a:p>
            <a:pPr algn="l">
              <a:spcAft>
                <a:spcPts val="585"/>
              </a:spcAft>
            </a:pPr>
            <a:r>
              <a:rPr sz="1300" b="0" i="0">
                <a:solidFill>
                  <a:srgbClr val="1C1B19"/>
                </a:solidFill>
                <a:latin typeface="Source Serif 4"/>
              </a:rPr>
              <a:t>20 patients with nerve damage from nitrous (average age 24) all had spinal cord damage on MRI, seven couldn't walk on arrival, and their average B12 test looked normal.</a:t>
            </a:r>
          </a:p>
          <a:p>
            <a:pPr algn="l">
              <a:spcAft>
                <a:spcPts val="585"/>
              </a:spcAft>
            </a:pPr>
            <a:r>
              <a:rPr sz="1050" b="0" i="0">
                <a:solidFill>
                  <a:srgbClr val="5D5A54"/>
                </a:solidFill>
                <a:latin typeface="Inter Tight"/>
              </a:rPr>
              <a:t>Swart et al., European Journal of Neurology, 2021</a:t>
            </a:r>
          </a:p>
          <a:p>
            <a:pPr algn="l">
              <a:spcAft>
                <a:spcPts val="585"/>
              </a:spcAft>
            </a:pPr>
            <a:r>
              <a:rPr sz="1300" b="0" i="0">
                <a:solidFill>
                  <a:srgbClr val="1C1B19"/>
                </a:solidFill>
                <a:latin typeface="Source Serif 4"/>
              </a:rPr>
              <a:t>110 sudden deaths in young people who sniffed solvents and aerosols led to the term "sudden sniffing death"; the chemicals make the heart oversensitive to adrenaline.</a:t>
            </a:r>
          </a:p>
          <a:p>
            <a:pPr algn="l">
              <a:spcAft>
                <a:spcPts val="585"/>
              </a:spcAft>
            </a:pPr>
            <a:r>
              <a:rPr sz="1050" b="0" i="0">
                <a:solidFill>
                  <a:srgbClr val="5D5A54"/>
                </a:solidFill>
                <a:latin typeface="Inter Tight"/>
              </a:rPr>
              <a:t>Bass, JAMA, 1970</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17 people had severe illness after tianeptine products, mostly Neptune's Fix. Thirteen went to intensive care, seven needed a breathing tube, and the product held synthetic cannabinoids not on the label.</a:t>
            </a:r>
          </a:p>
          <a:p>
            <a:pPr algn="l">
              <a:spcAft>
                <a:spcPts val="585"/>
              </a:spcAft>
            </a:pPr>
            <a:r>
              <a:rPr sz="1050" b="0" i="0">
                <a:solidFill>
                  <a:srgbClr val="5D5A54"/>
                </a:solidFill>
                <a:latin typeface="Inter Tight"/>
              </a:rPr>
              <a:t>Counts et al., CDC MMWR, 2024</a:t>
            </a:r>
          </a:p>
          <a:p>
            <a:pPr algn="l">
              <a:spcAft>
                <a:spcPts val="585"/>
              </a:spcAft>
            </a:pPr>
            <a:r>
              <a:rPr sz="1300" b="0" i="0">
                <a:solidFill>
                  <a:srgbClr val="1C1B19"/>
                </a:solidFill>
                <a:latin typeface="Source Serif 4"/>
              </a:rPr>
              <a:t>The FDA warned people not to inhale flavored nitrous products like Galaxy Gas in March 2025, after a rise in injury reports.</a:t>
            </a:r>
          </a:p>
          <a:p>
            <a:pPr algn="l">
              <a:spcAft>
                <a:spcPts val="585"/>
              </a:spcAft>
            </a:pPr>
            <a:r>
              <a:rPr sz="1050" b="0" i="0">
                <a:solidFill>
                  <a:srgbClr val="5D5A54"/>
                </a:solidFill>
                <a:latin typeface="Inter Tight"/>
              </a:rPr>
              <a:t>U.S. Food and Drug Administration, 2025</a:t>
            </a:r>
          </a:p>
          <a:p>
            <a:pPr algn="l">
              <a:spcAft>
                <a:spcPts val="585"/>
              </a:spcAft>
            </a:pPr>
            <a:r>
              <a:rPr sz="1300" b="0" i="0">
                <a:solidFill>
                  <a:srgbClr val="1C1B19"/>
                </a:solidFill>
                <a:latin typeface="Source Serif 4"/>
              </a:rPr>
              <a:t>In July 2025 the FDA recommended making 7-OH, a concentrated kratom chemical that binds the same receptors as morphine, a controlled substance.</a:t>
            </a:r>
          </a:p>
          <a:p>
            <a:pPr algn="l">
              <a:spcAft>
                <a:spcPts val="585"/>
              </a:spcAft>
            </a:pPr>
            <a:r>
              <a:rPr sz="1050" b="0" i="0">
                <a:solidFill>
                  <a:srgbClr val="5D5A54"/>
                </a:solidFill>
                <a:latin typeface="Inter Tight"/>
              </a:rPr>
              <a:t>U.S. Food and Drug Administration,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