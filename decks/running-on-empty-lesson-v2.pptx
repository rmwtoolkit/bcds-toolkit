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FIRST 5 MINUTES. Open plainly. Something like: "You've heard 'go to bed earlier' plenty of times. Today is about what's going on inside your head, and what you can change even when your schedule isn't fully yours."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the scraps and tally out loud on the board: under 6, 6 to 7, 7 to 8, 8 or more. Then share the recommendation for ages 13 to 18 (8 to 10 hours) and the national number: about 77% of high schoolers got less than 8 on school nights in 2023. If your room looks better than that, say so honestly. Don't comment on any single scrap, and don't let students guess whose is whose.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Talking points: a small cluster of cells in the hypothalamus (the master clock) sets your daily rhythm, mostly from light coming in through your eyes. When it says evening, the pineal gland releases melatonin. In puberty that release starts later. The 1998 Carskadon study: 10th graders with a 7:20 start took morning nap tests, and 12 of 25 fell straight into dream sleep, a pattern sleep doctors usually see in narcolepsy. Their brains thought it was still the middle of the night. Ask: "So is being tired at 7am a sign you're lazy?" (No. Your clock shifted. School start times didn't.) Mention Seattle if students ask about start times: a later start meant about 34 more minutes of sleep and better grades.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Walk through each. Memory: the hippocampus files the day into long-term memory while you sleep. Mood: the amygdala gets louder and the prefrontal cortex, the brakes, gets a weaker connection to it. That's the shorter fuse. Ask: "Ever snapped at someone and later couldn't say why?" Safety: most 9th graders don't drive yet, but they ride with people who do. Windows down and loud music don't fix drowsiness.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The Van Dongen study: adults on 6 hours a night for two weeks kept getting worse on attention and memory tests, but after a few days they stopped feeling sleepier. Ask: "Why is that a problem?" (You can't trust the feeling of being fine.) This is the answer to "I've trained myself to need less."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Draw it on the board. Ask: "Where could you break this loop?" Expect: sleep in a bit but not until the afternoon, get outside in the morning, go easy on the phone Sunday night. The rule of thumb is to keep weekend wake-ups within about two hours of school days. If a student says weekends are the only time they rest, agree that rest matters and point to a nap with a plan (about 20 minutes, before mid-afternoon).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Light moves the clock: morning light pulls it earlier, bright screens late push it later. Caffeine: in a sleep lab study, caffeine 6 hours before bed still cost about an hour of sleep and people didn't notice. That includes energy drinks, soda and iced coffee. Phone: if it's their alarm or they share a room, across the room on Do Not Disturb works. All four are free. If a student says "I can't control any of this," ask which one is closest to possible.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One card per group, then report back. Dev: move the hardest homework into any gap before 10 (study hall, the bus, while his brothers eat), and talk to his coach or a teacher about the load. He can't change his mom's shift, and that's nobody's fault. An energy drink at 10:30 or sleeping until noon Saturday makes it worse. Amara: 20 to 30 minutes on the unit most likely to be on the test, then sleep. Her hippocampus files what she studied overnight. Luis: say something, and get a different ride on short-sleep mornings. Calling a parent, caregiver or the coach is the adult move. Coffee and loud music don't fix drowsy driving. Keep Dev's family situation respectful: lots of families need older kids to help.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Students do this on their card. Example: up at 6:30 means asleep around 9:30, winding down by 8:30. Expect groans; that's fine. The point is to see the gap, even on nights you won't close it. Add a private question: "What does a school night look like at your place?" Nobody shares. Families run on different clocks, and some students have little say over theirs.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Collect anonymously if you want to see what the room picked. Share the take-home link on the slide (post it on your class page too). It has the levers, tools for nights that go sideways, a private check-in, and who to talk to. Remind students that a counselor or the school nurse can help if sleep has been rough for weeks.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Running on Empty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their sleep clock shifts later in puberty, name what a short night costs (memory, mood, judgment, safety), and pick one lever they control, like morning light, a wake-up anchor, a caffeine cutoff, or the phone's bedtime. Nobody should leave feeling lectured about being lazy.</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Scrap paper or index cards, one per student</a:t>
            </a:r>
          </a:p>
          <a:p>
            <a:pPr algn="l">
              <a:spcAft>
                <a:spcPts val="675"/>
              </a:spcAft>
            </a:pPr>
            <a:r>
              <a:rPr sz="1500" b="0" i="0">
                <a:solidFill>
                  <a:srgbClr val="1C1B19"/>
                </a:solidFill>
                <a:latin typeface="Source Serif 4"/>
              </a:rPr>
              <a:t>Board space for the weekend loop</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Last night's sleep (anonymous tally)</a:t>
            </a:r>
          </a:p>
          <a:p>
            <a:pPr algn="l">
              <a:spcAft>
                <a:spcPts val="630"/>
              </a:spcAft>
            </a:pPr>
            <a:r>
              <a:rPr sz="1300" b="1" i="0">
                <a:solidFill>
                  <a:srgbClr val="F47B20"/>
                </a:solidFill>
                <a:latin typeface="Inter Tight"/>
              </a:rPr>
              <a:t>7 min   </a:t>
            </a:r>
            <a:r>
              <a:rPr sz="1400" b="0" i="0">
                <a:solidFill>
                  <a:srgbClr val="1C1B19"/>
                </a:solidFill>
                <a:latin typeface="Source Serif 4"/>
              </a:rPr>
              <a:t>Your clock really did move</a:t>
            </a:r>
          </a:p>
          <a:p>
            <a:pPr algn="l">
              <a:spcAft>
                <a:spcPts val="630"/>
              </a:spcAft>
            </a:pPr>
            <a:r>
              <a:rPr sz="1300" b="1" i="0">
                <a:solidFill>
                  <a:srgbClr val="F47B20"/>
                </a:solidFill>
                <a:latin typeface="Inter Tight"/>
              </a:rPr>
              <a:t>8 min   </a:t>
            </a:r>
            <a:r>
              <a:rPr sz="1400" b="0" i="0">
                <a:solidFill>
                  <a:srgbClr val="1C1B19"/>
                </a:solidFill>
                <a:latin typeface="Source Serif 4"/>
              </a:rPr>
              <a:t>What a short night costs, and why you stop noticing</a:t>
            </a:r>
          </a:p>
          <a:p>
            <a:pPr algn="l">
              <a:spcAft>
                <a:spcPts val="630"/>
              </a:spcAft>
            </a:pPr>
            <a:r>
              <a:rPr sz="1300" b="1" i="0">
                <a:solidFill>
                  <a:srgbClr val="F47B20"/>
                </a:solidFill>
                <a:latin typeface="Inter Tight"/>
              </a:rPr>
              <a:t>5 min   </a:t>
            </a:r>
            <a:r>
              <a:rPr sz="1400" b="0" i="0">
                <a:solidFill>
                  <a:srgbClr val="1C1B19"/>
                </a:solidFill>
                <a:latin typeface="Source Serif 4"/>
              </a:rPr>
              <a:t>The weekend loop</a:t>
            </a:r>
          </a:p>
          <a:p>
            <a:pPr algn="l">
              <a:spcAft>
                <a:spcPts val="630"/>
              </a:spcAft>
            </a:pPr>
            <a:r>
              <a:rPr sz="1300" b="1" i="0">
                <a:solidFill>
                  <a:srgbClr val="F47B20"/>
                </a:solidFill>
                <a:latin typeface="Inter Tight"/>
              </a:rPr>
              <a:t>5 min   </a:t>
            </a:r>
            <a:r>
              <a:rPr sz="1400" b="0" i="0">
                <a:solidFill>
                  <a:srgbClr val="1C1B19"/>
                </a:solidFill>
                <a:latin typeface="Source Serif 4"/>
              </a:rPr>
              <a:t>The levers you control</a:t>
            </a:r>
          </a:p>
          <a:p>
            <a:pPr algn="l">
              <a:spcAft>
                <a:spcPts val="630"/>
              </a:spcAft>
            </a:pPr>
            <a:r>
              <a:rPr sz="1300" b="1" i="0">
                <a:solidFill>
                  <a:srgbClr val="F47B20"/>
                </a:solidFill>
                <a:latin typeface="Inter Tight"/>
              </a:rPr>
              <a:t>8 min   </a:t>
            </a:r>
            <a:r>
              <a:rPr sz="1400" b="0" i="0">
                <a:solidFill>
                  <a:srgbClr val="1C1B19"/>
                </a:solidFill>
                <a:latin typeface="Source Serif 4"/>
              </a:rPr>
              <a:t>Three tired students (small groups)</a:t>
            </a:r>
          </a:p>
          <a:p>
            <a:pPr algn="l">
              <a:spcAft>
                <a:spcPts val="630"/>
              </a:spcAft>
            </a:pPr>
            <a:r>
              <a:rPr sz="1300" b="1" i="0">
                <a:solidFill>
                  <a:srgbClr val="F47B20"/>
                </a:solidFill>
                <a:latin typeface="Inter Tight"/>
              </a:rPr>
              <a:t>4 min   </a:t>
            </a:r>
            <a:r>
              <a:rPr sz="1400" b="0" i="0">
                <a:solidFill>
                  <a:srgbClr val="1C1B19"/>
                </a:solidFill>
                <a:latin typeface="Source Serif 4"/>
              </a:rPr>
              <a:t>Work backward from your alarm (private)</a:t>
            </a:r>
          </a:p>
          <a:p>
            <a:pPr algn="l">
              <a:spcAft>
                <a:spcPts val="630"/>
              </a:spcAft>
            </a:pPr>
            <a:r>
              <a:rPr sz="1300" b="1" i="0">
                <a:solidFill>
                  <a:srgbClr val="F47B20"/>
                </a:solidFill>
                <a:latin typeface="Inter Tight"/>
              </a:rPr>
              <a:t>3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Anonymous tally (4), your clock moved and what it costs (6), one of the three tired students (5), work backward from your alarm and the exit card (5).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Never rank sleep.</a:t>
            </a:r>
          </a:p>
          <a:p>
            <a:pPr algn="l">
              <a:spcAft>
                <a:spcPts val="585"/>
              </a:spcAft>
            </a:pPr>
            <a:r>
              <a:rPr sz="1300" b="0" i="0">
                <a:solidFill>
                  <a:srgbClr val="1C1B19"/>
                </a:solidFill>
                <a:latin typeface="Source Serif 4"/>
              </a:rPr>
              <a:t>Keep the hours tally anonymous. Don't praise the student who sleeps nine hours or joke about the one who sleeps four. Some students are proud of how little they sleep, and some are embarrassed. Both can stay private.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Many schedules aren't the student's to set.</a:t>
            </a:r>
          </a:p>
          <a:p>
            <a:pPr algn="l">
              <a:spcAft>
                <a:spcPts val="585"/>
              </a:spcAft>
            </a:pPr>
            <a:r>
              <a:rPr sz="1300" b="0" i="0">
                <a:solidFill>
                  <a:srgbClr val="1C1B19"/>
                </a:solidFill>
                <a:latin typeface="Source Serif 4"/>
              </a:rPr>
              <a:t>Practice, a job, a long bus ride, siblings to watch, a shared room, a parent working nights. Present every tool as something to try within what they control. Blaming a student for a schedule the family needs will close the conversation fast.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recommend melatonin or pills.</a:t>
            </a:r>
          </a:p>
          <a:p>
            <a:pPr algn="l">
              <a:spcAft>
                <a:spcPts val="585"/>
              </a:spcAft>
            </a:pPr>
            <a:r>
              <a:rPr sz="1300" b="0" i="0">
                <a:solidFill>
                  <a:srgbClr val="1C1B19"/>
                </a:solidFill>
                <a:latin typeface="Source Serif 4"/>
              </a:rPr>
              <a:t>If students ask, the answer is: it's a timing signal, gummies vary a lot from the label, and a doctor or the school nurse should weigh in first. Don't suggest doses.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Rides are a safety topic for 9th graders.</a:t>
            </a:r>
          </a:p>
          <a:p>
            <a:pPr algn="l">
              <a:spcAft>
                <a:spcPts val="585"/>
              </a:spcAft>
            </a:pPr>
            <a:r>
              <a:rPr sz="1300" b="0" i="0">
                <a:solidFill>
                  <a:srgbClr val="1C1B19"/>
                </a:solidFill>
                <a:latin typeface="Source Serif 4"/>
              </a:rPr>
              <a:t>Most 9th graders don't drive, but they ride with older teammates, siblings or parents who may be short on sleep. Make it clear that asking for a different ride is reasonable, and that calling a parent, caregiver or coach for one is a smart move.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sleep trouble is something more.</a:t>
            </a:r>
          </a:p>
          <a:p>
            <a:pPr algn="l">
              <a:spcAft>
                <a:spcPts val="585"/>
              </a:spcAft>
            </a:pPr>
            <a:r>
              <a:rPr sz="1300" b="0" i="0">
                <a:solidFill>
                  <a:srgbClr val="1C1B19"/>
                </a:solidFill>
                <a:latin typeface="Source Serif 4"/>
              </a:rPr>
              <a:t>Weeks of not sleeping, exhaustion after a full night, loud snoring or gasping, or worry and sadness that keep a student up are worth a quiet word afterward and a walk to the nurse or a counselor. Don't ask about mood or safety in front of the class. If something comes up, pass it to a counselor that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something at home is keeping a student awake.</a:t>
            </a:r>
          </a:p>
          <a:p>
            <a:pPr algn="l">
              <a:spcAft>
                <a:spcPts val="585"/>
              </a:spcAft>
            </a:pPr>
            <a:r>
              <a:rPr sz="1300" b="0" i="0">
                <a:solidFill>
                  <a:srgbClr val="1C1B19"/>
                </a:solidFill>
                <a:latin typeface="Source Serif 4"/>
              </a:rPr>
              <a:t>Most of the time it's ordinary (a late dinner, a loud house). If a student hints that home isn't safe at night, thank them, don't press for details, and bring in a counselor that day.</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Who keeps the house running at night.</a:t>
            </a:r>
          </a:p>
          <a:p>
            <a:pPr algn="l">
              <a:spcAft>
                <a:spcPts val="585"/>
              </a:spcAft>
            </a:pPr>
            <a:r>
              <a:rPr sz="1300" b="0" i="0">
                <a:solidFill>
                  <a:srgbClr val="1C1B19"/>
                </a:solidFill>
                <a:latin typeface="Source Serif 4"/>
              </a:rPr>
              <a:t>Students live with one parent, two, a grandparent, foster or kinship caregivers, or move between homes. Some get younger siblings to bed while a parent or caregiver works. Say "the adults at home" and keep the "what does a school night look like at your place?" question private.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Work, money and space.</a:t>
            </a:r>
          </a:p>
          <a:p>
            <a:pPr algn="l">
              <a:spcAft>
                <a:spcPts val="585"/>
              </a:spcAft>
            </a:pPr>
            <a:r>
              <a:rPr sz="1300" b="0" i="0">
                <a:solidFill>
                  <a:srgbClr val="1C1B19"/>
                </a:solidFill>
                <a:latin typeface="Source Serif 4"/>
              </a:rPr>
              <a:t>Some 9th graders babysit, help with a family business, or share a bedroom. Every lever in this lesson is free: morning light, a steady wake-up time, a caffeine cutoff, the phone across the room. A fan or earplugs help in a shared room. Don't suggest buying anything.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rhythms vary.</a:t>
            </a:r>
          </a:p>
          <a:p>
            <a:pPr algn="l">
              <a:spcAft>
                <a:spcPts val="585"/>
              </a:spcAft>
            </a:pPr>
            <a:r>
              <a:rPr sz="1300" b="0" i="0">
                <a:solidFill>
                  <a:srgbClr val="1C1B19"/>
                </a:solidFill>
                <a:latin typeface="Source Serif 4"/>
              </a:rPr>
              <a:t>Dinner at 6 or at 9, tea or coffee at the table, a busy house late at night: norms differ from home to home. Treat every rhythm as normal and ask what students' own nights look like. Avoid "In X families" generalizations.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can shape the clock.</a:t>
            </a:r>
          </a:p>
          <a:p>
            <a:pPr algn="l">
              <a:spcAft>
                <a:spcPts val="585"/>
              </a:spcAft>
            </a:pPr>
            <a:r>
              <a:rPr sz="1300" b="0" i="0">
                <a:solidFill>
                  <a:srgbClr val="1C1B19"/>
                </a:solidFill>
                <a:latin typeface="Source Serif 4"/>
              </a:rPr>
              <a:t>Some students rise early or stay up for prayer, attend religious school after school, or fast during parts of the year. Treat those as part of the schedule they plan around. Prayer, meditation, or whatever grounds you can be a good wind-down.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Bodies and brains sleep differently.</a:t>
            </a:r>
          </a:p>
          <a:p>
            <a:pPr algn="l">
              <a:spcAft>
                <a:spcPts val="585"/>
              </a:spcAft>
            </a:pPr>
            <a:r>
              <a:rPr sz="1300" b="0" i="0">
                <a:solidFill>
                  <a:srgbClr val="1C1B19"/>
                </a:solidFill>
                <a:latin typeface="Source Serif 4"/>
              </a:rPr>
              <a:t>Students with ADHD, autism, anxiety, a chronic illness, or medications may have a harder time with sleep. Some need a certain sound, darkness or routine. A student who dozes in class needs a check-in with the nurse or a counselor before any discipline.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and time zones.</a:t>
            </a:r>
          </a:p>
          <a:p>
            <a:pPr algn="l">
              <a:spcAft>
                <a:spcPts val="585"/>
              </a:spcAft>
            </a:pPr>
            <a:r>
              <a:rPr sz="1300" b="0" i="0">
                <a:solidFill>
                  <a:srgbClr val="1C1B19"/>
                </a:solidFill>
                <a:latin typeface="Source Serif 4"/>
              </a:rPr>
              <a:t>Some students translate for family in the evening or call relatives in other countries late at night. That time matters. The take-home sheet is in plain language a student can share at home.</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1998 study of 10th graders whose school started at 7:20, 12 of 25 fell straight into dream (REM) sleep on morning nap tests, a pattern usually seen in narcolepsy. During puberty, melatonin release starts later at night.</a:t>
            </a:r>
          </a:p>
          <a:p>
            <a:pPr algn="l">
              <a:spcAft>
                <a:spcPts val="585"/>
              </a:spcAft>
            </a:pPr>
            <a:r>
              <a:rPr sz="1050" b="0" i="0">
                <a:solidFill>
                  <a:srgbClr val="5D5A54"/>
                </a:solidFill>
                <a:latin typeface="Inter Tight"/>
              </a:rPr>
              <a:t>Carskadon et al., Sleep, 1998</a:t>
            </a:r>
          </a:p>
          <a:p>
            <a:pPr algn="l">
              <a:spcAft>
                <a:spcPts val="585"/>
              </a:spcAft>
            </a:pPr>
            <a:r>
              <a:rPr sz="1300" b="0" i="0">
                <a:solidFill>
                  <a:srgbClr val="1C1B19"/>
                </a:solidFill>
                <a:latin typeface="Source Serif 4"/>
              </a:rPr>
              <a:t>Teens ages 13 to 18 need 8 to 10 hours of sleep. In 2023, about 77% of U.S. high school students got less than 8 hours on a typical school night.</a:t>
            </a:r>
          </a:p>
          <a:p>
            <a:pPr algn="l">
              <a:spcAft>
                <a:spcPts val="585"/>
              </a:spcAft>
            </a:pPr>
            <a:r>
              <a:rPr sz="1050" b="0" i="0">
                <a:solidFill>
                  <a:srgbClr val="5D5A54"/>
                </a:solidFill>
                <a:latin typeface="Inter Tight"/>
              </a:rPr>
              <a:t>American Academy of Sleep Medicine (Paruthi et al., 2016); CDC Youth Risk Behavior Survey, 2023</a:t>
            </a:r>
          </a:p>
          <a:p>
            <a:pPr algn="l">
              <a:spcAft>
                <a:spcPts val="585"/>
              </a:spcAft>
            </a:pPr>
            <a:r>
              <a:rPr sz="1300" b="0" i="0">
                <a:solidFill>
                  <a:srgbClr val="1C1B19"/>
                </a:solidFill>
                <a:latin typeface="Source Serif 4"/>
              </a:rPr>
              <a:t>When Seattle moved high school start times from 7:50 to 8:45, students got about 34 more minutes of sleep a night and median grades rose 4.5%. One district, not a randomized trial.</a:t>
            </a:r>
          </a:p>
          <a:p>
            <a:pPr algn="l">
              <a:spcAft>
                <a:spcPts val="585"/>
              </a:spcAft>
            </a:pPr>
            <a:r>
              <a:rPr sz="1050" b="0" i="0">
                <a:solidFill>
                  <a:srgbClr val="5D5A54"/>
                </a:solidFill>
                <a:latin typeface="Inter Tight"/>
              </a:rPr>
              <a:t>Dunster et al., Science Advances, 2018</a:t>
            </a:r>
          </a:p>
          <a:p>
            <a:pPr algn="l">
              <a:spcAft>
                <a:spcPts val="585"/>
              </a:spcAft>
            </a:pPr>
            <a:r>
              <a:rPr sz="1300" b="0" i="0">
                <a:solidFill>
                  <a:srgbClr val="1C1B19"/>
                </a:solidFill>
                <a:latin typeface="Source Serif 4"/>
              </a:rPr>
              <a:t>People kept awake all night were up to 40% worse at forming new memories the next day, with less hippocampus activity.</a:t>
            </a:r>
          </a:p>
          <a:p>
            <a:pPr algn="l">
              <a:spcAft>
                <a:spcPts val="585"/>
              </a:spcAft>
            </a:pPr>
            <a:r>
              <a:rPr sz="1050" b="0" i="0">
                <a:solidFill>
                  <a:srgbClr val="5D5A54"/>
                </a:solidFill>
                <a:latin typeface="Inter Tight"/>
              </a:rPr>
              <a:t>Yoo et al., Nature Neuroscience, 2007 (Harvard)</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After a night without sleep, the amygdala reacted about 60% more strongly to upsetting images, and its connection to the prefrontal cortex weakened.</a:t>
            </a:r>
          </a:p>
          <a:p>
            <a:pPr algn="l">
              <a:spcAft>
                <a:spcPts val="585"/>
              </a:spcAft>
            </a:pPr>
            <a:r>
              <a:rPr sz="1050" b="0" i="0">
                <a:solidFill>
                  <a:srgbClr val="5D5A54"/>
                </a:solidFill>
                <a:latin typeface="Inter Tight"/>
              </a:rPr>
              <a:t>Yoo et al., Current Biology, 2007</a:t>
            </a:r>
          </a:p>
          <a:p>
            <a:pPr algn="l">
              <a:spcAft>
                <a:spcPts val="585"/>
              </a:spcAft>
            </a:pPr>
            <a:r>
              <a:rPr sz="1300" b="0" i="0">
                <a:solidFill>
                  <a:srgbClr val="1C1B19"/>
                </a:solidFill>
                <a:latin typeface="Source Serif 4"/>
              </a:rPr>
              <a:t>Adults on 6 hours a night for two weeks kept getting worse on attention and memory tests, while their sense of sleepiness leveled off after a few days.</a:t>
            </a:r>
          </a:p>
          <a:p>
            <a:pPr algn="l">
              <a:spcAft>
                <a:spcPts val="585"/>
              </a:spcAft>
            </a:pPr>
            <a:r>
              <a:rPr sz="1050" b="0" i="0">
                <a:solidFill>
                  <a:srgbClr val="5D5A54"/>
                </a:solidFill>
                <a:latin typeface="Inter Tight"/>
              </a:rPr>
              <a:t>Van Dongen et al., Sleep, 2003</a:t>
            </a:r>
          </a:p>
          <a:p>
            <a:pPr algn="l">
              <a:spcAft>
                <a:spcPts val="585"/>
              </a:spcAft>
            </a:pPr>
            <a:r>
              <a:rPr sz="1300" b="0" i="0">
                <a:solidFill>
                  <a:srgbClr val="1C1B19"/>
                </a:solidFill>
                <a:latin typeface="Source Serif 4"/>
              </a:rPr>
              <a:t>Caffeine taken 6 hours before bed still cost people about an hour of sleep, and they didn't notice.</a:t>
            </a:r>
          </a:p>
          <a:p>
            <a:pPr algn="l">
              <a:spcAft>
                <a:spcPts val="585"/>
              </a:spcAft>
            </a:pPr>
            <a:r>
              <a:rPr sz="1050" b="0" i="0">
                <a:solidFill>
                  <a:srgbClr val="5D5A54"/>
                </a:solidFill>
                <a:latin typeface="Inter Tight"/>
              </a:rPr>
              <a:t>Drake et al., Journal of Clinical Sleep Medicine, 2013</a:t>
            </a:r>
          </a:p>
          <a:p>
            <a:pPr algn="l">
              <a:spcAft>
                <a:spcPts val="585"/>
              </a:spcAft>
            </a:pPr>
            <a:r>
              <a:rPr sz="1300" b="0" i="0">
                <a:solidFill>
                  <a:srgbClr val="1C1B19"/>
                </a:solidFill>
                <a:latin typeface="Source Serif 4"/>
              </a:rPr>
              <a:t>Drivers who slept 4 to 5 hours had about 4 times the crash rate of those who slept 7 or more; under 4 hours, about 11 times. Melatonin gummies held 74% to 347% of the labeled dose.</a:t>
            </a:r>
          </a:p>
          <a:p>
            <a:pPr algn="l">
              <a:spcAft>
                <a:spcPts val="585"/>
              </a:spcAft>
            </a:pPr>
            <a:r>
              <a:rPr sz="1050" b="0" i="0">
                <a:solidFill>
                  <a:srgbClr val="5D5A54"/>
                </a:solidFill>
                <a:latin typeface="Inter Tight"/>
              </a:rPr>
              <a:t>Tefft, Sleep, 2018 (AAA Foundation); Cohen et al., JAMA, 2023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RUNNING ON EMPTY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Running on Empty</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Wired at midnight. Wrecked at 7.</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QUICK TALLY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How many hours did you sleep last night?</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a number on your scrap. No names. Fold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THIS IS BIOLOGY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Your clock really did move.</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In puberty, your brain sends its sleepy signal later at night. That's why you're not tired at 10 anymore.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A SHORT NIGHT COSTS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 tired brain on a school day</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Memory</a:t>
            </a:r>
          </a:p>
          <a:p>
            <a:pPr algn="l">
              <a:spcAft>
                <a:spcPts val="945"/>
              </a:spcAft>
            </a:pPr>
            <a:r>
              <a:rPr sz="1600" b="0" i="0">
                <a:solidFill>
                  <a:srgbClr val="5D5A54"/>
                </a:solidFill>
                <a:latin typeface="Source Serif 4"/>
              </a:rPr>
              <a:t>Up to 40% worse at learning new things after an all-nighter.</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Mood</a:t>
            </a:r>
          </a:p>
          <a:p>
            <a:pPr algn="l">
              <a:spcAft>
                <a:spcPts val="945"/>
              </a:spcAft>
            </a:pPr>
            <a:r>
              <a:rPr sz="1600" b="0" i="0">
                <a:solidFill>
                  <a:srgbClr val="5D5A54"/>
                </a:solidFill>
                <a:latin typeface="Source Serif 4"/>
              </a:rPr>
              <a:t>The threat detector reacted about 60% more strongly.</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Judgment</a:t>
            </a:r>
          </a:p>
          <a:p>
            <a:pPr algn="l">
              <a:spcAft>
                <a:spcPts val="945"/>
              </a:spcAft>
            </a:pPr>
            <a:r>
              <a:rPr sz="1600" b="0" i="0">
                <a:solidFill>
                  <a:srgbClr val="5D5A54"/>
                </a:solidFill>
                <a:latin typeface="Source Serif 4"/>
              </a:rPr>
              <a:t>Focus and patience are among the first to fade.</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Safety</a:t>
            </a:r>
          </a:p>
          <a:p>
            <a:pPr algn="l">
              <a:spcAft>
                <a:spcPts val="945"/>
              </a:spcAft>
            </a:pPr>
            <a:r>
              <a:rPr sz="1600" b="0" i="0">
                <a:solidFill>
                  <a:srgbClr val="5D5A54"/>
                </a:solidFill>
                <a:latin typeface="Source Serif 4"/>
              </a:rPr>
              <a:t>4 to 5 hours of sleep: about 4 times the crash 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SNEAKY PART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You stop noticing.</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On 6 hours a night, people felt used to it after a few days. Their test scores kept dropping.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WEEKEND LOOP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Why Monday feels like jet lag</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Late Friday</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Sleep until 1</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Clock shifts later</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Wide awake Sunday</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Wrecked Monday</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A little extra sleep helps. Sleeping into the afternoon is like flying a few time zones west.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LEVERS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What you control, even when your schedule doesn't bend</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Morning light.</a:t>
            </a:r>
          </a:p>
          <a:p>
            <a:pPr algn="l">
              <a:spcAft>
                <a:spcPts val="945"/>
              </a:spcAft>
            </a:pPr>
            <a:r>
              <a:rPr sz="1600" b="0" i="0">
                <a:solidFill>
                  <a:srgbClr val="5D5A54"/>
                </a:solidFill>
                <a:latin typeface="Source Serif 4"/>
              </a:rPr>
              <a:t>Outside if you can, in the first hour after waking.</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wake-up anchor.</a:t>
            </a:r>
          </a:p>
          <a:p>
            <a:pPr algn="l">
              <a:spcAft>
                <a:spcPts val="945"/>
              </a:spcAft>
            </a:pPr>
            <a:r>
              <a:rPr sz="1600" b="0" i="0">
                <a:solidFill>
                  <a:srgbClr val="5D5A54"/>
                </a:solidFill>
                <a:latin typeface="Source Serif 4"/>
              </a:rPr>
              <a:t>Weekends within about two hours of school days.</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caffeine cutoff.</a:t>
            </a:r>
          </a:p>
          <a:p>
            <a:pPr algn="l">
              <a:spcAft>
                <a:spcPts val="945"/>
              </a:spcAft>
            </a:pPr>
            <a:r>
              <a:rPr sz="1600" b="0" i="0">
                <a:solidFill>
                  <a:srgbClr val="5D5A54"/>
                </a:solidFill>
                <a:latin typeface="Source Serif 4"/>
              </a:rPr>
              <a:t>Stop by early afternoon. It lasts longer than you feel.</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phone's bedtime.</a:t>
            </a:r>
          </a:p>
          <a:p>
            <a:pPr algn="l">
              <a:spcAft>
                <a:spcPts val="945"/>
              </a:spcAft>
            </a:pPr>
            <a:r>
              <a:rPr sz="1600" b="0" i="0">
                <a:solidFill>
                  <a:srgbClr val="5D5A54"/>
                </a:solidFill>
                <a:latin typeface="Source Serif 4"/>
              </a:rPr>
              <a:t>Charge it outside your room, or across it on Do Not Disturb.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TIRED STUDENTS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the smart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DEV</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Practice ends at 6. He watches his little brothers while his mom works nights, then starts homework at 10 and is up until 1.</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AMARA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Biology test at 8am. It's 12:30am and she still has two units to review.</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LUIS</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His ride to a 6am lift is an older teammate who slept five hours. At a red light, Luis sees him drifting.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WORK BACKWARD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Your wake-up time, minus 9 hours: that's lights-out.</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Private. Write your wake-up time, your lights-out, and when you'd start winding down.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One lever you'll try this week, and which night you'll start.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https://rmwtoolkit.github.io/bcds-toolkit/running-on-empty-high-school.html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