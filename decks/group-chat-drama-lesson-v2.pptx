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page is hidden and skipped when you present. The full plan, care notes and research are on the hidden pages at the end of the deck, if you want them.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plainly. Something like: "Most of your friendships run partly through group chats now, and a lot of drama starts with a text that read wrong. Today is about why that happens and what to do in the minute after your stomach drops." Say up front that nobody will share real chats.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MINUTES. Everyone votes at once so nobody stands out. Tally roughly on the board: how many fists, how many fives, how many in between. The room will split. That's the point: same two letters and a period, very different reads. Ask: "What did you need to know to be sure?" Expect: what they were doing, what the friendship is like, whether they usually text like that. Text gives you none of it.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MINUTES with the next slide. A reply typed at a red light or at practice looks the same as a reply typed in anger. If you're tired, anxious, or already worried about a friendship, you'll read the worst version and feel sure about it. Add the period study: at Binghamton University, "Okay." with a period read as less sincere than "Okay" without one, while the same replies on handwritten notes showed no difference. In texting, punctuation has become tone of voice. Ask: "What are some texting habits that read differently depending on who sends them?"</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2005 experiments by Justin Kruger and Nicholas Epley, readers were about 89% sure they'd read the tone of short sarcastic, serious, angry, or sad messages. Face to face they were right about three times in four. Over email, less than two in three. Senders were just as overconfident: you hear your own voice in your head as you type, so your message seems obvious. The reader does the same with their voice and their mood. Note: email is the closest the study gets to texting, and there were no emoji.</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 MINUTES with the next slide. Walk through the five steps. Most short replies say more about the sender's situation than about you. On step 3, short and low-key works best; another option is "joking or actually annoyed? can't tell over text." On step 4, the research is clear that voice carries tone better than text. Ask: "Which of these is hardest to do when you're upset?" (Usually waiting.)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or three minutes in pairs, then take a few answers. Good answers to expect: they're in class or at work and can't give it real attention; it was a serious message and they want to answer it properly; "later" means in person because some people don't do hard conversations over text. Then ask for a reply that checks it out. Example: "no rush. want to call tonight or talk tomorrow?" If a student says "they're mad," that's allowed as one possibility, just not the only one.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MINUTES. Private. On an index card, students think of a reply they almost sent once (no details needed) and run it through the five questions. Nobody shares. Then: not replying is a reply, and so is "let me think about it." Name the habits that keep drama going: replying while heated, investigating (scrolling back, checking who's active, asking three people what it meant), sending screenshots for opinions, and vague posts like "some people are so fake."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 MINUTES. One card per group, then report back. Dani: the thumbs up may be the answer (those two are in), or everyone assumed someone else would reply. Naming people breaks the wait: "@Marcus @Lena you two still need a ride?" Dani's dad works Saturdays, so this matters to her; it's fine to ask again by name. Priya: once or every time? Not every chat has to include you. Name the feeling, sort facts (there's a chat I'm not in) from guesses (they talk about me in it), then pick a move: talk to the one person she trusts most, make her own plan, or let a one-time thing go. If she raises it: "saw there was a separate chat for saturday. not trying to make it a thing, it just stung. is something up with us?" Theo: good answers are messaging Theo ("that was messed up. you okay?"), posting "this was private. delete it," and telling a trusted adult. Forwarding it or staying quiet keeps it going. Keep the discussion off who Theo likes.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MINUTES. A 2000 study of online chat rooms found that the more people in a chat, the longer it took someone asking for help to get it. When the request named a specific person, the delay nearly disappeared. In a 40-person chat, everyone assumes one of the other 39 will deal with it. Most people in a pile-on aren't cruel. They're waiting, and one person stepping out changes what everyone else does. Naming an ally works: "@Jaylen back me up, this isn't funny." Add: in a 2022 Pew survey, 46% of U.S. teens had experienced some kind of online harassment. Common still doesn't make it okay. If you were part of it: stop adding, delete what you can, and apologize directly without excuses. Telling an adult when it keeps going is looking out for someone. Mention settings: muting notifies nobody, read receipts can go off, and a sleep or focus mode stops midnight replies.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MINUTES. Collect anonymously, or let students keep them. Close with: "Not replying is a reply. So is 'let me think about it.'" Share the take-home link (post it on your class page too). It has the three reads, the screenshot test, the settings, a private check-in, and who to talk to. Remind students that threats, someone talking about hurting themselves, or sexual images of anyone under 18 go to an adult right away.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you want more: this page and the next three are hidden and skipped when you present.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Before you start</a:t>
            </a:r>
          </a:p>
        </p:txBody>
      </p:sp>
      <p:sp>
        <p:nvSpPr>
          <p:cNvPr id="4" name="TextBox 3"/>
          <p:cNvSpPr txBox="1"/>
          <p:nvPr/>
        </p:nvSpPr>
        <p:spPr>
          <a:xfrm>
            <a:off x="548640" y="685800"/>
            <a:ext cx="10972800" cy="73152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Group Chat Drama</a:t>
            </a:r>
          </a:p>
        </p:txBody>
      </p:sp>
      <p:sp>
        <p:nvSpPr>
          <p:cNvPr id="5" name="TextBox 4"/>
          <p:cNvSpPr txBox="1"/>
          <p:nvPr/>
        </p:nvSpPr>
        <p:spPr>
          <a:xfrm>
            <a:off x="548640" y="1325880"/>
            <a:ext cx="10972800" cy="365760"/>
          </a:xfrm>
          <a:prstGeom prst="rect">
            <a:avLst/>
          </a:prstGeom>
          <a:noFill/>
        </p:spPr>
        <p:txBody>
          <a:bodyPr wrap="square" anchor="t" lIns="0" rIns="0" tIns="0" bIns="0">
            <a:spAutoFit/>
          </a:bodyPr>
          <a:lstStyle/>
          <a:p>
            <a:pPr algn="l">
              <a:spcAft>
                <a:spcPts val="630"/>
              </a:spcAft>
            </a:pPr>
            <a:r>
              <a:rPr sz="1400" b="0" i="0">
                <a:solidFill>
                  <a:srgbClr val="5D5A54"/>
                </a:solidFill>
                <a:latin typeface="Inter Tight"/>
              </a:rPr>
              <a:t>Upper School  ·  45 minutes (20-minute advisory version below)  ·  9th grade advisory, health class, or a counselor-led group</a:t>
            </a:r>
          </a:p>
        </p:txBody>
      </p:sp>
      <p:sp>
        <p:nvSpPr>
          <p:cNvPr id="6" name="TextBox 5"/>
          <p:cNvSpPr txBox="1"/>
          <p:nvPr/>
        </p:nvSpPr>
        <p:spPr>
          <a:xfrm>
            <a:off x="548640" y="2011680"/>
            <a:ext cx="11064240" cy="4206240"/>
          </a:xfrm>
          <a:prstGeom prst="rect">
            <a:avLst/>
          </a:prstGeom>
          <a:noFill/>
        </p:spPr>
        <p:txBody>
          <a:bodyPr wrap="square" anchor="t" lIns="0" rIns="0" tIns="0" bIns="0">
            <a:spAutoFit/>
          </a:bodyPr>
          <a:lstStyle/>
          <a:p>
            <a:pPr algn="l">
              <a:spcAft>
                <a:spcPts val="810"/>
              </a:spcAft>
            </a:pPr>
            <a:r>
              <a:rPr sz="1200" b="1" i="0">
                <a:solidFill>
                  <a:srgbClr val="0B2D5B"/>
                </a:solidFill>
                <a:latin typeface="Inter Tight"/>
              </a:rPr>
              <a:t>BEFORE YOU START</a:t>
            </a:r>
          </a:p>
          <a:p>
            <a:pPr algn="l">
              <a:spcAft>
                <a:spcPts val="810"/>
              </a:spcAft>
            </a:pPr>
            <a:r>
              <a:rPr sz="1800" b="0" i="0">
                <a:solidFill>
                  <a:srgbClr val="1C1B19"/>
                </a:solidFill>
                <a:latin typeface="Source Serif 4"/>
              </a:rPr>
              <a:t>Students learn why text misleads, how to read a message three ways and run the screenshot test before replying, and what to do when a chat turns on someone. Bring index cards, use only the examples on the slides, and take any real incident, threat, or shared image to a counselor or dean that day.</a:t>
            </a:r>
          </a:p>
          <a:p>
            <a:pPr algn="l">
              <a:spcAft>
                <a:spcPts val="810"/>
              </a:spcAft>
            </a:pPr>
            <a:r>
              <a:rPr sz="1800" b="0" i="0">
                <a:solidFill>
                  <a:srgbClr val="1C1B19"/>
                </a:solidFill>
                <a:latin typeface="Source Serif 4"/>
              </a:rPr>
              <a:t/>
            </a:r>
          </a:p>
          <a:p>
            <a:pPr algn="l">
              <a:spcAft>
                <a:spcPts val="810"/>
              </a:spcAft>
            </a:pPr>
            <a:r>
              <a:rPr sz="1200" b="1" i="0">
                <a:solidFill>
                  <a:srgbClr val="0B2D5B"/>
                </a:solidFill>
                <a:latin typeface="Inter Tight"/>
              </a:rPr>
              <a:t>EVERY STUDENT IN THE ROOM</a:t>
            </a:r>
          </a:p>
          <a:p>
            <a:pPr algn="l">
              <a:spcAft>
                <a:spcPts val="810"/>
              </a:spcAft>
            </a:pPr>
            <a:r>
              <a:rPr sz="1800" b="0" i="0">
                <a:solidFill>
                  <a:srgbClr val="1C1B19"/>
                </a:solidFill>
                <a:latin typeface="Source Serif 4"/>
              </a:rPr>
              <a:t>When the Theo card comes up, note that a leaked screenshot can out someone, and remember that short or literal replies may come from a student writing in a second language or reading tone differently.</a:t>
            </a:r>
          </a:p>
          <a:p>
            <a:pPr algn="l">
              <a:spcAft>
                <a:spcPts val="810"/>
              </a:spcAft>
            </a:pPr>
            <a:r>
              <a:rPr sz="1800" b="0" i="0">
                <a:solidFill>
                  <a:srgbClr val="1C1B19"/>
                </a:solidFill>
                <a:latin typeface="Source Serif 4"/>
              </a:rPr>
              <a:t/>
            </a:r>
          </a:p>
          <a:p>
            <a:pPr algn="l">
              <a:spcAft>
                <a:spcPts val="810"/>
              </a:spcAft>
            </a:pPr>
            <a:r>
              <a:rPr sz="1200" b="1" i="0">
                <a:solidFill>
                  <a:srgbClr val="0B2D5B"/>
                </a:solidFill>
                <a:latin typeface="Inter Tight"/>
              </a:rPr>
              <a:t>SHORT ON TIME (20-MINUTE ADVISORY)</a:t>
            </a:r>
          </a:p>
          <a:p>
            <a:pPr algn="l">
              <a:spcAft>
                <a:spcPts val="810"/>
              </a:spcAft>
            </a:pPr>
            <a:r>
              <a:rPr sz="1800" b="0" i="0">
                <a:solidFill>
                  <a:srgbClr val="1C1B19"/>
                </a:solidFill>
                <a:latin typeface="Source Serif 4"/>
              </a:rPr>
              <a:t>The "ok." tally (4), read it three ways (6), when a pile-on starts (7), exit card (3). The take-home sheet has the screenshot test and the settings.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2D5B"/>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GROUP CHAT DRAMA</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2011680"/>
            <a:ext cx="10515600" cy="1463040"/>
          </a:xfrm>
          <a:prstGeom prst="rect">
            <a:avLst/>
          </a:prstGeom>
          <a:noFill/>
        </p:spPr>
        <p:txBody>
          <a:bodyPr wrap="square" anchor="b" lIns="0" rIns="0" tIns="0" bIns="0">
            <a:spAutoFit/>
          </a:bodyPr>
          <a:lstStyle/>
          <a:p>
            <a:pPr algn="l">
              <a:spcAft>
                <a:spcPts val="2700"/>
              </a:spcAft>
            </a:pPr>
            <a:r>
              <a:rPr sz="6000" b="1" i="0">
                <a:solidFill>
                  <a:srgbClr val="FFFFFF"/>
                </a:solidFill>
                <a:latin typeface="Source Serif 4"/>
              </a:rPr>
              <a:t>Group Chat Drama</a:t>
            </a:r>
          </a:p>
        </p:txBody>
      </p:sp>
      <p:sp>
        <p:nvSpPr>
          <p:cNvPr id="6" name="TextBox 5"/>
          <p:cNvSpPr txBox="1"/>
          <p:nvPr/>
        </p:nvSpPr>
        <p:spPr>
          <a:xfrm>
            <a:off x="822960" y="3611880"/>
            <a:ext cx="10515600" cy="914400"/>
          </a:xfrm>
          <a:prstGeom prst="rect">
            <a:avLst/>
          </a:prstGeom>
          <a:noFill/>
        </p:spPr>
        <p:txBody>
          <a:bodyPr wrap="square" anchor="t" lIns="0" rIns="0" tIns="0" bIns="0">
            <a:spAutoFit/>
          </a:bodyPr>
          <a:lstStyle/>
          <a:p>
            <a:pPr algn="l">
              <a:spcAft>
                <a:spcPts val="1080"/>
              </a:spcAft>
            </a:pPr>
            <a:r>
              <a:rPr sz="2400" b="0" i="1">
                <a:solidFill>
                  <a:srgbClr val="E8E4DA"/>
                </a:solidFill>
                <a:latin typeface="Source Serif 4"/>
              </a:rPr>
              <a:t>Ten words on a screen. Two hours of overthinking.</a:t>
            </a:r>
          </a:p>
        </p:txBody>
      </p:sp>
      <p:sp>
        <p:nvSpPr>
          <p:cNvPr id="7" name="TextBox 6"/>
          <p:cNvSpPr txBox="1"/>
          <p:nvPr/>
        </p:nvSpPr>
        <p:spPr>
          <a:xfrm>
            <a:off x="822960" y="6035040"/>
            <a:ext cx="7315200" cy="365760"/>
          </a:xfrm>
          <a:prstGeom prst="rect">
            <a:avLst/>
          </a:prstGeom>
          <a:noFill/>
        </p:spPr>
        <p:txBody>
          <a:bodyPr wrap="square" anchor="t" lIns="0" rIns="0" tIns="0" bIns="0">
            <a:spAutoFit/>
          </a:bodyPr>
          <a:lstStyle/>
          <a:p>
            <a:pPr algn="l">
              <a:spcAft>
                <a:spcPts val="585"/>
              </a:spcAft>
            </a:pPr>
            <a:r>
              <a:rPr sz="1300" b="0" i="0">
                <a:solidFill>
                  <a:srgbClr val="E8E4DA"/>
                </a:solidFill>
                <a:latin typeface="Inter Tight"/>
              </a:rPr>
              <a:t>Beaver Upper School · Counseling</a:t>
            </a:r>
          </a:p>
        </p:txBody>
      </p:sp>
      <p:sp>
        <p:nvSpPr>
          <p:cNvPr id="8" name="TextBox 7"/>
          <p:cNvSpPr txBox="1"/>
          <p:nvPr/>
        </p:nvSpPr>
        <p:spPr>
          <a:xfrm>
            <a:off x="6766560" y="5897880"/>
            <a:ext cx="4846320" cy="640080"/>
          </a:xfrm>
          <a:prstGeom prst="rect">
            <a:avLst/>
          </a:prstGeom>
          <a:noFill/>
        </p:spPr>
        <p:txBody>
          <a:bodyPr wrap="square" anchor="t" lIns="0" rIns="0" tIns="0" bIns="0">
            <a:spAutoFit/>
          </a:bodyPr>
          <a:lstStyle/>
          <a:p>
            <a:pPr algn="r">
              <a:spcAft>
                <a:spcPts val="495"/>
              </a:spcAft>
            </a:pPr>
            <a:r>
              <a:rPr sz="1100" b="0" i="0">
                <a:solidFill>
                  <a:srgbClr val="E8E4DA"/>
                </a:solidFill>
                <a:latin typeface="Inter Tight"/>
              </a:rPr>
              <a:t>Written by Dr. Rick Wilson, with AI-assisted drafting. Every lesson is reviewed and edited by Dr. Wilson.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FIST TO FIVE</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Rectangle 4"/>
          <p:cNvSpPr/>
          <p:nvPr/>
        </p:nvSpPr>
        <p:spPr>
          <a:xfrm>
            <a:off x="822960" y="1371600"/>
            <a:ext cx="73152" cy="3566160"/>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88720" y="1371600"/>
            <a:ext cx="10058400" cy="3566160"/>
          </a:xfrm>
          <a:prstGeom prst="rect">
            <a:avLst/>
          </a:prstGeom>
          <a:noFill/>
        </p:spPr>
        <p:txBody>
          <a:bodyPr wrap="square" anchor="ctr" lIns="0" rIns="0" tIns="0" bIns="0">
            <a:spAutoFit/>
          </a:bodyPr>
          <a:lstStyle/>
          <a:p>
            <a:pPr algn="l">
              <a:spcAft>
                <a:spcPts val="1800"/>
              </a:spcAft>
            </a:pPr>
            <a:r>
              <a:rPr sz="4000" b="0" i="1">
                <a:solidFill>
                  <a:srgbClr val="1C1B19"/>
                </a:solidFill>
                <a:latin typeface="Source Serif 4"/>
              </a:rPr>
              <a:t>You sent a long, honest message. They replied: "ok."</a:t>
            </a:r>
          </a:p>
        </p:txBody>
      </p:sp>
      <p:sp>
        <p:nvSpPr>
          <p:cNvPr id="7" name="TextBox 6"/>
          <p:cNvSpPr txBox="1"/>
          <p:nvPr/>
        </p:nvSpPr>
        <p:spPr>
          <a:xfrm>
            <a:off x="1188720" y="5120640"/>
            <a:ext cx="10058400" cy="914400"/>
          </a:xfrm>
          <a:prstGeom prst="rect">
            <a:avLst/>
          </a:prstGeom>
          <a:noFill/>
        </p:spPr>
        <p:txBody>
          <a:bodyPr wrap="square" anchor="t" lIns="0" rIns="0" tIns="0" bIns="0">
            <a:spAutoFit/>
          </a:bodyPr>
          <a:lstStyle/>
          <a:p>
            <a:pPr algn="l">
              <a:spcAft>
                <a:spcPts val="810"/>
              </a:spcAft>
            </a:pPr>
            <a:r>
              <a:rPr sz="1800" b="0" i="0">
                <a:solidFill>
                  <a:srgbClr val="5D5A54"/>
                </a:solidFill>
                <a:latin typeface="Inter Tight"/>
              </a:rPr>
              <a:t>Show me: fist means they're fine. Five fingers means they're mad at you.</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WHY TEXT MISLEADS</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91440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What text deletes, what your brain adds</a:t>
            </a:r>
          </a:p>
        </p:txBody>
      </p:sp>
      <p:sp>
        <p:nvSpPr>
          <p:cNvPr id="6" name="Rectangle 5"/>
          <p:cNvSpPr/>
          <p:nvPr/>
        </p:nvSpPr>
        <p:spPr>
          <a:xfrm>
            <a:off x="822960" y="2103120"/>
            <a:ext cx="5120640" cy="393192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2286000"/>
            <a:ext cx="4572000" cy="45720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TEXT DELETES</a:t>
            </a:r>
          </a:p>
        </p:txBody>
      </p:sp>
      <p:sp>
        <p:nvSpPr>
          <p:cNvPr id="8" name="TextBox 7"/>
          <p:cNvSpPr txBox="1"/>
          <p:nvPr/>
        </p:nvSpPr>
        <p:spPr>
          <a:xfrm>
            <a:off x="1097280" y="2788920"/>
            <a:ext cx="4572000" cy="3108960"/>
          </a:xfrm>
          <a:prstGeom prst="rect">
            <a:avLst/>
          </a:prstGeom>
          <a:noFill/>
        </p:spPr>
        <p:txBody>
          <a:bodyPr wrap="square" anchor="t" lIns="0" rIns="0" tIns="0" bIns="0">
            <a:spAutoFit/>
          </a:bodyPr>
          <a:lstStyle/>
          <a:p>
            <a:pPr algn="l">
              <a:spcAft>
                <a:spcPts val="855"/>
              </a:spcAft>
            </a:pPr>
            <a:r>
              <a:rPr sz="1900" b="0" i="0">
                <a:solidFill>
                  <a:srgbClr val="1C1B19"/>
                </a:solidFill>
                <a:latin typeface="Source Serif 4"/>
              </a:rPr>
              <a:t>Their voice</a:t>
            </a:r>
          </a:p>
          <a:p>
            <a:pPr algn="l">
              <a:spcAft>
                <a:spcPts val="855"/>
              </a:spcAft>
            </a:pPr>
            <a:r>
              <a:rPr sz="1900" b="0" i="0">
                <a:solidFill>
                  <a:srgbClr val="1C1B19"/>
                </a:solidFill>
                <a:latin typeface="Source Serif 4"/>
              </a:rPr>
              <a:t>Their face</a:t>
            </a:r>
          </a:p>
          <a:p>
            <a:pPr algn="l">
              <a:spcAft>
                <a:spcPts val="855"/>
              </a:spcAft>
            </a:pPr>
            <a:r>
              <a:rPr sz="1900" b="0" i="0">
                <a:solidFill>
                  <a:srgbClr val="1C1B19"/>
                </a:solidFill>
                <a:latin typeface="Source Serif 4"/>
              </a:rPr>
              <a:t>Timing and pauses</a:t>
            </a:r>
          </a:p>
          <a:p>
            <a:pPr algn="l">
              <a:spcAft>
                <a:spcPts val="855"/>
              </a:spcAft>
            </a:pPr>
            <a:r>
              <a:rPr sz="1900" b="0" i="0">
                <a:solidFill>
                  <a:srgbClr val="1C1B19"/>
                </a:solidFill>
                <a:latin typeface="Source Serif 4"/>
              </a:rPr>
              <a:t>Where they are right now</a:t>
            </a:r>
          </a:p>
        </p:txBody>
      </p:sp>
      <p:sp>
        <p:nvSpPr>
          <p:cNvPr id="9" name="Rectangle 8"/>
          <p:cNvSpPr/>
          <p:nvPr/>
        </p:nvSpPr>
        <p:spPr>
          <a:xfrm>
            <a:off x="6309360" y="2103120"/>
            <a:ext cx="5120640" cy="393192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0" y="2286000"/>
            <a:ext cx="4572000" cy="45720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YOUR BRAIN ADDS</a:t>
            </a:r>
          </a:p>
        </p:txBody>
      </p:sp>
      <p:sp>
        <p:nvSpPr>
          <p:cNvPr id="11" name="TextBox 10"/>
          <p:cNvSpPr txBox="1"/>
          <p:nvPr/>
        </p:nvSpPr>
        <p:spPr>
          <a:xfrm>
            <a:off x="6583680" y="2788920"/>
            <a:ext cx="4572000" cy="3108960"/>
          </a:xfrm>
          <a:prstGeom prst="rect">
            <a:avLst/>
          </a:prstGeom>
          <a:noFill/>
        </p:spPr>
        <p:txBody>
          <a:bodyPr wrap="square" anchor="t" lIns="0" rIns="0" tIns="0" bIns="0">
            <a:spAutoFit/>
          </a:bodyPr>
          <a:lstStyle/>
          <a:p>
            <a:pPr algn="l">
              <a:spcAft>
                <a:spcPts val="855"/>
              </a:spcAft>
            </a:pPr>
            <a:r>
              <a:rPr sz="1900" b="0" i="0">
                <a:solidFill>
                  <a:srgbClr val="1C1B19"/>
                </a:solidFill>
                <a:latin typeface="Source Serif 4"/>
              </a:rPr>
              <a:t>Your mood</a:t>
            </a:r>
          </a:p>
          <a:p>
            <a:pPr algn="l">
              <a:spcAft>
                <a:spcPts val="855"/>
              </a:spcAft>
            </a:pPr>
            <a:r>
              <a:rPr sz="1900" b="0" i="0">
                <a:solidFill>
                  <a:srgbClr val="1C1B19"/>
                </a:solidFill>
                <a:latin typeface="Source Serif 4"/>
              </a:rPr>
              <a:t>Your worries about the friendship</a:t>
            </a:r>
          </a:p>
          <a:p>
            <a:pPr algn="l">
              <a:spcAft>
                <a:spcPts val="855"/>
              </a:spcAft>
            </a:pPr>
            <a:r>
              <a:rPr sz="1900" b="0" i="0">
                <a:solidFill>
                  <a:srgbClr val="1C1B19"/>
                </a:solidFill>
                <a:latin typeface="Source Serif 4"/>
              </a:rPr>
              <a:t>Your own voice reading it</a:t>
            </a:r>
          </a:p>
          <a:p>
            <a:pPr algn="l">
              <a:spcAft>
                <a:spcPts val="855"/>
              </a:spcAft>
            </a:pPr>
            <a:r>
              <a:rPr sz="1900" b="0" i="0">
                <a:solidFill>
                  <a:srgbClr val="1C1B19"/>
                </a:solidFill>
                <a:latin typeface="Source Serif 4"/>
              </a:rPr>
              <a:t>Feeling sure you read it right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THE TONE GAP</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463040"/>
            <a:ext cx="10515600" cy="3291840"/>
          </a:xfrm>
          <a:prstGeom prst="rect">
            <a:avLst/>
          </a:prstGeom>
          <a:noFill/>
        </p:spPr>
        <p:txBody>
          <a:bodyPr wrap="square" anchor="ctr" lIns="0" rIns="0" tIns="0" bIns="0">
            <a:spAutoFit/>
          </a:bodyPr>
          <a:lstStyle/>
          <a:p>
            <a:pPr algn="l">
              <a:spcAft>
                <a:spcPts val="2070"/>
              </a:spcAft>
            </a:pPr>
            <a:r>
              <a:rPr sz="4600" b="1" i="0">
                <a:solidFill>
                  <a:srgbClr val="1C1B19"/>
                </a:solidFill>
                <a:latin typeface="Source Serif 4"/>
              </a:rPr>
              <a:t>89% sure. Right less than two times in three.</a:t>
            </a:r>
          </a:p>
        </p:txBody>
      </p:sp>
      <p:sp>
        <p:nvSpPr>
          <p:cNvPr id="6" name="TextBox 5"/>
          <p:cNvSpPr txBox="1"/>
          <p:nvPr/>
        </p:nvSpPr>
        <p:spPr>
          <a:xfrm>
            <a:off x="822960" y="4846320"/>
            <a:ext cx="10515600" cy="1097280"/>
          </a:xfrm>
          <a:prstGeom prst="rect">
            <a:avLst/>
          </a:prstGeom>
          <a:noFill/>
        </p:spPr>
        <p:txBody>
          <a:bodyPr wrap="square" anchor="t" lIns="0" rIns="0" tIns="0" bIns="0">
            <a:spAutoFit/>
          </a:bodyPr>
          <a:lstStyle/>
          <a:p>
            <a:pPr algn="l">
              <a:spcAft>
                <a:spcPts val="990"/>
              </a:spcAft>
            </a:pPr>
            <a:r>
              <a:rPr sz="2200" b="0" i="1">
                <a:solidFill>
                  <a:srgbClr val="5D5A54"/>
                </a:solidFill>
                <a:latin typeface="Source Serif 4"/>
              </a:rPr>
              <a:t>People reading short messages felt sure of the tone. Over email, they often got it wrong.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BEFORE YOU REACT</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1097280"/>
          </a:xfrm>
          <a:prstGeom prst="rect">
            <a:avLst/>
          </a:prstGeom>
          <a:noFill/>
        </p:spPr>
        <p:txBody>
          <a:bodyPr wrap="square" anchor="t" lIns="0" rIns="0" tIns="0" bIns="0">
            <a:spAutoFit/>
          </a:bodyPr>
          <a:lstStyle/>
          <a:p>
            <a:pPr algn="l">
              <a:spcAft>
                <a:spcPts val="1620"/>
              </a:spcAft>
            </a:pPr>
            <a:r>
              <a:rPr sz="3600" b="1" i="0">
                <a:solidFill>
                  <a:srgbClr val="1C1B19"/>
                </a:solidFill>
                <a:latin typeface="Source Serif 4"/>
              </a:rPr>
              <a:t>Read it three ways. Then decide.</a:t>
            </a:r>
          </a:p>
        </p:txBody>
      </p:sp>
      <p:sp>
        <p:nvSpPr>
          <p:cNvPr id="6" name="TextBox 5"/>
          <p:cNvSpPr txBox="1"/>
          <p:nvPr/>
        </p:nvSpPr>
        <p:spPr>
          <a:xfrm>
            <a:off x="822960" y="2057400"/>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1</a:t>
            </a:r>
          </a:p>
        </p:txBody>
      </p:sp>
      <p:sp>
        <p:nvSpPr>
          <p:cNvPr id="7" name="TextBox 6"/>
          <p:cNvSpPr txBox="1"/>
          <p:nvPr/>
        </p:nvSpPr>
        <p:spPr>
          <a:xfrm>
            <a:off x="1463040" y="2093976"/>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Read only the words.</a:t>
            </a:r>
          </a:p>
          <a:p>
            <a:pPr algn="l">
              <a:spcAft>
                <a:spcPts val="945"/>
              </a:spcAft>
            </a:pPr>
            <a:r>
              <a:rPr sz="1600" b="0" i="0">
                <a:solidFill>
                  <a:srgbClr val="5D5A54"/>
                </a:solidFill>
                <a:latin typeface="Source Serif 4"/>
              </a:rPr>
              <a:t>"ok." is two letters and a period. The rest is your guess.</a:t>
            </a:r>
          </a:p>
        </p:txBody>
      </p:sp>
      <p:sp>
        <p:nvSpPr>
          <p:cNvPr id="8" name="TextBox 7"/>
          <p:cNvSpPr txBox="1"/>
          <p:nvPr/>
        </p:nvSpPr>
        <p:spPr>
          <a:xfrm>
            <a:off x="822960" y="2862072"/>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2</a:t>
            </a:r>
          </a:p>
        </p:txBody>
      </p:sp>
      <p:sp>
        <p:nvSpPr>
          <p:cNvPr id="9" name="TextBox 8"/>
          <p:cNvSpPr txBox="1"/>
          <p:nvPr/>
        </p:nvSpPr>
        <p:spPr>
          <a:xfrm>
            <a:off x="1463040" y="2898648"/>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Read it as if they're busy.</a:t>
            </a:r>
          </a:p>
          <a:p>
            <a:pPr algn="l">
              <a:spcAft>
                <a:spcPts val="945"/>
              </a:spcAft>
            </a:pPr>
            <a:r>
              <a:rPr sz="1600" b="0" i="0">
                <a:solidFill>
                  <a:srgbClr val="5D5A54"/>
                </a:solidFill>
                <a:latin typeface="Source Serif 4"/>
              </a:rPr>
              <a:t>Practice, driving, babysitting a sibling, half asleep.</a:t>
            </a:r>
          </a:p>
        </p:txBody>
      </p:sp>
      <p:sp>
        <p:nvSpPr>
          <p:cNvPr id="10" name="TextBox 9"/>
          <p:cNvSpPr txBox="1"/>
          <p:nvPr/>
        </p:nvSpPr>
        <p:spPr>
          <a:xfrm>
            <a:off x="822960" y="3666744"/>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3</a:t>
            </a:r>
          </a:p>
        </p:txBody>
      </p:sp>
      <p:sp>
        <p:nvSpPr>
          <p:cNvPr id="11" name="TextBox 10"/>
          <p:cNvSpPr txBox="1"/>
          <p:nvPr/>
        </p:nvSpPr>
        <p:spPr>
          <a:xfrm>
            <a:off x="1463040" y="3703320"/>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Ask instead of assuming.</a:t>
            </a:r>
          </a:p>
          <a:p>
            <a:pPr algn="l">
              <a:spcAft>
                <a:spcPts val="945"/>
              </a:spcAft>
            </a:pPr>
            <a:r>
              <a:rPr sz="1600" b="0" i="0">
                <a:solidFill>
                  <a:srgbClr val="5D5A54"/>
                </a:solidFill>
                <a:latin typeface="Source Serif 4"/>
              </a:rPr>
              <a:t>"couldn't read your tone there. we good?"</a:t>
            </a:r>
          </a:p>
        </p:txBody>
      </p:sp>
      <p:sp>
        <p:nvSpPr>
          <p:cNvPr id="12" name="TextBox 11"/>
          <p:cNvSpPr txBox="1"/>
          <p:nvPr/>
        </p:nvSpPr>
        <p:spPr>
          <a:xfrm>
            <a:off x="822960" y="4471416"/>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4</a:t>
            </a:r>
          </a:p>
        </p:txBody>
      </p:sp>
      <p:sp>
        <p:nvSpPr>
          <p:cNvPr id="13" name="TextBox 12"/>
          <p:cNvSpPr txBox="1"/>
          <p:nvPr/>
        </p:nvSpPr>
        <p:spPr>
          <a:xfrm>
            <a:off x="1463040" y="4507992"/>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Switch to voice.</a:t>
            </a:r>
          </a:p>
          <a:p>
            <a:pPr algn="l">
              <a:spcAft>
                <a:spcPts val="945"/>
              </a:spcAft>
            </a:pPr>
            <a:r>
              <a:rPr sz="1600" b="0" i="0">
                <a:solidFill>
                  <a:srgbClr val="5D5A54"/>
                </a:solidFill>
                <a:latin typeface="Source Serif 4"/>
              </a:rPr>
              <a:t>Anything serious goes better as a call, one on one.</a:t>
            </a:r>
          </a:p>
        </p:txBody>
      </p:sp>
      <p:sp>
        <p:nvSpPr>
          <p:cNvPr id="14" name="TextBox 13"/>
          <p:cNvSpPr txBox="1"/>
          <p:nvPr/>
        </p:nvSpPr>
        <p:spPr>
          <a:xfrm>
            <a:off x="822960" y="5276088"/>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5</a:t>
            </a:r>
          </a:p>
        </p:txBody>
      </p:sp>
      <p:sp>
        <p:nvSpPr>
          <p:cNvPr id="15" name="TextBox 14"/>
          <p:cNvSpPr txBox="1"/>
          <p:nvPr/>
        </p:nvSpPr>
        <p:spPr>
          <a:xfrm>
            <a:off x="1463040" y="5312664"/>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Let it sit overnight.</a:t>
            </a:r>
          </a:p>
          <a:p>
            <a:pPr algn="l">
              <a:spcAft>
                <a:spcPts val="945"/>
              </a:spcAft>
            </a:pPr>
            <a:r>
              <a:rPr sz="1600" b="0" i="0">
                <a:solidFill>
                  <a:srgbClr val="5D5A54"/>
                </a:solidFill>
                <a:latin typeface="Source Serif 4"/>
              </a:rPr>
              <a:t>Midnight messages get read at 7am in a different mood.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PAIR-SHARE</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Rectangle 4"/>
          <p:cNvSpPr/>
          <p:nvPr/>
        </p:nvSpPr>
        <p:spPr>
          <a:xfrm>
            <a:off x="822960" y="1371600"/>
            <a:ext cx="73152" cy="3566160"/>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88720" y="1371600"/>
            <a:ext cx="10058400" cy="3566160"/>
          </a:xfrm>
          <a:prstGeom prst="rect">
            <a:avLst/>
          </a:prstGeom>
          <a:noFill/>
        </p:spPr>
        <p:txBody>
          <a:bodyPr wrap="square" anchor="ctr" lIns="0" rIns="0" tIns="0" bIns="0">
            <a:spAutoFit/>
          </a:bodyPr>
          <a:lstStyle/>
          <a:p>
            <a:pPr algn="l">
              <a:spcAft>
                <a:spcPts val="1800"/>
              </a:spcAft>
            </a:pPr>
            <a:r>
              <a:rPr sz="4000" b="0" i="1">
                <a:solidFill>
                  <a:srgbClr val="1C1B19"/>
                </a:solidFill>
                <a:latin typeface="Source Serif 4"/>
              </a:rPr>
              <a:t>"yeah. we can talk later"</a:t>
            </a:r>
          </a:p>
        </p:txBody>
      </p:sp>
      <p:sp>
        <p:nvSpPr>
          <p:cNvPr id="7" name="TextBox 6"/>
          <p:cNvSpPr txBox="1"/>
          <p:nvPr/>
        </p:nvSpPr>
        <p:spPr>
          <a:xfrm>
            <a:off x="1188720" y="5120640"/>
            <a:ext cx="10058400" cy="914400"/>
          </a:xfrm>
          <a:prstGeom prst="rect">
            <a:avLst/>
          </a:prstGeom>
          <a:noFill/>
        </p:spPr>
        <p:txBody>
          <a:bodyPr wrap="square" anchor="t" lIns="0" rIns="0" tIns="0" bIns="0">
            <a:spAutoFit/>
          </a:bodyPr>
          <a:lstStyle/>
          <a:p>
            <a:pPr algn="l">
              <a:spcAft>
                <a:spcPts val="810"/>
              </a:spcAft>
            </a:pPr>
            <a:r>
              <a:rPr sz="1800" b="0" i="0">
                <a:solidFill>
                  <a:srgbClr val="5D5A54"/>
                </a:solidFill>
                <a:latin typeface="Inter Tight"/>
              </a:rPr>
              <a:t>Your friend's reply to a long message you sent last night. With a partner: name two other things it could mean.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THE SCREENSHOT TEST</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1097280"/>
          </a:xfrm>
          <a:prstGeom prst="rect">
            <a:avLst/>
          </a:prstGeom>
          <a:noFill/>
        </p:spPr>
        <p:txBody>
          <a:bodyPr wrap="square" anchor="t" lIns="0" rIns="0" tIns="0" bIns="0">
            <a:spAutoFit/>
          </a:bodyPr>
          <a:lstStyle/>
          <a:p>
            <a:pPr algn="l">
              <a:spcAft>
                <a:spcPts val="1620"/>
              </a:spcAft>
            </a:pPr>
            <a:r>
              <a:rPr sz="3600" b="1" i="0">
                <a:solidFill>
                  <a:srgbClr val="1C1B19"/>
                </a:solidFill>
                <a:latin typeface="Source Serif 4"/>
              </a:rPr>
              <a:t>Before you send, check privately:</a:t>
            </a:r>
          </a:p>
        </p:txBody>
      </p:sp>
      <p:sp>
        <p:nvSpPr>
          <p:cNvPr id="6" name="TextBox 5"/>
          <p:cNvSpPr txBox="1"/>
          <p:nvPr/>
        </p:nvSpPr>
        <p:spPr>
          <a:xfrm>
            <a:off x="822960" y="2057400"/>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1</a:t>
            </a:r>
          </a:p>
        </p:txBody>
      </p:sp>
      <p:sp>
        <p:nvSpPr>
          <p:cNvPr id="7" name="TextBox 6"/>
          <p:cNvSpPr txBox="1"/>
          <p:nvPr/>
        </p:nvSpPr>
        <p:spPr>
          <a:xfrm>
            <a:off x="1463040" y="2093976"/>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Okay if the whole grade saw it?</a:t>
            </a:r>
          </a:p>
          <a:p>
            <a:pPr algn="l">
              <a:spcAft>
                <a:spcPts val="945"/>
              </a:spcAft>
            </a:pPr>
            <a:r>
              <a:rPr sz="1600" b="0" i="0">
                <a:solidFill>
                  <a:srgbClr val="5D5A54"/>
                </a:solidFill>
                <a:latin typeface="Source Serif 4"/>
              </a:rPr>
              <a:t>Or a coach, or a future employer.</a:t>
            </a:r>
          </a:p>
        </p:txBody>
      </p:sp>
      <p:sp>
        <p:nvSpPr>
          <p:cNvPr id="8" name="TextBox 7"/>
          <p:cNvSpPr txBox="1"/>
          <p:nvPr/>
        </p:nvSpPr>
        <p:spPr>
          <a:xfrm>
            <a:off x="822960" y="2862072"/>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2</a:t>
            </a:r>
          </a:p>
        </p:txBody>
      </p:sp>
      <p:sp>
        <p:nvSpPr>
          <p:cNvPr id="9" name="TextBox 8"/>
          <p:cNvSpPr txBox="1"/>
          <p:nvPr/>
        </p:nvSpPr>
        <p:spPr>
          <a:xfrm>
            <a:off x="1463040" y="2898648"/>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Would you say it to their face?</a:t>
            </a:r>
          </a:p>
        </p:txBody>
      </p:sp>
      <p:sp>
        <p:nvSpPr>
          <p:cNvPr id="10" name="TextBox 9"/>
          <p:cNvSpPr txBox="1"/>
          <p:nvPr/>
        </p:nvSpPr>
        <p:spPr>
          <a:xfrm>
            <a:off x="822960" y="3666744"/>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3</a:t>
            </a:r>
          </a:p>
        </p:txBody>
      </p:sp>
      <p:sp>
        <p:nvSpPr>
          <p:cNvPr id="11" name="TextBox 10"/>
          <p:cNvSpPr txBox="1"/>
          <p:nvPr/>
        </p:nvSpPr>
        <p:spPr>
          <a:xfrm>
            <a:off x="1463040" y="3703320"/>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Reacting to what they wrote?</a:t>
            </a:r>
          </a:p>
          <a:p>
            <a:pPr algn="l">
              <a:spcAft>
                <a:spcPts val="945"/>
              </a:spcAft>
            </a:pPr>
            <a:r>
              <a:rPr sz="1600" b="0" i="0">
                <a:solidFill>
                  <a:srgbClr val="5D5A54"/>
                </a:solidFill>
                <a:latin typeface="Source Serif 4"/>
              </a:rPr>
              <a:t>Or to what you think they meant?</a:t>
            </a:r>
          </a:p>
        </p:txBody>
      </p:sp>
      <p:sp>
        <p:nvSpPr>
          <p:cNvPr id="12" name="TextBox 11"/>
          <p:cNvSpPr txBox="1"/>
          <p:nvPr/>
        </p:nvSpPr>
        <p:spPr>
          <a:xfrm>
            <a:off x="822960" y="4471416"/>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4</a:t>
            </a:r>
          </a:p>
        </p:txBody>
      </p:sp>
      <p:sp>
        <p:nvSpPr>
          <p:cNvPr id="13" name="TextBox 12"/>
          <p:cNvSpPr txBox="1"/>
          <p:nvPr/>
        </p:nvSpPr>
        <p:spPr>
          <a:xfrm>
            <a:off x="1463040" y="4507992"/>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Does it belong in the group?</a:t>
            </a:r>
          </a:p>
          <a:p>
            <a:pPr algn="l">
              <a:spcAft>
                <a:spcPts val="945"/>
              </a:spcAft>
            </a:pPr>
            <a:r>
              <a:rPr sz="1600" b="0" i="0">
                <a:solidFill>
                  <a:srgbClr val="5D5A54"/>
                </a:solidFill>
                <a:latin typeface="Source Serif 4"/>
              </a:rPr>
              <a:t>Or in a one-on-one conversation?</a:t>
            </a:r>
          </a:p>
        </p:txBody>
      </p:sp>
      <p:sp>
        <p:nvSpPr>
          <p:cNvPr id="14" name="TextBox 13"/>
          <p:cNvSpPr txBox="1"/>
          <p:nvPr/>
        </p:nvSpPr>
        <p:spPr>
          <a:xfrm>
            <a:off x="822960" y="5276088"/>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5</a:t>
            </a:r>
          </a:p>
        </p:txBody>
      </p:sp>
      <p:sp>
        <p:nvSpPr>
          <p:cNvPr id="15" name="TextBox 14"/>
          <p:cNvSpPr txBox="1"/>
          <p:nvPr/>
        </p:nvSpPr>
        <p:spPr>
          <a:xfrm>
            <a:off x="1463040" y="5312664"/>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Can it wait until tomorrow?</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THREE MOMENTS</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91440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What would you do?</a:t>
            </a:r>
          </a:p>
        </p:txBody>
      </p:sp>
      <p:sp>
        <p:nvSpPr>
          <p:cNvPr id="6" name="Rectangle 5"/>
          <p:cNvSpPr/>
          <p:nvPr/>
        </p:nvSpPr>
        <p:spPr>
          <a:xfrm>
            <a:off x="822960" y="2103120"/>
            <a:ext cx="3322320" cy="384048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2286000"/>
            <a:ext cx="2865120" cy="36576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DANI</a:t>
            </a:r>
          </a:p>
        </p:txBody>
      </p:sp>
      <p:sp>
        <p:nvSpPr>
          <p:cNvPr id="8" name="TextBox 7"/>
          <p:cNvSpPr txBox="1"/>
          <p:nvPr/>
        </p:nvSpPr>
        <p:spPr>
          <a:xfrm>
            <a:off x="1051560" y="2743200"/>
            <a:ext cx="2865120" cy="3017520"/>
          </a:xfrm>
          <a:prstGeom prst="rect">
            <a:avLst/>
          </a:prstGeom>
          <a:noFill/>
        </p:spPr>
        <p:txBody>
          <a:bodyPr wrap="square" anchor="t" lIns="0" rIns="0" tIns="0" bIns="0">
            <a:spAutoFit/>
          </a:bodyPr>
          <a:lstStyle/>
          <a:p>
            <a:pPr algn="l">
              <a:spcAft>
                <a:spcPts val="810"/>
              </a:spcAft>
            </a:pPr>
            <a:r>
              <a:rPr sz="1800" b="0" i="0">
                <a:solidFill>
                  <a:srgbClr val="1C1B19"/>
                </a:solidFill>
                <a:latin typeface="Source Serif 4"/>
              </a:rPr>
              <a:t>Asks the JV team chat (22 people) about a ride to Saturday's away game. Two thumbs up, then 30 messages about something else.</a:t>
            </a:r>
          </a:p>
        </p:txBody>
      </p:sp>
      <p:sp>
        <p:nvSpPr>
          <p:cNvPr id="9" name="Rectangle 8"/>
          <p:cNvSpPr/>
          <p:nvPr/>
        </p:nvSpPr>
        <p:spPr>
          <a:xfrm>
            <a:off x="4419600" y="2103120"/>
            <a:ext cx="3322320" cy="384048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48200" y="2286000"/>
            <a:ext cx="2865120" cy="36576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PRIYA</a:t>
            </a:r>
          </a:p>
        </p:txBody>
      </p:sp>
      <p:sp>
        <p:nvSpPr>
          <p:cNvPr id="11" name="TextBox 10"/>
          <p:cNvSpPr txBox="1"/>
          <p:nvPr/>
        </p:nvSpPr>
        <p:spPr>
          <a:xfrm>
            <a:off x="4648200" y="2743200"/>
            <a:ext cx="2865120" cy="3017520"/>
          </a:xfrm>
          <a:prstGeom prst="rect">
            <a:avLst/>
          </a:prstGeom>
          <a:noFill/>
        </p:spPr>
        <p:txBody>
          <a:bodyPr wrap="square" anchor="t" lIns="0" rIns="0" tIns="0" bIns="0">
            <a:spAutoFit/>
          </a:bodyPr>
          <a:lstStyle/>
          <a:p>
            <a:pPr algn="l">
              <a:spcAft>
                <a:spcPts val="810"/>
              </a:spcAft>
            </a:pPr>
            <a:r>
              <a:rPr sz="1800" b="0" i="0">
                <a:solidFill>
                  <a:srgbClr val="1C1B19"/>
                </a:solidFill>
                <a:latin typeface="Source Serif 4"/>
              </a:rPr>
              <a:t>Finds out four friends from her advisory made a separate chat to plan Saturday. She isn't in it.</a:t>
            </a:r>
          </a:p>
        </p:txBody>
      </p:sp>
      <p:sp>
        <p:nvSpPr>
          <p:cNvPr id="12" name="Rectangle 11"/>
          <p:cNvSpPr/>
          <p:nvPr/>
        </p:nvSpPr>
        <p:spPr>
          <a:xfrm>
            <a:off x="8016239" y="2103120"/>
            <a:ext cx="3322320" cy="384048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44839" y="2286000"/>
            <a:ext cx="2865120" cy="36576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THEO</a:t>
            </a:r>
          </a:p>
        </p:txBody>
      </p:sp>
      <p:sp>
        <p:nvSpPr>
          <p:cNvPr id="14" name="TextBox 13"/>
          <p:cNvSpPr txBox="1"/>
          <p:nvPr/>
        </p:nvSpPr>
        <p:spPr>
          <a:xfrm>
            <a:off x="8244839" y="2743200"/>
            <a:ext cx="2865120" cy="3017520"/>
          </a:xfrm>
          <a:prstGeom prst="rect">
            <a:avLst/>
          </a:prstGeom>
          <a:noFill/>
        </p:spPr>
        <p:txBody>
          <a:bodyPr wrap="square" anchor="t" lIns="0" rIns="0" tIns="0" bIns="0">
            <a:spAutoFit/>
          </a:bodyPr>
          <a:lstStyle/>
          <a:p>
            <a:pPr algn="l">
              <a:spcAft>
                <a:spcPts val="810"/>
              </a:spcAft>
            </a:pPr>
            <a:r>
              <a:rPr sz="1800" b="0" i="0">
                <a:solidFill>
                  <a:srgbClr val="1C1B19"/>
                </a:solidFill>
                <a:latin typeface="Source Serif 4"/>
              </a:rPr>
              <a:t>A private message he sent to someone he likes gets screenshotted into the freshman class chat. "sending to the soccer chat."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WHEN A PILE-ON STARTS</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91440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Target or watching, you have moves.</a:t>
            </a:r>
          </a:p>
        </p:txBody>
      </p:sp>
      <p:sp>
        <p:nvSpPr>
          <p:cNvPr id="6" name="Rectangle 5"/>
          <p:cNvSpPr/>
          <p:nvPr/>
        </p:nvSpPr>
        <p:spPr>
          <a:xfrm>
            <a:off x="822960" y="2103120"/>
            <a:ext cx="5120640" cy="393192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2286000"/>
            <a:ext cx="4572000" cy="45720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IF YOU'RE THE TARGET</a:t>
            </a:r>
          </a:p>
        </p:txBody>
      </p:sp>
      <p:sp>
        <p:nvSpPr>
          <p:cNvPr id="8" name="TextBox 7"/>
          <p:cNvSpPr txBox="1"/>
          <p:nvPr/>
        </p:nvSpPr>
        <p:spPr>
          <a:xfrm>
            <a:off x="1097280" y="2788920"/>
            <a:ext cx="4572000" cy="3108960"/>
          </a:xfrm>
          <a:prstGeom prst="rect">
            <a:avLst/>
          </a:prstGeom>
          <a:noFill/>
        </p:spPr>
        <p:txBody>
          <a:bodyPr wrap="square" anchor="t" lIns="0" rIns="0" tIns="0" bIns="0">
            <a:spAutoFit/>
          </a:bodyPr>
          <a:lstStyle/>
          <a:p>
            <a:pPr algn="l">
              <a:spcAft>
                <a:spcPts val="855"/>
              </a:spcAft>
            </a:pPr>
            <a:r>
              <a:rPr sz="1900" b="0" i="0">
                <a:solidFill>
                  <a:srgbClr val="1C1B19"/>
                </a:solidFill>
                <a:latin typeface="Source Serif 4"/>
              </a:rPr>
              <a:t>Don't reply while it's happening</a:t>
            </a:r>
          </a:p>
          <a:p>
            <a:pPr algn="l">
              <a:spcAft>
                <a:spcPts val="855"/>
              </a:spcAft>
            </a:pPr>
            <a:r>
              <a:rPr sz="1900" b="0" i="0">
                <a:solidFill>
                  <a:srgbClr val="1C1B19"/>
                </a:solidFill>
                <a:latin typeface="Source Serif 4"/>
              </a:rPr>
              <a:t>Screenshot it, then stop rereading</a:t>
            </a:r>
          </a:p>
          <a:p>
            <a:pPr algn="l">
              <a:spcAft>
                <a:spcPts val="855"/>
              </a:spcAft>
            </a:pPr>
            <a:r>
              <a:rPr sz="1900" b="0" i="0">
                <a:solidFill>
                  <a:srgbClr val="1C1B19"/>
                </a:solidFill>
                <a:latin typeface="Source Serif 4"/>
              </a:rPr>
              <a:t>Mute or leave. You're allowed.</a:t>
            </a:r>
          </a:p>
          <a:p>
            <a:pPr algn="l">
              <a:spcAft>
                <a:spcPts val="855"/>
              </a:spcAft>
            </a:pPr>
            <a:r>
              <a:rPr sz="1900" b="0" i="0">
                <a:solidFill>
                  <a:srgbClr val="1C1B19"/>
                </a:solidFill>
                <a:latin typeface="Source Serif 4"/>
              </a:rPr>
              <a:t>Tell an adult and one friend</a:t>
            </a:r>
          </a:p>
        </p:txBody>
      </p:sp>
      <p:sp>
        <p:nvSpPr>
          <p:cNvPr id="9" name="Rectangle 8"/>
          <p:cNvSpPr/>
          <p:nvPr/>
        </p:nvSpPr>
        <p:spPr>
          <a:xfrm>
            <a:off x="6309360" y="2103120"/>
            <a:ext cx="5120640" cy="393192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0" y="2286000"/>
            <a:ext cx="4572000" cy="45720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IF YOU'RE WATCHING</a:t>
            </a:r>
          </a:p>
        </p:txBody>
      </p:sp>
      <p:sp>
        <p:nvSpPr>
          <p:cNvPr id="11" name="TextBox 10"/>
          <p:cNvSpPr txBox="1"/>
          <p:nvPr/>
        </p:nvSpPr>
        <p:spPr>
          <a:xfrm>
            <a:off x="6583680" y="2788920"/>
            <a:ext cx="4572000" cy="3108960"/>
          </a:xfrm>
          <a:prstGeom prst="rect">
            <a:avLst/>
          </a:prstGeom>
          <a:noFill/>
        </p:spPr>
        <p:txBody>
          <a:bodyPr wrap="square" anchor="t" lIns="0" rIns="0" tIns="0" bIns="0">
            <a:spAutoFit/>
          </a:bodyPr>
          <a:lstStyle/>
          <a:p>
            <a:pPr algn="l">
              <a:spcAft>
                <a:spcPts val="855"/>
              </a:spcAft>
            </a:pPr>
            <a:r>
              <a:rPr sz="1900" b="0" i="0">
                <a:solidFill>
                  <a:srgbClr val="1C1B19"/>
                </a:solidFill>
                <a:latin typeface="Source Serif 4"/>
              </a:rPr>
              <a:t>Add nothing, not even a reaction</a:t>
            </a:r>
          </a:p>
          <a:p>
            <a:pPr algn="l">
              <a:spcAft>
                <a:spcPts val="855"/>
              </a:spcAft>
            </a:pPr>
            <a:r>
              <a:rPr sz="1900" b="0" i="0">
                <a:solidFill>
                  <a:srgbClr val="1C1B19"/>
                </a:solidFill>
                <a:latin typeface="Source Serif 4"/>
              </a:rPr>
              <a:t>Message the target: "you good?"</a:t>
            </a:r>
          </a:p>
          <a:p>
            <a:pPr algn="l">
              <a:spcAft>
                <a:spcPts val="855"/>
              </a:spcAft>
            </a:pPr>
            <a:r>
              <a:rPr sz="1900" b="0" i="0">
                <a:solidFill>
                  <a:srgbClr val="1C1B19"/>
                </a:solidFill>
                <a:latin typeface="Source Serif 4"/>
              </a:rPr>
              <a:t>Change the subject or call it done</a:t>
            </a:r>
          </a:p>
          <a:p>
            <a:pPr algn="l">
              <a:spcAft>
                <a:spcPts val="855"/>
              </a:spcAft>
            </a:pPr>
            <a:r>
              <a:rPr sz="1900" b="0" i="0">
                <a:solidFill>
                  <a:srgbClr val="1C1B19"/>
                </a:solidFill>
                <a:latin typeface="Source Serif 4"/>
              </a:rPr>
              <a:t>Name an ally to step out with you</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BEFORE YOU GO</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188720"/>
            <a:ext cx="10515600" cy="914400"/>
          </a:xfrm>
          <a:prstGeom prst="rect">
            <a:avLst/>
          </a:prstGeom>
          <a:noFill/>
        </p:spPr>
        <p:txBody>
          <a:bodyPr wrap="square" anchor="t" lIns="0" rIns="0" tIns="0" bIns="0">
            <a:spAutoFit/>
          </a:bodyPr>
          <a:lstStyle/>
          <a:p>
            <a:pPr algn="l">
              <a:spcAft>
                <a:spcPts val="1620"/>
              </a:spcAft>
            </a:pPr>
            <a:r>
              <a:rPr sz="3600" b="1" i="0">
                <a:solidFill>
                  <a:srgbClr val="1C1B19"/>
                </a:solidFill>
                <a:latin typeface="Source Serif 4"/>
              </a:rPr>
              <a:t>Exit card</a:t>
            </a:r>
          </a:p>
        </p:txBody>
      </p:sp>
      <p:sp>
        <p:nvSpPr>
          <p:cNvPr id="6" name="TextBox 5"/>
          <p:cNvSpPr txBox="1"/>
          <p:nvPr/>
        </p:nvSpPr>
        <p:spPr>
          <a:xfrm>
            <a:off x="822960" y="2286000"/>
            <a:ext cx="10515600" cy="1463040"/>
          </a:xfrm>
          <a:prstGeom prst="rect">
            <a:avLst/>
          </a:prstGeom>
          <a:noFill/>
        </p:spPr>
        <p:txBody>
          <a:bodyPr wrap="square" anchor="t" lIns="0" rIns="0" tIns="0" bIns="0">
            <a:spAutoFit/>
          </a:bodyPr>
          <a:lstStyle/>
          <a:p>
            <a:pPr algn="l">
              <a:spcAft>
                <a:spcPts val="1080"/>
              </a:spcAft>
            </a:pPr>
            <a:r>
              <a:rPr sz="2400" b="0" i="0">
                <a:solidFill>
                  <a:srgbClr val="1C1B19"/>
                </a:solidFill>
                <a:latin typeface="Source Serif 4"/>
              </a:rPr>
              <a:t>Next time your stomach drops at a text, what's the one move you'll make first?</a:t>
            </a:r>
          </a:p>
        </p:txBody>
      </p:sp>
      <p:sp>
        <p:nvSpPr>
          <p:cNvPr id="7" name="Rectangle 6"/>
          <p:cNvSpPr/>
          <p:nvPr/>
        </p:nvSpPr>
        <p:spPr>
          <a:xfrm>
            <a:off x="822960" y="4023360"/>
            <a:ext cx="10515600" cy="1371600"/>
          </a:xfrm>
          <a:prstGeom prst="rect">
            <a:avLst/>
          </a:prstGeom>
          <a:solidFill>
            <a:srgbClr val="FFFFFF"/>
          </a:solidFill>
          <a:ln w="15875">
            <a:solidFill>
              <a:srgbClr val="1C1B1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4206240"/>
            <a:ext cx="10058400" cy="365760"/>
          </a:xfrm>
          <a:prstGeom prst="rect">
            <a:avLst/>
          </a:prstGeom>
          <a:noFill/>
        </p:spPr>
        <p:txBody>
          <a:bodyPr wrap="square" anchor="t" lIns="0" rIns="0" tIns="0" bIns="0">
            <a:spAutoFit/>
          </a:bodyPr>
          <a:lstStyle/>
          <a:p>
            <a:pPr algn="l">
              <a:spcAft>
                <a:spcPts val="540"/>
              </a:spcAft>
            </a:pPr>
            <a:r>
              <a:rPr sz="1200" b="1" i="0">
                <a:solidFill>
                  <a:srgbClr val="0B2D5B"/>
                </a:solidFill>
                <a:latin typeface="Inter Tight"/>
              </a:rPr>
              <a:t>ON THE BVR DINER MENU</a:t>
            </a:r>
          </a:p>
        </p:txBody>
      </p:sp>
      <p:sp>
        <p:nvSpPr>
          <p:cNvPr id="9" name="TextBox 8"/>
          <p:cNvSpPr txBox="1"/>
          <p:nvPr/>
        </p:nvSpPr>
        <p:spPr>
          <a:xfrm>
            <a:off x="1097280" y="4617720"/>
            <a:ext cx="10058400" cy="640080"/>
          </a:xfrm>
          <a:prstGeom prst="rect">
            <a:avLst/>
          </a:prstGeom>
          <a:noFill/>
        </p:spPr>
        <p:txBody>
          <a:bodyPr wrap="square" anchor="t" lIns="0" rIns="0" tIns="0" bIns="0">
            <a:spAutoFit/>
          </a:bodyPr>
          <a:lstStyle/>
          <a:p>
            <a:pPr algn="l">
              <a:spcAft>
                <a:spcPts val="900"/>
              </a:spcAft>
            </a:pPr>
            <a:r>
              <a:rPr sz="2000" b="0" i="0">
                <a:solidFill>
                  <a:srgbClr val="1C1B19"/>
                </a:solidFill>
                <a:latin typeface="Inter Tight"/>
              </a:rPr>
              <a:t>https://rmwtoolkit.github.io/bcds-toolkit/group-chat-drama-high-school.html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Lesson plan</a:t>
            </a:r>
          </a:p>
        </p:txBody>
      </p:sp>
      <p:sp>
        <p:nvSpPr>
          <p:cNvPr id="4" name="TextBox 3"/>
          <p:cNvSpPr txBox="1"/>
          <p:nvPr/>
        </p:nvSpPr>
        <p:spPr>
          <a:xfrm>
            <a:off x="548640" y="685800"/>
            <a:ext cx="10972800" cy="73152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Group Chat Drama</a:t>
            </a:r>
          </a:p>
        </p:txBody>
      </p:sp>
      <p:sp>
        <p:nvSpPr>
          <p:cNvPr id="5" name="TextBox 4"/>
          <p:cNvSpPr txBox="1"/>
          <p:nvPr/>
        </p:nvSpPr>
        <p:spPr>
          <a:xfrm>
            <a:off x="548640" y="1325880"/>
            <a:ext cx="10972800" cy="365760"/>
          </a:xfrm>
          <a:prstGeom prst="rect">
            <a:avLst/>
          </a:prstGeom>
          <a:noFill/>
        </p:spPr>
        <p:txBody>
          <a:bodyPr wrap="square" anchor="t" lIns="0" rIns="0" tIns="0" bIns="0">
            <a:spAutoFit/>
          </a:bodyPr>
          <a:lstStyle/>
          <a:p>
            <a:pPr algn="l">
              <a:spcAft>
                <a:spcPts val="630"/>
              </a:spcAft>
            </a:pPr>
            <a:r>
              <a:rPr sz="1400" b="0" i="0">
                <a:solidFill>
                  <a:srgbClr val="5D5A54"/>
                </a:solidFill>
                <a:latin typeface="Inter Tight"/>
              </a:rPr>
              <a:t>Upper School  ·  45 minutes (20-minute advisory version below)  ·  9th grade advisory, health class, or a counselor-led group</a:t>
            </a:r>
          </a:p>
        </p:txBody>
      </p:sp>
      <p:sp>
        <p:nvSpPr>
          <p:cNvPr id="6" name="TextBox 5"/>
          <p:cNvSpPr txBox="1"/>
          <p:nvPr/>
        </p:nvSpPr>
        <p:spPr>
          <a:xfrm>
            <a:off x="548640" y="1828800"/>
            <a:ext cx="5120640" cy="4389120"/>
          </a:xfrm>
          <a:prstGeom prst="rect">
            <a:avLst/>
          </a:prstGeom>
          <a:noFill/>
        </p:spPr>
        <p:txBody>
          <a:bodyPr wrap="square" anchor="t" lIns="0" rIns="0" tIns="0" bIns="0">
            <a:spAutoFit/>
          </a:bodyPr>
          <a:lstStyle/>
          <a:p>
            <a:pPr algn="l">
              <a:spcAft>
                <a:spcPts val="675"/>
              </a:spcAft>
            </a:pPr>
            <a:r>
              <a:rPr sz="1100" b="1" i="0">
                <a:solidFill>
                  <a:srgbClr val="0B2D5B"/>
                </a:solidFill>
                <a:latin typeface="Inter Tight"/>
              </a:rPr>
              <a:t>GOAL</a:t>
            </a:r>
          </a:p>
          <a:p>
            <a:pPr algn="l">
              <a:spcAft>
                <a:spcPts val="675"/>
              </a:spcAft>
            </a:pPr>
            <a:r>
              <a:rPr sz="1500" b="0" i="0">
                <a:solidFill>
                  <a:srgbClr val="1C1B19"/>
                </a:solidFill>
                <a:latin typeface="Source Serif 4"/>
              </a:rPr>
              <a:t>Students can explain why text misleads (tone is stripped out and our mood fills it in), use the read-it-three-ways steps and the screenshot test before replying, and name one move for when a chat turns on someone. Nobody shares a real chat.</a:t>
            </a:r>
          </a:p>
          <a:p>
            <a:pPr algn="l">
              <a:spcAft>
                <a:spcPts val="675"/>
              </a:spcAft>
            </a:pPr>
            <a:r>
              <a:rPr sz="1500" b="0" i="0">
                <a:solidFill>
                  <a:srgbClr val="1C1B19"/>
                </a:solidFill>
                <a:latin typeface="Source Serif 4"/>
              </a:rPr>
              <a:t/>
            </a:r>
          </a:p>
          <a:p>
            <a:pPr algn="l">
              <a:spcAft>
                <a:spcPts val="675"/>
              </a:spcAft>
            </a:pPr>
            <a:r>
              <a:rPr sz="1100" b="1" i="0">
                <a:solidFill>
                  <a:srgbClr val="0B2D5B"/>
                </a:solidFill>
                <a:latin typeface="Inter Tight"/>
              </a:rPr>
              <a:t>MATERIALS</a:t>
            </a:r>
          </a:p>
          <a:p>
            <a:pPr algn="l">
              <a:spcAft>
                <a:spcPts val="675"/>
              </a:spcAft>
            </a:pPr>
            <a:r>
              <a:rPr sz="1500" b="0" i="0">
                <a:solidFill>
                  <a:srgbClr val="1C1B19"/>
                </a:solidFill>
                <a:latin typeface="Source Serif 4"/>
              </a:rPr>
              <a:t>Index cards for the screenshot test and the exit card</a:t>
            </a:r>
          </a:p>
          <a:p>
            <a:pPr algn="l">
              <a:spcAft>
                <a:spcPts val="675"/>
              </a:spcAft>
            </a:pPr>
            <a:r>
              <a:rPr sz="1500" b="0" i="0">
                <a:solidFill>
                  <a:srgbClr val="1C1B19"/>
                </a:solidFill>
                <a:latin typeface="Source Serif 4"/>
              </a:rPr>
              <a:t>A board for the fist-to-five tally</a:t>
            </a:r>
          </a:p>
          <a:p>
            <a:pPr algn="l">
              <a:spcAft>
                <a:spcPts val="675"/>
              </a:spcAft>
            </a:pPr>
            <a:r>
              <a:rPr sz="1500" b="0" i="0">
                <a:solidFill>
                  <a:srgbClr val="1C1B19"/>
                </a:solidFill>
                <a:latin typeface="Source Serif 4"/>
              </a:rPr>
              <a:t>The take-home link (last slide) to share after class</a:t>
            </a:r>
          </a:p>
        </p:txBody>
      </p:sp>
      <p:sp>
        <p:nvSpPr>
          <p:cNvPr id="7" name="TextBox 6"/>
          <p:cNvSpPr txBox="1"/>
          <p:nvPr/>
        </p:nvSpPr>
        <p:spPr>
          <a:xfrm>
            <a:off x="6126480" y="1828800"/>
            <a:ext cx="5486400" cy="4389120"/>
          </a:xfrm>
          <a:prstGeom prst="rect">
            <a:avLst/>
          </a:prstGeom>
          <a:noFill/>
        </p:spPr>
        <p:txBody>
          <a:bodyPr wrap="square" anchor="t" lIns="0" rIns="0" tIns="0" bIns="0">
            <a:spAutoFit/>
          </a:bodyPr>
          <a:lstStyle/>
          <a:p>
            <a:pPr algn="l">
              <a:spcAft>
                <a:spcPts val="630"/>
              </a:spcAft>
            </a:pPr>
            <a:r>
              <a:rPr sz="1100" b="1" i="0">
                <a:solidFill>
                  <a:srgbClr val="0B2D5B"/>
                </a:solidFill>
                <a:latin typeface="Inter Tight"/>
              </a:rPr>
              <a:t>FLOW</a:t>
            </a:r>
          </a:p>
          <a:p>
            <a:pPr algn="l">
              <a:spcAft>
                <a:spcPts val="630"/>
              </a:spcAft>
            </a:pPr>
            <a:r>
              <a:rPr sz="1300" b="1" i="0">
                <a:solidFill>
                  <a:srgbClr val="F47B20"/>
                </a:solidFill>
                <a:latin typeface="Inter Tight"/>
              </a:rPr>
              <a:t>5 min   </a:t>
            </a:r>
            <a:r>
              <a:rPr sz="1400" b="0" i="0">
                <a:solidFill>
                  <a:srgbClr val="1C1B19"/>
                </a:solidFill>
                <a:latin typeface="Source Serif 4"/>
              </a:rPr>
              <a:t>What does "ok." mean? (fist-to-five tally)</a:t>
            </a:r>
          </a:p>
          <a:p>
            <a:pPr algn="l">
              <a:spcAft>
                <a:spcPts val="630"/>
              </a:spcAft>
            </a:pPr>
            <a:r>
              <a:rPr sz="1300" b="1" i="0">
                <a:solidFill>
                  <a:srgbClr val="F47B20"/>
                </a:solidFill>
                <a:latin typeface="Inter Tight"/>
              </a:rPr>
              <a:t>7 min   </a:t>
            </a:r>
            <a:r>
              <a:rPr sz="1400" b="0" i="0">
                <a:solidFill>
                  <a:srgbClr val="1C1B19"/>
                </a:solidFill>
                <a:latin typeface="Source Serif 4"/>
              </a:rPr>
              <a:t>What text deletes, what your brain adds</a:t>
            </a:r>
          </a:p>
          <a:p>
            <a:pPr algn="l">
              <a:spcAft>
                <a:spcPts val="630"/>
              </a:spcAft>
            </a:pPr>
            <a:r>
              <a:rPr sz="1300" b="1" i="0">
                <a:solidFill>
                  <a:srgbClr val="F47B20"/>
                </a:solidFill>
                <a:latin typeface="Inter Tight"/>
              </a:rPr>
              <a:t>8 min   </a:t>
            </a:r>
            <a:r>
              <a:rPr sz="1400" b="0" i="0">
                <a:solidFill>
                  <a:srgbClr val="1C1B19"/>
                </a:solidFill>
                <a:latin typeface="Source Serif 4"/>
              </a:rPr>
              <a:t>Read it three ways (pair-share)</a:t>
            </a:r>
          </a:p>
          <a:p>
            <a:pPr algn="l">
              <a:spcAft>
                <a:spcPts val="630"/>
              </a:spcAft>
            </a:pPr>
            <a:r>
              <a:rPr sz="1300" b="1" i="0">
                <a:solidFill>
                  <a:srgbClr val="F47B20"/>
                </a:solidFill>
                <a:latin typeface="Inter Tight"/>
              </a:rPr>
              <a:t>5 min   </a:t>
            </a:r>
            <a:r>
              <a:rPr sz="1400" b="0" i="0">
                <a:solidFill>
                  <a:srgbClr val="1C1B19"/>
                </a:solidFill>
                <a:latin typeface="Source Serif 4"/>
              </a:rPr>
              <a:t>The screenshot test (private card)</a:t>
            </a:r>
          </a:p>
          <a:p>
            <a:pPr algn="l">
              <a:spcAft>
                <a:spcPts val="630"/>
              </a:spcAft>
            </a:pPr>
            <a:r>
              <a:rPr sz="1300" b="1" i="0">
                <a:solidFill>
                  <a:srgbClr val="F47B20"/>
                </a:solidFill>
                <a:latin typeface="Inter Tight"/>
              </a:rPr>
              <a:t>10 min   </a:t>
            </a:r>
            <a:r>
              <a:rPr sz="1400" b="0" i="0">
                <a:solidFill>
                  <a:srgbClr val="1C1B19"/>
                </a:solidFill>
                <a:latin typeface="Source Serif 4"/>
              </a:rPr>
              <a:t>Three moments (small groups)</a:t>
            </a:r>
          </a:p>
          <a:p>
            <a:pPr algn="l">
              <a:spcAft>
                <a:spcPts val="630"/>
              </a:spcAft>
            </a:pPr>
            <a:r>
              <a:rPr sz="1300" b="1" i="0">
                <a:solidFill>
                  <a:srgbClr val="F47B20"/>
                </a:solidFill>
                <a:latin typeface="Inter Tight"/>
              </a:rPr>
              <a:t>7 min   </a:t>
            </a:r>
            <a:r>
              <a:rPr sz="1400" b="0" i="0">
                <a:solidFill>
                  <a:srgbClr val="1C1B19"/>
                </a:solidFill>
                <a:latin typeface="Source Serif 4"/>
              </a:rPr>
              <a:t>When a pile-on starts</a:t>
            </a:r>
          </a:p>
          <a:p>
            <a:pPr algn="l">
              <a:spcAft>
                <a:spcPts val="630"/>
              </a:spcAft>
            </a:pPr>
            <a:r>
              <a:rPr sz="1300" b="1" i="0">
                <a:solidFill>
                  <a:srgbClr val="F47B20"/>
                </a:solidFill>
                <a:latin typeface="Inter Tight"/>
              </a:rPr>
              <a:t>3 min   </a:t>
            </a:r>
            <a:r>
              <a:rPr sz="1400" b="0" i="0">
                <a:solidFill>
                  <a:srgbClr val="1C1B19"/>
                </a:solidFill>
                <a:latin typeface="Source Serif 4"/>
              </a:rPr>
              <a:t>Exit card and take-home link</a:t>
            </a:r>
          </a:p>
          <a:p>
            <a:pPr algn="l">
              <a:spcAft>
                <a:spcPts val="630"/>
              </a:spcAft>
            </a:pPr>
            <a:r>
              <a:rPr sz="1400" b="0" i="0">
                <a:solidFill>
                  <a:srgbClr val="1C1B19"/>
                </a:solidFill>
                <a:latin typeface="Source Serif 4"/>
              </a:rPr>
              <a:t/>
            </a:r>
          </a:p>
          <a:p>
            <a:pPr algn="l">
              <a:spcAft>
                <a:spcPts val="630"/>
              </a:spcAft>
            </a:pPr>
            <a:r>
              <a:rPr sz="1100" b="1" i="0">
                <a:solidFill>
                  <a:srgbClr val="0B2D5B"/>
                </a:solidFill>
                <a:latin typeface="Inter Tight"/>
              </a:rPr>
              <a:t>SHORT ON TIME (20-MINUTE ADVISORY)</a:t>
            </a:r>
          </a:p>
          <a:p>
            <a:pPr algn="l">
              <a:spcAft>
                <a:spcPts val="630"/>
              </a:spcAft>
            </a:pPr>
            <a:r>
              <a:rPr sz="1400" b="0" i="0">
                <a:solidFill>
                  <a:srgbClr val="1C1B19"/>
                </a:solidFill>
                <a:latin typeface="Source Serif 4"/>
              </a:rPr>
              <a:t>The "ok." tally (4), read it three ways (6), when a pile-on starts (7), exit card (3). The take-home sheet has the screenshot test and the settings.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Before you teach</a:t>
            </a:r>
          </a:p>
        </p:txBody>
      </p:sp>
      <p:sp>
        <p:nvSpPr>
          <p:cNvPr id="4" name="TextBox 3"/>
          <p:cNvSpPr txBox="1"/>
          <p:nvPr/>
        </p:nvSpPr>
        <p:spPr>
          <a:xfrm>
            <a:off x="548640" y="685800"/>
            <a:ext cx="10972800" cy="640080"/>
          </a:xfrm>
          <a:prstGeom prst="rect">
            <a:avLst/>
          </a:prstGeom>
          <a:noFill/>
        </p:spPr>
        <p:txBody>
          <a:bodyPr wrap="square" anchor="t" lIns="0" rIns="0" tIns="0" bIns="0">
            <a:spAutoFit/>
          </a:bodyPr>
          <a:lstStyle/>
          <a:p>
            <a:pPr algn="l">
              <a:spcAft>
                <a:spcPts val="1350"/>
              </a:spcAft>
            </a:pPr>
            <a:r>
              <a:rPr sz="3000" b="1" i="0">
                <a:solidFill>
                  <a:srgbClr val="1C1B19"/>
                </a:solidFill>
                <a:latin typeface="Source Serif 4"/>
              </a:rPr>
              <a:t>Before you teach</a:t>
            </a:r>
          </a:p>
        </p:txBody>
      </p:sp>
      <p:sp>
        <p:nvSpPr>
          <p:cNvPr id="5" name="TextBox 4"/>
          <p:cNvSpPr txBox="1"/>
          <p:nvPr/>
        </p:nvSpPr>
        <p:spPr>
          <a:xfrm>
            <a:off x="548640" y="1463040"/>
            <a:ext cx="5394960" cy="493776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No real chats, no real names.</a:t>
            </a:r>
          </a:p>
          <a:p>
            <a:pPr algn="l">
              <a:spcAft>
                <a:spcPts val="585"/>
              </a:spcAft>
            </a:pPr>
            <a:r>
              <a:rPr sz="1300" b="0" i="0">
                <a:solidFill>
                  <a:srgbClr val="1C1B19"/>
                </a:solidFill>
                <a:latin typeface="Source Serif 4"/>
              </a:rPr>
              <a:t>Use only the examples on the slides. Don't ask students to show their phones, read real messages, or describe a fight they're in. Someone in the room may be the target of a chat right now, and someone may have been part of a pile-on.</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If a real incident comes up, take it out of the room.</a:t>
            </a:r>
          </a:p>
          <a:p>
            <a:pPr algn="l">
              <a:spcAft>
                <a:spcPts val="585"/>
              </a:spcAft>
            </a:pPr>
            <a:r>
              <a:rPr sz="1300" b="0" i="0">
                <a:solidFill>
                  <a:srgbClr val="1C1B19"/>
                </a:solidFill>
                <a:latin typeface="Source Serif 4"/>
              </a:rPr>
              <a:t>If a student names an ongoing situation, thank them, say you want to help with it privately, and move on. Follow up that day with a counselor or dean.</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Know which chats need an adult right away.</a:t>
            </a:r>
          </a:p>
          <a:p>
            <a:pPr algn="l">
              <a:spcAft>
                <a:spcPts val="585"/>
              </a:spcAft>
            </a:pPr>
            <a:r>
              <a:rPr sz="1300" b="0" i="0">
                <a:solidFill>
                  <a:srgbClr val="1C1B19"/>
                </a:solidFill>
                <a:latin typeface="Source Serif 4"/>
              </a:rPr>
              <a:t>Threats to hurt someone or talk about a weapon. Someone saying they want to hurt themselves or die, even as a "joke." The same person targeted again and again. Don't ask about these in class. Any disclosure goes to a counselor the same day.</a:t>
            </a:r>
          </a:p>
          <a:p>
            <a:pPr algn="l">
              <a:spcAft>
                <a:spcPts val="585"/>
              </a:spcAft>
            </a:pPr>
            <a:r>
              <a:rPr sz="1300" b="0" i="0">
                <a:solidFill>
                  <a:srgbClr val="1C1B19"/>
                </a:solidFill>
                <a:latin typeface="Source Serif 4"/>
              </a:rPr>
              <a:t/>
            </a:r>
          </a:p>
        </p:txBody>
      </p:sp>
      <p:sp>
        <p:nvSpPr>
          <p:cNvPr id="6" name="TextBox 5"/>
          <p:cNvSpPr txBox="1"/>
          <p:nvPr/>
        </p:nvSpPr>
        <p:spPr>
          <a:xfrm>
            <a:off x="6217920" y="1463040"/>
            <a:ext cx="5394960" cy="493776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Sexual images of anyone under 18.</a:t>
            </a:r>
          </a:p>
          <a:p>
            <a:pPr algn="l">
              <a:spcAft>
                <a:spcPts val="585"/>
              </a:spcAft>
            </a:pPr>
            <a:r>
              <a:rPr sz="1300" b="0" i="0">
                <a:solidFill>
                  <a:srgbClr val="1C1B19"/>
                </a:solidFill>
                <a:latin typeface="Source Serif 4"/>
              </a:rPr>
              <a:t>Students may mention nudes or AI-made images. Say calmly: don't forward, don't save, tell an adult. Don't ask to see anything. In Massachusetts, sharing a sexual image of someone under 18 can bring legal consequences even between teens, and a 2024 law made sharing anyone's intimate images without consent, including deepfakes, a crime.</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Telling an adult will feel like snitching to some students.</a:t>
            </a:r>
          </a:p>
          <a:p>
            <a:pPr algn="l">
              <a:spcAft>
                <a:spcPts val="585"/>
              </a:spcAft>
            </a:pPr>
            <a:r>
              <a:rPr sz="1300" b="0" i="0">
                <a:solidFill>
                  <a:srgbClr val="1C1B19"/>
                </a:solidFill>
                <a:latin typeface="Source Serif 4"/>
              </a:rPr>
              <a:t>Name the worry out loud. Frame telling as looking out for someone, and say plainly what happens next at your school when a student reports a chat.</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Leave room for the student who joined in.</a:t>
            </a:r>
          </a:p>
          <a:p>
            <a:pPr algn="l">
              <a:spcAft>
                <a:spcPts val="585"/>
              </a:spcAft>
            </a:pPr>
            <a:r>
              <a:rPr sz="1300" b="0" i="0">
                <a:solidFill>
                  <a:srgbClr val="1C1B19"/>
                </a:solidFill>
                <a:latin typeface="Source Serif 4"/>
              </a:rPr>
              <a:t>Some students have forwarded or laughed at something they regret. Give them a way back: stop adding, delete what you can, and apologize directly without excuses. Keep shame out of it so they can use it.</a:t>
            </a:r>
          </a:p>
          <a:p>
            <a:pPr algn="l">
              <a:spcAft>
                <a:spcPts val="585"/>
              </a:spcAft>
            </a:pPr>
            <a:r>
              <a:rPr sz="1300" b="0" i="0">
                <a:solidFill>
                  <a:srgbClr val="1C1B19"/>
                </a:solidFill>
                <a:latin typeface="Source Serif 4"/>
              </a:rPr>
              <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Every student in the room</a:t>
            </a:r>
          </a:p>
        </p:txBody>
      </p:sp>
      <p:sp>
        <p:nvSpPr>
          <p:cNvPr id="4" name="TextBox 3"/>
          <p:cNvSpPr txBox="1"/>
          <p:nvPr/>
        </p:nvSpPr>
        <p:spPr>
          <a:xfrm>
            <a:off x="548640" y="685800"/>
            <a:ext cx="10972800" cy="640080"/>
          </a:xfrm>
          <a:prstGeom prst="rect">
            <a:avLst/>
          </a:prstGeom>
          <a:noFill/>
        </p:spPr>
        <p:txBody>
          <a:bodyPr wrap="square" anchor="t" lIns="0" rIns="0" tIns="0" bIns="0">
            <a:spAutoFit/>
          </a:bodyPr>
          <a:lstStyle/>
          <a:p>
            <a:pPr algn="l">
              <a:spcAft>
                <a:spcPts val="1350"/>
              </a:spcAft>
            </a:pPr>
            <a:r>
              <a:rPr sz="3000" b="1" i="0">
                <a:solidFill>
                  <a:srgbClr val="1C1B19"/>
                </a:solidFill>
                <a:latin typeface="Source Serif 4"/>
              </a:rPr>
              <a:t>Every student in the room</a:t>
            </a:r>
          </a:p>
        </p:txBody>
      </p:sp>
      <p:sp>
        <p:nvSpPr>
          <p:cNvPr id="5" name="TextBox 4"/>
          <p:cNvSpPr txBox="1"/>
          <p:nvPr/>
        </p:nvSpPr>
        <p:spPr>
          <a:xfrm>
            <a:off x="548640" y="1325880"/>
            <a:ext cx="10972800" cy="365760"/>
          </a:xfrm>
          <a:prstGeom prst="rect">
            <a:avLst/>
          </a:prstGeom>
          <a:noFill/>
        </p:spPr>
        <p:txBody>
          <a:bodyPr wrap="square" anchor="t" lIns="0" rIns="0" tIns="0" bIns="0">
            <a:spAutoFit/>
          </a:bodyPr>
          <a:lstStyle/>
          <a:p>
            <a:pPr algn="l">
              <a:spcAft>
                <a:spcPts val="630"/>
              </a:spcAft>
            </a:pPr>
            <a:r>
              <a:rPr sz="1400" b="0" i="0">
                <a:solidFill>
                  <a:srgbClr val="5D5A54"/>
                </a:solidFill>
                <a:latin typeface="Inter Tight"/>
              </a:rPr>
              <a:t>Culture, family, identity, ability and money: what to keep in mind for this topic.</a:t>
            </a:r>
          </a:p>
        </p:txBody>
      </p:sp>
      <p:sp>
        <p:nvSpPr>
          <p:cNvPr id="6" name="TextBox 5"/>
          <p:cNvSpPr txBox="1"/>
          <p:nvPr/>
        </p:nvSpPr>
        <p:spPr>
          <a:xfrm>
            <a:off x="548640" y="1828800"/>
            <a:ext cx="5394960" cy="457200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People raise hurt in different ways.</a:t>
            </a:r>
          </a:p>
          <a:p>
            <a:pPr algn="l">
              <a:spcAft>
                <a:spcPts val="585"/>
              </a:spcAft>
            </a:pPr>
            <a:r>
              <a:rPr sz="1300" b="0" i="0">
                <a:solidFill>
                  <a:srgbClr val="1C1B19"/>
                </a:solidFill>
                <a:latin typeface="Source Serif 4"/>
              </a:rPr>
              <a:t>Some students say it straight out. Others show it by spending time elsewhere, depending on family, culture, and the friendship. Present both as normal and ask students what fits them and what this friend will actually hear.</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A leaked message can out someone.</a:t>
            </a:r>
          </a:p>
          <a:p>
            <a:pPr algn="l">
              <a:spcAft>
                <a:spcPts val="585"/>
              </a:spcAft>
            </a:pPr>
            <a:r>
              <a:rPr sz="1300" b="0" i="0">
                <a:solidFill>
                  <a:srgbClr val="1C1B19"/>
                </a:solidFill>
                <a:latin typeface="Source Serif 4"/>
              </a:rPr>
              <a:t>The Theo scenario says "someone he likes" on purpose. A screenshot that reveals who a student likes, or their gender identity, can put them at risk at school or at home. Treat that as a same-day counselor conversation, never a discussion topic.</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Reading tone is harder for some students.</a:t>
            </a:r>
          </a:p>
          <a:p>
            <a:pPr algn="l">
              <a:spcAft>
                <a:spcPts val="585"/>
              </a:spcAft>
            </a:pPr>
            <a:r>
              <a:rPr sz="1300" b="0" i="0">
                <a:solidFill>
                  <a:srgbClr val="1C1B19"/>
                </a:solidFill>
                <a:latin typeface="Source Serif 4"/>
              </a:rPr>
              <a:t>Autistic students, students with ADHD, and students with social anxiety may misread or overthink texts more, or reply in short, literal ways that others misread. "Ask instead of guessing" helps everyone. Don't make fast replies or emoji a sign of being a good friend.</a:t>
            </a:r>
          </a:p>
          <a:p>
            <a:pPr algn="l">
              <a:spcAft>
                <a:spcPts val="585"/>
              </a:spcAft>
            </a:pPr>
            <a:r>
              <a:rPr sz="1300" b="0" i="0">
                <a:solidFill>
                  <a:srgbClr val="1C1B19"/>
                </a:solidFill>
                <a:latin typeface="Source Serif 4"/>
              </a:rPr>
              <a:t/>
            </a:r>
          </a:p>
        </p:txBody>
      </p:sp>
      <p:sp>
        <p:nvSpPr>
          <p:cNvPr id="7" name="TextBox 6"/>
          <p:cNvSpPr txBox="1"/>
          <p:nvPr/>
        </p:nvSpPr>
        <p:spPr>
          <a:xfrm>
            <a:off x="6217920" y="1828800"/>
            <a:ext cx="5394960" cy="457200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English may be a second language in the chat.</a:t>
            </a:r>
          </a:p>
          <a:p>
            <a:pPr algn="l">
              <a:spcAft>
                <a:spcPts val="585"/>
              </a:spcAft>
            </a:pPr>
            <a:r>
              <a:rPr sz="1300" b="0" i="0">
                <a:solidFill>
                  <a:srgbClr val="1C1B19"/>
                </a:solidFill>
                <a:latin typeface="Source Serif 4"/>
              </a:rPr>
              <a:t>Some students text in English as a second language or switch between languages, and short or plain replies may be how they write. Add that to "read it as if they're busy" as another reason a reply can look cold.</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Not every student has their own phone.</a:t>
            </a:r>
          </a:p>
          <a:p>
            <a:pPr algn="l">
              <a:spcAft>
                <a:spcPts val="585"/>
              </a:spcAft>
            </a:pPr>
            <a:r>
              <a:rPr sz="1300" b="0" i="0">
                <a:solidFill>
                  <a:srgbClr val="1C1B19"/>
                </a:solidFill>
                <a:latin typeface="Source Serif 4"/>
              </a:rPr>
              <a:t>Some share a family phone, have limited data, or have phone limits for family or faith reasons, and may miss chats for those reasons alone. The moves work for any group, online or in person, and mute, read receipts, and focus modes are free.</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"Tell an adult" means any adult they trust.</a:t>
            </a:r>
          </a:p>
          <a:p>
            <a:pPr algn="l">
              <a:spcAft>
                <a:spcPts val="585"/>
              </a:spcAft>
            </a:pPr>
            <a:r>
              <a:rPr sz="1300" b="0" i="0">
                <a:solidFill>
                  <a:srgbClr val="1C1B19"/>
                </a:solidFill>
                <a:latin typeface="Source Serif 4"/>
              </a:rPr>
              <a:t>That could be a parent or caregiver, a grandparent, an older cousin, a coach, a teacher, or a counselor. Not every student can bring this home, so always name a school adult too.</a:t>
            </a:r>
          </a:p>
          <a:p>
            <a:pPr algn="l">
              <a:spcAft>
                <a:spcPts val="585"/>
              </a:spcAft>
            </a:pPr>
            <a:r>
              <a:rPr sz="1300" b="0" i="0">
                <a:solidFill>
                  <a:srgbClr val="1C1B19"/>
                </a:solidFill>
                <a:latin typeface="Source Serif 4"/>
              </a:rPr>
              <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Background</a:t>
            </a:r>
          </a:p>
        </p:txBody>
      </p:sp>
      <p:sp>
        <p:nvSpPr>
          <p:cNvPr id="4" name="TextBox 3"/>
          <p:cNvSpPr txBox="1"/>
          <p:nvPr/>
        </p:nvSpPr>
        <p:spPr>
          <a:xfrm>
            <a:off x="548640" y="685800"/>
            <a:ext cx="10972800" cy="640080"/>
          </a:xfrm>
          <a:prstGeom prst="rect">
            <a:avLst/>
          </a:prstGeom>
          <a:noFill/>
        </p:spPr>
        <p:txBody>
          <a:bodyPr wrap="square" anchor="t" lIns="0" rIns="0" tIns="0" bIns="0">
            <a:spAutoFit/>
          </a:bodyPr>
          <a:lstStyle/>
          <a:p>
            <a:pPr algn="l">
              <a:spcAft>
                <a:spcPts val="1350"/>
              </a:spcAft>
            </a:pPr>
            <a:r>
              <a:rPr sz="3000" b="1" i="0">
                <a:solidFill>
                  <a:srgbClr val="1C1B19"/>
                </a:solidFill>
                <a:latin typeface="Source Serif 4"/>
              </a:rPr>
              <a:t>What the research says</a:t>
            </a:r>
          </a:p>
        </p:txBody>
      </p:sp>
      <p:sp>
        <p:nvSpPr>
          <p:cNvPr id="5" name="TextBox 4"/>
          <p:cNvSpPr txBox="1"/>
          <p:nvPr/>
        </p:nvSpPr>
        <p:spPr>
          <a:xfrm>
            <a:off x="548640" y="1463040"/>
            <a:ext cx="5394960" cy="4937760"/>
          </a:xfrm>
          <a:prstGeom prst="rect">
            <a:avLst/>
          </a:prstGeom>
          <a:noFill/>
        </p:spPr>
        <p:txBody>
          <a:bodyPr wrap="square" anchor="t" lIns="0" rIns="0" tIns="0" bIns="0">
            <a:spAutoFit/>
          </a:bodyPr>
          <a:lstStyle/>
          <a:p>
            <a:pPr algn="l">
              <a:spcAft>
                <a:spcPts val="585"/>
              </a:spcAft>
            </a:pPr>
            <a:r>
              <a:rPr sz="1300" b="0" i="0">
                <a:solidFill>
                  <a:srgbClr val="1C1B19"/>
                </a:solidFill>
                <a:latin typeface="Source Serif 4"/>
              </a:rPr>
              <a:t>People sending and reading short messages were about 89% sure they'd read the tone right. Face to face they were right about three times in four; over email, less than two in three. Senders were just as overconfident.</a:t>
            </a:r>
          </a:p>
          <a:p>
            <a:pPr algn="l">
              <a:spcAft>
                <a:spcPts val="585"/>
              </a:spcAft>
            </a:pPr>
            <a:r>
              <a:rPr sz="1050" b="0" i="0">
                <a:solidFill>
                  <a:srgbClr val="5D5A54"/>
                </a:solidFill>
                <a:latin typeface="Inter Tight"/>
              </a:rPr>
              <a:t>Kruger, Epley, Parker and Ng, Journal of Personality and Social Psychology, 2005</a:t>
            </a:r>
          </a:p>
          <a:p>
            <a:pPr algn="l">
              <a:spcAft>
                <a:spcPts val="585"/>
              </a:spcAft>
            </a:pPr>
            <a:r>
              <a:rPr sz="1300" b="0" i="0">
                <a:solidFill>
                  <a:srgbClr val="1C1B19"/>
                </a:solidFill>
                <a:latin typeface="Source Serif 4"/>
              </a:rPr>
              <a:t>The overconfidence comes from egocentrism: you hear your own voice in your head as you type, so it's hard to imagine the message reading any other way.</a:t>
            </a:r>
          </a:p>
          <a:p>
            <a:pPr algn="l">
              <a:spcAft>
                <a:spcPts val="585"/>
              </a:spcAft>
            </a:pPr>
            <a:r>
              <a:rPr sz="1050" b="0" i="0">
                <a:solidFill>
                  <a:srgbClr val="5D5A54"/>
                </a:solidFill>
                <a:latin typeface="Inter Tight"/>
              </a:rPr>
              <a:t>Kruger et al., 2005</a:t>
            </a:r>
          </a:p>
          <a:p>
            <a:pPr algn="l">
              <a:spcAft>
                <a:spcPts val="585"/>
              </a:spcAft>
            </a:pPr>
            <a:r>
              <a:rPr sz="1300" b="0" i="0">
                <a:solidFill>
                  <a:srgbClr val="1C1B19"/>
                </a:solidFill>
                <a:latin typeface="Source Serif 4"/>
              </a:rPr>
              <a:t>One-word text replies like "Okay." read as less sincere with a period than without one. The same replies on handwritten notes showed no difference.</a:t>
            </a:r>
          </a:p>
          <a:p>
            <a:pPr algn="l">
              <a:spcAft>
                <a:spcPts val="585"/>
              </a:spcAft>
            </a:pPr>
            <a:r>
              <a:rPr sz="1050" b="0" i="0">
                <a:solidFill>
                  <a:srgbClr val="5D5A54"/>
                </a:solidFill>
                <a:latin typeface="Inter Tight"/>
              </a:rPr>
              <a:t>Gunraj et al., Computers in Human Behavior, 2016 (Binghamton University)</a:t>
            </a:r>
          </a:p>
          <a:p>
            <a:pPr algn="l">
              <a:spcAft>
                <a:spcPts val="585"/>
              </a:spcAft>
            </a:pPr>
            <a:r>
              <a:rPr sz="1300" b="0" i="0">
                <a:solidFill>
                  <a:srgbClr val="1C1B19"/>
                </a:solidFill>
                <a:latin typeface="Source Serif 4"/>
              </a:rPr>
              <a:t>In the Cyberball studies, more than 1,400 people from 62 countries reported a drop in belonging and mood when two strangers stopped throwing them a ball in an online game.</a:t>
            </a:r>
          </a:p>
          <a:p>
            <a:pPr algn="l">
              <a:spcAft>
                <a:spcPts val="585"/>
              </a:spcAft>
            </a:pPr>
            <a:r>
              <a:rPr sz="1050" b="0" i="0">
                <a:solidFill>
                  <a:srgbClr val="5D5A54"/>
                </a:solidFill>
                <a:latin typeface="Inter Tight"/>
              </a:rPr>
              <a:t>Williams, Cheung and Choi, Journal of Personality and Social Psychology, 2000</a:t>
            </a:r>
          </a:p>
        </p:txBody>
      </p:sp>
      <p:sp>
        <p:nvSpPr>
          <p:cNvPr id="6" name="TextBox 5"/>
          <p:cNvSpPr txBox="1"/>
          <p:nvPr/>
        </p:nvSpPr>
        <p:spPr>
          <a:xfrm>
            <a:off x="6217920" y="1463040"/>
            <a:ext cx="5394960" cy="4937760"/>
          </a:xfrm>
          <a:prstGeom prst="rect">
            <a:avLst/>
          </a:prstGeom>
          <a:noFill/>
        </p:spPr>
        <p:txBody>
          <a:bodyPr wrap="square" anchor="t" lIns="0" rIns="0" tIns="0" bIns="0">
            <a:spAutoFit/>
          </a:bodyPr>
          <a:lstStyle/>
          <a:p>
            <a:pPr algn="l">
              <a:spcAft>
                <a:spcPts val="585"/>
              </a:spcAft>
            </a:pPr>
            <a:r>
              <a:rPr sz="1300" b="0" i="0">
                <a:solidFill>
                  <a:srgbClr val="1C1B19"/>
                </a:solidFill>
                <a:latin typeface="Source Serif 4"/>
              </a:rPr>
              <a:t>The more people in an online chat room, the longer it took someone asking for help to get it. When the request named a specific person, the delay nearly disappeared.</a:t>
            </a:r>
          </a:p>
          <a:p>
            <a:pPr algn="l">
              <a:spcAft>
                <a:spcPts val="585"/>
              </a:spcAft>
            </a:pPr>
            <a:r>
              <a:rPr sz="1050" b="0" i="0">
                <a:solidFill>
                  <a:srgbClr val="5D5A54"/>
                </a:solidFill>
                <a:latin typeface="Inter Tight"/>
              </a:rPr>
              <a:t>Markey, Computers in Human Behavior, 2000</a:t>
            </a:r>
          </a:p>
          <a:p>
            <a:pPr algn="l">
              <a:spcAft>
                <a:spcPts val="585"/>
              </a:spcAft>
            </a:pPr>
            <a:r>
              <a:rPr sz="1300" b="0" i="0">
                <a:solidFill>
                  <a:srgbClr val="1C1B19"/>
                </a:solidFill>
                <a:latin typeface="Source Serif 4"/>
              </a:rPr>
              <a:t>46% of U.S. teens ages 13 to 17 had experienced at least one of six kinds of online harassment, most often offensive name-calling. Among girls 15 to 17, it was 54%.</a:t>
            </a:r>
          </a:p>
          <a:p>
            <a:pPr algn="l">
              <a:spcAft>
                <a:spcPts val="585"/>
              </a:spcAft>
            </a:pPr>
            <a:r>
              <a:rPr sz="1050" b="0" i="0">
                <a:solidFill>
                  <a:srgbClr val="5D5A54"/>
                </a:solidFill>
                <a:latin typeface="Inter Tight"/>
              </a:rPr>
              <a:t>Pew Research Center, Teens and Cyberbullying, 2022</a:t>
            </a:r>
          </a:p>
          <a:p>
            <a:pPr algn="l">
              <a:spcAft>
                <a:spcPts val="585"/>
              </a:spcAft>
            </a:pPr>
            <a:r>
              <a:rPr sz="1300" b="0" i="0">
                <a:solidFill>
                  <a:srgbClr val="1C1B19"/>
                </a:solidFill>
                <a:latin typeface="Source Serif 4"/>
              </a:rPr>
              <a:t>A 2024 law added an education-based diversion program for teens who share sexual images of minors, and made sharing anyone's intimate images without consent, including AI deepfakes, a crime.</a:t>
            </a:r>
          </a:p>
          <a:p>
            <a:pPr algn="l">
              <a:spcAft>
                <a:spcPts val="585"/>
              </a:spcAft>
            </a:pPr>
            <a:r>
              <a:rPr sz="1050" b="0" i="0">
                <a:solidFill>
                  <a:srgbClr val="5D5A54"/>
                </a:solidFill>
                <a:latin typeface="Inter Tight"/>
              </a:rPr>
              <a:t>Massachusetts, An Act to prevent abuse and exploitation (H.4744), 2024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