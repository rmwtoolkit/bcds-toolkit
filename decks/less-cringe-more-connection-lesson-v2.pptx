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Something like: "Advisory is seven or eight kids around a table, and it's where they decide what they think: about the news, about something going on at school, about a talk they just sat through. That happens in a conversation with an adult they know, and that's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Go first with one of your own, and make it a little embarrassing. Two minutes in pairs, then take a few answers. You'll hear: I talked too much, it felt like a lesson, one kid took over, nobody said a word, I got defensive, I ran out of questions with ten minutes left. Write them on one side of the board. Laugh with the room; everyone has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Take answers and write them on the other side of the board. You'll hear: I asked what they thought, I followed where it went, I laughed, I admitted I didn't know, a kid brought it up, it was about something they cared about. Point at the two lists: "You already know the difference. This talk just names it so you can do it on purpose, with seven or eight kids around a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Tobler's meta-analysis covered 207 school drug programs: interactive beat lecture. D.A.R.E. is the famous example of the lecture model. Yeager, Dahl and Dweck: adolescents are tuned to status and respect, so a message that sounds like being managed backfires. Ask: "Where have you seen a kid shut down the second it felt like a lesson?"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Roorda's meta-analysis: the link between teacher relationships and engagement was stronger for older students. Reeve and Cheon: autonomy support (asking for their views, explaining the why, accepting negative feelings) can be learned in short trainings. Bryan's study is a nice story: framing healthy eating as pushing back against food companies worked where facts didn't.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These five questions work for almost anything: a news story, a schoolwide email, a video, a grade talk. Start broad ("So what did you all think?"), then use one of these to help them zero in. One or two can carry the whole period, and disagreement is welcome; it means they were listening. One good example: after a grade talk, every teacher lesson in the toolkit opens with a conversation guide built on four of these same questions, plus three lines that sum up the talk. Hand out a printed one so they can see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Tell one yourself right here, a short one about a time a story opened up an advisory or a conversation with a student. Stories engage: kids lean in, nobody feels quizzed, and a story gives them something to react to besides themselves. Ask the room: "What's a story you could tell about stress, or friendship, or phones?" Take two or three. Remind them that a former student's story gets details changed so nobody could be recognized.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 left column comes from motivational interviewing: when we argue for something, people argue back. Hearing the complaint keeps them talking. The right column matters just as much. Long silences rarely work with high schoolers, so lower the stakes and keep it moving. Ask the room: "What do you already do when a group goes flat?" Add their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Two ways to run it; pick what fits the room. Whole group: read one or two scenarios aloud and talk them through together. Small groups: send clusters of about six to different spots around the room and give each one a scenario card; in a big group, two clusters can share a card. Talk it through for about six minutes: How would you open? What would you say next? Which idea from today fits: one of the five ways in, a short story, rolling with pushback or quiet, the floor? Pick one person to share. Bring everyone back for four minutes and hear one idea from each cluster, or as many as time allows. Walk between clusters and listen. For the phones in “Nothing,” the move from the talk is pulling students back in by name with a real question (“Jordan, would you buy that?”) rather than a reprimand. “Something heavy” rehearses the floor: thank them, keep it short in the group, check in after, and a counselor hears about it that 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The floor never changes, whatever the topic. The right column is the permission advisors need. Advisory doesn't need to teach the content. Your job is to find out what they think and to stay the adult they can come back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Invite, don't assign: "Pick one: an opener, one of the five questions, or one roll-with move." Close with: "Curiosity about them is the whole skill. You already have it, or you wouldn't be doing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Less Cringe, More Connection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40 minutes (20-minute version below)  ·  Led by counseling  ·  Upper School faculty</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Advisors leave ready to lead a real conversation with their advisory group of seven or eight on any topic: something in the news, something going on at school, a question students raised, or the day after a grade talk. They work on opening with what students think, helping them zero in on one thing, rolling with pushback and quiet, and what to do if something heavy comes up. The relationship carries the conversation.</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Scenario cards if you break into clusters, one per cluster (the four on the slide)</a:t>
            </a:r>
          </a:p>
          <a:p>
            <a:pPr algn="l">
              <a:spcAft>
                <a:spcPts val="675"/>
              </a:spcAft>
            </a:pPr>
            <a:r>
              <a:rPr sz="1500" b="0" i="0">
                <a:solidFill>
                  <a:srgbClr val="1C1B19"/>
                </a:solidFill>
                <a:latin typeface="Source Serif 4"/>
              </a:rPr>
              <a:t>One printed conversation guide per advisor, as an example (Vaping and Your Brain works well)</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6 min   </a:t>
            </a:r>
            <a:r>
              <a:rPr sz="1400" b="0" i="0">
                <a:solidFill>
                  <a:srgbClr val="1C1B19"/>
                </a:solidFill>
                <a:latin typeface="Source Serif 4"/>
              </a:rPr>
              <a:t>Opening: an advisory that fell flat, and one that went well</a:t>
            </a:r>
          </a:p>
          <a:p>
            <a:pPr algn="l">
              <a:spcAft>
                <a:spcPts val="630"/>
              </a:spcAft>
            </a:pPr>
            <a:r>
              <a:rPr sz="1300" b="1" i="0">
                <a:solidFill>
                  <a:srgbClr val="F47B20"/>
                </a:solidFill>
                <a:latin typeface="Inter Tight"/>
              </a:rPr>
              <a:t>6 min   </a:t>
            </a:r>
            <a:r>
              <a:rPr sz="1400" b="0" i="0">
                <a:solidFill>
                  <a:srgbClr val="1C1B19"/>
                </a:solidFill>
                <a:latin typeface="Source Serif 4"/>
              </a:rPr>
              <a:t>Why scripts flop, and what the relationship does</a:t>
            </a:r>
          </a:p>
          <a:p>
            <a:pPr algn="l">
              <a:spcAft>
                <a:spcPts val="630"/>
              </a:spcAft>
            </a:pPr>
            <a:r>
              <a:rPr sz="1300" b="1" i="0">
                <a:solidFill>
                  <a:srgbClr val="F47B20"/>
                </a:solidFill>
                <a:latin typeface="Inter Tight"/>
              </a:rPr>
              <a:t>5 min   </a:t>
            </a:r>
            <a:r>
              <a:rPr sz="1400" b="0" i="0">
                <a:solidFill>
                  <a:srgbClr val="1C1B19"/>
                </a:solidFill>
                <a:latin typeface="Source Serif 4"/>
              </a:rPr>
              <a:t>Open with what they think: five ways in</a:t>
            </a:r>
          </a:p>
          <a:p>
            <a:pPr algn="l">
              <a:spcAft>
                <a:spcPts val="630"/>
              </a:spcAft>
            </a:pPr>
            <a:r>
              <a:rPr sz="1300" b="1" i="0">
                <a:solidFill>
                  <a:srgbClr val="F47B20"/>
                </a:solidFill>
                <a:latin typeface="Inter Tight"/>
              </a:rPr>
              <a:t>2 min   </a:t>
            </a:r>
            <a:r>
              <a:rPr sz="1400" b="0" i="0">
                <a:solidFill>
                  <a:srgbClr val="1C1B19"/>
                </a:solidFill>
                <a:latin typeface="Source Serif 4"/>
              </a:rPr>
              <a:t>Tell a story</a:t>
            </a:r>
          </a:p>
          <a:p>
            <a:pPr algn="l">
              <a:spcAft>
                <a:spcPts val="630"/>
              </a:spcAft>
            </a:pPr>
            <a:r>
              <a:rPr sz="1300" b="1" i="0">
                <a:solidFill>
                  <a:srgbClr val="F47B20"/>
                </a:solidFill>
                <a:latin typeface="Inter Tight"/>
              </a:rPr>
              <a:t>4 min   </a:t>
            </a:r>
            <a:r>
              <a:rPr sz="1400" b="0" i="0">
                <a:solidFill>
                  <a:srgbClr val="1C1B19"/>
                </a:solidFill>
                <a:latin typeface="Source Serif 4"/>
              </a:rPr>
              <a:t>Roll with it: pushback and quiet</a:t>
            </a:r>
          </a:p>
          <a:p>
            <a:pPr algn="l">
              <a:spcAft>
                <a:spcPts val="630"/>
              </a:spcAft>
            </a:pPr>
            <a:r>
              <a:rPr sz="1300" b="1" i="0">
                <a:solidFill>
                  <a:srgbClr val="F47B20"/>
                </a:solidFill>
                <a:latin typeface="Inter Tight"/>
              </a:rPr>
              <a:t>10 min   </a:t>
            </a:r>
            <a:r>
              <a:rPr sz="1400" b="0" i="0">
                <a:solidFill>
                  <a:srgbClr val="1C1B19"/>
                </a:solidFill>
                <a:latin typeface="Source Serif 4"/>
              </a:rPr>
              <a:t>Your turn: talk through real scenarios, as a whole group or in clusters</a:t>
            </a:r>
          </a:p>
          <a:p>
            <a:pPr algn="l">
              <a:spcAft>
                <a:spcPts val="630"/>
              </a:spcAft>
            </a:pPr>
            <a:r>
              <a:rPr sz="1300" b="1" i="0">
                <a:solidFill>
                  <a:srgbClr val="F47B20"/>
                </a:solidFill>
                <a:latin typeface="Inter Tight"/>
              </a:rPr>
              <a:t>3 min   </a:t>
            </a:r>
            <a:r>
              <a:rPr sz="1400" b="0" i="0">
                <a:solidFill>
                  <a:srgbClr val="1C1B19"/>
                </a:solidFill>
                <a:latin typeface="Source Serif 4"/>
              </a:rPr>
              <a:t>If something heavy comes up, and one thing to try</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Twenty minutes: the opening, both prompts (4), why scripts flop, first slide only (3), five ways in (3), roll with it (3), clusters, one scenario (5), one thing to try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Model what you're teaching.</a:t>
            </a:r>
          </a:p>
          <a:p>
            <a:pPr algn="l">
              <a:spcAft>
                <a:spcPts val="585"/>
              </a:spcAft>
            </a:pPr>
            <a:r>
              <a:rPr sz="1300" b="0" i="0">
                <a:solidFill>
                  <a:srgbClr val="1C1B19"/>
                </a:solidFill>
                <a:latin typeface="Source Serif 4"/>
              </a:rPr>
              <a:t>Run this talk the way you want advisors to run advisory. Ask before you tell, take their pushback without defending yourself, and follow a good tangent. A lecture about not lecturing would undo the point.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Curiosity is the skill.</a:t>
            </a:r>
          </a:p>
          <a:p>
            <a:pPr algn="l">
              <a:spcAft>
                <a:spcPts val="585"/>
              </a:spcAft>
            </a:pPr>
            <a:r>
              <a:rPr sz="1300" b="0" i="0">
                <a:solidFill>
                  <a:srgbClr val="1C1B19"/>
                </a:solidFill>
                <a:latin typeface="Source Serif 4"/>
              </a:rPr>
              <a:t>Most advisors are quiet people, and that's fine. Say it plainly: the skill is being curious about these particular kids. The advisors who already know their group have the head start.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moving.</a:t>
            </a:r>
          </a:p>
          <a:p>
            <a:pPr algn="l">
              <a:spcAft>
                <a:spcPts val="585"/>
              </a:spcAft>
            </a:pPr>
            <a:r>
              <a:rPr sz="1300" b="0" i="0">
                <a:solidFill>
                  <a:srgbClr val="1C1B19"/>
                </a:solidFill>
                <a:latin typeface="Source Serif 4"/>
              </a:rPr>
              <a:t>Long silences rarely work with high schoolers. Teach advisors to lower the stakes and keep going: ask about "people your age," go thumbs up or down, or say what they think themselves.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Let the critics in.</a:t>
            </a:r>
          </a:p>
          <a:p>
            <a:pPr algn="l">
              <a:spcAft>
                <a:spcPts val="585"/>
              </a:spcAft>
            </a:pPr>
            <a:r>
              <a:rPr sz="1300" b="0" i="0">
                <a:solidFill>
                  <a:srgbClr val="1C1B19"/>
                </a:solidFill>
                <a:latin typeface="Source Serif 4"/>
              </a:rPr>
              <a:t>Some advisors will say this is touchy-feely or that their kids won't talk. Treat it the way you'd want them to treat a student who says it's cringe: "Fair. What would make it work in your room?"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safety floor stays the same.</a:t>
            </a:r>
          </a:p>
          <a:p>
            <a:pPr algn="l">
              <a:spcAft>
                <a:spcPts val="585"/>
              </a:spcAft>
            </a:pPr>
            <a:r>
              <a:rPr sz="1300" b="0" i="0">
                <a:solidFill>
                  <a:srgbClr val="1C1B19"/>
                </a:solidFill>
                <a:latin typeface="Source Serif 4"/>
              </a:rPr>
              <a:t>Something heavy in advisory gets the same response as anywhere else: thank them, keep it short in the group, check in after, and walk them to a counselor that day. Talking it through once in a scenario means it isn't new when it happens.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Bring your own story.</a:t>
            </a:r>
          </a:p>
          <a:p>
            <a:pPr algn="l">
              <a:spcAft>
                <a:spcPts val="585"/>
              </a:spcAft>
            </a:pPr>
            <a:r>
              <a:rPr sz="1300" b="0" i="0">
                <a:solidFill>
                  <a:srgbClr val="1C1B19"/>
                </a:solidFill>
                <a:latin typeface="Source Serif 4"/>
              </a:rPr>
              <a:t>The opening asks faculty to share an advisory that fell flat, so go first with one of your own, a little embarrassing and true. It gives everyone permission to be imperfect at this.</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Many ways in.</a:t>
            </a:r>
          </a:p>
          <a:p>
            <a:pPr algn="l">
              <a:spcAft>
                <a:spcPts val="585"/>
              </a:spcAft>
            </a:pPr>
            <a:r>
              <a:rPr sz="1300" b="0" i="0">
                <a:solidFill>
                  <a:srgbClr val="1C1B19"/>
                </a:solidFill>
                <a:latin typeface="Source Serif 4"/>
              </a:rPr>
              <a:t>Some students think out loud, and some think first and talk later. Thumbs, a word on a scrap of paper, or a side conversation after advisory all count as joining in.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talk about these topics differently.</a:t>
            </a:r>
          </a:p>
          <a:p>
            <a:pPr algn="l">
              <a:spcAft>
                <a:spcPts val="585"/>
              </a:spcAft>
            </a:pPr>
            <a:r>
              <a:rPr sz="1300" b="0" i="0">
                <a:solidFill>
                  <a:srgbClr val="1C1B19"/>
                </a:solidFill>
                <a:latin typeface="Source Serif 4"/>
              </a:rPr>
              <a:t>In some homes vaping, sex or mental health are never discussed; in others, faith shapes the answer. A student who goes quiet may be respecting home. Leave room, and never ask what their family thinks.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gets heard.</a:t>
            </a:r>
          </a:p>
          <a:p>
            <a:pPr algn="l">
              <a:spcAft>
                <a:spcPts val="585"/>
              </a:spcAft>
            </a:pPr>
            <a:r>
              <a:rPr sz="1300" b="0" i="0">
                <a:solidFill>
                  <a:srgbClr val="1C1B19"/>
                </a:solidFill>
                <a:latin typeface="Source Serif 4"/>
              </a:rPr>
              <a:t>The loudest student is one voice. Advisors can widen it with "Anyone see it differently?" and by noticing who hasn't had a turn, without putting anyone on the spot.</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English learners can answer with a word in any language, a gesture, or a number from 1 to 10. Slower turns help everyone.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Some students need the question twice, or a minute to think, or a concrete example. Some will go deep on one detail. That's still the conversation.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topic may be personal.</a:t>
            </a:r>
          </a:p>
          <a:p>
            <a:pPr algn="l">
              <a:spcAft>
                <a:spcPts val="585"/>
              </a:spcAft>
            </a:pPr>
            <a:r>
              <a:rPr sz="1300" b="0" i="0">
                <a:solidFill>
                  <a:srgbClr val="1C1B19"/>
                </a:solidFill>
                <a:latin typeface="Source Serif 4"/>
              </a:rPr>
              <a:t>For any talk, assume someone in the room is living it: a parent who drinks, a friend who vapes, stress that won't switch off. Keep questions about "people our age" so nobody has to out themselves.</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meta-analysis of 207 school drug prevention programs, interactive programs that got students talking with each other worked better than lecture-style programs that delivered information.</a:t>
            </a:r>
          </a:p>
          <a:p>
            <a:pPr algn="l">
              <a:spcAft>
                <a:spcPts val="585"/>
              </a:spcAft>
            </a:pPr>
            <a:r>
              <a:rPr sz="1050" b="0" i="0">
                <a:solidFill>
                  <a:srgbClr val="5D5A54"/>
                </a:solidFill>
                <a:latin typeface="Inter Tight"/>
              </a:rPr>
              <a:t>Tobler et al., Journal of Primary Prevention, 2000</a:t>
            </a:r>
          </a:p>
          <a:p>
            <a:pPr algn="l">
              <a:spcAft>
                <a:spcPts val="585"/>
              </a:spcAft>
            </a:pPr>
            <a:r>
              <a:rPr sz="1300" b="0" i="0">
                <a:solidFill>
                  <a:srgbClr val="1C1B19"/>
                </a:solidFill>
                <a:latin typeface="Source Serif 4"/>
              </a:rPr>
              <a:t>The original D.A.R.E. program, built on adults delivering a message, had near-zero effect on later drug use across controlled studies.</a:t>
            </a:r>
          </a:p>
          <a:p>
            <a:pPr algn="l">
              <a:spcAft>
                <a:spcPts val="585"/>
              </a:spcAft>
            </a:pPr>
            <a:r>
              <a:rPr sz="1050" b="0" i="0">
                <a:solidFill>
                  <a:srgbClr val="5D5A54"/>
                </a:solidFill>
                <a:latin typeface="Inter Tight"/>
              </a:rPr>
              <a:t>West &amp; O'Neal, American Journal of Public Health, 2004</a:t>
            </a:r>
          </a:p>
          <a:p>
            <a:pPr algn="l">
              <a:spcAft>
                <a:spcPts val="585"/>
              </a:spcAft>
            </a:pPr>
            <a:r>
              <a:rPr sz="1300" b="0" i="0">
                <a:solidFill>
                  <a:srgbClr val="1C1B19"/>
                </a:solidFill>
                <a:latin typeface="Source Serif 4"/>
              </a:rPr>
              <a:t>Adolescents are especially sensitive to status and respect. Messages that treat them as capable and invite their judgment work better than ones that tell them what to do.</a:t>
            </a:r>
          </a:p>
          <a:p>
            <a:pPr algn="l">
              <a:spcAft>
                <a:spcPts val="585"/>
              </a:spcAft>
            </a:pPr>
            <a:r>
              <a:rPr sz="1050" b="0" i="0">
                <a:solidFill>
                  <a:srgbClr val="5D5A54"/>
                </a:solidFill>
                <a:latin typeface="Inter Tight"/>
              </a:rPr>
              <a:t>Yeager, Dahl &amp; Dweck, Perspectives on Psychological Science, 2018</a:t>
            </a:r>
          </a:p>
          <a:p>
            <a:pPr algn="l">
              <a:spcAft>
                <a:spcPts val="585"/>
              </a:spcAft>
            </a:pPr>
            <a:r>
              <a:rPr sz="1300" b="0" i="0">
                <a:solidFill>
                  <a:srgbClr val="1C1B19"/>
                </a:solidFill>
                <a:latin typeface="Source Serif 4"/>
              </a:rPr>
              <a:t>Eighth graders who read about food companies manipulating teens chose healthier snacks the next day, while a standard nutrition lesson made no difference.</a:t>
            </a:r>
          </a:p>
          <a:p>
            <a:pPr algn="l">
              <a:spcAft>
                <a:spcPts val="585"/>
              </a:spcAft>
            </a:pPr>
            <a:r>
              <a:rPr sz="1050" b="0" i="0">
                <a:solidFill>
                  <a:srgbClr val="5D5A54"/>
                </a:solidFill>
                <a:latin typeface="Inter Tight"/>
              </a:rPr>
              <a:t>Bryan et al., PNAS, 2016</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Teacher-student relationship quality is linked to student engagement and achievement, and the link to engagement is stronger in secondary school than in elementary.</a:t>
            </a:r>
          </a:p>
          <a:p>
            <a:pPr algn="l">
              <a:spcAft>
                <a:spcPts val="585"/>
              </a:spcAft>
            </a:pPr>
            <a:r>
              <a:rPr sz="1050" b="0" i="0">
                <a:solidFill>
                  <a:srgbClr val="5D5A54"/>
                </a:solidFill>
                <a:latin typeface="Inter Tight"/>
              </a:rPr>
              <a:t>Roorda, Koomen, Spilt &amp; Oort, Review of Educational Research, 2011</a:t>
            </a:r>
          </a:p>
          <a:p>
            <a:pPr algn="l">
              <a:spcAft>
                <a:spcPts val="585"/>
              </a:spcAft>
            </a:pPr>
            <a:r>
              <a:rPr sz="1300" b="0" i="0">
                <a:solidFill>
                  <a:srgbClr val="1C1B19"/>
                </a:solidFill>
                <a:latin typeface="Source Serif 4"/>
              </a:rPr>
              <a:t>Students engage more when teachers ask for their views, explain the why, and accept negative feelings without pushing back, and teachers can learn these habits in short trainings.</a:t>
            </a:r>
          </a:p>
          <a:p>
            <a:pPr algn="l">
              <a:spcAft>
                <a:spcPts val="585"/>
              </a:spcAft>
            </a:pPr>
            <a:r>
              <a:rPr sz="1050" b="0" i="0">
                <a:solidFill>
                  <a:srgbClr val="5D5A54"/>
                </a:solidFill>
                <a:latin typeface="Inter Tight"/>
              </a:rPr>
              <a:t>Reeve &amp; Cheon, Educational Psychologist, 2021</a:t>
            </a:r>
          </a:p>
          <a:p>
            <a:pPr algn="l">
              <a:spcAft>
                <a:spcPts val="585"/>
              </a:spcAft>
            </a:pPr>
            <a:r>
              <a:rPr sz="1300" b="0" i="0">
                <a:solidFill>
                  <a:srgbClr val="1C1B19"/>
                </a:solidFill>
                <a:latin typeface="Source Serif 4"/>
              </a:rPr>
              <a:t>When a helper argues for change, people tend to argue back for the other side. Open questions and reflecting back what you heard keep the other person doing the thinking.</a:t>
            </a:r>
          </a:p>
          <a:p>
            <a:pPr algn="l">
              <a:spcAft>
                <a:spcPts val="585"/>
              </a:spcAft>
            </a:pPr>
            <a:r>
              <a:rPr sz="1050" b="0" i="0">
                <a:solidFill>
                  <a:srgbClr val="5D5A54"/>
                </a:solidFill>
                <a:latin typeface="Inter Tight"/>
              </a:rPr>
              <a:t>Miller &amp; Rollnick, Motivational Interviewing, 3rd ed., 2013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LESS CRINGE, MORE CONNECTION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Less Cringe, More Connection</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Creating space for more authentic conversations, in advisory and beyond.</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Rick drafted this talk with help from AI, then reviewed and edited every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an advisory conversation or topic that fell flat. What happened?</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Tell the person next to you. Blank stares and eye rolls welcome.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AND THE OTHER SIDE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Now one that went well. What was different?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Same partner. What did you do, and what did they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SCRIPTS FLOP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Tobler et al., 2000  ·  West &amp; O'Neal, 2004  ·  Yeager, Dahl &amp; Dweck, 2018</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Teens tune out being told.</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Prevention programs that got students talking beat ones that delivered a message.</a:t>
            </a:r>
          </a:p>
          <a:p>
            <a:pPr algn="l">
              <a:spcAft>
                <a:spcPts val="855"/>
              </a:spcAft>
            </a:pPr>
            <a:r>
              <a:rPr sz="1900" b="0" i="0">
                <a:solidFill>
                  <a:srgbClr val="1C1B19"/>
                </a:solidFill>
                <a:latin typeface="Source Serif 4"/>
              </a:rPr>
              <a:t>•  D.A.R.E., an adult with a lesson, barely moved behavior.</a:t>
            </a:r>
          </a:p>
          <a:p>
            <a:pPr algn="l">
              <a:spcAft>
                <a:spcPts val="855"/>
              </a:spcAft>
            </a:pPr>
            <a:r>
              <a:rPr sz="1900" b="0" i="0">
                <a:solidFill>
                  <a:srgbClr val="1C1B19"/>
                </a:solidFill>
                <a:latin typeface="Source Serif 4"/>
              </a:rPr>
              <a:t>•  Teens care a lot about being treated as capable. A script reads as "this adult doesn't trust me to think."</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Ask what they think before you tell them anything.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THE RELATIONSHIP DOES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Roorda et al., 2011  ·  Reeve &amp; Cheon, 2021  ·  Bryan et al., 2016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They listen to people who listen to them.</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Relationships with teachers matter more for engagement in high school than in elementary school.</a:t>
            </a:r>
          </a:p>
          <a:p>
            <a:pPr algn="l">
              <a:spcAft>
                <a:spcPts val="855"/>
              </a:spcAft>
            </a:pPr>
            <a:r>
              <a:rPr sz="1900" b="0" i="0">
                <a:solidFill>
                  <a:srgbClr val="1C1B19"/>
                </a:solidFill>
                <a:latin typeface="Source Serif 4"/>
              </a:rPr>
              <a:t>•  Students lean in when adults ask for their views and can hear a complaint without arguing.</a:t>
            </a:r>
          </a:p>
          <a:p>
            <a:pPr algn="l">
              <a:spcAft>
                <a:spcPts val="855"/>
              </a:spcAft>
            </a:pPr>
            <a:r>
              <a:rPr sz="1900" b="0" i="0">
                <a:solidFill>
                  <a:srgbClr val="1C1B19"/>
                </a:solidFill>
                <a:latin typeface="Source Serif 4"/>
              </a:rPr>
              <a:t>•  Eighth graders ate better after a lesson that respected their judgment. The standard nutrition lesson did nothing.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already have the relationship. The guide just opens the door.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FIVE WAYS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Open with what they think.</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"What was one thing that was interesting?"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"Anything you disagree with?"</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"Anything you wish they'd said, or something you think they missed?"</a:t>
            </a:r>
          </a:p>
          <a:p>
            <a:pPr algn="l">
              <a:spcAft>
                <a:spcPts val="945"/>
              </a:spcAft>
            </a:pPr>
            <a:r>
              <a:rPr sz="1600" b="0" i="0">
                <a:solidFill>
                  <a:srgbClr val="5D5A54"/>
                </a:solidFill>
                <a:latin typeface="Source Serif 4"/>
              </a:rPr>
              <a:t>Lets them be the expert on their own lives.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"What would you do?"</a:t>
            </a:r>
          </a:p>
          <a:p>
            <a:pPr algn="l">
              <a:spcAft>
                <a:spcPts val="945"/>
              </a:spcAft>
            </a:pPr>
            <a:r>
              <a:rPr sz="1600" b="0" i="0">
                <a:solidFill>
                  <a:srgbClr val="5D5A54"/>
                </a:solidFill>
                <a:latin typeface="Source Serif 4"/>
              </a:rPr>
              <a:t>Treats them as people who make real choices. That respect is where the real talk starts.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"What's one takeaway for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TELL A STORY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 short, true story opens more doors than a good question.</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Yours, a former student's with details changed, or one from the news. Keep it under a minute, then ask: "What would you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ROLL WITH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Stay in it with them.</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WHEN THEY PUSH BACK</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"This is so cringe." Fair. What would make it less cringe?</a:t>
            </a:r>
          </a:p>
          <a:p>
            <a:pPr algn="l">
              <a:spcAft>
                <a:spcPts val="855"/>
              </a:spcAft>
            </a:pPr>
            <a:r>
              <a:rPr sz="1900" b="0" i="0">
                <a:solidFill>
                  <a:srgbClr val="1C1B19"/>
                </a:solidFill>
                <a:latin typeface="Source Serif 4"/>
              </a:rPr>
              <a:t>"Everybody does it." Feels that way. Why does it seem like more?</a:t>
            </a:r>
          </a:p>
          <a:p>
            <a:pPr algn="l">
              <a:spcAft>
                <a:spcPts val="855"/>
              </a:spcAft>
            </a:pPr>
            <a:r>
              <a:rPr sz="1900" b="0" i="0">
                <a:solidFill>
                  <a:srgbClr val="1C1B19"/>
                </a:solidFill>
                <a:latin typeface="Source Serif 4"/>
              </a:rPr>
              <a:t>Skip defending the topic or the speaker. Their critique is the conversation.</a:t>
            </a:r>
          </a:p>
          <a:p>
            <a:pPr algn="l">
              <a:spcAft>
                <a:spcPts val="855"/>
              </a:spcAft>
            </a:pPr>
            <a:r>
              <a:rPr sz="1900" b="0" i="0">
                <a:solidFill>
                  <a:srgbClr val="1C1B19"/>
                </a:solidFill>
                <a:latin typeface="Source Serif 4"/>
              </a:rPr>
              <a:t>Say back what you heard: "So it felt like it assumed the worst about us."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WHEN IT GOES QUIET</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Ask about "people your age" instead of them</a:t>
            </a:r>
          </a:p>
          <a:p>
            <a:pPr algn="l">
              <a:spcAft>
                <a:spcPts val="855"/>
              </a:spcAft>
            </a:pPr>
            <a:r>
              <a:rPr sz="1900" b="0" i="0">
                <a:solidFill>
                  <a:srgbClr val="1C1B19"/>
                </a:solidFill>
                <a:latin typeface="Source Serif 4"/>
              </a:rPr>
              <a:t>Go thumbs up or down: "True or not?"</a:t>
            </a:r>
          </a:p>
          <a:p>
            <a:pPr algn="l">
              <a:spcAft>
                <a:spcPts val="855"/>
              </a:spcAft>
            </a:pPr>
            <a:r>
              <a:rPr sz="1900" b="0" i="0">
                <a:solidFill>
                  <a:srgbClr val="1C1B19"/>
                </a:solidFill>
                <a:latin typeface="Source Serif 4"/>
              </a:rPr>
              <a:t>Say what you think, briefly, and toss it back</a:t>
            </a:r>
          </a:p>
          <a:p>
            <a:pPr algn="l">
              <a:spcAft>
                <a:spcPts val="855"/>
              </a:spcAft>
            </a:pPr>
            <a:r>
              <a:rPr sz="1900" b="0" i="0">
                <a:solidFill>
                  <a:srgbClr val="1C1B19"/>
                </a:solidFill>
                <a:latin typeface="Source Serif 4"/>
              </a:rPr>
              <a:t>Follow a tangent. It's usually about the topic anyway.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TURN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Take a scenario. How would you handle it?</a:t>
            </a:r>
          </a:p>
        </p:txBody>
      </p:sp>
      <p:sp>
        <p:nvSpPr>
          <p:cNvPr id="6" name="Rectangle 5"/>
          <p:cNvSpPr/>
          <p:nvPr/>
        </p:nvSpPr>
        <p:spPr>
          <a:xfrm>
            <a:off x="82296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COMPLAINT</a:t>
            </a:r>
          </a:p>
        </p:txBody>
      </p:sp>
      <p:sp>
        <p:nvSpPr>
          <p:cNvPr id="8" name="TextBox 7"/>
          <p:cNvSpPr txBox="1"/>
          <p:nvPr/>
        </p:nvSpPr>
        <p:spPr>
          <a:xfrm>
            <a:off x="105156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“______ is such a waste of time.” Fill in any school event. The other advisees chime in agreement.</a:t>
            </a:r>
          </a:p>
        </p:txBody>
      </p:sp>
      <p:sp>
        <p:nvSpPr>
          <p:cNvPr id="9" name="Rectangle 8"/>
          <p:cNvSpPr/>
          <p:nvPr/>
        </p:nvSpPr>
        <p:spPr>
          <a:xfrm>
            <a:off x="3520439"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NOTHING</a:t>
            </a:r>
          </a:p>
        </p:txBody>
      </p:sp>
      <p:sp>
        <p:nvSpPr>
          <p:cNvPr id="11" name="TextBox 10"/>
          <p:cNvSpPr txBox="1"/>
          <p:nvPr/>
        </p:nvSpPr>
        <p:spPr>
          <a:xfrm>
            <a:off x="3749039"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 bring up a schoolwide email. One-word answers, eyes on the floor, two students on their phones.</a:t>
            </a:r>
          </a:p>
        </p:txBody>
      </p:sp>
      <p:sp>
        <p:nvSpPr>
          <p:cNvPr id="12" name="Rectangle 11"/>
          <p:cNvSpPr/>
          <p:nvPr/>
        </p:nvSpPr>
        <p:spPr>
          <a:xfrm>
            <a:off x="621792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 CLUE</a:t>
            </a:r>
          </a:p>
        </p:txBody>
      </p:sp>
      <p:sp>
        <p:nvSpPr>
          <p:cNvPr id="14" name="TextBox 13"/>
          <p:cNvSpPr txBox="1"/>
          <p:nvPr/>
        </p:nvSpPr>
        <p:spPr>
          <a:xfrm>
            <a:off x="644652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“Adults just don’t get it. They can’t possibly understand what it’s really like for me.”</a:t>
            </a:r>
          </a:p>
        </p:txBody>
      </p:sp>
      <p:sp>
        <p:nvSpPr>
          <p:cNvPr id="15" name="Rectangle 14"/>
          <p:cNvSpPr/>
          <p:nvPr/>
        </p:nvSpPr>
        <p:spPr>
          <a:xfrm>
            <a:off x="8915400" y="2103120"/>
            <a:ext cx="242316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286000"/>
            <a:ext cx="196596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SOMETHING HEAVY</a:t>
            </a:r>
          </a:p>
        </p:txBody>
      </p:sp>
      <p:sp>
        <p:nvSpPr>
          <p:cNvPr id="17" name="TextBox 16"/>
          <p:cNvSpPr txBox="1"/>
          <p:nvPr/>
        </p:nvSpPr>
        <p:spPr>
          <a:xfrm>
            <a:off x="9144000" y="2743200"/>
            <a:ext cx="196596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Near the end, a quiet student says things at home are hard right now.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MORE THINGS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floor, and the freedom.</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 SOMETHING HEAVY COMES UP</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Thank them</a:t>
            </a:r>
          </a:p>
          <a:p>
            <a:pPr algn="l">
              <a:spcAft>
                <a:spcPts val="855"/>
              </a:spcAft>
            </a:pPr>
            <a:r>
              <a:rPr sz="1900" b="0" i="0">
                <a:solidFill>
                  <a:srgbClr val="1C1B19"/>
                </a:solidFill>
                <a:latin typeface="Source Serif 4"/>
              </a:rPr>
              <a:t>Keep it short in the group</a:t>
            </a:r>
          </a:p>
          <a:p>
            <a:pPr algn="l">
              <a:spcAft>
                <a:spcPts val="855"/>
              </a:spcAft>
            </a:pPr>
            <a:r>
              <a:rPr sz="1900" b="0" i="0">
                <a:solidFill>
                  <a:srgbClr val="1C1B19"/>
                </a:solidFill>
                <a:latin typeface="Source Serif 4"/>
              </a:rPr>
              <a:t>Check in privately after</a:t>
            </a:r>
          </a:p>
          <a:p>
            <a:pPr algn="l">
              <a:spcAft>
                <a:spcPts val="855"/>
              </a:spcAft>
            </a:pPr>
            <a:r>
              <a:rPr sz="1900" b="0" i="0">
                <a:solidFill>
                  <a:srgbClr val="1C1B19"/>
                </a:solidFill>
                <a:latin typeface="Source Serif 4"/>
              </a:rPr>
              <a:t>Walk them to a counselor that day</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OFF YOUR PLATE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Cover every point</a:t>
            </a:r>
          </a:p>
          <a:p>
            <a:pPr algn="l">
              <a:spcAft>
                <a:spcPts val="855"/>
              </a:spcAft>
            </a:pPr>
            <a:r>
              <a:rPr sz="1900" b="0" i="0">
                <a:solidFill>
                  <a:srgbClr val="1C1B19"/>
                </a:solidFill>
                <a:latin typeface="Source Serif 4"/>
              </a:rPr>
              <a:t>Get everyone to agree</a:t>
            </a:r>
          </a:p>
          <a:p>
            <a:pPr algn="l">
              <a:spcAft>
                <a:spcPts val="855"/>
              </a:spcAft>
            </a:pPr>
            <a:r>
              <a:rPr sz="1900" b="0" i="0">
                <a:solidFill>
                  <a:srgbClr val="1C1B19"/>
                </a:solidFill>
                <a:latin typeface="Source Serif 4"/>
              </a:rPr>
              <a:t>Be the expert on the topic</a:t>
            </a:r>
          </a:p>
          <a:p>
            <a:pPr algn="l">
              <a:spcAft>
                <a:spcPts val="855"/>
              </a:spcAft>
            </a:pPr>
            <a:r>
              <a:rPr sz="1900" b="0" i="0">
                <a:solidFill>
                  <a:srgbClr val="1C1B19"/>
                </a:solidFill>
                <a:latin typeface="Source Serif 4"/>
              </a:rPr>
              <a:t>Fill every quiet moment with a lecture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ONE THING TO TRY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Your next advisory</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one move to try in your next advisory. Keep it to yourself.</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CONVERSATION GUIDES (ON EVERY TEACHER LESSON)</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https://rmwtoolkit.github.io/bcds-toolkit/toolkit.html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