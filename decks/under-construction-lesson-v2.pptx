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3 MINUTES. Open plainly: "Today is about who you're becoming. The scaffolding is supposed to be up right now." Say up front that nobody has to share anything about themselves, and that what people say in advisory stays in advisory.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(with the title). Everyone points or moves at once. Ask one or two people from different corners why, if they want to say. Then the answer: no. Across 73 studies, identity keeps developing through the 20s, and moving toward a commitment that fits is about twice as common as sliding back. Exploring in high school is right on schedule. Mention that college essays asking you to explain yourself in 650 words don't change that.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Psychologist Erik Erikson called figuring out who you are the central task of adolescence. James Marcia boiled it down to two questions: Have you explored? Have you committed? You can be in a different place for each part of you: settled on music, still trying things on with faith, haven't thought about politics. A commitment you chose after looking around can look exactly like one you were handed. The difference is that it's yours. Ask: "Think of one part of you, like a sport, a subject, or what you do on weekends. Which of these four is it in right now?" Students can keep it to themselves or share if they want.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Private. Nobody shares. Often it's the piece other people notice most, or the one you're questioning. Add one piece of research: across 46 studies, minority youth who felt good about their racial or ethnic group had fewer symptoms of depression, better self-esteem, and did better in school. Knowing where you come from helps. White students in mostly white places may not think about this until later, and everyone has a cultural story. If you're mixed, adopted, or the child of immigrants, you don't have to pick a side. Mention code switching: changing how you talk or act to fit the room is a real skill, and it costs something when you never get a break. Worth asking yourself: where can I be all of 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After the vote: they don't. In a study of about 19,000 adults ages 18 to 68, people at every age said they'd changed a lot in the past ten years and expected to change very little in the next ten. Researchers called it the "end of history illusion." It compared people of different ages, so it's a rough picture, and the pattern was clear. The you at 25 will probably surprise you. Then, optional: "What's a label you'd like to retire?" Expect "the smart one," "the quiet one," "the athlete." Labels can feel like a box, and you can outgrow them. Feeds can box you in too: algorithms show more of whatever you click, so an online identity can harden fast.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Talk through as a circle. More than one answer can work; the best one leaves room for both people to be real. Nadia: keeping it to herself or "It's my life" both close the door. Something like "Can I show you some design work I'm into? I'd also like to hear what you're hoping for me" keeps the family in it. Gabe: all of these are fine: "Ohio. My family's from the Philippines, if that's what you mean," or just "Ohio," or "Why do you ask? I get that question a lot." He doesn't owe anyone his story. Sam: "Thanks for telling me. I'm here. Is there anything you want me to do, or not do?" Telling other friends, even to get support, isn't Sam's call to make, and "it's probably just a phase" shuts the friend down. Keep the talk on Sam's response, never on guessing anyone's identity.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Private, on the card. Other options from the student page: name three values you can steer by, follow something new on purpose, or find one place to be all of you. Share the student page link (post it on your advisory page too). It has the four places to be, the moves, a private check-in, and who to talk to. Remind students that being harassed or outed, or feeling you have to hide who you are everywhere, is a reason to talk to a counselor today. The Trevor Project and 988 are on the page.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Under Construction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that identity means exploring and then committing, that it keeps developing through the 20s, and pick one low-stakes way to explore. Point to four corners of the room, keep every vote on the research statements, and make every personal share optional.</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If a student comes out in the circle, thank them simply and check in afterward, and remember that "interview your roots" doesn't assume who's at home.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UNDER CONSTRUCTION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Under Construction</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Everyone asks what you want to be. Hardly anyone asks who.</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FOUR CORNERS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"You should know who you are by graduation."</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Point to a corner: agree, disagree, not sure, or it depends.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EXPLORE, THEN COMMIT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Four common places to be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Not exploring, not committed.</a:t>
            </a:r>
          </a:p>
          <a:p>
            <a:pPr algn="l">
              <a:spcAft>
                <a:spcPts val="945"/>
              </a:spcAft>
            </a:pPr>
            <a:r>
              <a:rPr sz="1600" b="0" i="0">
                <a:solidFill>
                  <a:srgbClr val="5D5A54"/>
                </a:solidFill>
                <a:latin typeface="Source Serif 4"/>
              </a:rPr>
              <a:t>"I haven't really thought about it."</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Committed without exploring.</a:t>
            </a:r>
          </a:p>
          <a:p>
            <a:pPr algn="l">
              <a:spcAft>
                <a:spcPts val="945"/>
              </a:spcAft>
            </a:pPr>
            <a:r>
              <a:rPr sz="1600" b="0" i="0">
                <a:solidFill>
                  <a:srgbClr val="5D5A54"/>
                </a:solidFill>
                <a:latin typeface="Source Serif 4"/>
              </a:rPr>
              <a:t>"It's what I was handed."</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Exploring, not committed yet.</a:t>
            </a:r>
          </a:p>
          <a:p>
            <a:pPr algn="l">
              <a:spcAft>
                <a:spcPts val="945"/>
              </a:spcAft>
            </a:pPr>
            <a:r>
              <a:rPr sz="1600" b="0" i="0">
                <a:solidFill>
                  <a:srgbClr val="5D5A54"/>
                </a:solidFill>
                <a:latin typeface="Source Serif 4"/>
              </a:rPr>
              <a:t>"I'm trying things on."</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Explored, then committed.</a:t>
            </a:r>
          </a:p>
          <a:p>
            <a:pPr algn="l">
              <a:spcAft>
                <a:spcPts val="945"/>
              </a:spcAft>
            </a:pPr>
            <a:r>
              <a:rPr sz="1600" b="0" i="0">
                <a:solidFill>
                  <a:srgbClr val="5D5A54"/>
                </a:solidFill>
                <a:latin typeface="Source Serif 4"/>
              </a:rPr>
              <a:t>"I looked, and this fits 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PRIVATE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Which piece of you feels biggest right now?</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Race, culture, language, gender, sexuality, faith, values, interests, body and ability, money, your online self. Write it for yourself.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FOUR CORNERS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"Most adults expect to change a lot in the next ten years."</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Point to a corner first. Then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actually say?</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NADIA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Her family has always said she'll be pre-med like her older sister. She's starting to love design.</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GABE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classmate asks where he's from. "Ohio." "No, where are you really from?"</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SAM</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friend tells Sam, nervously, that they're questioning their gender.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Explore on purpose. Commit when it fits.</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Write one thing you'll try that's easy to undo: an elective, a club, a new genre, a question for an elder.</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https://rmwtoolkit.github.io/bcds-toolkit/under-construction-high-school.html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Under Construction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describe identity as exploring and then committing, know that it keeps developing through the 20s, and choose one low-stakes way to explore or one place to be all of themselves. Nobody has to share anything about their own identity.</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Four corner signs (agree, disagree, not sure, it depends), or just point to four corners of the room</a:t>
            </a:r>
          </a:p>
          <a:p>
            <a:pPr algn="l">
              <a:spcAft>
                <a:spcPts val="675"/>
              </a:spcAft>
            </a:pPr>
            <a:r>
              <a:rPr sz="1500" b="0" i="0">
                <a:solidFill>
                  <a:srgbClr val="1C1B19"/>
                </a:solidFill>
                <a:latin typeface="Source Serif 4"/>
              </a:rPr>
              <a:t>Index cards for the private reflection and the closing experiment</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Four corners: "Know who you are by graduation"</a:t>
            </a:r>
          </a:p>
          <a:p>
            <a:pPr algn="l">
              <a:spcAft>
                <a:spcPts val="630"/>
              </a:spcAft>
            </a:pPr>
            <a:r>
              <a:rPr sz="1300" b="1" i="0">
                <a:solidFill>
                  <a:srgbClr val="F47B20"/>
                </a:solidFill>
                <a:latin typeface="Inter Tight"/>
              </a:rPr>
              <a:t>4 min   </a:t>
            </a:r>
            <a:r>
              <a:rPr sz="1400" b="0" i="0">
                <a:solidFill>
                  <a:srgbClr val="1C1B19"/>
                </a:solidFill>
                <a:latin typeface="Source Serif 4"/>
              </a:rPr>
              <a:t>Explore, then commit</a:t>
            </a:r>
          </a:p>
          <a:p>
            <a:pPr algn="l">
              <a:spcAft>
                <a:spcPts val="630"/>
              </a:spcAft>
            </a:pPr>
            <a:r>
              <a:rPr sz="1300" b="1" i="0">
                <a:solidFill>
                  <a:srgbClr val="F47B20"/>
                </a:solidFill>
                <a:latin typeface="Inter Tight"/>
              </a:rPr>
              <a:t>3 min   </a:t>
            </a:r>
            <a:r>
              <a:rPr sz="1400" b="0" i="0">
                <a:solidFill>
                  <a:srgbClr val="1C1B19"/>
                </a:solidFill>
                <a:latin typeface="Source Serif 4"/>
              </a:rPr>
              <a:t>The pieces of you (private reflection)</a:t>
            </a:r>
          </a:p>
          <a:p>
            <a:pPr algn="l">
              <a:spcAft>
                <a:spcPts val="630"/>
              </a:spcAft>
            </a:pPr>
            <a:r>
              <a:rPr sz="1300" b="1" i="0">
                <a:solidFill>
                  <a:srgbClr val="F47B20"/>
                </a:solidFill>
                <a:latin typeface="Inter Tight"/>
              </a:rPr>
              <a:t>3 min   </a:t>
            </a:r>
            <a:r>
              <a:rPr sz="1400" b="0" i="0">
                <a:solidFill>
                  <a:srgbClr val="1C1B19"/>
                </a:solidFill>
                <a:latin typeface="Source Serif 4"/>
              </a:rPr>
              <a:t>Four corners: "Adults expect to change a lot"</a:t>
            </a:r>
          </a:p>
          <a:p>
            <a:pPr algn="l">
              <a:spcAft>
                <a:spcPts val="630"/>
              </a:spcAft>
            </a:pPr>
            <a:r>
              <a:rPr sz="1300" b="1" i="0">
                <a:solidFill>
                  <a:srgbClr val="F47B20"/>
                </a:solidFill>
                <a:latin typeface="Inter Tight"/>
              </a:rPr>
              <a:t>5 min   </a:t>
            </a:r>
            <a:r>
              <a:rPr sz="1400" b="0" i="0">
                <a:solidFill>
                  <a:srgbClr val="1C1B19"/>
                </a:solidFill>
                <a:latin typeface="Source Serif 4"/>
              </a:rPr>
              <a:t>Three moments (scenario talk)</a:t>
            </a:r>
          </a:p>
          <a:p>
            <a:pPr algn="l">
              <a:spcAft>
                <a:spcPts val="630"/>
              </a:spcAft>
            </a:pPr>
            <a:r>
              <a:rPr sz="1300" b="1" i="0">
                <a:solidFill>
                  <a:srgbClr val="F47B20"/>
                </a:solidFill>
                <a:latin typeface="Inter Tight"/>
              </a:rPr>
              <a:t>2 min   </a:t>
            </a:r>
            <a:r>
              <a:rPr sz="1400" b="0" i="0">
                <a:solidFill>
                  <a:srgbClr val="1C1B19"/>
                </a:solidFill>
                <a:latin typeface="Source Serif 4"/>
              </a:rPr>
              <a:t>One experiment, and the student page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Four corners on graduation (3), explore then commit (3), the pieces of you, private (2), one experiment and the link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Nobody shares their own identity.</a:t>
            </a:r>
          </a:p>
          <a:p>
            <a:pPr algn="l">
              <a:spcAft>
                <a:spcPts val="585"/>
              </a:spcAft>
            </a:pPr>
            <a:r>
              <a:rPr sz="1300" b="0" i="0">
                <a:solidFill>
                  <a:srgbClr val="1C1B19"/>
                </a:solidFill>
                <a:latin typeface="Source Serif 4"/>
              </a:rPr>
              <a:t>Gender, sexuality, faith, immigration, adoption and money can be private, or unsafe to talk about. Every share today is optional. Never ask a student to speak for their whole group, and don't turn to the one student in the circle who shares a background.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Four corners is about the research statements.</a:t>
            </a:r>
          </a:p>
          <a:p>
            <a:pPr algn="l">
              <a:spcAft>
                <a:spcPts val="585"/>
              </a:spcAft>
            </a:pPr>
            <a:r>
              <a:rPr sz="1300" b="0" i="0">
                <a:solidFill>
                  <a:srgbClr val="1C1B19"/>
                </a:solidFill>
                <a:latin typeface="Source Serif 4"/>
              </a:rPr>
              <a:t>Students vote on what the research says, never on anything personal. Pointing works as well as walking, and "it depends" is always a fine corner.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comes out in the circle.</a:t>
            </a:r>
          </a:p>
          <a:p>
            <a:pPr algn="l">
              <a:spcAft>
                <a:spcPts val="585"/>
              </a:spcAft>
            </a:pPr>
            <a:r>
              <a:rPr sz="1300" b="0" i="0">
                <a:solidFill>
                  <a:srgbClr val="1C1B19"/>
                </a:solidFill>
                <a:latin typeface="Source Serif 4"/>
              </a:rPr>
              <a:t>Thank them simply ("Thanks for telling us"), keep going, and don't make it a moment. Check in privately afterward. Remind the group at the start that what people say in advisory stays in advisory, while being honest that you'd get help if someone's safety were at risk.</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Harassment and outing go to a counselor that day.</a:t>
            </a:r>
          </a:p>
          <a:p>
            <a:pPr algn="l">
              <a:spcAft>
                <a:spcPts val="585"/>
              </a:spcAft>
            </a:pPr>
            <a:r>
              <a:rPr sz="1300" b="0" i="0">
                <a:solidFill>
                  <a:srgbClr val="1C1B19"/>
                </a:solidFill>
                <a:latin typeface="Source Serif 4"/>
              </a:rPr>
              <a:t>If a student is being harassed or threatened because of their race, religion, gender, sexuality or disability, or someone outed them or is sharing private photos, that is a same-day counselor conversation, not a discussion topic.</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families in the story.</a:t>
            </a:r>
          </a:p>
          <a:p>
            <a:pPr algn="l">
              <a:spcAft>
                <a:spcPts val="585"/>
              </a:spcAft>
            </a:pPr>
            <a:r>
              <a:rPr sz="1300" b="0" i="0">
                <a:solidFill>
                  <a:srgbClr val="1C1B19"/>
                </a:solidFill>
                <a:latin typeface="Source Serif 4"/>
              </a:rPr>
              <a:t>The Nadia scenario is about a family plan. Families pass down a lot worth keeping: language, faith, food, values, stories. Building your own identity can include choosing much of what you were given. Don't let the discussion turn into teens against families.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when it's more than figuring things out.</a:t>
            </a:r>
          </a:p>
          <a:p>
            <a:pPr algn="l">
              <a:spcAft>
                <a:spcPts val="585"/>
              </a:spcAft>
            </a:pPr>
            <a:r>
              <a:rPr sz="1300" b="0" i="0">
                <a:solidFill>
                  <a:srgbClr val="1C1B19"/>
                </a:solidFill>
                <a:latin typeface="Source Serif 4"/>
              </a:rPr>
              <a:t>Feeling you have to hide who you are everywhere, including at home, or thoughts of hurting yourself, go to a counselor the same day. Don't ask about these in advisory. Students can call or text 988 any time. The Trevor Project (1-866-488-7386, or text START to 678-678) is there for LGBTQ+ young people, and Trans Lifeline is at 877-565-8860.</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Everyone has a racial and cultural story.</a:t>
            </a:r>
          </a:p>
          <a:p>
            <a:pPr algn="l">
              <a:spcAft>
                <a:spcPts val="585"/>
              </a:spcAft>
            </a:pPr>
            <a:r>
              <a:rPr sz="1300" b="0" i="0">
                <a:solidFill>
                  <a:srgbClr val="1C1B19"/>
                </a:solidFill>
                <a:latin typeface="Source Serif 4"/>
              </a:rPr>
              <a:t>Students of color often start thinking about racial identity early because the world brings it up. White students in mostly white places may not until later. The "where are you really from" scenario lets students practice without anyone in the circle having to tell their own story.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Gender and sexuality: their timeline, their words.</a:t>
            </a:r>
          </a:p>
          <a:p>
            <a:pPr algn="l">
              <a:spcAft>
                <a:spcPts val="585"/>
              </a:spcAft>
            </a:pPr>
            <a:r>
              <a:rPr sz="1300" b="0" i="0">
                <a:solidFill>
                  <a:srgbClr val="1C1B19"/>
                </a:solidFill>
                <a:latin typeface="Source Serif 4"/>
              </a:rPr>
              <a:t>Some students know early, some question for a while, some land where they started. All of it is identity work. Nobody owes anyone a label, and who to tell, and when, is the student's call, with safety first. A student who isn't out at home needs a school adult route: a counselor can help them figure out who to talk to.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"Interview your roots" doesn't assume who's at home.</a:t>
            </a:r>
          </a:p>
          <a:p>
            <a:pPr algn="l">
              <a:spcAft>
                <a:spcPts val="585"/>
              </a:spcAft>
            </a:pPr>
            <a:r>
              <a:rPr sz="1300" b="0" i="0">
                <a:solidFill>
                  <a:srgbClr val="1C1B19"/>
                </a:solidFill>
                <a:latin typeface="Source Serif 4"/>
              </a:rPr>
              <a:t>Students live with one parent, two moms or two dads, grandparents, foster or kinship families, or between two homes. Adopted students may not have access to some of their story. Any elder, family friend, coach or mentor who knows part of their story counts.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can be kept, questioned, or chosen.</a:t>
            </a:r>
          </a:p>
          <a:p>
            <a:pPr algn="l">
              <a:spcAft>
                <a:spcPts val="585"/>
              </a:spcAft>
            </a:pPr>
            <a:r>
              <a:rPr sz="1300" b="0" i="0">
                <a:solidFill>
                  <a:srgbClr val="1C1B19"/>
                </a:solidFill>
                <a:latin typeface="Source Serif 4"/>
              </a:rPr>
              <a:t>For some students faith is the steadiest piece. Others are questioning it, or grew up without one. Keeping a faith after thinking it through is as much a commitment that fits as anything else. Don't present questioning as the goal.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Body and ability is one of the pieces.</a:t>
            </a:r>
          </a:p>
          <a:p>
            <a:pPr algn="l">
              <a:spcAft>
                <a:spcPts val="585"/>
              </a:spcAft>
            </a:pPr>
            <a:r>
              <a:rPr sz="1300" b="0" i="0">
                <a:solidFill>
                  <a:srgbClr val="1C1B19"/>
                </a:solidFill>
                <a:latin typeface="Source Serif 4"/>
              </a:rPr>
              <a:t>For disabled and chronically ill students, disability can be a source of pride and community, not only something other people notice. Include it in the list without making it the example of something hard.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and code switching.</a:t>
            </a:r>
          </a:p>
          <a:p>
            <a:pPr algn="l">
              <a:spcAft>
                <a:spcPts val="585"/>
              </a:spcAft>
            </a:pPr>
            <a:r>
              <a:rPr sz="1300" b="0" i="0">
                <a:solidFill>
                  <a:srgbClr val="1C1B19"/>
                </a:solidFill>
                <a:latin typeface="Source Serif 4"/>
              </a:rPr>
              <a:t>Children of immigrants and students whose home language isn't English may switch how they talk, dress or act between home and school. It is a real skill, and it can be tiring when you never get a break. Mixed students don't have to pick a side.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Psychologist Erik Erikson called building a sense of who you are and where you fit the central task of adolescence.</a:t>
            </a:r>
          </a:p>
          <a:p>
            <a:pPr algn="l">
              <a:spcAft>
                <a:spcPts val="585"/>
              </a:spcAft>
            </a:pPr>
            <a:r>
              <a:rPr sz="1050" b="0" i="0">
                <a:solidFill>
                  <a:srgbClr val="5D5A54"/>
                </a:solidFill>
                <a:latin typeface="Inter Tight"/>
              </a:rPr>
              <a:t>Erikson, Identity: Youth and Crisis, 1968</a:t>
            </a:r>
          </a:p>
          <a:p>
            <a:pPr algn="l">
              <a:spcAft>
                <a:spcPts val="585"/>
              </a:spcAft>
            </a:pPr>
            <a:r>
              <a:rPr sz="1300" b="0" i="0">
                <a:solidFill>
                  <a:srgbClr val="1C1B19"/>
                </a:solidFill>
                <a:latin typeface="Source Serif 4"/>
              </a:rPr>
              <a:t>Identity can be described by two questions: Have you explored your options? Have you committed to something? The answers make four common places to be, and a person can be in a different place for each part of themselves.</a:t>
            </a:r>
          </a:p>
          <a:p>
            <a:pPr algn="l">
              <a:spcAft>
                <a:spcPts val="585"/>
              </a:spcAft>
            </a:pPr>
            <a:r>
              <a:rPr sz="1050" b="0" i="0">
                <a:solidFill>
                  <a:srgbClr val="5D5A54"/>
                </a:solidFill>
                <a:latin typeface="Inter Tight"/>
              </a:rPr>
              <a:t>Marcia, Journal of Personality and Social Psychology, 1966</a:t>
            </a:r>
          </a:p>
          <a:p>
            <a:pPr algn="l">
              <a:spcAft>
                <a:spcPts val="585"/>
              </a:spcAft>
            </a:pPr>
            <a:r>
              <a:rPr sz="1300" b="0" i="0">
                <a:solidFill>
                  <a:srgbClr val="1C1B19"/>
                </a:solidFill>
                <a:latin typeface="Source Serif 4"/>
              </a:rPr>
              <a:t>Across 73 studies, the most common change from the teens into the 20s was from exploring to a commitment that fits. Moving forward was about twice as common as sliding back.</a:t>
            </a:r>
          </a:p>
          <a:p>
            <a:pPr algn="l">
              <a:spcAft>
                <a:spcPts val="585"/>
              </a:spcAft>
            </a:pPr>
            <a:r>
              <a:rPr sz="1050" b="0" i="0">
                <a:solidFill>
                  <a:srgbClr val="5D5A54"/>
                </a:solidFill>
                <a:latin typeface="Inter Tight"/>
              </a:rPr>
              <a:t>Kroger, Martinussen and Marcia, Journal of Adolescence, 2010</a:t>
            </a:r>
          </a:p>
          <a:p>
            <a:pPr algn="l">
              <a:spcAft>
                <a:spcPts val="585"/>
              </a:spcAft>
            </a:pPr>
            <a:r>
              <a:rPr sz="1300" b="0" i="0">
                <a:solidFill>
                  <a:srgbClr val="1C1B19"/>
                </a:solidFill>
                <a:latin typeface="Source Serif 4"/>
              </a:rPr>
              <a:t>Across 46 studies, minority youth who felt good about their ethnic or racial group had fewer symptoms of depression, better self-esteem, fewer problems with drugs and alcohol, and did better in school.</a:t>
            </a:r>
          </a:p>
          <a:p>
            <a:pPr algn="l">
              <a:spcAft>
                <a:spcPts val="585"/>
              </a:spcAft>
            </a:pPr>
            <a:r>
              <a:rPr sz="1050" b="0" i="0">
                <a:solidFill>
                  <a:srgbClr val="5D5A54"/>
                </a:solidFill>
                <a:latin typeface="Inter Tight"/>
              </a:rPr>
              <a:t>Rivas-Drake et al., Child Development, 2014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Ethnic and racial identity develops across adolescence and into young adulthood. Students of color often start this work early; white students in mostly white settings may start later.</a:t>
            </a:r>
          </a:p>
          <a:p>
            <a:pPr algn="l">
              <a:spcAft>
                <a:spcPts val="585"/>
              </a:spcAft>
            </a:pPr>
            <a:r>
              <a:rPr sz="1050" b="0" i="0">
                <a:solidFill>
                  <a:srgbClr val="5D5A54"/>
                </a:solidFill>
                <a:latin typeface="Inter Tight"/>
              </a:rPr>
              <a:t>Umaña-Taylor et al., Child Development, 2014</a:t>
            </a:r>
          </a:p>
          <a:p>
            <a:pPr algn="l">
              <a:spcAft>
                <a:spcPts val="585"/>
              </a:spcAft>
            </a:pPr>
            <a:r>
              <a:rPr sz="1300" b="0" i="0">
                <a:solidFill>
                  <a:srgbClr val="1C1B19"/>
                </a:solidFill>
                <a:latin typeface="Source Serif 4"/>
              </a:rPr>
              <a:t>People start building a life story about where they came from and where they're headed in adolescence. People who find growth or meaning in a hard stretch tend to do better than those who tell it as a dead end.</a:t>
            </a:r>
          </a:p>
          <a:p>
            <a:pPr algn="l">
              <a:spcAft>
                <a:spcPts val="585"/>
              </a:spcAft>
            </a:pPr>
            <a:r>
              <a:rPr sz="1050" b="0" i="0">
                <a:solidFill>
                  <a:srgbClr val="5D5A54"/>
                </a:solidFill>
                <a:latin typeface="Inter Tight"/>
              </a:rPr>
              <a:t>McAdams and McLean, Current Directions in Psychological Science, 2013</a:t>
            </a:r>
          </a:p>
          <a:p>
            <a:pPr algn="l">
              <a:spcAft>
                <a:spcPts val="585"/>
              </a:spcAft>
            </a:pPr>
            <a:r>
              <a:rPr sz="1300" b="0" i="0">
                <a:solidFill>
                  <a:srgbClr val="1C1B19"/>
                </a:solidFill>
                <a:latin typeface="Source Serif 4"/>
              </a:rPr>
              <a:t>In a study of about 19,000 adults ages 18 to 68, people at every age said they'd changed a lot in the past ten years and expected to change very little in the next ten: the "end of history illusion." It compared people of different ages, so it's a rough picture.</a:t>
            </a:r>
          </a:p>
          <a:p>
            <a:pPr algn="l">
              <a:spcAft>
                <a:spcPts val="585"/>
              </a:spcAft>
            </a:pPr>
            <a:r>
              <a:rPr sz="1050" b="0" i="0">
                <a:solidFill>
                  <a:srgbClr val="5D5A54"/>
                </a:solidFill>
                <a:latin typeface="Inter Tight"/>
              </a:rPr>
              <a:t>Quoidbach, Gilbert and Wilson, Science, 2013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