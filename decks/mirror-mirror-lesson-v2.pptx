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one rule before anything else: nobody rates, describes or compares their own body or anyone else's today. Say the page focuses on pressure aimed at guys, and anyone can feel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Popcorn. Expect face ratings, canthal tilt, mewing, physique checks, "natty or not," supplement reviews. Ask: "What do most of these have in common?" Get them to: find a flaw, then sell the fix.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Ask students to explain the terms; they usually know them better than adults. "It's over" thinking is the one to slow down on: some spaces push the idea that your face decides your future, so there's no point trying. Relationships, friendships and careers are built on far more than bone 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Growth timing varies by years in either direction, and both early and late are normal. Some guys keep filling out into their early 20s. If the guy next to you is gaining faster, timing explains a lot of it. Tongue tricks and apps don't change the frame.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like it's from a video. Thumbs up useful, thumbs down sales pitch, flat hand not sure. Jawline: pitch; bone doesn't change in a month, and the link is the business model. Sleep: useful. 4 to 7: pitch; the scale is made up. Start light: useful; it's what coaches and pediatricians say. Natty: "not sure" is the point; don't use that body as your target. Ganson's study: guys who filtered photos often scored higher on drive for size.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Eisenberg: about 35% of 2,793 urban middle and high schoolers used protein powders, about 5% reported steroids. Van Wagoner: 39% of SARM products held a different unapproved drug, and only 41% had the labeled amount; the FDA links SARMs to liver damage, heart attack and stroke. Steroids in teens can close growth plates early, permanently stopping height growth. Hudson: about 2% of men have had binge eating disorder; restricting and overtraining get missed because they look like discipline.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The AAP supports supervised, technique-first strength training for teens. Teens need 8 to 10 hours of sleep; most get enough protein from meals. Run the three situations from the student page quickly if time allows: the teammate offering SARMs, the face-ranking group chat, the panic about a missed workout. Share the student page link. Check in privately with anyone whose answers suggested skipped meals, hidden use or a lot of distress.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Mirror, Mirror</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how looks content finds a flaw and sells the fix, what growth timing and genes set, and what testing shows is really in supplements and SARMs. Bring index cards, and keep every example on the content, never on anyone's body.</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Open by saying the page centers the pressure aimed at guys, that students of any gender feel it, and that beauty standards in the feed often reflect one narrow look rather than the range of faces and bodies in the room.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MIRROR, MIRROR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Mirror, Mirror</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the mirror, and the algorithm, leave out.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SOUND FAMILIAR?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Your feed found your insecurities fast. That's its job.</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What's the most common looks or gym content in your feed?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WORDS YOU KEEP HEARING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New vocabulary, same move</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Mewing</a:t>
            </a:r>
          </a:p>
          <a:p>
            <a:pPr algn="l">
              <a:spcAft>
                <a:spcPts val="945"/>
              </a:spcAft>
            </a:pPr>
            <a:r>
              <a:rPr sz="1600" b="0" i="0">
                <a:solidFill>
                  <a:srgbClr val="5D5A54"/>
                </a:solidFill>
                <a:latin typeface="Source Serif 4"/>
              </a:rPr>
              <a:t>No good evidence it reshapes a teen or adult jaw</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Bone smashing</a:t>
            </a:r>
          </a:p>
          <a:p>
            <a:pPr algn="l">
              <a:spcAft>
                <a:spcPts val="945"/>
              </a:spcAft>
            </a:pPr>
            <a:r>
              <a:rPr sz="1600" b="0" i="0">
                <a:solidFill>
                  <a:srgbClr val="5D5A54"/>
                </a:solidFill>
                <a:latin typeface="Source Serif 4"/>
              </a:rPr>
              <a:t>Can cause fractures and nerve damage. Don't.</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Mogging</a:t>
            </a:r>
          </a:p>
          <a:p>
            <a:pPr algn="l">
              <a:spcAft>
                <a:spcPts val="945"/>
              </a:spcAft>
            </a:pPr>
            <a:r>
              <a:rPr sz="1600" b="0" i="0">
                <a:solidFill>
                  <a:srgbClr val="5D5A54"/>
                </a:solidFill>
                <a:latin typeface="Source Serif 4"/>
              </a:rPr>
              <a:t>Turns every group photo into a contest</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PSL ratings</a:t>
            </a:r>
          </a:p>
          <a:p>
            <a:pPr algn="l">
              <a:spcAft>
                <a:spcPts val="945"/>
              </a:spcAft>
            </a:pPr>
            <a:r>
              <a:rPr sz="1600" b="0" i="0">
                <a:solidFill>
                  <a:srgbClr val="5D5A54"/>
                </a:solidFill>
                <a:latin typeface="Source Serif 4"/>
              </a:rPr>
              <a:t>A scale invented by forums, not science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"It's over"</a:t>
            </a:r>
          </a:p>
          <a:p>
            <a:pPr algn="l">
              <a:spcAft>
                <a:spcPts val="945"/>
              </a:spcAft>
            </a:pPr>
            <a:r>
              <a:rPr sz="1600" b="0" i="0">
                <a:solidFill>
                  <a:srgbClr val="5D5A54"/>
                </a:solidFill>
                <a:latin typeface="Source Serif 4"/>
              </a:rPr>
              <a:t>A worldview being sold, not a finding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BODY RUNS ON ITS OWN CLOCK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Genes set the frame. You build on it.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TIMING AND GENES SET</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Height spurt, usually 12 to 14 for boys</a:t>
            </a:r>
          </a:p>
          <a:p>
            <a:pPr algn="l">
              <a:spcAft>
                <a:spcPts val="855"/>
              </a:spcAft>
            </a:pPr>
            <a:r>
              <a:rPr sz="1900" b="0" i="0">
                <a:solidFill>
                  <a:srgbClr val="1C1B19"/>
                </a:solidFill>
                <a:latin typeface="Source Serif 4"/>
              </a:rPr>
              <a:t>Strength jumps during and after it</a:t>
            </a:r>
          </a:p>
          <a:p>
            <a:pPr algn="l">
              <a:spcAft>
                <a:spcPts val="855"/>
              </a:spcAft>
            </a:pPr>
            <a:r>
              <a:rPr sz="1900" b="0" i="0">
                <a:solidFill>
                  <a:srgbClr val="1C1B19"/>
                </a:solidFill>
                <a:latin typeface="Source Serif 4"/>
              </a:rPr>
              <a:t>Bone structure, jaw, height range</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YOU CAN CHANGE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Training</a:t>
            </a:r>
          </a:p>
          <a:p>
            <a:pPr algn="l">
              <a:spcAft>
                <a:spcPts val="855"/>
              </a:spcAft>
            </a:pPr>
            <a:r>
              <a:rPr sz="1900" b="0" i="0">
                <a:solidFill>
                  <a:srgbClr val="1C1B19"/>
                </a:solidFill>
                <a:latin typeface="Source Serif 4"/>
              </a:rPr>
              <a:t>Food</a:t>
            </a:r>
          </a:p>
          <a:p>
            <a:pPr algn="l">
              <a:spcAft>
                <a:spcPts val="855"/>
              </a:spcAft>
            </a:pPr>
            <a:r>
              <a:rPr sz="1900" b="0" i="0">
                <a:solidFill>
                  <a:srgbClr val="1C1B19"/>
                </a:solidFill>
                <a:latin typeface="Source Serif 4"/>
              </a:rPr>
              <a:t>Sleep</a:t>
            </a:r>
          </a:p>
          <a:p>
            <a:pPr algn="l">
              <a:spcAft>
                <a:spcPts val="855"/>
              </a:spcAft>
            </a:pPr>
            <a:r>
              <a:rPr sz="1900" b="0" i="0">
                <a:solidFill>
                  <a:srgbClr val="1C1B19"/>
                </a:solidFill>
                <a:latin typeface="Source Serif 4"/>
              </a:rPr>
              <a:t>Who you take advice from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VOTE FIRST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Useful advice or sales pitch?</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"This jawline routine fixed my face in 30 days."</a:t>
            </a:r>
          </a:p>
          <a:p>
            <a:pPr algn="l">
              <a:spcAft>
                <a:spcPts val="945"/>
              </a:spcAft>
            </a:pPr>
            <a:r>
              <a:rPr sz="1600" b="0" i="0">
                <a:solidFill>
                  <a:srgbClr val="5D5A54"/>
                </a:solidFill>
                <a:latin typeface="Source Serif 4"/>
              </a:rPr>
              <a:t>Link in bio.</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"Sleep 8 to 10 hours."</a:t>
            </a:r>
          </a:p>
          <a:p>
            <a:pPr algn="l">
              <a:spcAft>
                <a:spcPts val="945"/>
              </a:spcAft>
            </a:pPr>
            <a:r>
              <a:rPr sz="1600" b="0" i="0">
                <a:solidFill>
                  <a:srgbClr val="5D5A54"/>
                </a:solidFill>
                <a:latin typeface="Source Serif 4"/>
              </a:rPr>
              <a:t>Recovery is where you grow.</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"You're a 4. Here's how to get to a 7."</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"Start light, learn form, add weight slowly."</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"Natty or not? I'll never tell."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WHAT'S ACTUALLY IN THE PRODUCT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Tucker et al., 2018  ·  Van Wagoner et al., 2017  ·  Eisenberg et al., 2012</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Labels on muscle products are often wrong.</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The FDA doesn't approve supplements before they're sold.</a:t>
            </a:r>
          </a:p>
          <a:p>
            <a:pPr algn="l">
              <a:spcAft>
                <a:spcPts val="855"/>
              </a:spcAft>
            </a:pPr>
            <a:r>
              <a:rPr sz="1900" b="0" i="0">
                <a:solidFill>
                  <a:srgbClr val="1C1B19"/>
                </a:solidFill>
                <a:latin typeface="Source Serif 4"/>
              </a:rPr>
              <a:t>•  776 supplements had hidden drugs; muscle products often hid steroids.</a:t>
            </a:r>
          </a:p>
          <a:p>
            <a:pPr algn="l">
              <a:spcAft>
                <a:spcPts val="855"/>
              </a:spcAft>
            </a:pPr>
            <a:r>
              <a:rPr sz="1900" b="0" i="0">
                <a:solidFill>
                  <a:srgbClr val="1C1B19"/>
                </a:solidFill>
                <a:latin typeface="Source Serif 4"/>
              </a:rPr>
              <a:t>•  Only about half of "SARMs" bought online contained a SARM.</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If you can't know what's in it, you can't know what it's doing to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BORING BASICS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Train for performance. Sleep. Eat. Get real coaching.</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 your card: one goal about what your body can do, not how it looks.</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https://rmwtoolkit.github.io/bcds-toolkit/mirror-mirror-high-school.html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Mirror, Mirror</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learn how looksmaxing and muscle content find a flaw and sell a fix, what growth timing and genetics actually set, what's really in supplements and SARMs, and the boring basics that build a body. Nobody rates, describes or compares a body in the room.</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Pens</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Your feed found your insecurities fast</a:t>
            </a:r>
          </a:p>
          <a:p>
            <a:pPr algn="l">
              <a:spcAft>
                <a:spcPts val="630"/>
              </a:spcAft>
            </a:pPr>
            <a:r>
              <a:rPr sz="1300" b="1" i="0">
                <a:solidFill>
                  <a:srgbClr val="F47B20"/>
                </a:solidFill>
                <a:latin typeface="Inter Tight"/>
              </a:rPr>
              <a:t>4 min   </a:t>
            </a:r>
            <a:r>
              <a:rPr sz="1400" b="0" i="0">
                <a:solidFill>
                  <a:srgbClr val="1C1B19"/>
                </a:solidFill>
                <a:latin typeface="Source Serif 4"/>
              </a:rPr>
              <a:t>The words you keep hearing</a:t>
            </a:r>
          </a:p>
          <a:p>
            <a:pPr algn="l">
              <a:spcAft>
                <a:spcPts val="630"/>
              </a:spcAft>
            </a:pPr>
            <a:r>
              <a:rPr sz="1300" b="1" i="0">
                <a:solidFill>
                  <a:srgbClr val="F47B20"/>
                </a:solidFill>
                <a:latin typeface="Inter Tight"/>
              </a:rPr>
              <a:t>4 min   </a:t>
            </a:r>
            <a:r>
              <a:rPr sz="1400" b="0" i="0">
                <a:solidFill>
                  <a:srgbClr val="1C1B19"/>
                </a:solidFill>
                <a:latin typeface="Source Serif 4"/>
              </a:rPr>
              <a:t>Your body runs on its own clock</a:t>
            </a:r>
          </a:p>
          <a:p>
            <a:pPr algn="l">
              <a:spcAft>
                <a:spcPts val="630"/>
              </a:spcAft>
            </a:pPr>
            <a:r>
              <a:rPr sz="1300" b="1" i="0">
                <a:solidFill>
                  <a:srgbClr val="F47B20"/>
                </a:solidFill>
                <a:latin typeface="Inter Tight"/>
              </a:rPr>
              <a:t>5 min   </a:t>
            </a:r>
            <a:r>
              <a:rPr sz="1400" b="0" i="0">
                <a:solidFill>
                  <a:srgbClr val="1C1B19"/>
                </a:solidFill>
                <a:latin typeface="Source Serif 4"/>
              </a:rPr>
              <a:t>Useful advice or sales pitch? (vote)</a:t>
            </a:r>
          </a:p>
          <a:p>
            <a:pPr algn="l">
              <a:spcAft>
                <a:spcPts val="630"/>
              </a:spcAft>
            </a:pPr>
            <a:r>
              <a:rPr sz="1300" b="1" i="0">
                <a:solidFill>
                  <a:srgbClr val="F47B20"/>
                </a:solidFill>
                <a:latin typeface="Inter Tight"/>
              </a:rPr>
              <a:t>5 min   </a:t>
            </a:r>
            <a:r>
              <a:rPr sz="1400" b="0" i="0">
                <a:solidFill>
                  <a:srgbClr val="1C1B19"/>
                </a:solidFill>
                <a:latin typeface="Source Serif 4"/>
              </a:rPr>
              <a:t>What's actually in the product</a:t>
            </a:r>
          </a:p>
          <a:p>
            <a:pPr algn="l">
              <a:spcAft>
                <a:spcPts val="630"/>
              </a:spcAft>
            </a:pPr>
            <a:r>
              <a:rPr sz="1300" b="1" i="0">
                <a:solidFill>
                  <a:srgbClr val="F47B20"/>
                </a:solidFill>
                <a:latin typeface="Inter Tight"/>
              </a:rPr>
              <a:t>4 min   </a:t>
            </a:r>
            <a:r>
              <a:rPr sz="1400" b="0" i="0">
                <a:solidFill>
                  <a:srgbClr val="1C1B19"/>
                </a:solidFill>
                <a:latin typeface="Source Serif 4"/>
              </a:rPr>
              <a:t>The boring basics, and three situations</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ONE ON ONE (ABOUT 15 MINUTES)</a:t>
            </a:r>
          </a:p>
          <a:p>
            <a:pPr algn="l">
              <a:spcAft>
                <a:spcPts val="630"/>
              </a:spcAft>
            </a:pPr>
            <a:r>
              <a:rPr sz="1400" b="0" i="0">
                <a:solidFill>
                  <a:srgbClr val="1C1B19"/>
                </a:solidFill>
                <a:latin typeface="Source Serif 4"/>
              </a:rPr>
              <a:t>One on one: what's in their feed and how often they're checking (4). Growth timing and genetics (3). What they're taking or considering, without judgment, and what's really in it (4). Signs worth watching: skipped meals, panic over a missed workout, anything hidden from a doctor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Never rate or compare.</a:t>
            </a:r>
          </a:p>
          <a:p>
            <a:pPr algn="l">
              <a:spcAft>
                <a:spcPts val="585"/>
              </a:spcAft>
            </a:pPr>
            <a:r>
              <a:rPr sz="1300" b="0" i="0">
                <a:solidFill>
                  <a:srgbClr val="1C1B19"/>
                </a:solidFill>
                <a:latin typeface="Source Serif 4"/>
              </a:rPr>
              <a:t>No one rates, describes or compares their own body or anyone else's. If a student starts, redirect to the content: "What's the video selling?"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Listen for what's underneath.</a:t>
            </a:r>
          </a:p>
          <a:p>
            <a:pPr algn="l">
              <a:spcAft>
                <a:spcPts val="585"/>
              </a:spcAft>
            </a:pPr>
            <a:r>
              <a:rPr sz="1300" b="0" i="0">
                <a:solidFill>
                  <a:srgbClr val="1C1B19"/>
                </a:solidFill>
                <a:latin typeface="Source Serif 4"/>
              </a:rPr>
              <a:t>Skipped meals, compensatory exercise, panic over a missed lift, or anything hidden from a doctor point toward an eating disorder or muscle dysmorphia. Follow up individually; group isn't the place to assess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Ask about use without alarm.</a:t>
            </a:r>
          </a:p>
          <a:p>
            <a:pPr algn="l">
              <a:spcAft>
                <a:spcPts val="585"/>
              </a:spcAft>
            </a:pPr>
            <a:r>
              <a:rPr sz="1300" b="0" i="0">
                <a:solidFill>
                  <a:srgbClr val="1C1B19"/>
                </a:solidFill>
                <a:latin typeface="Source Serif 4"/>
              </a:rPr>
              <a:t>Students using supplements, SARMs or steroids will go quiet if they feel judged. Lead with what testing found is in the products; that does more than a warning.</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"It's over" thinking.</a:t>
            </a:r>
          </a:p>
          <a:p>
            <a:pPr algn="l">
              <a:spcAft>
                <a:spcPts val="585"/>
              </a:spcAft>
            </a:pPr>
            <a:r>
              <a:rPr sz="1300" b="0" i="0">
                <a:solidFill>
                  <a:srgbClr val="1C1B19"/>
                </a:solidFill>
                <a:latin typeface="Source Serif 4"/>
              </a:rPr>
              <a:t>Some looksmax spaces sell the idea that a face decides your future. Hopelessness tied to appearance is worth a private check-in about mood and safety.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Guys get eating disorders.</a:t>
            </a:r>
          </a:p>
          <a:p>
            <a:pPr algn="l">
              <a:spcAft>
                <a:spcPts val="585"/>
              </a:spcAft>
            </a:pPr>
            <a:r>
              <a:rPr sz="1300" b="0" i="0">
                <a:solidFill>
                  <a:srgbClr val="1C1B19"/>
                </a:solidFill>
                <a:latin typeface="Source Serif 4"/>
              </a:rPr>
              <a:t>Restricting, bulking and overtraining can look like discipline, so they get missed. Say so plainly; it gives boys permission to name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Coaches and trainers.</a:t>
            </a:r>
          </a:p>
          <a:p>
            <a:pPr algn="l">
              <a:spcAft>
                <a:spcPts val="585"/>
              </a:spcAft>
            </a:pPr>
            <a:r>
              <a:rPr sz="1300" b="0" i="0">
                <a:solidFill>
                  <a:srgbClr val="1C1B19"/>
                </a:solidFill>
                <a:latin typeface="Source Serif 4"/>
              </a:rPr>
              <a:t>The athletic trainer is a natural ally for students who are training hard. Point to them as the expert, not the stranger with the shirtless profile picture.</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Any gender.</a:t>
            </a:r>
          </a:p>
          <a:p>
            <a:pPr algn="l">
              <a:spcAft>
                <a:spcPts val="585"/>
              </a:spcAft>
            </a:pPr>
            <a:r>
              <a:rPr sz="1300" b="0" i="0">
                <a:solidFill>
                  <a:srgbClr val="1C1B19"/>
                </a:solidFill>
                <a:latin typeface="Source Serif 4"/>
              </a:rPr>
              <a:t>The page focuses on guys because much of the pressure targets them. Girls, nonbinary and trans students feel versions of it too, and trans students may have specific body concerns. Keep examples open.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Race and features.</a:t>
            </a:r>
          </a:p>
          <a:p>
            <a:pPr algn="l">
              <a:spcAft>
                <a:spcPts val="585"/>
              </a:spcAft>
            </a:pPr>
            <a:r>
              <a:rPr sz="1300" b="0" i="0">
                <a:solidFill>
                  <a:srgbClr val="1C1B19"/>
                </a:solidFill>
                <a:latin typeface="Source Serif 4"/>
              </a:rPr>
              <a:t>Face-rating scales often treat one narrow, mostly white look as the standard. Name that the scale is invented, and that features that vary across families and ancestries aren't flaws.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 and bodies that don't fit the feed.</a:t>
            </a:r>
          </a:p>
          <a:p>
            <a:pPr algn="l">
              <a:spcAft>
                <a:spcPts val="585"/>
              </a:spcAft>
            </a:pPr>
            <a:r>
              <a:rPr sz="1300" b="0" i="0">
                <a:solidFill>
                  <a:srgbClr val="1C1B19"/>
                </a:solidFill>
                <a:latin typeface="Source Serif 4"/>
              </a:rPr>
              <a:t>Students with disabilities, chronic illness or different body types are rarely in this content. Keep goals about what a body can do, on that student's terms.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Culture and food.</a:t>
            </a:r>
          </a:p>
          <a:p>
            <a:pPr algn="l">
              <a:spcAft>
                <a:spcPts val="585"/>
              </a:spcAft>
            </a:pPr>
            <a:r>
              <a:rPr sz="1300" b="0" i="0">
                <a:solidFill>
                  <a:srgbClr val="1C1B19"/>
                </a:solidFill>
                <a:latin typeface="Source Serif 4"/>
              </a:rPr>
              <a:t>Families eat differently, and some students fast for religious reasons. Keep advice to regular meals and enough food, without judging any family's way of eating.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a:t>
            </a:r>
          </a:p>
          <a:p>
            <a:pPr algn="l">
              <a:spcAft>
                <a:spcPts val="585"/>
              </a:spcAft>
            </a:pPr>
            <a:r>
              <a:rPr sz="1300" b="0" i="0">
                <a:solidFill>
                  <a:srgbClr val="1C1B19"/>
                </a:solidFill>
                <a:latin typeface="Source Serif 4"/>
              </a:rPr>
              <a:t>Supplements, coaching and gear cost money. Make the point that the basics (sleep, regular meals, coaching from a school trainer) are free.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Early and late developers.</a:t>
            </a:r>
          </a:p>
          <a:p>
            <a:pPr algn="l">
              <a:spcAft>
                <a:spcPts val="585"/>
              </a:spcAft>
            </a:pPr>
            <a:r>
              <a:rPr sz="1300" b="0" i="0">
                <a:solidFill>
                  <a:srgbClr val="1C1B19"/>
                </a:solidFill>
                <a:latin typeface="Source Serif 4"/>
              </a:rPr>
              <a:t>Growth timing varies by years. A late developer can feel singled out; normalize both early and late.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Among 2,793 students at 20 urban middle and high schools, about 35% had used protein powders or shakes and about 5% said they'd used steroids. Most muscle-building behaviors were more common in boys.</a:t>
            </a:r>
          </a:p>
          <a:p>
            <a:pPr algn="l">
              <a:spcAft>
                <a:spcPts val="585"/>
              </a:spcAft>
            </a:pPr>
            <a:r>
              <a:rPr sz="1050" b="0" i="0">
                <a:solidFill>
                  <a:srgbClr val="5D5A54"/>
                </a:solidFill>
                <a:latin typeface="Inter Tight"/>
              </a:rPr>
              <a:t>Eisenberg, Wall and Neumark-Sztainer, Pediatrics, 2012</a:t>
            </a:r>
          </a:p>
          <a:p>
            <a:pPr algn="l">
              <a:spcAft>
                <a:spcPts val="585"/>
              </a:spcAft>
            </a:pPr>
            <a:r>
              <a:rPr sz="1300" b="0" i="0">
                <a:solidFill>
                  <a:srgbClr val="1C1B19"/>
                </a:solidFill>
                <a:latin typeface="Source Serif 4"/>
              </a:rPr>
              <a:t>In 912 Canadian teens and young adults, guys who often used photo filters scored higher on drive for size and on how much muscle concerns interfered with daily life.</a:t>
            </a:r>
          </a:p>
          <a:p>
            <a:pPr algn="l">
              <a:spcAft>
                <a:spcPts val="585"/>
              </a:spcAft>
            </a:pPr>
            <a:r>
              <a:rPr sz="1050" b="0" i="0">
                <a:solidFill>
                  <a:srgbClr val="5D5A54"/>
                </a:solidFill>
                <a:latin typeface="Inter Tight"/>
              </a:rPr>
              <a:t>Ganson et al., Body Image, 2024</a:t>
            </a:r>
          </a:p>
          <a:p>
            <a:pPr algn="l">
              <a:spcAft>
                <a:spcPts val="585"/>
              </a:spcAft>
            </a:pPr>
            <a:r>
              <a:rPr sz="1300" b="0" i="0">
                <a:solidFill>
                  <a:srgbClr val="1C1B19"/>
                </a:solidFill>
                <a:latin typeface="Source Serif 4"/>
              </a:rPr>
              <a:t>About 2% of US men had binge eating disorder at some point in their lives.</a:t>
            </a:r>
          </a:p>
          <a:p>
            <a:pPr algn="l">
              <a:spcAft>
                <a:spcPts val="585"/>
              </a:spcAft>
            </a:pPr>
            <a:r>
              <a:rPr sz="1050" b="0" i="0">
                <a:solidFill>
                  <a:srgbClr val="5D5A54"/>
                </a:solidFill>
                <a:latin typeface="Inter Tight"/>
              </a:rPr>
              <a:t>Hudson, Hiripi, Pope and Kessler, Biological Psychiatry, 2007</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An analysis of FDA warnings found 776 supplements with hidden drug ingredients; about 12% were sold for muscle building, and those most often contained synthetic steroids.</a:t>
            </a:r>
          </a:p>
          <a:p>
            <a:pPr algn="l">
              <a:spcAft>
                <a:spcPts val="585"/>
              </a:spcAft>
            </a:pPr>
            <a:r>
              <a:rPr sz="1050" b="0" i="0">
                <a:solidFill>
                  <a:srgbClr val="5D5A54"/>
                </a:solidFill>
                <a:latin typeface="Inter Tight"/>
              </a:rPr>
              <a:t>Tucker et al., JAMA Network Open, 2018</a:t>
            </a:r>
          </a:p>
          <a:p>
            <a:pPr algn="l">
              <a:spcAft>
                <a:spcPts val="585"/>
              </a:spcAft>
            </a:pPr>
            <a:r>
              <a:rPr sz="1300" b="0" i="0">
                <a:solidFill>
                  <a:srgbClr val="1C1B19"/>
                </a:solidFill>
                <a:latin typeface="Source Serif 4"/>
              </a:rPr>
              <a:t>Of 44 products sold online as SARMs, only 52% contained a SARM, 39% contained a different unapproved drug, and only 41% had the amount the label claimed.</a:t>
            </a:r>
          </a:p>
          <a:p>
            <a:pPr algn="l">
              <a:spcAft>
                <a:spcPts val="585"/>
              </a:spcAft>
            </a:pPr>
            <a:r>
              <a:rPr sz="1050" b="0" i="0">
                <a:solidFill>
                  <a:srgbClr val="5D5A54"/>
                </a:solidFill>
                <a:latin typeface="Inter Tight"/>
              </a:rPr>
              <a:t>Van Wagoner et al., JAMA, 2017</a:t>
            </a:r>
          </a:p>
          <a:p>
            <a:pPr algn="l">
              <a:spcAft>
                <a:spcPts val="585"/>
              </a:spcAft>
            </a:pPr>
            <a:r>
              <a:rPr sz="1300" b="0" i="0">
                <a:solidFill>
                  <a:srgbClr val="1C1B19"/>
                </a:solidFill>
                <a:latin typeface="Source Serif 4"/>
              </a:rPr>
              <a:t>The American Academy of Pediatrics supports strength training for children and teens when it's supervised and focused on technique.</a:t>
            </a:r>
          </a:p>
          <a:p>
            <a:pPr algn="l">
              <a:spcAft>
                <a:spcPts val="585"/>
              </a:spcAft>
            </a:pPr>
            <a:r>
              <a:rPr sz="1050" b="0" i="0">
                <a:solidFill>
                  <a:srgbClr val="5D5A54"/>
                </a:solidFill>
                <a:latin typeface="Inter Tight"/>
              </a:rPr>
              <a:t>Stricker et al., Pediatrics, 2020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