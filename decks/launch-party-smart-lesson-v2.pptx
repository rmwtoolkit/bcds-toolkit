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2 MINUTES. Say up front: "This won't tell you what to choose. Families, faiths and cultures see alcohol very differently, and you'll bring your own values. It's about how it works, so you can keep yourself and the people around you safe."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Alcohol is still being absorbed while the next drink is poured, so by the time you feel it, more is on the way. The peak usually comes after the last drink. That's why "they seemed okay when they went to bed" is such a dangerous sentence. Ask: "So what's the most dangerous thing you can do for a friend who passed out?" Answer: put them to bed and walk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Use water in a clear party cup. Have two volunteers free-pour "one shot of liquor," then measure. They'll almost always overpour. Duke researchers found college students overpoured every time, and the bigger the cup, the bigger the overpour. A cup of party punch can hold several drinks.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Borsari and Carey: across many studies, students overestimate how much peers drink. White and colleagues: 51% of Duke students who had ever had alcohol reported a blackout; people still walk, talk and text during one. O'Brien: mixing with energy drinks went with more injuries. Pills: if it's not from a pharmacy, you don't know what's in it; the DEA found two in five fake pills with fentanyl held a potentially lethal dose. Alcohol plus Xanax, opioids or sleep medicine each slow breathing, and together they hit much harder.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Any one sign means call 911 or campus safety. Then: roll them on their side, stay with them until help arrives, give Narcan if pills or powder might be involved (it can't hurt them if it isn't an opioid overdose), and don't let fear of trouble stop you. Many states have Good Samaritan laws for overdoses, and most colleges have medical amnesty for alcohol. Look up yours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Students write their move on the card, then compare in pairs. Tasha: CUPS signs, so call 911 or campus safety, roll her on her side, and stay. Not bed, not coffee and a cold shower. Andre: hold a seltzer, "I'm good," stick with his people; he doesn't owe anyone his reasons. Priya: a distraction ("Hey, come get water with me"), then find her friends. Waiting until tomorrow is too late. The Red Zone lesson goes deeper on stepping 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Share the student page link; it has the full list. Close with: "Poison Control is 1-800-222-1222, any time. If a friend is in emotional crisis rather than a medical one, call or text 988. And if alcohol or drugs are a worry for you or someone at home, a counselor here is a good place to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Party Smart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why BAC keeps rising after the last drink, how small a standard drink is, and the CUPS signs that mean call 911 every time. Bring a party cup and water for the pour demo, and never ask who drinks: some students don't for faith or family reasons, and some have a parent who drinks too much.</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Open by saying families, faiths and cultures see alcohol very differently, and that Andre's card (the student who doesn't drink) is a full, normal way to go to college.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PARTY SMART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Party Smart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alcohol and other drugs actually do, and how to keep yourself and your people safe.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CURVE THAT CATCHES PEOPLE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BAC keeps rising after the last drink.</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Rising</a:t>
            </a:r>
          </a:p>
          <a:p>
            <a:pPr algn="l">
              <a:spcAft>
                <a:spcPts val="945"/>
              </a:spcAft>
            </a:pPr>
            <a:r>
              <a:rPr sz="1600" b="0" i="0">
                <a:solidFill>
                  <a:srgbClr val="5D5A54"/>
                </a:solidFill>
                <a:latin typeface="Source Serif 4"/>
              </a:rPr>
              <a:t>You feel fine, then you don't. More is already on the way.</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Peak</a:t>
            </a:r>
          </a:p>
          <a:p>
            <a:pPr algn="l">
              <a:spcAft>
                <a:spcPts val="945"/>
              </a:spcAft>
            </a:pPr>
            <a:r>
              <a:rPr sz="1600" b="0" i="0">
                <a:solidFill>
                  <a:srgbClr val="5D5A54"/>
                </a:solidFill>
                <a:latin typeface="Source Serif 4"/>
              </a:rPr>
              <a:t>Usually after the last drink, even after someone passes out.</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Falling</a:t>
            </a:r>
          </a:p>
          <a:p>
            <a:pPr algn="l">
              <a:spcAft>
                <a:spcPts val="945"/>
              </a:spcAft>
            </a:pPr>
            <a:r>
              <a:rPr sz="1600" b="0" i="0">
                <a:solidFill>
                  <a:srgbClr val="5D5A54"/>
                </a:solidFill>
                <a:latin typeface="Source Serif 4"/>
              </a:rPr>
              <a:t>On your liver's schedule. Coffee and showers don't help. Only time does.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Pour what you think one drink of liquor is.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standard drink: 12 oz beer, 5 oz wine, 1.5 oz liquor.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NUMBERS STUDENTS GET WRONG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really going on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COMMON BELIEFS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Everyone drinks a lot in college</a:t>
            </a:r>
          </a:p>
          <a:p>
            <a:pPr algn="l">
              <a:spcAft>
                <a:spcPts val="855"/>
              </a:spcAft>
            </a:pPr>
            <a:r>
              <a:rPr sz="1900" b="0" i="0">
                <a:solidFill>
                  <a:srgbClr val="1C1B19"/>
                </a:solidFill>
                <a:latin typeface="Source Serif 4"/>
              </a:rPr>
              <a:t>Blackouts are rare</a:t>
            </a:r>
          </a:p>
          <a:p>
            <a:pPr algn="l">
              <a:spcAft>
                <a:spcPts val="855"/>
              </a:spcAft>
            </a:pPr>
            <a:r>
              <a:rPr sz="1900" b="0" i="0">
                <a:solidFill>
                  <a:srgbClr val="1C1B19"/>
                </a:solidFill>
                <a:latin typeface="Source Serif 4"/>
              </a:rPr>
              <a:t>Energy drinks keep you sharp</a:t>
            </a:r>
          </a:p>
          <a:p>
            <a:pPr algn="l">
              <a:spcAft>
                <a:spcPts val="855"/>
              </a:spcAft>
            </a:pPr>
            <a:r>
              <a:rPr sz="1900" b="0" i="0">
                <a:solidFill>
                  <a:srgbClr val="1C1B19"/>
                </a:solidFill>
                <a:latin typeface="Source Serif 4"/>
              </a:rPr>
              <a:t>Edibles aren't working, take more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THE RESEARCH SAYS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Students overestimate peers' drinking</a:t>
            </a:r>
          </a:p>
          <a:p>
            <a:pPr algn="l">
              <a:spcAft>
                <a:spcPts val="855"/>
              </a:spcAft>
            </a:pPr>
            <a:r>
              <a:rPr sz="1900" b="0" i="0">
                <a:solidFill>
                  <a:srgbClr val="1C1B19"/>
                </a:solidFill>
                <a:latin typeface="Source Serif 4"/>
              </a:rPr>
              <a:t>51% of drinkers at Duke had one</a:t>
            </a:r>
          </a:p>
          <a:p>
            <a:pPr algn="l">
              <a:spcAft>
                <a:spcPts val="855"/>
              </a:spcAft>
            </a:pPr>
            <a:r>
              <a:rPr sz="1900" b="0" i="0">
                <a:solidFill>
                  <a:srgbClr val="1C1B19"/>
                </a:solidFill>
                <a:latin typeface="Source Serif 4"/>
              </a:rPr>
              <a:t>You feel less drunk than you are</a:t>
            </a:r>
          </a:p>
          <a:p>
            <a:pPr algn="l">
              <a:spcAft>
                <a:spcPts val="855"/>
              </a:spcAft>
            </a:pPr>
            <a:r>
              <a:rPr sz="1900" b="0" i="0">
                <a:solidFill>
                  <a:srgbClr val="1C1B19"/>
                </a:solidFill>
                <a:latin typeface="Source Serif 4"/>
              </a:rPr>
              <a:t>They're slow; more is the classic mistake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SOMEONE IS IN TROUBLE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Know CUPS. Call every time.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Cold</a:t>
            </a:r>
          </a:p>
          <a:p>
            <a:pPr algn="l">
              <a:spcAft>
                <a:spcPts val="945"/>
              </a:spcAft>
            </a:pPr>
            <a:r>
              <a:rPr sz="1600" b="0" i="0">
                <a:solidFill>
                  <a:srgbClr val="5D5A54"/>
                </a:solidFill>
                <a:latin typeface="Source Serif 4"/>
              </a:rPr>
              <a:t>Cold, clammy, pale or bluish skin</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Unresponsive</a:t>
            </a:r>
          </a:p>
          <a:p>
            <a:pPr algn="l">
              <a:spcAft>
                <a:spcPts val="945"/>
              </a:spcAft>
            </a:pPr>
            <a:r>
              <a:rPr sz="1600" b="0" i="0">
                <a:solidFill>
                  <a:srgbClr val="5D5A54"/>
                </a:solidFill>
                <a:latin typeface="Source Serif 4"/>
              </a:rPr>
              <a:t>Can't be woken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Puking</a:t>
            </a:r>
          </a:p>
          <a:p>
            <a:pPr algn="l">
              <a:spcAft>
                <a:spcPts val="945"/>
              </a:spcAft>
            </a:pPr>
            <a:r>
              <a:rPr sz="1600" b="0" i="0">
                <a:solidFill>
                  <a:srgbClr val="5D5A54"/>
                </a:solidFill>
                <a:latin typeface="Source Serif 4"/>
              </a:rPr>
              <a:t>While passed out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Slow breathing</a:t>
            </a:r>
          </a:p>
          <a:p>
            <a:pPr algn="l">
              <a:spcAft>
                <a:spcPts val="945"/>
              </a:spcAft>
            </a:pPr>
            <a:r>
              <a:rPr sz="1600" b="0" i="0">
                <a:solidFill>
                  <a:srgbClr val="5D5A54"/>
                </a:solidFill>
                <a:latin typeface="Source Serif 4"/>
              </a:rPr>
              <a:t>Slow or irregular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NIGHTS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TASHA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First weekend of college. Her roommate is on the bathroom floor, hard to wake, breathing slowly. Two friends say to put her to bed and let her sleep it off.</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ANDRE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Doesn't drink. At a party, people keep pushing cups at him.</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Sees an older student refilling a first-year's cup over and over, then steering her toward the stairs. The first-year looks unsteady.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Save the numbers before move-in</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Campus safety, health services and free Narcan, your RA, the medical amnesty policy, your 2 a.m. person.</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https://rmwtoolkit.github.io/bcds-toolkit/launch-party-smart-high-school.html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Party Smart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understand why blood alcohol keeps rising after the last drink, how small a standard drink is, what fake pills and mixing do, and exactly what to do when someone can't be woken. The lesson doesn't tell students whether to drink.</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clear party cup and a measuring cup or water bottle (for the pour demo)</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Your call, your values</a:t>
            </a:r>
          </a:p>
          <a:p>
            <a:pPr algn="l">
              <a:spcAft>
                <a:spcPts val="630"/>
              </a:spcAft>
            </a:pPr>
            <a:r>
              <a:rPr sz="1300" b="1" i="0">
                <a:solidFill>
                  <a:srgbClr val="F47B20"/>
                </a:solidFill>
                <a:latin typeface="Inter Tight"/>
              </a:rPr>
              <a:t>4 min   </a:t>
            </a:r>
            <a:r>
              <a:rPr sz="1400" b="0" i="0">
                <a:solidFill>
                  <a:srgbClr val="1C1B19"/>
                </a:solidFill>
                <a:latin typeface="Source Serif 4"/>
              </a:rPr>
              <a:t>The curve that catches people</a:t>
            </a:r>
          </a:p>
          <a:p>
            <a:pPr algn="l">
              <a:spcAft>
                <a:spcPts val="630"/>
              </a:spcAft>
            </a:pPr>
            <a:r>
              <a:rPr sz="1300" b="1" i="0">
                <a:solidFill>
                  <a:srgbClr val="F47B20"/>
                </a:solidFill>
                <a:latin typeface="Inter Tight"/>
              </a:rPr>
              <a:t>3 min   </a:t>
            </a:r>
            <a:r>
              <a:rPr sz="1400" b="0" i="0">
                <a:solidFill>
                  <a:srgbClr val="1C1B19"/>
                </a:solidFill>
                <a:latin typeface="Source Serif 4"/>
              </a:rPr>
              <a:t>Pour a standard drink (demo)</a:t>
            </a:r>
          </a:p>
          <a:p>
            <a:pPr algn="l">
              <a:spcAft>
                <a:spcPts val="630"/>
              </a:spcAft>
            </a:pPr>
            <a:r>
              <a:rPr sz="1300" b="1" i="0">
                <a:solidFill>
                  <a:srgbClr val="F47B20"/>
                </a:solidFill>
                <a:latin typeface="Inter Tight"/>
              </a:rPr>
              <a:t>3 min   </a:t>
            </a:r>
            <a:r>
              <a:rPr sz="1400" b="0" i="0">
                <a:solidFill>
                  <a:srgbClr val="1C1B19"/>
                </a:solidFill>
                <a:latin typeface="Source Serif 4"/>
              </a:rPr>
              <a:t>Pills, powders, edibles</a:t>
            </a:r>
          </a:p>
          <a:p>
            <a:pPr algn="l">
              <a:spcAft>
                <a:spcPts val="630"/>
              </a:spcAft>
            </a:pPr>
            <a:r>
              <a:rPr sz="1300" b="1" i="0">
                <a:solidFill>
                  <a:srgbClr val="F47B20"/>
                </a:solidFill>
                <a:latin typeface="Inter Tight"/>
              </a:rPr>
              <a:t>6 min   </a:t>
            </a:r>
            <a:r>
              <a:rPr sz="1400" b="0" i="0">
                <a:solidFill>
                  <a:srgbClr val="1C1B19"/>
                </a:solidFill>
                <a:latin typeface="Source Serif 4"/>
              </a:rPr>
              <a:t>Know CUPS: three nights, what's your move?</a:t>
            </a:r>
          </a:p>
          <a:p>
            <a:pPr algn="l">
              <a:spcAft>
                <a:spcPts val="630"/>
              </a:spcAft>
            </a:pPr>
            <a:r>
              <a:rPr sz="1300" b="1" i="0">
                <a:solidFill>
                  <a:srgbClr val="F47B20"/>
                </a:solidFill>
                <a:latin typeface="Inter Tight"/>
              </a:rPr>
              <a:t>2 min   </a:t>
            </a:r>
            <a:r>
              <a:rPr sz="1400" b="0" i="0">
                <a:solidFill>
                  <a:srgbClr val="1C1B19"/>
                </a:solidFill>
                <a:latin typeface="Source Serif 4"/>
              </a:rPr>
              <a:t>Save the numbers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VERSION)</a:t>
            </a:r>
          </a:p>
          <a:p>
            <a:pPr algn="l">
              <a:spcAft>
                <a:spcPts val="630"/>
              </a:spcAft>
            </a:pPr>
            <a:r>
              <a:rPr sz="1400" b="0" i="0">
                <a:solidFill>
                  <a:srgbClr val="1C1B19"/>
                </a:solidFill>
                <a:latin typeface="Source Serif 4"/>
              </a:rPr>
              <a:t>The curve (3), know CUPS and Tasha's night (5), save the numbers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Never ask who drinks.</a:t>
            </a:r>
          </a:p>
          <a:p>
            <a:pPr algn="l">
              <a:spcAft>
                <a:spcPts val="585"/>
              </a:spcAft>
            </a:pPr>
            <a:r>
              <a:rPr sz="1300" b="0" i="0">
                <a:solidFill>
                  <a:srgbClr val="1C1B19"/>
                </a:solidFill>
                <a:latin typeface="Source Serif 4"/>
              </a:rPr>
              <a:t>Keep everything about the body, the math and helping others. Questions like "Who's been to a party?" put students in a bind.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tell them what to choose.</a:t>
            </a:r>
          </a:p>
          <a:p>
            <a:pPr algn="l">
              <a:spcAft>
                <a:spcPts val="585"/>
              </a:spcAft>
            </a:pPr>
            <a:r>
              <a:rPr sz="1300" b="0" i="0">
                <a:solidFill>
                  <a:srgbClr val="1C1B19"/>
                </a:solidFill>
                <a:latin typeface="Source Serif 4"/>
              </a:rPr>
              <a:t>The lesson says it up front: it won't decide for them. Seniors tune out a lecture fast; they listen to how BAC works and what to do for a friend.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have a parent who drinks.</a:t>
            </a:r>
          </a:p>
          <a:p>
            <a:pPr algn="l">
              <a:spcAft>
                <a:spcPts val="585"/>
              </a:spcAft>
            </a:pPr>
            <a:r>
              <a:rPr sz="1300" b="0" i="0">
                <a:solidFill>
                  <a:srgbClr val="1C1B19"/>
                </a:solidFill>
                <a:latin typeface="Source Serif 4"/>
              </a:rPr>
              <a:t>Alcohol can be painful at home. Keep examples to the invented cards, and if a student lingers after, check in. When Someone at Home Drinks or Uses is the student page for that.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Get the numbers right.</a:t>
            </a:r>
          </a:p>
          <a:p>
            <a:pPr algn="l">
              <a:spcAft>
                <a:spcPts val="585"/>
              </a:spcAft>
            </a:pPr>
            <a:r>
              <a:rPr sz="1300" b="0" i="0">
                <a:solidFill>
                  <a:srgbClr val="1C1B19"/>
                </a:solidFill>
                <a:latin typeface="Source Serif 4"/>
              </a:rPr>
              <a:t>The Duke blackout figure (51%) is among students who had ever had alcohol, in one university survey. The 1,825 deaths figure is from 2005 and mostly traffic crashes. Say where numbers come from.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Good Samaritan laws vary.</a:t>
            </a:r>
          </a:p>
          <a:p>
            <a:pPr algn="l">
              <a:spcAft>
                <a:spcPts val="585"/>
              </a:spcAft>
            </a:pPr>
            <a:r>
              <a:rPr sz="1300" b="0" i="0">
                <a:solidFill>
                  <a:srgbClr val="1C1B19"/>
                </a:solidFill>
                <a:latin typeface="Source Serif 4"/>
              </a:rPr>
              <a:t>Many states protect people who call for help in a drug overdose, and most colleges have medical amnesty for alcohol. Tell students to look up the law and policy where they'll be.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Priya card is about assault risk.</a:t>
            </a:r>
          </a:p>
          <a:p>
            <a:pPr algn="l">
              <a:spcAft>
                <a:spcPts val="585"/>
              </a:spcAft>
            </a:pPr>
            <a:r>
              <a:rPr sz="1300" b="0" i="0">
                <a:solidFill>
                  <a:srgbClr val="1C1B19"/>
                </a:solidFill>
                <a:latin typeface="Source Serif 4"/>
              </a:rPr>
              <a:t>Keep the frame on stepping in. The Red Zone lesson goes deeper; point to it rather than opening a long conversation here.</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family values.</a:t>
            </a:r>
          </a:p>
          <a:p>
            <a:pPr algn="l">
              <a:spcAft>
                <a:spcPts val="585"/>
              </a:spcAft>
            </a:pPr>
            <a:r>
              <a:rPr sz="1300" b="0" i="0">
                <a:solidFill>
                  <a:srgbClr val="1C1B19"/>
                </a:solidFill>
                <a:latin typeface="Source Serif 4"/>
              </a:rPr>
              <a:t>For many students, not drinking is a religious or family value. Say plainly that students who don't drink are often the most useful people at a party, and that it's a normal way to do college.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Bodies differ.</a:t>
            </a:r>
          </a:p>
          <a:p>
            <a:pPr algn="l">
              <a:spcAft>
                <a:spcPts val="585"/>
              </a:spcAft>
            </a:pPr>
            <a:r>
              <a:rPr sz="1300" b="0" i="0">
                <a:solidFill>
                  <a:srgbClr val="1C1B19"/>
                </a:solidFill>
                <a:latin typeface="Source Serif 4"/>
              </a:rPr>
              <a:t>BAC depends on body size, sex, food, sleep and medications. Keep examples general and never single out a student's body.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is headed to campus parties.</a:t>
            </a:r>
          </a:p>
          <a:p>
            <a:pPr algn="l">
              <a:spcAft>
                <a:spcPts val="585"/>
              </a:spcAft>
            </a:pPr>
            <a:r>
              <a:rPr sz="1300" b="0" i="0">
                <a:solidFill>
                  <a:srgbClr val="1C1B19"/>
                </a:solidFill>
                <a:latin typeface="Source Serif 4"/>
              </a:rPr>
              <a:t>Commuters, students living at home, gap-year students and students going to work or the military need CUPS and the pill facts too. These skills work anywhere.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Calling for help isn't the same for everyone.</a:t>
            </a:r>
          </a:p>
          <a:p>
            <a:pPr algn="l">
              <a:spcAft>
                <a:spcPts val="585"/>
              </a:spcAft>
            </a:pPr>
            <a:r>
              <a:rPr sz="1300" b="0" i="0">
                <a:solidFill>
                  <a:srgbClr val="1C1B19"/>
                </a:solidFill>
                <a:latin typeface="Source Serif 4"/>
              </a:rPr>
              <a:t>Some students and families fear police or immigration consequences. Name campus safety, medical amnesty, Poison Control and Good Samaritan laws as part of the plan, and be honest that medical emergencies still mean 911.</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Guys are helpers too.</a:t>
            </a:r>
          </a:p>
          <a:p>
            <a:pPr algn="l">
              <a:spcAft>
                <a:spcPts val="585"/>
              </a:spcAft>
            </a:pPr>
            <a:r>
              <a:rPr sz="1300" b="0" i="0">
                <a:solidFill>
                  <a:srgbClr val="1C1B19"/>
                </a:solidFill>
                <a:latin typeface="Source Serif 4"/>
              </a:rPr>
              <a:t>Encourage everyone, boys included, to see themselves as the one who steps in. Avoid framing safety as a women's issue.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history.</a:t>
            </a:r>
          </a:p>
          <a:p>
            <a:pPr algn="l">
              <a:spcAft>
                <a:spcPts val="585"/>
              </a:spcAft>
            </a:pPr>
            <a:r>
              <a:rPr sz="1300" b="0" i="0">
                <a:solidFill>
                  <a:srgbClr val="1C1B19"/>
                </a:solidFill>
                <a:latin typeface="Source Serif 4"/>
              </a:rPr>
              <a:t>Some students have family members with drinking problems or have lost someone to an overdose. Keep it about information and helping, never jokes about being drunk.</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Alcohol keeps moving from the stomach and small intestine into the blood, so BAC can keep climbing after the last drink and even after someone passes out. A US standard drink is 14 grams of alcohol: about 12 oz of beer, 5 oz of wine or 1.5 oz of liquor.</a:t>
            </a:r>
          </a:p>
          <a:p>
            <a:pPr algn="l">
              <a:spcAft>
                <a:spcPts val="585"/>
              </a:spcAft>
            </a:pPr>
            <a:r>
              <a:rPr sz="1050" b="0" i="0">
                <a:solidFill>
                  <a:srgbClr val="5D5A54"/>
                </a:solidFill>
                <a:latin typeface="Inter Tight"/>
              </a:rPr>
              <a:t>National Institute on Alcohol Abuse and Alcoholism</a:t>
            </a:r>
          </a:p>
          <a:p>
            <a:pPr algn="l">
              <a:spcAft>
                <a:spcPts val="585"/>
              </a:spcAft>
            </a:pPr>
            <a:r>
              <a:rPr sz="1300" b="0" i="0">
                <a:solidFill>
                  <a:srgbClr val="1C1B19"/>
                </a:solidFill>
                <a:latin typeface="Source Serif 4"/>
              </a:rPr>
              <a:t>When college students free-poured drinks, they poured more than a standard drink every time, and the bigger the cup, the bigger the overpour.</a:t>
            </a:r>
          </a:p>
          <a:p>
            <a:pPr algn="l">
              <a:spcAft>
                <a:spcPts val="585"/>
              </a:spcAft>
            </a:pPr>
            <a:r>
              <a:rPr sz="1050" b="0" i="0">
                <a:solidFill>
                  <a:srgbClr val="5D5A54"/>
                </a:solidFill>
                <a:latin typeface="Inter Tight"/>
              </a:rPr>
              <a:t>White, Kraus and Swartzwelder, Alcoholism: Clinical and Experimental Research, 2003</a:t>
            </a:r>
          </a:p>
          <a:p>
            <a:pPr algn="l">
              <a:spcAft>
                <a:spcPts val="585"/>
              </a:spcAft>
            </a:pPr>
            <a:r>
              <a:rPr sz="1300" b="0" i="0">
                <a:solidFill>
                  <a:srgbClr val="1C1B19"/>
                </a:solidFill>
                <a:latin typeface="Source Serif 4"/>
              </a:rPr>
              <a:t>In a survey of 772 Duke undergraduates, 51% of students who had ever had alcohol reported at least one blackout, and 40% had one in the past year.</a:t>
            </a:r>
          </a:p>
          <a:p>
            <a:pPr algn="l">
              <a:spcAft>
                <a:spcPts val="585"/>
              </a:spcAft>
            </a:pPr>
            <a:r>
              <a:rPr sz="1050" b="0" i="0">
                <a:solidFill>
                  <a:srgbClr val="5D5A54"/>
                </a:solidFill>
                <a:latin typeface="Inter Tight"/>
              </a:rPr>
              <a:t>White, Jamieson-Drake and Swartzwelder, Journal of American College Health, 2002</a:t>
            </a:r>
          </a:p>
          <a:p>
            <a:pPr algn="l">
              <a:spcAft>
                <a:spcPts val="585"/>
              </a:spcAft>
            </a:pPr>
            <a:r>
              <a:rPr sz="1300" b="0" i="0">
                <a:solidFill>
                  <a:srgbClr val="1C1B19"/>
                </a:solidFill>
                <a:latin typeface="Source Serif 4"/>
              </a:rPr>
              <a:t>Across many studies, college students consistently overestimate how much their peers drink and how fine their peers are with heavy drinking.</a:t>
            </a:r>
          </a:p>
          <a:p>
            <a:pPr algn="l">
              <a:spcAft>
                <a:spcPts val="585"/>
              </a:spcAft>
            </a:pPr>
            <a:r>
              <a:rPr sz="1050" b="0" i="0">
                <a:solidFill>
                  <a:srgbClr val="5D5A54"/>
                </a:solidFill>
                <a:latin typeface="Inter Tight"/>
              </a:rPr>
              <a:t>Borsari and Carey, Journal of Studies on Alcohol, 2003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College students who mixed alcohol with energy drinks reported more alcohol-related injuries and other serious consequences than students who drank alcohol alone.</a:t>
            </a:r>
          </a:p>
          <a:p>
            <a:pPr algn="l">
              <a:spcAft>
                <a:spcPts val="585"/>
              </a:spcAft>
            </a:pPr>
            <a:r>
              <a:rPr sz="1050" b="0" i="0">
                <a:solidFill>
                  <a:srgbClr val="5D5A54"/>
                </a:solidFill>
                <a:latin typeface="Inter Tight"/>
              </a:rPr>
              <a:t>O'Brien et al., Academic Emergency Medicine, 2008</a:t>
            </a:r>
          </a:p>
          <a:p>
            <a:pPr algn="l">
              <a:spcAft>
                <a:spcPts val="585"/>
              </a:spcAft>
            </a:pPr>
            <a:r>
              <a:rPr sz="1300" b="0" i="0">
                <a:solidFill>
                  <a:srgbClr val="1C1B19"/>
                </a:solidFill>
                <a:latin typeface="Source Serif 4"/>
              </a:rPr>
              <a:t>About 1,825 US college students aged 18 to 24 died from alcohol-related unintentional injuries in 2005, most of them in traffic crashes.</a:t>
            </a:r>
          </a:p>
          <a:p>
            <a:pPr algn="l">
              <a:spcAft>
                <a:spcPts val="585"/>
              </a:spcAft>
            </a:pPr>
            <a:r>
              <a:rPr sz="1050" b="0" i="0">
                <a:solidFill>
                  <a:srgbClr val="5D5A54"/>
                </a:solidFill>
                <a:latin typeface="Inter Tight"/>
              </a:rPr>
              <a:t>Hingson, Zha and Weitzman, Journal of Studies on Alcohol and Drugs, 2009</a:t>
            </a:r>
          </a:p>
          <a:p>
            <a:pPr algn="l">
              <a:spcAft>
                <a:spcPts val="585"/>
              </a:spcAft>
            </a:pPr>
            <a:r>
              <a:rPr sz="1300" b="0" i="0">
                <a:solidFill>
                  <a:srgbClr val="1C1B19"/>
                </a:solidFill>
                <a:latin typeface="Source Serif 4"/>
              </a:rPr>
              <a:t>Counterfeit pills pressed to look like Xanax, Percocet, oxycodone or Adderall often contain fentanyl or methamphetamine; in DEA testing, two in five fake pills with fentanyl held a potentially lethal dose. Naloxone (Narcan) has been sold over the counter since 2023.</a:t>
            </a:r>
          </a:p>
          <a:p>
            <a:pPr algn="l">
              <a:spcAft>
                <a:spcPts val="585"/>
              </a:spcAft>
            </a:pPr>
            <a:r>
              <a:rPr sz="1050" b="0" i="0">
                <a:solidFill>
                  <a:srgbClr val="5D5A54"/>
                </a:solidFill>
                <a:latin typeface="Inter Tight"/>
              </a:rPr>
              <a:t>US Drug Enforcement Administration, 2021  ·  US Food and Drug Administration,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