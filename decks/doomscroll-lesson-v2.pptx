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"Nobody's getting lectured about screen time today. The apps are built by full-time engineers to be hard to put down. Today is about how that works."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Students raise a hand for one, or hold up fingers 1 to 5 with eyes closed if you want it private. Tally on the board. Usually most votes land on 1 to 3. Say: "Only one of these has a finish line. The rest are feelings, and feelings are what the loop runs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Draw it as a circle. Trigger: a feeling you want to change; the phone is the fastest mood shift in reach. Reach: after enough repetitions it's automatic; you notice the phone after it's in your hand. Variable reward: since the 1950s psychologists have known unpredictable rewards keep a behavior going longer. Most posts are fine; every so often one is great. Same principle as a slot machine. Relief, then the dip: the original problem is still there, now with less time and often a worse mood. That dip is the next trigger. Ask: "Where in the loop could you put a pause?" (Between trigger and reach.)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Sleep is the most concrete cost for most teens. The Johns Hopkins study of 6,595 teens was cited by the Surgeon General, and its lead author said it doesn't prove cause. The Oxford analysis of more than 300,000 people found a tiny average effect, and other researchers argue it misses the teens hit hard. Ask: "Why might both of those findings be true at once?" Land on the last line: your own data is better than any headline.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That was a survey of 4,675 adults, so it shows a link, not proof. It matches what many people feel in a bad news cycle. Being informed matters. Suggest a news window: one or two trusted sources, a set time like ten minutes after dinner. Be gentle; some students may be following news that touches their own family.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IN PAIRS, THEN SHARE. Amara: phone on the charger across the room, lights off. Night mode doesn't give back the hour, and engaging content keeps the brain alert whatever the color. Mateo: check one reliable source, close it, and talk to someone about how he feels. Kai: find the one app and time of day that cost the most and change that first. Cold turkey on everything usually fails by Wednesday, and feeling gross is itself a trigger.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Invite students who want to take out their phones and change one setting right now: turn off one non-human notification, move one app off the home screen, or turn off autoplay. Others can write the one change they'll make tonight. Willpower is least reliable at 11pm, and the apps never get tired. Also teach the three questions before opening an app: What am I here for? How long? What will I do when I'm done?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anonymously. Share the take-home link on the slide. It has the loop, the three questions, the trigger tracker, and when to get more help: if someone has tried to cut back and can't, or uses the feed to escape feelings that seem too big, a counselor can help.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Doomscroll</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how the scroll loop works, what the research says (strongest on sleep, debated on mood), and how small setup changes beat willpower. Decide whether phones come out for the settings minute, skip any screen-time shaming, and if a student says the feed is how they escape feelings that seem too big, connect them with a counselor that day.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Phones are a lifeline for some students: the way they reach family far away, the one place LGBTQ+ students find people like them, or the support a neurodivergent student relies on; aim the lesson at the loop, never at the phone itself.</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Quick tally (3), the loop (6), friction beats willpower with one setting change (6), exit card (5). Share the take-home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DOOMSCROLL</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Doomscroll</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The feed is engineered. Here's how, and how to put a pause in it.</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QUICK TALLY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The last time you picked up your phone, why?</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Bored</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Anxious or stressed</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Avoiding something</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Lonely</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Needed something specific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LOOP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keeps you scrolling</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Trigger</a:t>
            </a:r>
          </a:p>
        </p:txBody>
      </p:sp>
      <p:cxnSp>
        <p:nvCxnSpPr>
          <p:cNvPr id="8" name="Connector 7"/>
          <p:cNvCxnSpPr/>
          <p:nvPr/>
        </p:nvCxnSpPr>
        <p:spPr>
          <a:xfrm>
            <a:off x="2752344" y="3246120"/>
            <a:ext cx="176021"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983229"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3229"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Reach</a:t>
            </a:r>
          </a:p>
        </p:txBody>
      </p:sp>
      <p:cxnSp>
        <p:nvCxnSpPr>
          <p:cNvPr id="11" name="Connector 10"/>
          <p:cNvCxnSpPr/>
          <p:nvPr/>
        </p:nvCxnSpPr>
        <p:spPr>
          <a:xfrm>
            <a:off x="491261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14350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350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Variable reward</a:t>
            </a:r>
          </a:p>
        </p:txBody>
      </p:sp>
      <p:cxnSp>
        <p:nvCxnSpPr>
          <p:cNvPr id="14" name="Connector 13"/>
          <p:cNvCxnSpPr/>
          <p:nvPr/>
        </p:nvCxnSpPr>
        <p:spPr>
          <a:xfrm>
            <a:off x="7072883" y="3246120"/>
            <a:ext cx="176023"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0377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377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Relief</a:t>
            </a:r>
          </a:p>
        </p:txBody>
      </p:sp>
      <p:cxnSp>
        <p:nvCxnSpPr>
          <p:cNvPr id="17" name="Connector 16"/>
          <p:cNvCxnSpPr/>
          <p:nvPr/>
        </p:nvCxnSpPr>
        <p:spPr>
          <a:xfrm>
            <a:off x="923315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The dip</a:t>
            </a:r>
          </a:p>
        </p:txBody>
      </p:sp>
      <p:sp>
        <p:nvSpPr>
          <p:cNvPr id="20" name="TextBox 19"/>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and around again</a:t>
            </a:r>
          </a:p>
        </p:txBody>
      </p:sp>
      <p:sp>
        <p:nvSpPr>
          <p:cNvPr id="21" name="TextBox 20"/>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Infinite scroll and autoplay remove the stopping points. The loop runs until something breaks 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Hale and Guan, 2015  ·  Riehm et al., 2019  ·  Orben and Przybylski, 2019</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Clear on sleep. Argued about on mood.</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90% of 67 studies: more screens, less sleep or later bedtimes.</a:t>
            </a:r>
          </a:p>
          <a:p>
            <a:pPr algn="l">
              <a:spcAft>
                <a:spcPts val="855"/>
              </a:spcAft>
            </a:pPr>
            <a:r>
              <a:rPr sz="1900" b="0" i="0">
                <a:solidFill>
                  <a:srgbClr val="1C1B19"/>
                </a:solidFill>
                <a:latin typeface="Source Serif 4"/>
              </a:rPr>
              <a:t>•  Teens on social media 3+ hours a day reported more anxiety and depression later.</a:t>
            </a:r>
          </a:p>
          <a:p>
            <a:pPr algn="l">
              <a:spcAft>
                <a:spcPts val="855"/>
              </a:spcAft>
            </a:pPr>
            <a:r>
              <a:rPr sz="1900" b="0" i="0">
                <a:solidFill>
                  <a:srgbClr val="1C1B19"/>
                </a:solidFill>
                <a:latin typeface="Source Serif 4"/>
              </a:rPr>
              <a:t>•  On average, tech explained under half a percent of well-being.</a:t>
            </a:r>
          </a:p>
          <a:p>
            <a:pPr algn="l">
              <a:spcAft>
                <a:spcPts val="855"/>
              </a:spcAft>
            </a:pPr>
            <a:r>
              <a:rPr sz="1900" b="0" i="0">
                <a:solidFill>
                  <a:srgbClr val="1C1B19"/>
                </a:solidFill>
                <a:latin typeface="Source Serif 4"/>
              </a:rPr>
              <a:t>•  Averages may hide the teens hit hardest.</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The research can't tell you what your phone does to you. Your sleep and your mood after a scroll can.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DOOMSCROLLING THE NEWS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Past a point, the next update adds stress, not information.</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After the Boston Marathon bombings, adults who took in six or more hours a day of coverage reported more stress than people who were at the finish 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actually work?</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AMARA</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Calculus test at 8. She's in bed "winding down" with short videos. It's 12:15.</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MATEO</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shooting in another state is all over the news. He's been refreshing for three hours and feels sick.</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KAI</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His screen time report says 7 hours a day. He feels gross and plans to quit everything cold turkey on Monday.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FRICTION BEATS WILLPOWER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Change the setup, not your character.</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Add distance.</a:t>
            </a:r>
          </a:p>
          <a:p>
            <a:pPr algn="l">
              <a:spcAft>
                <a:spcPts val="945"/>
              </a:spcAft>
            </a:pPr>
            <a:r>
              <a:rPr sz="1600" b="0" i="0">
                <a:solidFill>
                  <a:srgbClr val="5D5A54"/>
                </a:solidFill>
                <a:latin typeface="Source Serif 4"/>
              </a:rPr>
              <a:t>Charge it across the room or outside your bedroom.</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Add friction.</a:t>
            </a:r>
          </a:p>
          <a:p>
            <a:pPr algn="l">
              <a:spcAft>
                <a:spcPts val="945"/>
              </a:spcAft>
            </a:pPr>
            <a:r>
              <a:rPr sz="1600" b="0" i="0">
                <a:solidFill>
                  <a:srgbClr val="5D5A54"/>
                </a:solidFill>
                <a:latin typeface="Source Serif 4"/>
              </a:rPr>
              <a:t>Log out, move the app, or try grayscale.</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Add stopping points.</a:t>
            </a:r>
          </a:p>
          <a:p>
            <a:pPr algn="l">
              <a:spcAft>
                <a:spcPts val="945"/>
              </a:spcAft>
            </a:pPr>
            <a:r>
              <a:rPr sz="1600" b="0" i="0">
                <a:solidFill>
                  <a:srgbClr val="5D5A54"/>
                </a:solidFill>
                <a:latin typeface="Source Serif 4"/>
              </a:rPr>
              <a:t>Autoplay off. Timer before you open it.</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Cut notifications that aren't people.</a:t>
            </a:r>
          </a:p>
          <a:p>
            <a:pPr algn="l">
              <a:spcAft>
                <a:spcPts val="945"/>
              </a:spcAft>
            </a:pPr>
            <a:r>
              <a:rPr sz="1600" b="0" i="0">
                <a:solidFill>
                  <a:srgbClr val="5D5A54"/>
                </a:solidFill>
                <a:latin typeface="Source Serif 4"/>
              </a:rPr>
              <a:t>Keep messages from humans.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What's the one change you'll try this week? When will you know if it worked?</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https://rmwtoolkit.github.io/bcds-toolkit/doomscroll-high-school.html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Doomscroll</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describe the scroll loop (trigger, reach, variable reward, relief and dip), say honestly where the research is strong (sleep) and where it's debated (mood), and set up one change in their environment that puts a pause in the loop. Nobody gets shamed for their screen time.</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Students' own phones, face down, for the settings minute (optional)</a:t>
            </a:r>
          </a:p>
          <a:p>
            <a:pPr algn="l">
              <a:spcAft>
                <a:spcPts val="675"/>
              </a:spcAft>
            </a:pPr>
            <a:r>
              <a:rPr sz="1500" b="0" i="0">
                <a:solidFill>
                  <a:srgbClr val="1C1B19"/>
                </a:solidFill>
                <a:latin typeface="Source Serif 4"/>
              </a:rPr>
              <a:t>Board space to draw the loop</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Why did you last pick up your phone? (quick tally)</a:t>
            </a:r>
          </a:p>
          <a:p>
            <a:pPr algn="l">
              <a:spcAft>
                <a:spcPts val="630"/>
              </a:spcAft>
            </a:pPr>
            <a:r>
              <a:rPr sz="1300" b="1" i="0">
                <a:solidFill>
                  <a:srgbClr val="F47B20"/>
                </a:solidFill>
                <a:latin typeface="Inter Tight"/>
              </a:rPr>
              <a:t>10 min   </a:t>
            </a:r>
            <a:r>
              <a:rPr sz="1400" b="0" i="0">
                <a:solidFill>
                  <a:srgbClr val="1C1B19"/>
                </a:solidFill>
                <a:latin typeface="Source Serif 4"/>
              </a:rPr>
              <a:t>The loop that keeps you scrolling</a:t>
            </a:r>
          </a:p>
          <a:p>
            <a:pPr algn="l">
              <a:spcAft>
                <a:spcPts val="630"/>
              </a:spcAft>
            </a:pPr>
            <a:r>
              <a:rPr sz="1300" b="1" i="0">
                <a:solidFill>
                  <a:srgbClr val="F47B20"/>
                </a:solidFill>
                <a:latin typeface="Inter Tight"/>
              </a:rPr>
              <a:t>7 min   </a:t>
            </a:r>
            <a:r>
              <a:rPr sz="1400" b="0" i="0">
                <a:solidFill>
                  <a:srgbClr val="1C1B19"/>
                </a:solidFill>
                <a:latin typeface="Source Serif 4"/>
              </a:rPr>
              <a:t>The research, and where it's argued about</a:t>
            </a:r>
          </a:p>
          <a:p>
            <a:pPr algn="l">
              <a:spcAft>
                <a:spcPts val="630"/>
              </a:spcAft>
            </a:pPr>
            <a:r>
              <a:rPr sz="1300" b="1" i="0">
                <a:solidFill>
                  <a:srgbClr val="F47B20"/>
                </a:solidFill>
                <a:latin typeface="Inter Tight"/>
              </a:rPr>
              <a:t>3 min   </a:t>
            </a:r>
            <a:r>
              <a:rPr sz="1400" b="0" i="0">
                <a:solidFill>
                  <a:srgbClr val="1C1B19"/>
                </a:solidFill>
                <a:latin typeface="Source Serif 4"/>
              </a:rPr>
              <a:t>Doomscrolling the news</a:t>
            </a:r>
          </a:p>
          <a:p>
            <a:pPr algn="l">
              <a:spcAft>
                <a:spcPts val="630"/>
              </a:spcAft>
            </a:pPr>
            <a:r>
              <a:rPr sz="1300" b="1" i="0">
                <a:solidFill>
                  <a:srgbClr val="F47B20"/>
                </a:solidFill>
                <a:latin typeface="Inter Tight"/>
              </a:rPr>
              <a:t>8 min   </a:t>
            </a:r>
            <a:r>
              <a:rPr sz="1400" b="0" i="0">
                <a:solidFill>
                  <a:srgbClr val="1C1B19"/>
                </a:solidFill>
                <a:latin typeface="Source Serif 4"/>
              </a:rPr>
              <a:t>Three moments (pairs)</a:t>
            </a:r>
          </a:p>
          <a:p>
            <a:pPr algn="l">
              <a:spcAft>
                <a:spcPts val="630"/>
              </a:spcAft>
            </a:pPr>
            <a:r>
              <a:rPr sz="1300" b="1" i="0">
                <a:solidFill>
                  <a:srgbClr val="F47B20"/>
                </a:solidFill>
                <a:latin typeface="Inter Tight"/>
              </a:rPr>
              <a:t>7 min   </a:t>
            </a:r>
            <a:r>
              <a:rPr sz="1400" b="0" i="0">
                <a:solidFill>
                  <a:srgbClr val="1C1B19"/>
                </a:solidFill>
                <a:latin typeface="Source Serif 4"/>
              </a:rPr>
              <a:t>Friction beats willpower (change one setting)</a:t>
            </a:r>
          </a:p>
          <a:p>
            <a:pPr algn="l">
              <a:spcAft>
                <a:spcPts val="630"/>
              </a:spcAft>
            </a:pPr>
            <a:r>
              <a:rPr sz="1300" b="1" i="0">
                <a:solidFill>
                  <a:srgbClr val="F47B20"/>
                </a:solidFill>
                <a:latin typeface="Inter Tight"/>
              </a:rPr>
              <a:t>5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Quick tally (3), the loop (6), friction beats willpower with one setting change (6), exit card (5). Share the take-home link so students get the rest.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Skip the shame.</a:t>
            </a:r>
          </a:p>
          <a:p>
            <a:pPr algn="l">
              <a:spcAft>
                <a:spcPts val="585"/>
              </a:spcAft>
            </a:pPr>
            <a:r>
              <a:rPr sz="1300" b="0" i="0">
                <a:solidFill>
                  <a:srgbClr val="1C1B19"/>
                </a:solidFill>
                <a:latin typeface="Source Serif 4"/>
              </a:rPr>
              <a:t>Students already feel bad about their screen time. Shame makes the loop worse, since feeling bad is a trigger. Present the loop as something engineered by full-time teams, which it is.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Model honesty about the research.</a:t>
            </a:r>
          </a:p>
          <a:p>
            <a:pPr algn="l">
              <a:spcAft>
                <a:spcPts val="585"/>
              </a:spcAft>
            </a:pPr>
            <a:r>
              <a:rPr sz="1300" b="0" i="0">
                <a:solidFill>
                  <a:srgbClr val="1C1B19"/>
                </a:solidFill>
                <a:latin typeface="Source Serif 4"/>
              </a:rPr>
              <a:t>Sleep is the clearest cost. The mood link is real for heavy use but debated on average. Saying so makes students trust the rest.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confiscate in the lesson.</a:t>
            </a:r>
          </a:p>
          <a:p>
            <a:pPr algn="l">
              <a:spcAft>
                <a:spcPts val="585"/>
              </a:spcAft>
            </a:pPr>
            <a:r>
              <a:rPr sz="1300" b="0" i="0">
                <a:solidFill>
                  <a:srgbClr val="1C1B19"/>
                </a:solidFill>
                <a:latin typeface="Source Serif 4"/>
              </a:rPr>
              <a:t>If you use phones for the settings minute, it's an invitation. Students who'd rather not can sketch their plan on paper.</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News can be heavy.</a:t>
            </a:r>
          </a:p>
          <a:p>
            <a:pPr algn="l">
              <a:spcAft>
                <a:spcPts val="585"/>
              </a:spcAft>
            </a:pPr>
            <a:r>
              <a:rPr sz="1300" b="0" i="0">
                <a:solidFill>
                  <a:srgbClr val="1C1B19"/>
                </a:solidFill>
                <a:latin typeface="Source Serif 4"/>
              </a:rPr>
              <a:t>A student may have been refreshing coverage of something close to home: a shooting, a war, a disaster affecting family. Keep the news section gentle and offer a counselor to anyone who wants one.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Watch for escape.</a:t>
            </a:r>
          </a:p>
          <a:p>
            <a:pPr algn="l">
              <a:spcAft>
                <a:spcPts val="585"/>
              </a:spcAft>
            </a:pPr>
            <a:r>
              <a:rPr sz="1300" b="0" i="0">
                <a:solidFill>
                  <a:srgbClr val="1C1B19"/>
                </a:solidFill>
                <a:latin typeface="Source Serif 4"/>
              </a:rPr>
              <a:t>If a student says the feed is how they avoid feelings that seem too big, take it seriously. Connect them with a counselor that day.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Practice what you teach.</a:t>
            </a:r>
          </a:p>
          <a:p>
            <a:pPr algn="l">
              <a:spcAft>
                <a:spcPts val="585"/>
              </a:spcAft>
            </a:pPr>
            <a:r>
              <a:rPr sz="1300" b="0" i="0">
                <a:solidFill>
                  <a:srgbClr val="1C1B19"/>
                </a:solidFill>
                <a:latin typeface="Source Serif 4"/>
              </a:rPr>
              <a:t>If your own phone buzzes during class, say so and turn it face down. Students notice.</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Phones as connection.</a:t>
            </a:r>
          </a:p>
          <a:p>
            <a:pPr algn="l">
              <a:spcAft>
                <a:spcPts val="585"/>
              </a:spcAft>
            </a:pPr>
            <a:r>
              <a:rPr sz="1300" b="0" i="0">
                <a:solidFill>
                  <a:srgbClr val="1C1B19"/>
                </a:solidFill>
                <a:latin typeface="Source Serif 4"/>
              </a:rPr>
              <a:t>For students with family in another country, a phone is how they talk to grandparents. Some students' phones are how they translate for parents. Keep the line on the scroll loop, not on phone use.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LGBTQ+ students.</a:t>
            </a:r>
          </a:p>
          <a:p>
            <a:pPr algn="l">
              <a:spcAft>
                <a:spcPts val="585"/>
              </a:spcAft>
            </a:pPr>
            <a:r>
              <a:rPr sz="1300" b="0" i="0">
                <a:solidFill>
                  <a:srgbClr val="1C1B19"/>
                </a:solidFill>
                <a:latin typeface="Source Serif 4"/>
              </a:rPr>
              <a:t>Online spaces may be where some LGBTQ+ students first found people like them. Name that some screen time is the good kind; the question is what it replaced and how they feel after.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Neurodivergent students.</a:t>
            </a:r>
          </a:p>
          <a:p>
            <a:pPr algn="l">
              <a:spcAft>
                <a:spcPts val="585"/>
              </a:spcAft>
            </a:pPr>
            <a:r>
              <a:rPr sz="1300" b="0" i="0">
                <a:solidFill>
                  <a:srgbClr val="1C1B19"/>
                </a:solidFill>
                <a:latin typeface="Source Serif 4"/>
              </a:rPr>
              <a:t>Students with ADHD may find the variable-reward loop especially sticky, and some rely on phone tools for focus and reminders. Frame setup changes as tools they pick, not rules.</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Shared spaces at home.</a:t>
            </a:r>
          </a:p>
          <a:p>
            <a:pPr algn="l">
              <a:spcAft>
                <a:spcPts val="585"/>
              </a:spcAft>
            </a:pPr>
            <a:r>
              <a:rPr sz="1300" b="0" i="0">
                <a:solidFill>
                  <a:srgbClr val="1C1B19"/>
                </a:solidFill>
                <a:latin typeface="Source Serif 4"/>
              </a:rPr>
              <a:t>"Charge it outside your bedroom" assumes a bedroom of one's own. Offer "across the room" or "in a drawer" for students who share a room.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a:t>
            </a:r>
          </a:p>
          <a:p>
            <a:pPr algn="l">
              <a:spcAft>
                <a:spcPts val="585"/>
              </a:spcAft>
            </a:pPr>
            <a:r>
              <a:rPr sz="1300" b="0" i="0">
                <a:solidFill>
                  <a:srgbClr val="1C1B19"/>
                </a:solidFill>
                <a:latin typeface="Source Serif 4"/>
              </a:rPr>
              <a:t>A $10 alarm clock isn't nothing for every family. Mention phone settings that do the same job for free.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Work and family duties.</a:t>
            </a:r>
          </a:p>
          <a:p>
            <a:pPr algn="l">
              <a:spcAft>
                <a:spcPts val="585"/>
              </a:spcAft>
            </a:pPr>
            <a:r>
              <a:rPr sz="1300" b="0" i="0">
                <a:solidFill>
                  <a:srgbClr val="1C1B19"/>
                </a:solidFill>
                <a:latin typeface="Source Serif 4"/>
              </a:rPr>
              <a:t>Some students need their phones on at night for a job or for family. Invite them to cut notifications that aren't people rather than the phone.</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Rewards on an unpredictable schedule keep a behavior going longer than steady ones.</a:t>
            </a:r>
          </a:p>
          <a:p>
            <a:pPr algn="l">
              <a:spcAft>
                <a:spcPts val="585"/>
              </a:spcAft>
            </a:pPr>
            <a:r>
              <a:rPr sz="1050" b="0" i="0">
                <a:solidFill>
                  <a:srgbClr val="5D5A54"/>
                </a:solidFill>
                <a:latin typeface="Inter Tight"/>
              </a:rPr>
              <a:t>Ferster and Skinner, Schedules of Reinforcement, 1957</a:t>
            </a:r>
          </a:p>
          <a:p>
            <a:pPr algn="l">
              <a:spcAft>
                <a:spcPts val="585"/>
              </a:spcAft>
            </a:pPr>
            <a:r>
              <a:rPr sz="1300" b="0" i="0">
                <a:solidFill>
                  <a:srgbClr val="1C1B19"/>
                </a:solidFill>
                <a:latin typeface="Source Serif 4"/>
              </a:rPr>
              <a:t>In 90% of 67 studies of screens and sleep in school-age kids and teens, more screen time went with shorter sleep or later bedtimes.</a:t>
            </a:r>
          </a:p>
          <a:p>
            <a:pPr algn="l">
              <a:spcAft>
                <a:spcPts val="585"/>
              </a:spcAft>
            </a:pPr>
            <a:r>
              <a:rPr sz="1050" b="0" i="0">
                <a:solidFill>
                  <a:srgbClr val="5D5A54"/>
                </a:solidFill>
                <a:latin typeface="Inter Tight"/>
              </a:rPr>
              <a:t>Hale and Guan, Sleep Medicine Reviews, 2015</a:t>
            </a:r>
          </a:p>
          <a:p>
            <a:pPr algn="l">
              <a:spcAft>
                <a:spcPts val="585"/>
              </a:spcAft>
            </a:pPr>
            <a:r>
              <a:rPr sz="1300" b="0" i="0">
                <a:solidFill>
                  <a:srgbClr val="1C1B19"/>
                </a:solidFill>
                <a:latin typeface="Source Serif 4"/>
              </a:rPr>
              <a:t>Among 6,595 U.S. teens, those using social media more than three hours a day were more likely to report anxiety or depression symptoms later. The authors said this doesn't prove cause.</a:t>
            </a:r>
          </a:p>
          <a:p>
            <a:pPr algn="l">
              <a:spcAft>
                <a:spcPts val="585"/>
              </a:spcAft>
            </a:pPr>
            <a:r>
              <a:rPr sz="1050" b="0" i="0">
                <a:solidFill>
                  <a:srgbClr val="5D5A54"/>
                </a:solidFill>
                <a:latin typeface="Inter Tight"/>
              </a:rPr>
              <a:t>Riehm et al., JAMA Psychiatry, 2019</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The Surgeon General's 2023 advisory on social media and youth mental health cited this research.</a:t>
            </a:r>
          </a:p>
          <a:p>
            <a:pPr algn="l">
              <a:spcAft>
                <a:spcPts val="585"/>
              </a:spcAft>
            </a:pPr>
            <a:r>
              <a:rPr sz="1050" b="0" i="0">
                <a:solidFill>
                  <a:srgbClr val="5D5A54"/>
                </a:solidFill>
                <a:latin typeface="Inter Tight"/>
              </a:rPr>
              <a:t>Office of the U.S. Surgeon General, 2023</a:t>
            </a:r>
          </a:p>
          <a:p>
            <a:pPr algn="l">
              <a:spcAft>
                <a:spcPts val="585"/>
              </a:spcAft>
            </a:pPr>
            <a:r>
              <a:rPr sz="1300" b="0" i="0">
                <a:solidFill>
                  <a:srgbClr val="1C1B19"/>
                </a:solidFill>
                <a:latin typeface="Source Serif 4"/>
              </a:rPr>
              <a:t>Across data from more than 300,000 young people and parents, technology use explained at most 0.4% of differences in well-being. Others argue averages hide teens who are hit hard.</a:t>
            </a:r>
          </a:p>
          <a:p>
            <a:pPr algn="l">
              <a:spcAft>
                <a:spcPts val="585"/>
              </a:spcAft>
            </a:pPr>
            <a:r>
              <a:rPr sz="1050" b="0" i="0">
                <a:solidFill>
                  <a:srgbClr val="5D5A54"/>
                </a:solidFill>
                <a:latin typeface="Inter Tight"/>
              </a:rPr>
              <a:t>Orben and Przybylski, Nature Human Behaviour, 2019</a:t>
            </a:r>
          </a:p>
          <a:p>
            <a:pPr algn="l">
              <a:spcAft>
                <a:spcPts val="585"/>
              </a:spcAft>
            </a:pPr>
            <a:r>
              <a:rPr sz="1300" b="0" i="0">
                <a:solidFill>
                  <a:srgbClr val="1C1B19"/>
                </a:solidFill>
                <a:latin typeface="Source Serif 4"/>
              </a:rPr>
              <a:t>Adults who took in six or more hours a day of Boston Marathon bombing coverage reported more acute stress than people who were at or near the finish line.</a:t>
            </a:r>
          </a:p>
          <a:p>
            <a:pPr algn="l">
              <a:spcAft>
                <a:spcPts val="585"/>
              </a:spcAft>
            </a:pPr>
            <a:r>
              <a:rPr sz="1050" b="0" i="0">
                <a:solidFill>
                  <a:srgbClr val="5D5A54"/>
                </a:solidFill>
                <a:latin typeface="Inter Tight"/>
              </a:rPr>
              <a:t>Holman, Garfin and Silver, PNAS, 2014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