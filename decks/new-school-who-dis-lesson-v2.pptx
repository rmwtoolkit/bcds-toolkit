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Open plainly: "Some of you are new this year. Some of you have been here for years and remember what month one felt like. Today is about how long it takes to find your people, and what speeds it up." Don't ask who's new.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Students can answer for any time: this year, ninth grade, an old school, a new team. Collect, shuffle, and tally the yes answers next to the average guess. Rooms usually guess low. If that happens, say it: everyone assumes they're the only one. If the guess matches, say so and move on. Keep the cards blank side up for the plan at the end, or hand out fresh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Communication researcher Jeffrey Hall asked adults who had just moved and first-year college students how long it took. These are rough averages from people's own estimates, and students got there faster than adults. Do the math out loud: if you spend three hours a week with someone outside class, 50 hours is most of a semester. So no group by October is arithmetic. You haven't logged the hours yet. In Hall's study, small talk alone was linked to drifting apart, and a whole semester next to someone in class can stay at "hey." Online it looks like everyone found a crew by the first Friday. Almost nobody has, and groups keep shifting all year. Ask: "What around here gives you repeated hours with the same people?" Expect teams, clubs, shows, a job, a faith group, a lunch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2018 studies, people who had just talked with someone new consistently underestimated how much the other person liked them. It showed up in first-year college roommates and lasted for months. Another study asked commuters to talk to a stranger on the train or bus: they had a better ride than people who sat alone, even though most people predicted the opposite. Pairs take two minutes, then a few answers. Good answers to expect: "Hey, how'd the chem test go?", asking a follow-up about something they mentioned, sitting at the same table. The point: act on the better guess.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Pick things that repeat, then make the time count. Specific is easier to say yes to than "we should hang out sometime." One adult who knows your name makes a building feel smaller, and they often know which club or person would fit. For students who aren't new: every one of these works in reverse. Saving a seat, adding someone to a study plan, or asking a real follow-up is how a new student gets their hours. Name what makes the first months longer: comparing your month one to everyone's stories, waiting to be invited, judging the whole school by October, and hiding who you are to fit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Talk through as a circle. More than one answer works. Jordan: "Want to study for the test at the library Thursday?" turns class time into hangout time. Deciding Priya is just being polite is the liking gap talking, and waiting for her to invite Jordan can take all year. Keisha: going to the team dinner and seeing old friends on Saturday gives her both. Old friends are a real support; the goal is keeping some evenings open for new hours. Dropping old friends to fit in isn't the answer either. Mateo: don't assume he's lonely. Some people like the library. A good move is a specific, low-pressure invite to something that repeats: "We sit by the windows on Tuesdays and Thursdays if you want to join." Keep the talk on what classmates can do, never on his English or his background.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on the card. Students who aren't new can write one way they'll add hours for someone who is. Nobody shares. Share the student page link (post it on your advisory page too). It has the hours math, the moves, a private check-in, and who to talk to. Close with: "No group yet is arithmetic. Keep logging the hours." Remind students that dreading school most mornings, or still feeling alone most of the time after a couple of months, is a good reason to see a counselor. They help new students all the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New School, Who Dis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friendships run on hours together and that people like us more than we guess, then pick one thing that repeats. Bring index cards, don't ask who's new or why anyone moved, and give students who aren't new a way to add hours for someone who is.</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For students who share their race, faith or home language with few others here, "do I belong?" can be louder; point to repeat places that cost nothing, like a job, a faith group or a free club.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NEW SCHOOL, WHO DIS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New School, Who Dis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know where to go now. You don't know who to sit with.</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many people in this room have felt like everyone else already had a group?</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 guess. Then on the same card, yes or no for you. Fold it. No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FRIENDSHIP RUNS ON HOURS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50 hours to a casual friend. 200+ to a close one.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Hanging out and real conversation count a lot. Sitting near someone in class counts less.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LIKING GAP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After a first conversation, people like you more than you think.</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With a partner: what's an easy way to say hi again tomorrow?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SPEED UP THE MATH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More hours, better hours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Join something weekly.</a:t>
            </a:r>
          </a:p>
          <a:p>
            <a:pPr algn="l">
              <a:spcAft>
                <a:spcPts val="945"/>
              </a:spcAft>
            </a:pPr>
            <a:r>
              <a:rPr sz="1600" b="0" i="0">
                <a:solidFill>
                  <a:srgbClr val="5D5A54"/>
                </a:solidFill>
                <a:latin typeface="Source Serif 4"/>
              </a:rPr>
              <a:t>A team, club, show, job, or faith group.</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Same lunch table, three days running.</a:t>
            </a:r>
          </a:p>
          <a:p>
            <a:pPr algn="l">
              <a:spcAft>
                <a:spcPts val="945"/>
              </a:spcAft>
            </a:pPr>
            <a:r>
              <a:rPr sz="1600" b="0" i="0">
                <a:solidFill>
                  <a:srgbClr val="5D5A54"/>
                </a:solidFill>
                <a:latin typeface="Source Serif 4"/>
              </a:rPr>
              <a:t>By day three it feels less like a test.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Turn class into a plan.</a:t>
            </a:r>
          </a:p>
          <a:p>
            <a:pPr algn="l">
              <a:spcAft>
                <a:spcPts val="945"/>
              </a:spcAft>
            </a:pPr>
            <a:r>
              <a:rPr sz="1600" b="0" i="0">
                <a:solidFill>
                  <a:srgbClr val="5D5A54"/>
                </a:solidFill>
                <a:latin typeface="Source Serif 4"/>
              </a:rPr>
              <a:t>"Library Thursday to study for chem?"</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one real follow-up.</a:t>
            </a:r>
          </a:p>
          <a:p>
            <a:pPr algn="l">
              <a:spcAft>
                <a:spcPts val="945"/>
              </a:spcAft>
            </a:pPr>
            <a:r>
              <a:rPr sz="1600" b="0" i="0">
                <a:solidFill>
                  <a:srgbClr val="5D5A54"/>
                </a:solidFill>
                <a:latin typeface="Source Serif 4"/>
              </a:rPr>
              <a:t>Past "what lunch do you have."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Find one adult.</a:t>
            </a:r>
          </a:p>
          <a:p>
            <a:pPr algn="l">
              <a:spcAft>
                <a:spcPts val="945"/>
              </a:spcAft>
            </a:pPr>
            <a:r>
              <a:rPr sz="1600" b="0" i="0">
                <a:solidFill>
                  <a:srgbClr val="5D5A54"/>
                </a:solidFill>
                <a:latin typeface="Source Serif 4"/>
              </a:rPr>
              <a:t>An advisor, coach, teacher, or counselor.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try?</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THREE WEEKS IN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Jordan transferred in as a junior. Lab partner Priya is great to talk to in class. They've never hung out outside it.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FRIDAY NIGHT</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Old friends invite Keisha out. The robotics club she just joined has a team dinner the same night.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NOT NEW YOURSELF</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Mateo moved here from Colombia this fall. He's in your advisory and usually eats lunch in the library.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Pick one thing that repeats.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A club, a lunch table, a weekly plan. Write which one, and when you'll start.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https://rmwtoolkit.github.io/bcds-toolkit/new-school-who-dis-high-school.html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New School, Who Dis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friendships take time (they run on hours together), use the liking gap to act on the better guess after an awkward conversation, and pick one thing that repeats. Students who aren't new pick one way to add hours for someone who is.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 for the anonymous guess and the private plan</a:t>
            </a:r>
          </a:p>
          <a:p>
            <a:pPr algn="l">
              <a:spcAft>
                <a:spcPts val="675"/>
              </a:spcAft>
            </a:pPr>
            <a:r>
              <a:rPr sz="1500" b="0" i="0">
                <a:solidFill>
                  <a:srgbClr val="1C1B19"/>
                </a:solidFill>
                <a:latin typeface="Source Serif 4"/>
              </a:rPr>
              <a:t>A board or sheet of paper for the tally</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The guess (anonymous cards)</a:t>
            </a:r>
          </a:p>
          <a:p>
            <a:pPr algn="l">
              <a:spcAft>
                <a:spcPts val="630"/>
              </a:spcAft>
            </a:pPr>
            <a:r>
              <a:rPr sz="1300" b="1" i="0">
                <a:solidFill>
                  <a:srgbClr val="F47B20"/>
                </a:solidFill>
                <a:latin typeface="Inter Tight"/>
              </a:rPr>
              <a:t>4 min   </a:t>
            </a:r>
            <a:r>
              <a:rPr sz="1400" b="0" i="0">
                <a:solidFill>
                  <a:srgbClr val="1C1B19"/>
                </a:solidFill>
                <a:latin typeface="Source Serif 4"/>
              </a:rPr>
              <a:t>Friendship runs on hours</a:t>
            </a:r>
          </a:p>
          <a:p>
            <a:pPr algn="l">
              <a:spcAft>
                <a:spcPts val="630"/>
              </a:spcAft>
            </a:pPr>
            <a:r>
              <a:rPr sz="1300" b="1" i="0">
                <a:solidFill>
                  <a:srgbClr val="F47B20"/>
                </a:solidFill>
                <a:latin typeface="Inter Tight"/>
              </a:rPr>
              <a:t>3 min   </a:t>
            </a:r>
            <a:r>
              <a:rPr sz="1400" b="0" i="0">
                <a:solidFill>
                  <a:srgbClr val="1C1B19"/>
                </a:solidFill>
                <a:latin typeface="Source Serif 4"/>
              </a:rPr>
              <a:t>The liking gap (pair-share)</a:t>
            </a:r>
          </a:p>
          <a:p>
            <a:pPr algn="l">
              <a:spcAft>
                <a:spcPts val="630"/>
              </a:spcAft>
            </a:pPr>
            <a:r>
              <a:rPr sz="1300" b="1" i="0">
                <a:solidFill>
                  <a:srgbClr val="F47B20"/>
                </a:solidFill>
                <a:latin typeface="Inter Tight"/>
              </a:rPr>
              <a:t>3 min   </a:t>
            </a:r>
            <a:r>
              <a:rPr sz="1400" b="0" i="0">
                <a:solidFill>
                  <a:srgbClr val="1C1B19"/>
                </a:solidFill>
                <a:latin typeface="Source Serif 4"/>
              </a:rPr>
              <a:t>More hours, better hours</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(scenario talk)</a:t>
            </a:r>
          </a:p>
          <a:p>
            <a:pPr algn="l">
              <a:spcAft>
                <a:spcPts val="630"/>
              </a:spcAft>
            </a:pPr>
            <a:r>
              <a:rPr sz="1300" b="1" i="0">
                <a:solidFill>
                  <a:srgbClr val="F47B20"/>
                </a:solidFill>
                <a:latin typeface="Inter Tight"/>
              </a:rPr>
              <a:t>3 min   </a:t>
            </a:r>
            <a:r>
              <a:rPr sz="1400" b="0" i="0">
                <a:solidFill>
                  <a:srgbClr val="1C1B19"/>
                </a:solidFill>
                <a:latin typeface="Source Serif 4"/>
              </a:rPr>
              <a:t>One thing that repeats (private card) and the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guess and the tally (3), friendship runs on hours (3), the liking gap (2), one thing that repeats and the link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ask who's new.</a:t>
            </a:r>
          </a:p>
          <a:p>
            <a:pPr algn="l">
              <a:spcAft>
                <a:spcPts val="585"/>
              </a:spcAft>
            </a:pPr>
            <a:r>
              <a:rPr sz="1300" b="0" i="0">
                <a:solidFill>
                  <a:srgbClr val="1C1B19"/>
                </a:solidFill>
                <a:latin typeface="Source Serif 4"/>
              </a:rPr>
              <a:t>Some students arrived this fall, and some have been at Beaver for years. Don't ask for a show of hands or put a new student on the spot to talk about it. The guess on slide 2 works for everyone, including seniors remembering their first month.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Lonely is close to the surface.</a:t>
            </a:r>
          </a:p>
          <a:p>
            <a:pPr algn="l">
              <a:spcAft>
                <a:spcPts val="585"/>
              </a:spcAft>
            </a:pPr>
            <a:r>
              <a:rPr sz="1300" b="0" i="0">
                <a:solidFill>
                  <a:srgbClr val="1C1B19"/>
                </a:solidFill>
                <a:latin typeface="Source Serif 4"/>
              </a:rPr>
              <a:t>Someone in your circle may be eating lunch alone most days. Never ask who has a group or who they sit with. If a student seems isolated, check in privately afterward and loop in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ask why anyone moved.</a:t>
            </a:r>
          </a:p>
          <a:p>
            <a:pPr algn="l">
              <a:spcAft>
                <a:spcPts val="585"/>
              </a:spcAft>
            </a:pPr>
            <a:r>
              <a:rPr sz="1300" b="0" i="0">
                <a:solidFill>
                  <a:srgbClr val="1C1B19"/>
                </a:solidFill>
                <a:latin typeface="Source Serif 4"/>
              </a:rPr>
              <a:t>Students change schools for all kinds of reasons: a job, a divorce, a death, a new home, immigration, a hard year somewhere else. The lesson is about what helps now.</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Being left out on purpose is different.</a:t>
            </a:r>
          </a:p>
          <a:p>
            <a:pPr algn="l">
              <a:spcAft>
                <a:spcPts val="585"/>
              </a:spcAft>
            </a:pPr>
            <a:r>
              <a:rPr sz="1300" b="0" i="0">
                <a:solidFill>
                  <a:srgbClr val="1C1B19"/>
                </a:solidFill>
                <a:latin typeface="Source Serif 4"/>
              </a:rPr>
              <a:t>If a student is being targeted or excluded because of their race, religion, accent, or where they're from, that is a counselor or dean conversation that day, not a discussion topic.</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when it's more than new.</a:t>
            </a:r>
          </a:p>
          <a:p>
            <a:pPr algn="l">
              <a:spcAft>
                <a:spcPts val="585"/>
              </a:spcAft>
            </a:pPr>
            <a:r>
              <a:rPr sz="1300" b="0" i="0">
                <a:solidFill>
                  <a:srgbClr val="1C1B19"/>
                </a:solidFill>
                <a:latin typeface="Source Serif 4"/>
              </a:rPr>
              <a:t>Dreading school most mornings, feeling sick before coming, still feeling alone most of the time after a couple of months, or big changes in sleep, eating or mood are reasons to see a counselor. Don't ask about these in advisory. Any disclosure goes to a counselor the same day, and 988 is there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Old friends are a real support.</a:t>
            </a:r>
          </a:p>
          <a:p>
            <a:pPr algn="l">
              <a:spcAft>
                <a:spcPts val="585"/>
              </a:spcAft>
            </a:pPr>
            <a:r>
              <a:rPr sz="1300" b="0" i="0">
                <a:solidFill>
                  <a:srgbClr val="1C1B19"/>
                </a:solidFill>
                <a:latin typeface="Source Serif 4"/>
              </a:rPr>
              <a:t>Don't frame old friends as something to drop. The goal is keeping some time open for new hours to happen.</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Being one of few here from your background.</a:t>
            </a:r>
          </a:p>
          <a:p>
            <a:pPr algn="l">
              <a:spcAft>
                <a:spcPts val="585"/>
              </a:spcAft>
            </a:pPr>
            <a:r>
              <a:rPr sz="1300" b="0" i="0">
                <a:solidFill>
                  <a:srgbClr val="1C1B19"/>
                </a:solidFill>
                <a:latin typeface="Source Serif 4"/>
              </a:rPr>
              <a:t>For students who share their race, culture, faith or home language with few others at Beaver, "do I belong here?" can be louder. That isn't proof they're in the wrong place. Name affinity groups and clubs, and say it's fair to expect the school to make room. Don't ask anyone to speak for their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Moving from another country.</a:t>
            </a:r>
          </a:p>
          <a:p>
            <a:pPr algn="l">
              <a:spcAft>
                <a:spcPts val="585"/>
              </a:spcAft>
            </a:pPr>
            <a:r>
              <a:rPr sz="1300" b="0" i="0">
                <a:solidFill>
                  <a:srgbClr val="1C1B19"/>
                </a:solidFill>
                <a:latin typeface="Source Serif 4"/>
              </a:rPr>
              <a:t>The unwritten rules at a new school can be different, and accents and home languages get noticed. The student page says plainly that erasing your background, accent or faith to fit in costs more than it buys. Keep the Mateo scenario on what classmates can do, never on Mateo's English.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"Join something weekly" can cost money and rides.</a:t>
            </a:r>
          </a:p>
          <a:p>
            <a:pPr algn="l">
              <a:spcAft>
                <a:spcPts val="585"/>
              </a:spcAft>
            </a:pPr>
            <a:r>
              <a:rPr sz="1300" b="0" i="0">
                <a:solidFill>
                  <a:srgbClr val="1C1B19"/>
                </a:solidFill>
                <a:latin typeface="Source Serif 4"/>
              </a:rPr>
              <a:t>Some teams and activities need fees, gear, or a ride home late. Some students work or care for siblings after school. A job counts as weekly hours, and a library study plan or a lunch table is free.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can be the weekly thing, or can shape the week.</a:t>
            </a:r>
          </a:p>
          <a:p>
            <a:pPr algn="l">
              <a:spcAft>
                <a:spcPts val="585"/>
              </a:spcAft>
            </a:pPr>
            <a:r>
              <a:rPr sz="1300" b="0" i="0">
                <a:solidFill>
                  <a:srgbClr val="1C1B19"/>
                </a:solidFill>
                <a:latin typeface="Source Serif 4"/>
              </a:rPr>
              <a:t>A youth group or faith community counts as repeated hours with the same people. Some students can't go out on certain nights for faith or family reasons. Lunch and school-day options work for them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Small talk is harder for some students.</a:t>
            </a:r>
          </a:p>
          <a:p>
            <a:pPr algn="l">
              <a:spcAft>
                <a:spcPts val="585"/>
              </a:spcAft>
            </a:pPr>
            <a:r>
              <a:rPr sz="1300" b="0" i="0">
                <a:solidFill>
                  <a:srgbClr val="1C1B19"/>
                </a:solidFill>
                <a:latin typeface="Source Serif 4"/>
              </a:rPr>
              <a:t>For autistic students and students with social anxiety, "one question past small talk" can take real effort. Activities with a shared task, like a robotics build, a show crew or a team, give conversation something to hang on. Don't make outgoing the measure of fitting in.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"Find one adult" may matter more for some.</a:t>
            </a:r>
          </a:p>
          <a:p>
            <a:pPr algn="l">
              <a:spcAft>
                <a:spcPts val="585"/>
              </a:spcAft>
            </a:pPr>
            <a:r>
              <a:rPr sz="1300" b="0" i="0">
                <a:solidFill>
                  <a:srgbClr val="1C1B19"/>
                </a:solidFill>
                <a:latin typeface="Source Serif 4"/>
              </a:rPr>
              <a:t>Students who moved for a family change, live in foster or kinship care, or don't have an adult at home who can drive them to things may lean on a school adult more. Make sure every student leaves knowing at least one adult at Beaver they could go to.</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Adults who had just moved and first-year college students estimated it took about 50 hours together to go from acquaintance to casual friend, about 90 to become friends, and more than 200 for a close friend. Students got there faster than adults. These are rough averages from people's own estimates.</a:t>
            </a:r>
          </a:p>
          <a:p>
            <a:pPr algn="l">
              <a:spcAft>
                <a:spcPts val="585"/>
              </a:spcAft>
            </a:pPr>
            <a:r>
              <a:rPr sz="1050" b="0" i="0">
                <a:solidFill>
                  <a:srgbClr val="5D5A54"/>
                </a:solidFill>
                <a:latin typeface="Inter Tight"/>
              </a:rPr>
              <a:t>Hall, Journal of Social and Personal Relationships, 2019</a:t>
            </a:r>
          </a:p>
          <a:p>
            <a:pPr algn="l">
              <a:spcAft>
                <a:spcPts val="585"/>
              </a:spcAft>
            </a:pPr>
            <a:r>
              <a:rPr sz="1300" b="0" i="0">
                <a:solidFill>
                  <a:srgbClr val="1C1B19"/>
                </a:solidFill>
                <a:latin typeface="Source Serif 4"/>
              </a:rPr>
              <a:t>Hanging out, joking around and real conversations counted most toward closeness. Sitting near each other in class or working side by side counted less, and small talk alone was linked to drifting apart.</a:t>
            </a:r>
          </a:p>
          <a:p>
            <a:pPr algn="l">
              <a:spcAft>
                <a:spcPts val="585"/>
              </a:spcAft>
            </a:pPr>
            <a:r>
              <a:rPr sz="1050" b="0" i="0">
                <a:solidFill>
                  <a:srgbClr val="5D5A54"/>
                </a:solidFill>
                <a:latin typeface="Inter Tight"/>
              </a:rPr>
              <a:t>Hall, 2019</a:t>
            </a:r>
          </a:p>
          <a:p>
            <a:pPr algn="l">
              <a:spcAft>
                <a:spcPts val="585"/>
              </a:spcAft>
            </a:pPr>
            <a:r>
              <a:rPr sz="1300" b="0" i="0">
                <a:solidFill>
                  <a:srgbClr val="1C1B19"/>
                </a:solidFill>
                <a:latin typeface="Source Serif 4"/>
              </a:rPr>
              <a:t>People who had just talked with someone new consistently underestimated how much the other person liked them. It showed up in first-year college roommates and lasted for months.</a:t>
            </a:r>
          </a:p>
          <a:p>
            <a:pPr algn="l">
              <a:spcAft>
                <a:spcPts val="585"/>
              </a:spcAft>
            </a:pPr>
            <a:r>
              <a:rPr sz="1050" b="0" i="0">
                <a:solidFill>
                  <a:srgbClr val="5D5A54"/>
                </a:solidFill>
                <a:latin typeface="Inter Tight"/>
              </a:rPr>
              <a:t>Boothby, Cooney, Sandstrom and Clark, Psychological Science, 2018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Commuters asked to talk to a stranger on a train or bus reported a more pleasant ride than those who sat alone, though people predicted the opposite. The mistake came from underestimating how interested others are in connecting.</a:t>
            </a:r>
          </a:p>
          <a:p>
            <a:pPr algn="l">
              <a:spcAft>
                <a:spcPts val="585"/>
              </a:spcAft>
            </a:pPr>
            <a:r>
              <a:rPr sz="1050" b="0" i="0">
                <a:solidFill>
                  <a:srgbClr val="5D5A54"/>
                </a:solidFill>
                <a:latin typeface="Inter Tight"/>
              </a:rPr>
              <a:t>Epley and Schroeder, Journal of Experimental Psychology: General, 2014</a:t>
            </a:r>
          </a:p>
          <a:p>
            <a:pPr algn="l">
              <a:spcAft>
                <a:spcPts val="585"/>
              </a:spcAft>
            </a:pPr>
            <a:r>
              <a:rPr sz="1300" b="0" i="0">
                <a:solidFill>
                  <a:srgbClr val="1C1B19"/>
                </a:solidFill>
                <a:latin typeface="Source Serif 4"/>
              </a:rPr>
              <a:t>First-year college students who read that belonging worries are common and fade went on to earn higher grades over three years if they were Black, cutting the racial achievement gap in half. It was a small study.</a:t>
            </a:r>
          </a:p>
          <a:p>
            <a:pPr algn="l">
              <a:spcAft>
                <a:spcPts val="585"/>
              </a:spcAft>
            </a:pPr>
            <a:r>
              <a:rPr sz="1050" b="0" i="0">
                <a:solidFill>
                  <a:srgbClr val="5D5A54"/>
                </a:solidFill>
                <a:latin typeface="Inter Tight"/>
              </a:rPr>
              <a:t>Walton and Cohen, Science, 2011</a:t>
            </a:r>
          </a:p>
          <a:p>
            <a:pPr algn="l">
              <a:spcAft>
                <a:spcPts val="585"/>
              </a:spcAft>
            </a:pPr>
            <a:r>
              <a:rPr sz="1300" b="0" i="0">
                <a:solidFill>
                  <a:srgbClr val="1C1B19"/>
                </a:solidFill>
                <a:latin typeface="Source Serif 4"/>
              </a:rPr>
              <a:t>Repeated with almost 27,000 students at 22 colleges, a version under 30 minutes helped more students finish their first year full time, especially in groups that had historically struggled more, but only at schools that offered real ways to belong.</a:t>
            </a:r>
          </a:p>
          <a:p>
            <a:pPr algn="l">
              <a:spcAft>
                <a:spcPts val="585"/>
              </a:spcAft>
            </a:pPr>
            <a:r>
              <a:rPr sz="1050" b="0" i="0">
                <a:solidFill>
                  <a:srgbClr val="5D5A54"/>
                </a:solidFill>
                <a:latin typeface="Inter Tight"/>
              </a:rPr>
              <a:t>Walton et al., Science,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