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"First year of Upper School means more classes, more places assignments get posted, and more things to keep track of. If you've ever known about something and still forgot it, today is for you. Spoiler: the people who look organized mostly aren't using willpower."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Students stand for fact, stay seated for myth. Don't reveal answers yet, just notice where the room splits. Keep it quick. Interactive option: have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#3 and #1 go together: the Dunedin study in New Zealand followed about 1,000 people from birth to 32. Childhood self-control predicted adult health, finances, and run-ins with the law, even after accounting for IQ and family income. But people whose self-control improved over time did better than their childhood scores predicted. Where you start is not where you have to stay. #2: people who feel good at multitasking are often just used to the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In 2000 a team led by Akira Miyake gave college students a set of thinking tasks and found these three related but separate abilities. Most later research uses the same three. Where they run, simply: a front part of the brain (the dorsolateral prefrontal cortex) is the workspace that holds information while you use it, and it's among the last areas to finish maturing, around the end of adolescence. Another area works as the brake that stops the thumb heading for the app. Another works as the error alarm: the "wait, I was supposed to..." moment. Each skill uses several areas working together. Ask: "Which of the three trips you up most?" Let a few volunteers answer; anyone can pass. Expect: forgetting assignments (working memory), the phone (inhibition), plans falling apart when something changes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the folded scraps and tally them out loud. Usually most of the room has at least one or two. That's the point: a capable person on five hours of sleep and a bad week will look disorganized. That describes a condition, and conditions change. This comes from Adele Diamond's 2013 review of executive function research. Add: some brains work harder at this. ADHD is largely a difference in executive function and has nothing to do with intelligence or effort. People with ADHD often do best with more outside structure, and an evaluation can tell you if it's part of your picture. Don't ask who has ADHD. If a student's number worries you, don't follow up in class; check in privately later, without singling them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three offloads, one per skill. Working memory: one capture point. Every assignment, shift, form, and promise goes in one place the moment you hear it. One app or one notebook, never "I'll remember." Inhibition: design the room. Make the distraction harder to reach than the work: phone charging across the room, one tab, notifications off for set hours. Flexibility: a plan B in advance. "If practice runs late, I do the reading on the bus and the problem set after dinner." Decide it before the plan breaks. Add the phone piece briefly: every switch makes your brain drop one set of rules and load another, which costs time and accuracy even when it feels instant. You can't train yourself into a great multitasker. You can set things up so you don't have to be.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(with the previous slide). Private. Students write five lines on an index card and keep it. A system they'd actually use beats a perfect one they won't. Walk around and help with specifics: "my phone" is vague; "the notes app, one list called School" is a capture point. "Sunday after dinner at the kitchen table" is a review time. A paper list counts and is free. If a student's space is shared or noisy, "design the room" can be headphones, the library, or the phone in a backpack. Don't ask anyone to explain what blows up their plans; for some it's family responsibilities, and that stays on the card.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name the skill, then the fix. Report back. There's usually more than one good answer; the best one is the one they'll actually do. Dev: working memory. One capture point and a weekly review. "Pay more attention" or "quit soccer" misses the problem. Nia: flexibility. Plan around the fixed block with short tasks that fit it (flashcards while the boys have a snack, reading during a show), instead of a plan that pretends the block isn't there. If a group suggests she tell her family she can't help, or get up at 5, ask what that would cost her. Luis: inhibition. Phone in another room and chats muted until 9. "Just ignore the notifications" relies on willpower; moving the phone doesn't.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Same time every week; many people pick Sunday evening. Step 2 matters: fixed things like practice, religious services, or family responsibilities aren't obstacles to the plan. They're the frame it fits around. Step 3: a step should be small enough to finish in one sitting. Step 4: the day with a test, a game, and a family commitment. Emailing a teacher three days early is planning, and most teachers welcome it. Model the words: "I have a game and a test on Thursday. Could I turn in the lab Friday?" Step 5: after the nightly check, stop thinking about it. The list is holding it. Myth to name: the right app won't fix it. A paper list you check every day beats a beautiful app you open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can set the alarm right now if phones are allowed, or write the day and time on the card. Share the take-home link (post it on your class page too). It has the three offloads, the weekly review, a private check-in, and who to talk to. Mention when to ask for more: if they've tried real systems for a few weeks and are still behind in several classes, or have struggled with focus, losing things, or time for as long as they can remember, a counselor or learning specialist can help them look at it. That can lead to supports like a learning plan, and colleges have disability services offices too.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Running the Show</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the three skills behind getting things done and leave with a five-line system that moves the job out of their head. Bring index cards, drop the word "lazy," and assume students with ADHD or learning differences are in the room without ever asking who.</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A system shouldn't need money or a quiet room, and family, work and faith commitments go on the calendar first, the same as practice.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(5), the offload idea and the five-line card (8), one of the three overloaded weeks (5), exit card (2). The take-home sheet has the weekly review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RUNNING THE SHOW</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Running the Show</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Smart enough. Still dropping balls.</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 people just aren't organized.</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 people are great at multitasking.</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Self-control as a kid predicts adult health and money.</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brain's planning workspace finishes maturing last.</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One short night doesn't change how organized you 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Organization is skills plus tools. "Not organized yet" is more accurate.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Almost everyone pays a cost each switch.</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And people who improved did better than predicted.</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It's among the last areas to mature, around the end of adolescence.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Short sleep weakens the exact skills you need.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SKILLS, NOT ONE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"executive function" actually means</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Working memory: holding and updating.</a:t>
            </a:r>
          </a:p>
          <a:p>
            <a:pPr algn="l">
              <a:spcAft>
                <a:spcPts val="945"/>
              </a:spcAft>
            </a:pPr>
            <a:r>
              <a:rPr sz="1600" b="0" i="0">
                <a:solidFill>
                  <a:srgbClr val="5D5A54"/>
                </a:solidFill>
                <a:latin typeface="Source Serif 4"/>
              </a:rPr>
              <a:t>Keeping the steps in mind while you work.</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Inhibition: skipping the easy thing.</a:t>
            </a:r>
          </a:p>
          <a:p>
            <a:pPr algn="l">
              <a:spcAft>
                <a:spcPts val="945"/>
              </a:spcAft>
            </a:pPr>
            <a:r>
              <a:rPr sz="1600" b="0" i="0">
                <a:solidFill>
                  <a:srgbClr val="5D5A54"/>
                </a:solidFill>
                <a:latin typeface="Source Serif 4"/>
              </a:rPr>
              <a:t>Ignoring the buzz, finishing the paragraph.</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Flexibility: switching gears.</a:t>
            </a:r>
          </a:p>
          <a:p>
            <a:pPr algn="l">
              <a:spcAft>
                <a:spcPts val="945"/>
              </a:spcAft>
            </a:pPr>
            <a:r>
              <a:rPr sz="1600" b="0" i="0">
                <a:solidFill>
                  <a:srgbClr val="5D5A54"/>
                </a:solidFill>
                <a:latin typeface="Source Serif 4"/>
              </a:rPr>
              <a:t>A new plan when practice moves.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KNOCKS THEM OFFLINE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 tired brain looks disorganized.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Stress, short sleep, loneliness, and no exercise all weaken these skills. Write a number 0 to 4: how many hit you this week?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IDEA</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Organized people don't remember more. They offload more.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Working memory holds only a few things. Move the job into tools and routines.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DESIGN YOUR SYSTEM</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Five lines on your card. Be specific.</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My capture point. My weekly review time. One change to my space. What usually blows up my plans. My plan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OVERLOADED WEEKS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skill needs the backup?</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Plays JV soccer and keeps missing small things: a field trip form, a quiz date, a rehearsal change. Each was posted somewhere different.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NIA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Watches her two younger brothers after school until her grandfather gets home at 6:30. Every 3:30 plan falls apart, and homework starts at 9.</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LUIS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Sits down to write his lab report at 8 with his phone next to the laptop. By 9:15 he has a title and a long group chat thread.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HABIT THAT HOLDS IT TOGETHER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 weekly review, about 20 minutes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Empty everything into one list.</a:t>
            </a:r>
          </a:p>
          <a:p>
            <a:pPr algn="l">
              <a:spcAft>
                <a:spcPts val="945"/>
              </a:spcAft>
            </a:pPr>
            <a:r>
              <a:rPr sz="1600" b="0" i="0">
                <a:solidFill>
                  <a:srgbClr val="5D5A54"/>
                </a:solidFill>
                <a:latin typeface="Source Serif 4"/>
              </a:rPr>
              <a:t>Class pages, email, texts, backpack, sticky notes.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Fixed things first.</a:t>
            </a:r>
          </a:p>
          <a:p>
            <a:pPr algn="l">
              <a:spcAft>
                <a:spcPts val="945"/>
              </a:spcAft>
            </a:pPr>
            <a:r>
              <a:rPr sz="1600" b="0" i="0">
                <a:solidFill>
                  <a:srgbClr val="5D5A54"/>
                </a:solidFill>
                <a:latin typeface="Source Serif 4"/>
              </a:rPr>
              <a:t>Classes, practice, shifts, services, picking up a sibling.</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Break big things into dated steps.</a:t>
            </a:r>
          </a:p>
          <a:p>
            <a:pPr algn="l">
              <a:spcAft>
                <a:spcPts val="945"/>
              </a:spcAft>
            </a:pPr>
            <a:r>
              <a:rPr sz="1600" b="0" i="0">
                <a:solidFill>
                  <a:srgbClr val="5D5A54"/>
                </a:solidFill>
                <a:latin typeface="Source Serif 4"/>
              </a:rPr>
              <a:t>"Tue: pick sources. Thu: outline."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Spot the crunch day.</a:t>
            </a:r>
          </a:p>
          <a:p>
            <a:pPr algn="l">
              <a:spcAft>
                <a:spcPts val="945"/>
              </a:spcAft>
            </a:pPr>
            <a:r>
              <a:rPr sz="1600" b="0" i="0">
                <a:solidFill>
                  <a:srgbClr val="5D5A54"/>
                </a:solidFill>
                <a:latin typeface="Source Serif 4"/>
              </a:rPr>
              <a:t>Move work earlier or email a teacher now.</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Close it out every night.</a:t>
            </a:r>
          </a:p>
          <a:p>
            <a:pPr algn="l">
              <a:spcAft>
                <a:spcPts val="945"/>
              </a:spcAft>
            </a:pPr>
            <a:r>
              <a:rPr sz="1600" b="0" i="0">
                <a:solidFill>
                  <a:srgbClr val="5D5A54"/>
                </a:solidFill>
                <a:latin typeface="Source Serif 4"/>
              </a:rPr>
              <a:t>Two minutes: what's due tomorrow, and is it 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When is your first weekly review? Put it in your calendar with an alarm before you leave.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https://rmwtoolkit.github.io/bcds-toolkit/running-the-show-high-school.html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Running the Show</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name the three skills behind getting things done (working memory, inhibition, flexibility), explain why sleep and stress change how organized anyone looks, and leave with a five-line system that moves the job out of their head: one capture point, a room set up against distraction, a plan B, and a weekly review.</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system card and the exit card</a:t>
            </a:r>
          </a:p>
          <a:p>
            <a:pPr algn="l">
              <a:spcAft>
                <a:spcPts val="675"/>
              </a:spcAft>
            </a:pPr>
            <a:r>
              <a:rPr sz="1500" b="0" i="0">
                <a:solidFill>
                  <a:srgbClr val="1C1B19"/>
                </a:solidFill>
                <a:latin typeface="Source Serif 4"/>
              </a:rPr>
              <a:t>Scrap paper for the anonymous tally</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Three skills, and where they run</a:t>
            </a:r>
          </a:p>
          <a:p>
            <a:pPr algn="l">
              <a:spcAft>
                <a:spcPts val="630"/>
              </a:spcAft>
            </a:pPr>
            <a:r>
              <a:rPr sz="1300" b="1" i="0">
                <a:solidFill>
                  <a:srgbClr val="F47B20"/>
                </a:solidFill>
                <a:latin typeface="Inter Tight"/>
              </a:rPr>
              <a:t>5 min   </a:t>
            </a:r>
            <a:r>
              <a:rPr sz="1400" b="0" i="0">
                <a:solidFill>
                  <a:srgbClr val="1C1B19"/>
                </a:solidFill>
                <a:latin typeface="Source Serif 4"/>
              </a:rPr>
              <a:t>What knocks them offline (anonymous tally)</a:t>
            </a:r>
          </a:p>
          <a:p>
            <a:pPr algn="l">
              <a:spcAft>
                <a:spcPts val="630"/>
              </a:spcAft>
            </a:pPr>
            <a:r>
              <a:rPr sz="1300" b="1" i="0">
                <a:solidFill>
                  <a:srgbClr val="F47B20"/>
                </a:solidFill>
                <a:latin typeface="Inter Tight"/>
              </a:rPr>
              <a:t>10 min   </a:t>
            </a:r>
            <a:r>
              <a:rPr sz="1400" b="0" i="0">
                <a:solidFill>
                  <a:srgbClr val="1C1B19"/>
                </a:solidFill>
                <a:latin typeface="Source Serif 4"/>
              </a:rPr>
              <a:t>Offload it: design your system (private card)</a:t>
            </a:r>
          </a:p>
          <a:p>
            <a:pPr algn="l">
              <a:spcAft>
                <a:spcPts val="630"/>
              </a:spcAft>
            </a:pPr>
            <a:r>
              <a:rPr sz="1300" b="1" i="0">
                <a:solidFill>
                  <a:srgbClr val="F47B20"/>
                </a:solidFill>
                <a:latin typeface="Inter Tight"/>
              </a:rPr>
              <a:t>10 min   </a:t>
            </a:r>
            <a:r>
              <a:rPr sz="1400" b="0" i="0">
                <a:solidFill>
                  <a:srgbClr val="1C1B19"/>
                </a:solidFill>
                <a:latin typeface="Source Serif 4"/>
              </a:rPr>
              <a:t>Three overloaded weeks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The weekly review</a:t>
            </a:r>
          </a:p>
          <a:p>
            <a:pPr algn="l">
              <a:spcAft>
                <a:spcPts val="630"/>
              </a:spcAft>
            </a:pPr>
            <a:r>
              <a:rPr sz="1300" b="1" i="0">
                <a:solidFill>
                  <a:srgbClr val="F47B20"/>
                </a:solidFill>
                <a:latin typeface="Inter Tight"/>
              </a:rPr>
              <a:t>2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(5), the offload idea and the five-line card (8), one of the three overloaded weeks (5), exit card (2). The take-home sheet has the weekly review steps.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students with ADHD and learning differences are in the room.</a:t>
            </a:r>
          </a:p>
          <a:p>
            <a:pPr algn="l">
              <a:spcAft>
                <a:spcPts val="585"/>
              </a:spcAft>
            </a:pPr>
            <a:r>
              <a:rPr sz="1300" b="0" i="0">
                <a:solidFill>
                  <a:srgbClr val="1C1B19"/>
                </a:solidFill>
                <a:latin typeface="Source Serif 4"/>
              </a:rPr>
              <a:t>Some have a diagnosis and a learning plan, some are waiting on an evaluation, and some have never been checked. Never ask who has ADHD or who has a plan. Talk about executive function as skills everyone uses, with some brains working harder at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Drop the word "lazy."</a:t>
            </a:r>
          </a:p>
          <a:p>
            <a:pPr algn="l">
              <a:spcAft>
                <a:spcPts val="585"/>
              </a:spcAft>
            </a:pPr>
            <a:r>
              <a:rPr sz="1300" b="0" i="0">
                <a:solidFill>
                  <a:srgbClr val="1C1B19"/>
                </a:solidFill>
                <a:latin typeface="Source Serif 4"/>
              </a:rPr>
              <a:t>Many 9th graders have already heard "you're so capable" in that tone. If a student calls themselves lazy or bad at school, name the condition instead: short sleep, a hard week, a missing system. Keep it off any one student's record in front of the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Home responsibilities stay private.</a:t>
            </a:r>
          </a:p>
          <a:p>
            <a:pPr algn="l">
              <a:spcAft>
                <a:spcPts val="585"/>
              </a:spcAft>
            </a:pPr>
            <a:r>
              <a:rPr sz="1300" b="0" i="0">
                <a:solidFill>
                  <a:srgbClr val="1C1B19"/>
                </a:solidFill>
                <a:latin typeface="Source Serif 4"/>
              </a:rPr>
              <a:t>Some students watch siblings, work, or travel between two homes. The system card goes home with them. Nobody explains why their afternoons are full.</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Know who handles evaluations at your school.</a:t>
            </a:r>
          </a:p>
          <a:p>
            <a:pPr algn="l">
              <a:spcAft>
                <a:spcPts val="585"/>
              </a:spcAft>
            </a:pPr>
            <a:r>
              <a:rPr sz="1300" b="0" i="0">
                <a:solidFill>
                  <a:srgbClr val="1C1B19"/>
                </a:solidFill>
                <a:latin typeface="Source Serif 4"/>
              </a:rPr>
              <a:t>If a student says "I've always been like this," thank them and point them to a counselor or learning specialist after class. Know ahead of time who that is and how a learning plan conversation starts, so you can answer in one sentence.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Stress and sleep can be the bigger story.</a:t>
            </a:r>
          </a:p>
          <a:p>
            <a:pPr algn="l">
              <a:spcAft>
                <a:spcPts val="585"/>
              </a:spcAft>
            </a:pPr>
            <a:r>
              <a:rPr sz="1300" b="0" i="0">
                <a:solidFill>
                  <a:srgbClr val="1C1B19"/>
                </a:solidFill>
                <a:latin typeface="Source Serif 4"/>
              </a:rPr>
              <a:t>If a student describes not sleeping, feeling hopeless about school, or seeing themselves as a failure, follow up privately and bring in a counselor. Don't ask about any of this in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phone research honest.</a:t>
            </a:r>
          </a:p>
          <a:p>
            <a:pPr algn="l">
              <a:spcAft>
                <a:spcPts val="585"/>
              </a:spcAft>
            </a:pPr>
            <a:r>
              <a:rPr sz="1300" b="0" i="0">
                <a:solidFill>
                  <a:srgbClr val="1C1B19"/>
                </a:solidFill>
                <a:latin typeface="Source Serif 4"/>
              </a:rPr>
              <a:t>The 2009 Stanford multitasking study hasn't always repeated in later work. Present it as a warning sign. The cost of switching tasks is the well-established part, and it's enough. Skip the phone lecture; students tune out fast.</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Fixed blocks look different in every home.</a:t>
            </a:r>
          </a:p>
          <a:p>
            <a:pPr algn="l">
              <a:spcAft>
                <a:spcPts val="585"/>
              </a:spcAft>
            </a:pPr>
            <a:r>
              <a:rPr sz="1300" b="0" i="0">
                <a:solidFill>
                  <a:srgbClr val="1C1B19"/>
                </a:solidFill>
                <a:latin typeface="Source Serif 4"/>
              </a:rPr>
              <a:t>Some students pick up a sibling, watch younger cousins until a grandparent gets home, or split the week between two homes with two calendars. Treat these as the frame the plan fits around. The Nia scenario is built for this.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 system shouldn't cost money or space.</a:t>
            </a:r>
          </a:p>
          <a:p>
            <a:pPr algn="l">
              <a:spcAft>
                <a:spcPts val="585"/>
              </a:spcAft>
            </a:pPr>
            <a:r>
              <a:rPr sz="1300" b="0" i="0">
                <a:solidFill>
                  <a:srgbClr val="1C1B19"/>
                </a:solidFill>
                <a:latin typeface="Source Serif 4"/>
              </a:rPr>
              <a:t>A paper list is free and works. Not every student has a desk, a quiet room, or a phone that can live in another room. "Design the room" can mean headphones, the library before school, or the phone face down in a backpack.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ADHD and learning differences.</a:t>
            </a:r>
          </a:p>
          <a:p>
            <a:pPr algn="l">
              <a:spcAft>
                <a:spcPts val="585"/>
              </a:spcAft>
            </a:pPr>
            <a:r>
              <a:rPr sz="1300" b="0" i="0">
                <a:solidFill>
                  <a:srgbClr val="1C1B19"/>
                </a:solidFill>
                <a:latin typeface="Source Serif 4"/>
              </a:rPr>
              <a:t>ADHD is largely a difference in executive function and has nothing to do with intelligence or effort. More outside structure helps. Some families are wary of evaluations or labels; present an evaluation as information that can open supports like a learning plan, and leave the decision with the student and family.</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commitments are fixed blocks too.</a:t>
            </a:r>
          </a:p>
          <a:p>
            <a:pPr algn="l">
              <a:spcAft>
                <a:spcPts val="585"/>
              </a:spcAft>
            </a:pPr>
            <a:r>
              <a:rPr sz="1300" b="0" i="0">
                <a:solidFill>
                  <a:srgbClr val="1C1B19"/>
                </a:solidFill>
                <a:latin typeface="Source Serif 4"/>
              </a:rPr>
              <a:t>Religious services, holy days, and evening classes at a faith community belong on the calendar first, the same as practice. For students without those, the review step simply skips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Asking a teacher for help varies by upbringing.</a:t>
            </a:r>
          </a:p>
          <a:p>
            <a:pPr algn="l">
              <a:spcAft>
                <a:spcPts val="585"/>
              </a:spcAft>
            </a:pPr>
            <a:r>
              <a:rPr sz="1300" b="0" i="0">
                <a:solidFill>
                  <a:srgbClr val="1C1B19"/>
                </a:solidFill>
                <a:latin typeface="Source Serif 4"/>
              </a:rPr>
              <a:t>In some homes questioning an adult or asking for an extension feels disrespectful. Model the exact words for "email a teacher now" so it reads as planning ahead, which most teachers welcome.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at home.</a:t>
            </a:r>
          </a:p>
          <a:p>
            <a:pPr algn="l">
              <a:spcAft>
                <a:spcPts val="585"/>
              </a:spcAft>
            </a:pPr>
            <a:r>
              <a:rPr sz="1300" b="0" i="0">
                <a:solidFill>
                  <a:srgbClr val="1C1B19"/>
                </a:solidFill>
                <a:latin typeface="Source Serif 4"/>
              </a:rPr>
              <a:t>Some students translate forms and emails for their family, which is one more thing to track. If an evaluation comes up, families can ask the school for an interpreter. The take-home sheet is in plain language they can share.</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College students given a set of thinking tasks showed three related but separate abilities: updating (working memory), inhibition, and shifting (flexibility).</a:t>
            </a:r>
          </a:p>
          <a:p>
            <a:pPr algn="l">
              <a:spcAft>
                <a:spcPts val="585"/>
              </a:spcAft>
            </a:pPr>
            <a:r>
              <a:rPr sz="1050" b="0" i="0">
                <a:solidFill>
                  <a:srgbClr val="5D5A54"/>
                </a:solidFill>
                <a:latin typeface="Inter Tight"/>
              </a:rPr>
              <a:t>Miyake et al., Cognitive Psychology, 2000</a:t>
            </a:r>
          </a:p>
          <a:p>
            <a:pPr algn="l">
              <a:spcAft>
                <a:spcPts val="585"/>
              </a:spcAft>
            </a:pPr>
            <a:r>
              <a:rPr sz="1300" b="0" i="0">
                <a:solidFill>
                  <a:srgbClr val="1C1B19"/>
                </a:solidFill>
                <a:latin typeface="Source Serif 4"/>
              </a:rPr>
              <a:t>Four things reliably weaken executive function: stress, poor sleep, loneliness, and lack of exercise.</a:t>
            </a:r>
          </a:p>
          <a:p>
            <a:pPr algn="l">
              <a:spcAft>
                <a:spcPts val="585"/>
              </a:spcAft>
            </a:pPr>
            <a:r>
              <a:rPr sz="1050" b="0" i="0">
                <a:solidFill>
                  <a:srgbClr val="5D5A54"/>
                </a:solidFill>
                <a:latin typeface="Inter Tight"/>
              </a:rPr>
              <a:t>Diamond, Annual Review of Psychology, 2013</a:t>
            </a:r>
          </a:p>
          <a:p>
            <a:pPr algn="l">
              <a:spcAft>
                <a:spcPts val="585"/>
              </a:spcAft>
            </a:pPr>
            <a:r>
              <a:rPr sz="1300" b="0" i="0">
                <a:solidFill>
                  <a:srgbClr val="1C1B19"/>
                </a:solidFill>
                <a:latin typeface="Source Serif 4"/>
              </a:rPr>
              <a:t>Scanning the same young people every two years from childhood into their early 20s, the dorsolateral prefrontal cortex was among the last areas to mature, finishing at the end of adolescence.</a:t>
            </a:r>
          </a:p>
          <a:p>
            <a:pPr algn="l">
              <a:spcAft>
                <a:spcPts val="585"/>
              </a:spcAft>
            </a:pPr>
            <a:r>
              <a:rPr sz="1050" b="0" i="0">
                <a:solidFill>
                  <a:srgbClr val="5D5A54"/>
                </a:solidFill>
                <a:latin typeface="Inter Tight"/>
              </a:rPr>
              <a:t>Gogtay et al., PNAS, 2004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The Dunedin study followed about 1,000 New Zealanders from birth to 32. Childhood self-control predicted adult health, finances, and run-ins with the law, even after accounting for IQ and family income.</a:t>
            </a:r>
          </a:p>
          <a:p>
            <a:pPr algn="l">
              <a:spcAft>
                <a:spcPts val="585"/>
              </a:spcAft>
            </a:pPr>
            <a:r>
              <a:rPr sz="1050" b="0" i="0">
                <a:solidFill>
                  <a:srgbClr val="5D5A54"/>
                </a:solidFill>
                <a:latin typeface="Inter Tight"/>
              </a:rPr>
              <a:t>Moffitt et al., PNAS, 2011</a:t>
            </a:r>
          </a:p>
          <a:p>
            <a:pPr algn="l">
              <a:spcAft>
                <a:spcPts val="585"/>
              </a:spcAft>
            </a:pPr>
            <a:r>
              <a:rPr sz="1300" b="0" i="0">
                <a:solidFill>
                  <a:srgbClr val="1C1B19"/>
                </a:solidFill>
                <a:latin typeface="Source Serif 4"/>
              </a:rPr>
              <a:t>In the same study, people whose self-control improved over time did better as adults than their childhood scores predicted.</a:t>
            </a:r>
          </a:p>
          <a:p>
            <a:pPr algn="l">
              <a:spcAft>
                <a:spcPts val="585"/>
              </a:spcAft>
            </a:pPr>
            <a:r>
              <a:rPr sz="1050" b="0" i="0">
                <a:solidFill>
                  <a:srgbClr val="5D5A54"/>
                </a:solidFill>
                <a:latin typeface="Inter Tight"/>
              </a:rPr>
              <a:t>Moffitt et al., PNAS, 2011</a:t>
            </a:r>
          </a:p>
          <a:p>
            <a:pPr algn="l">
              <a:spcAft>
                <a:spcPts val="585"/>
              </a:spcAft>
            </a:pPr>
            <a:r>
              <a:rPr sz="1300" b="0" i="0">
                <a:solidFill>
                  <a:srgbClr val="1C1B19"/>
                </a:solidFill>
                <a:latin typeface="Source Serif 4"/>
              </a:rPr>
              <a:t>Heavy media multitaskers were worse at filtering out distractions and slower at switching tasks than light multitaskers. Later studies haven't all found the same thing; the cost of switching tasks is well established.</a:t>
            </a:r>
          </a:p>
          <a:p>
            <a:pPr algn="l">
              <a:spcAft>
                <a:spcPts val="585"/>
              </a:spcAft>
            </a:pPr>
            <a:r>
              <a:rPr sz="1050" b="0" i="0">
                <a:solidFill>
                  <a:srgbClr val="5D5A54"/>
                </a:solidFill>
                <a:latin typeface="Inter Tight"/>
              </a:rPr>
              <a:t>Ophir, Nass and Wagner, PNAS, 2009 (Stanford)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