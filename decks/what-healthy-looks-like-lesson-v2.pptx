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"Most of what you hear about mental health is about what's wrong. Today's question is different: what does healthy actually look like, up close?"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Give two minutes to write. Then ask for hands: "Whose stop list came faster?" Most hands go up. Say: "That's normal, and it's part of today's point. It's hard to steer toward something you can't picture."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Draw two crossing lines on the board: symptoms on one, well-being on the other, making four boxes. This is Corey Keyes's two-continua model. Flourishing isn't happy all the time; it's mostly engaged. In his youth study, flourishing was most common at 12 to 14, and by 15 to 18 "moderately healthy" had overtaken it. High school is when well-being starts to need attention on purpose. Make sure students with a diagnosis hear the "coping and growing" box clearly.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Tell it as a story; if you ride, run or drive, use your own. The 1994 driving study found where drivers looked came first and steering followed. Ask: "If all you can picture is what you're avoiding, where do you end up steering?" Point back to the stop list from the quick write.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Flexibility is central to health; rigid is the risk, not sad. People who can tell feelings apart are less likely to turn to binge drinking, aggression or self-harm when upset, because precise words point to precise fixes. Self-compassion: 19 studies of 7,049 young people, a strong link, not proof of cause. Add the window of tolerance: above it you're racing and snapping, below it you're numb, inside it you feel it and can still choose. Healthy is a range, not a spot. Quick pair-share: "Which of these four comes easiest to you? Which is hardest?"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Students take one item from their stop list and rewrite it as a trail on a card. Tips: make the picture boring ("I'd eat breakfast before I check my phone"), take small turns, and if you miss a turn, turn again; no need to start over. A few volunteers share.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IN PAIRS, THEN SHARE. Lena: "Mostly. Can we talk about what happened?" That's repair. Omar: it depends on him. If it works for him and he has some say, it's a gate he chose; families draw these lines differently. Chloe: that could be languishing. One small step toward purpose or connection, and a counselor if it sticks around. You: offer to study together instead. Build a gate, not a wall: you decide who comes in and when.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Students keep the card or hand it in, their choice. Share the take-home link on the slide. It has the two scales, the window of tolerance, the rock-to-trail tool, and who to talk to if things feel heavy, including 988 any 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Does Healthy Look Like?</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that mental health and mental illness are two separate scales, what healthy minds tend to do, and how to steer toward a goal instead of away from a problem. Keep it practical rather than preachy, and if a student says they feel hopeless, unsafe at home, or have thoughts of not wanting to be here, walk them to a counselor that day.</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Families differ in how loud, close, private or family-first they are, and none of those is automatically healthier; some students also live with a diagnosis, and they can build real well-being too.</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Two scales (5), look where you want to go (4), rock to trail (6), exit card (5). Share the take-home link so students get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DOES HEALTHY LOOK LIKE?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371600"/>
            <a:ext cx="10515600" cy="2377440"/>
          </a:xfrm>
          <a:prstGeom prst="rect">
            <a:avLst/>
          </a:prstGeom>
          <a:noFill/>
        </p:spPr>
        <p:txBody>
          <a:bodyPr wrap="square" anchor="b" lIns="0" rIns="0" tIns="0" bIns="0">
            <a:spAutoFit/>
          </a:bodyPr>
          <a:lstStyle/>
          <a:p>
            <a:pPr algn="l">
              <a:spcAft>
                <a:spcPts val="2430"/>
              </a:spcAft>
            </a:pPr>
            <a:r>
              <a:rPr sz="5400" b="1" i="0">
                <a:solidFill>
                  <a:srgbClr val="FFFFFF"/>
                </a:solidFill>
                <a:latin typeface="Source Serif 4"/>
              </a:rPr>
              <a:t>What Does Healthy Look Like?</a:t>
            </a:r>
          </a:p>
        </p:txBody>
      </p:sp>
      <p:sp>
        <p:nvSpPr>
          <p:cNvPr id="6" name="TextBox 5"/>
          <p:cNvSpPr txBox="1"/>
          <p:nvPr/>
        </p:nvSpPr>
        <p:spPr>
          <a:xfrm>
            <a:off x="822960" y="393192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Most advice is about what to stop. This is about what to aim for.</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QUICK WRITE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Write three things to stop. Then one you want more of.</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Private. Notice which list was easier.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TWO SCALES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Mental health and mental illness aren't one line.</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LOW SYMPTOMS</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Flourishing: purpose, belonging, growing</a:t>
            </a:r>
          </a:p>
          <a:p>
            <a:pPr algn="l">
              <a:spcAft>
                <a:spcPts val="855"/>
              </a:spcAft>
            </a:pPr>
            <a:r>
              <a:rPr sz="1900" b="0" i="0">
                <a:solidFill>
                  <a:srgbClr val="1C1B19"/>
                </a:solidFill>
                <a:latin typeface="Source Serif 4"/>
              </a:rPr>
              <a:t>Languishing: no diagnosis, life feels hollow</a:t>
            </a:r>
          </a:p>
          <a:p>
            <a:pPr algn="l">
              <a:spcAft>
                <a:spcPts val="855"/>
              </a:spcAft>
            </a:pPr>
            <a:r>
              <a:rPr sz="1900" b="0" i="0">
                <a:solidFill>
                  <a:srgbClr val="1C1B19"/>
                </a:solidFill>
                <a:latin typeface="Source Serif 4"/>
              </a:rPr>
              <a:t>Languishing raised depression risk nearly 6x</a:t>
            </a:r>
          </a:p>
          <a:p>
            <a:pPr algn="l">
              <a:spcAft>
                <a:spcPts val="855"/>
              </a:spcAft>
            </a:pPr>
            <a:r>
              <a:rPr sz="1900" b="0" i="0">
                <a:solidFill>
                  <a:srgbClr val="1C1B19"/>
                </a:solidFill>
                <a:latin typeface="Source Serif 4"/>
              </a:rPr>
              <a:t>"Fine" can still feel flat</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HIGH SYMPTOMS</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Coping and growing: a diagnosis and a good life</a:t>
            </a:r>
          </a:p>
          <a:p>
            <a:pPr algn="l">
              <a:spcAft>
                <a:spcPts val="855"/>
              </a:spcAft>
            </a:pPr>
            <a:r>
              <a:rPr sz="1900" b="0" i="0">
                <a:solidFill>
                  <a:srgbClr val="1C1B19"/>
                </a:solidFill>
                <a:latin typeface="Source Serif 4"/>
              </a:rPr>
              <a:t>Struggling: symptoms high, life feels low</a:t>
            </a:r>
          </a:p>
          <a:p>
            <a:pPr algn="l">
              <a:spcAft>
                <a:spcPts val="855"/>
              </a:spcAft>
            </a:pPr>
            <a:r>
              <a:rPr sz="1900" b="0" i="0">
                <a:solidFill>
                  <a:srgbClr val="1C1B19"/>
                </a:solidFill>
                <a:latin typeface="Source Serif 4"/>
              </a:rPr>
              <a:t>Treatment and well-being aren't either-or</a:t>
            </a:r>
          </a:p>
          <a:p>
            <a:pPr algn="l">
              <a:spcAft>
                <a:spcPts val="855"/>
              </a:spcAft>
            </a:pPr>
            <a:r>
              <a:rPr sz="1900" b="0" i="0">
                <a:solidFill>
                  <a:srgbClr val="1C1B19"/>
                </a:solidFill>
                <a:latin typeface="Source Serif 4"/>
              </a:rPr>
              <a:t>Struggling is the clearest signal to get support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LOOK WHERE YOU WANT TO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Stare at the rock and you hit it.</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Mountain bikers look at the line they want, and the bike follows. Drivers look at a curve one to two seconds before they steer into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HEALTHY MINDS TEND TO DO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It looks more ordinary than you'd think.</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They bend.</a:t>
            </a:r>
          </a:p>
          <a:p>
            <a:pPr algn="l">
              <a:spcAft>
                <a:spcPts val="945"/>
              </a:spcAft>
            </a:pPr>
            <a:r>
              <a:rPr sz="1600" b="0" i="0">
                <a:solidFill>
                  <a:srgbClr val="5D5A54"/>
                </a:solidFill>
                <a:latin typeface="Source Serif 4"/>
              </a:rPr>
              <a:t>Switch strategies when one stops working.</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They name feelings precisely.</a:t>
            </a:r>
          </a:p>
          <a:p>
            <a:pPr algn="l">
              <a:spcAft>
                <a:spcPts val="945"/>
              </a:spcAft>
            </a:pPr>
            <a:r>
              <a:rPr sz="1600" b="0" i="0">
                <a:solidFill>
                  <a:srgbClr val="5D5A54"/>
                </a:solidFill>
                <a:latin typeface="Source Serif 4"/>
              </a:rPr>
              <a:t>Disappointed, embarrassed, resentful.</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They talk to themselves like a friend would.</a:t>
            </a:r>
          </a:p>
          <a:p>
            <a:pPr algn="l">
              <a:spcAft>
                <a:spcPts val="945"/>
              </a:spcAft>
            </a:pPr>
            <a:r>
              <a:rPr sz="1600" b="0" i="0">
                <a:solidFill>
                  <a:srgbClr val="5D5A54"/>
                </a:solidFill>
                <a:latin typeface="Source Serif 4"/>
              </a:rPr>
              <a:t>Self-compassion tracks with less anxiety and stress.</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They repair.</a:t>
            </a:r>
          </a:p>
          <a:p>
            <a:pPr algn="l">
              <a:spcAft>
                <a:spcPts val="945"/>
              </a:spcAft>
            </a:pPr>
            <a:r>
              <a:rPr sz="1600" b="0" i="0">
                <a:solidFill>
                  <a:srgbClr val="5D5A54"/>
                </a:solidFill>
                <a:latin typeface="Source Serif 4"/>
              </a:rPr>
              <a:t>Healthy friends fight, then go back and fix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ROCK TO TRAIL</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Turn "stop doing that" into "try this."</a:t>
            </a:r>
          </a:p>
        </p:txBody>
      </p:sp>
      <p:sp>
        <p:nvSpPr>
          <p:cNvPr id="6" name="TextBox 5"/>
          <p:cNvSpPr txBox="1"/>
          <p:nvPr/>
        </p:nvSpPr>
        <p:spPr>
          <a:xfrm>
            <a:off x="822960" y="219456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"Stop procrastinating."</a:t>
            </a:r>
          </a:p>
          <a:p>
            <a:pPr algn="l">
              <a:spcAft>
                <a:spcPts val="945"/>
              </a:spcAft>
            </a:pPr>
            <a:r>
              <a:rPr sz="1600" b="0" i="0">
                <a:solidFill>
                  <a:srgbClr val="5D5A54"/>
                </a:solidFill>
                <a:latin typeface="Source Serif 4"/>
              </a:rPr>
              <a:t>Start each assignment for five minutes the day I get it.</a:t>
            </a:r>
          </a:p>
        </p:txBody>
      </p:sp>
      <p:sp>
        <p:nvSpPr>
          <p:cNvPr id="8" name="TextBox 7"/>
          <p:cNvSpPr txBox="1"/>
          <p:nvPr/>
        </p:nvSpPr>
        <p:spPr>
          <a:xfrm>
            <a:off x="822960" y="324612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8269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"Stop worrying so much."</a:t>
            </a:r>
          </a:p>
          <a:p>
            <a:pPr algn="l">
              <a:spcAft>
                <a:spcPts val="945"/>
              </a:spcAft>
            </a:pPr>
            <a:r>
              <a:rPr sz="1600" b="0" i="0">
                <a:solidFill>
                  <a:srgbClr val="5D5A54"/>
                </a:solidFill>
                <a:latin typeface="Source Serif 4"/>
              </a:rPr>
              <a:t>Do one thing today that worry tells me not to.</a:t>
            </a:r>
          </a:p>
        </p:txBody>
      </p:sp>
      <p:sp>
        <p:nvSpPr>
          <p:cNvPr id="10" name="TextBox 9"/>
          <p:cNvSpPr txBox="1"/>
          <p:nvPr/>
        </p:nvSpPr>
        <p:spPr>
          <a:xfrm>
            <a:off x="822960" y="4297679"/>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334255"/>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"Stop hanging out with people who drain me."</a:t>
            </a:r>
          </a:p>
          <a:p>
            <a:pPr algn="l">
              <a:spcAft>
                <a:spcPts val="945"/>
              </a:spcAft>
            </a:pPr>
            <a:r>
              <a:rPr sz="1600" b="0" i="0">
                <a:solidFill>
                  <a:srgbClr val="5D5A54"/>
                </a:solidFill>
                <a:latin typeface="Source Serif 4"/>
              </a:rPr>
              <a:t>Notice who feels steady, and spend more time there.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FOUR SITUATIONS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What's the healthy move?</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Lena.</a:t>
            </a:r>
          </a:p>
          <a:p>
            <a:pPr algn="l">
              <a:spcAft>
                <a:spcPts val="945"/>
              </a:spcAft>
            </a:pPr>
            <a:r>
              <a:rPr sz="1600" b="0" i="0">
                <a:solidFill>
                  <a:srgbClr val="5D5A54"/>
                </a:solidFill>
                <a:latin typeface="Source Serif 4"/>
              </a:rPr>
              <a:t>Argued with a friend. Today: "we good?" She's still annoyed.</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Omar.</a:t>
            </a:r>
          </a:p>
          <a:p>
            <a:pPr algn="l">
              <a:spcAft>
                <a:spcPts val="945"/>
              </a:spcAft>
            </a:pPr>
            <a:r>
              <a:rPr sz="1600" b="0" i="0">
                <a:solidFill>
                  <a:srgbClr val="5D5A54"/>
                </a:solidFill>
                <a:latin typeface="Source Serif 4"/>
              </a:rPr>
              <a:t>His family expects him home for dinner most nights. Friends tease him.</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Chloe.</a:t>
            </a:r>
          </a:p>
          <a:p>
            <a:pPr algn="l">
              <a:spcAft>
                <a:spcPts val="945"/>
              </a:spcAft>
            </a:pPr>
            <a:r>
              <a:rPr sz="1600" b="0" i="0">
                <a:solidFill>
                  <a:srgbClr val="5D5A54"/>
                </a:solidFill>
                <a:latin typeface="Source Serif 4"/>
              </a:rPr>
              <a:t>Not sad, not anxious. Nothing feels interesting either.</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You.</a:t>
            </a:r>
          </a:p>
          <a:p>
            <a:pPr algn="l">
              <a:spcAft>
                <a:spcPts val="945"/>
              </a:spcAft>
            </a:pPr>
            <a:r>
              <a:rPr sz="1600" b="0" i="0">
                <a:solidFill>
                  <a:srgbClr val="5D5A54"/>
                </a:solidFill>
                <a:latin typeface="Source Serif 4"/>
              </a:rPr>
              <a:t>A friend keeps asking to copy your homework. You said no and feel selfish.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Describe one ordinary good day three months from now. Be specific.</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https://rmwtoolkit.github.io/bcds-toolkit/what-healthy-looks-like-high-school.html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Does Healthy Look Like?</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that mental health and mental illness sit on two separate scales, name what healthy minds tend to do (bend, name feelings precisely, talk to themselves like a friend, repair), and turn one "stop doing that" goal into a trail they can steer toward. Healthy looks different across families, and the lesson says so.</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for the rock-to-trail rewrite</a:t>
            </a:r>
          </a:p>
          <a:p>
            <a:pPr algn="l">
              <a:spcAft>
                <a:spcPts val="675"/>
              </a:spcAft>
            </a:pPr>
            <a:r>
              <a:rPr sz="1500" b="0" i="0">
                <a:solidFill>
                  <a:srgbClr val="1C1B19"/>
                </a:solidFill>
                <a:latin typeface="Source Serif 4"/>
              </a:rPr>
              <a:t>Board space for the two scales</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What are you aiming for? (quick write)</a:t>
            </a:r>
          </a:p>
          <a:p>
            <a:pPr algn="l">
              <a:spcAft>
                <a:spcPts val="630"/>
              </a:spcAft>
            </a:pPr>
            <a:r>
              <a:rPr sz="1300" b="1" i="0">
                <a:solidFill>
                  <a:srgbClr val="F47B20"/>
                </a:solidFill>
                <a:latin typeface="Inter Tight"/>
              </a:rPr>
              <a:t>8 min   </a:t>
            </a:r>
            <a:r>
              <a:rPr sz="1400" b="0" i="0">
                <a:solidFill>
                  <a:srgbClr val="1C1B19"/>
                </a:solidFill>
                <a:latin typeface="Source Serif 4"/>
              </a:rPr>
              <a:t>Two scales, not one</a:t>
            </a:r>
          </a:p>
          <a:p>
            <a:pPr algn="l">
              <a:spcAft>
                <a:spcPts val="630"/>
              </a:spcAft>
            </a:pPr>
            <a:r>
              <a:rPr sz="1300" b="1" i="0">
                <a:solidFill>
                  <a:srgbClr val="F47B20"/>
                </a:solidFill>
                <a:latin typeface="Inter Tight"/>
              </a:rPr>
              <a:t>5 min   </a:t>
            </a:r>
            <a:r>
              <a:rPr sz="1400" b="0" i="0">
                <a:solidFill>
                  <a:srgbClr val="1C1B19"/>
                </a:solidFill>
                <a:latin typeface="Source Serif 4"/>
              </a:rPr>
              <a:t>Look where you want to go</a:t>
            </a:r>
          </a:p>
          <a:p>
            <a:pPr algn="l">
              <a:spcAft>
                <a:spcPts val="630"/>
              </a:spcAft>
            </a:pPr>
            <a:r>
              <a:rPr sz="1300" b="1" i="0">
                <a:solidFill>
                  <a:srgbClr val="F47B20"/>
                </a:solidFill>
                <a:latin typeface="Inter Tight"/>
              </a:rPr>
              <a:t>7 min   </a:t>
            </a:r>
            <a:r>
              <a:rPr sz="1400" b="0" i="0">
                <a:solidFill>
                  <a:srgbClr val="1C1B19"/>
                </a:solidFill>
                <a:latin typeface="Source Serif 4"/>
              </a:rPr>
              <a:t>What healthy minds tend to do</a:t>
            </a:r>
          </a:p>
          <a:p>
            <a:pPr algn="l">
              <a:spcAft>
                <a:spcPts val="630"/>
              </a:spcAft>
            </a:pPr>
            <a:r>
              <a:rPr sz="1300" b="1" i="0">
                <a:solidFill>
                  <a:srgbClr val="F47B20"/>
                </a:solidFill>
                <a:latin typeface="Inter Tight"/>
              </a:rPr>
              <a:t>7 min   </a:t>
            </a:r>
            <a:r>
              <a:rPr sz="1400" b="0" i="0">
                <a:solidFill>
                  <a:srgbClr val="1C1B19"/>
                </a:solidFill>
                <a:latin typeface="Source Serif 4"/>
              </a:rPr>
              <a:t>Rock to trail (rewrite one goal)</a:t>
            </a:r>
          </a:p>
          <a:p>
            <a:pPr algn="l">
              <a:spcAft>
                <a:spcPts val="630"/>
              </a:spcAft>
            </a:pPr>
            <a:r>
              <a:rPr sz="1300" b="1" i="0">
                <a:solidFill>
                  <a:srgbClr val="F47B20"/>
                </a:solidFill>
                <a:latin typeface="Inter Tight"/>
              </a:rPr>
              <a:t>8 min   </a:t>
            </a:r>
            <a:r>
              <a:rPr sz="1400" b="0" i="0">
                <a:solidFill>
                  <a:srgbClr val="1C1B19"/>
                </a:solidFill>
                <a:latin typeface="Source Serif 4"/>
              </a:rPr>
              <a:t>Four situations (pairs)</a:t>
            </a:r>
          </a:p>
          <a:p>
            <a:pPr algn="l">
              <a:spcAft>
                <a:spcPts val="630"/>
              </a:spcAft>
            </a:pPr>
            <a:r>
              <a:rPr sz="1300" b="1" i="0">
                <a:solidFill>
                  <a:srgbClr val="F47B20"/>
                </a:solidFill>
                <a:latin typeface="Inter Tight"/>
              </a:rPr>
              <a:t>5 min   </a:t>
            </a:r>
            <a:r>
              <a:rPr sz="1400" b="0" i="0">
                <a:solidFill>
                  <a:srgbClr val="1C1B19"/>
                </a:solidFill>
                <a:latin typeface="Source Serif 4"/>
              </a:rPr>
              <a:t>Exit card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Two scales (5), look where you want to go (4), rock to trail (6), exit card (5). Share the take-home link so students get the rest.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Students with a diagnosis are in the room.</a:t>
            </a:r>
          </a:p>
          <a:p>
            <a:pPr algn="l">
              <a:spcAft>
                <a:spcPts val="585"/>
              </a:spcAft>
            </a:pPr>
            <a:r>
              <a:rPr sz="1300" b="0" i="0">
                <a:solidFill>
                  <a:srgbClr val="1C1B19"/>
                </a:solidFill>
                <a:latin typeface="Source Serif 4"/>
              </a:rPr>
              <a:t>Say clearly that a student can have anxiety, depression or ADHD and still build real well-being. Treatment and a good life aren't either-or. The "coping and growing" quadrant is for them.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make "healthy" a new standard to fail.</a:t>
            </a:r>
          </a:p>
          <a:p>
            <a:pPr algn="l">
              <a:spcAft>
                <a:spcPts val="585"/>
              </a:spcAft>
            </a:pPr>
            <a:r>
              <a:rPr sz="1300" b="0" i="0">
                <a:solidFill>
                  <a:srgbClr val="1C1B19"/>
                </a:solidFill>
                <a:latin typeface="Source Serif 4"/>
              </a:rPr>
              <a:t>Healthy people feel the full range: sad, mad, worried. They come back to the window sooner. Keep the tone practical so nobody leaves feeling graded.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Languishing may land.</a:t>
            </a:r>
          </a:p>
          <a:p>
            <a:pPr algn="l">
              <a:spcAft>
                <a:spcPts val="585"/>
              </a:spcAft>
            </a:pPr>
            <a:r>
              <a:rPr sz="1300" b="0" i="0">
                <a:solidFill>
                  <a:srgbClr val="1C1B19"/>
                </a:solidFill>
                <a:latin typeface="Source Serif 4"/>
              </a:rPr>
              <a:t>Some students will recognize "no diagnosis, but life feels hollow." That's useful. Offer one small step and a counselor for anyone who wants to talk it through.</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If calm feels strange.</a:t>
            </a:r>
          </a:p>
          <a:p>
            <a:pPr algn="l">
              <a:spcAft>
                <a:spcPts val="585"/>
              </a:spcAft>
            </a:pPr>
            <a:r>
              <a:rPr sz="1300" b="0" i="0">
                <a:solidFill>
                  <a:srgbClr val="1C1B19"/>
                </a:solidFill>
                <a:latin typeface="Source Serif 4"/>
              </a:rPr>
              <a:t>Students from loud or tense homes may find a calm relationship unfamiliar. Say it out loud: strange isn't the same as unsafe.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Know when it's heavier.</a:t>
            </a:r>
          </a:p>
          <a:p>
            <a:pPr algn="l">
              <a:spcAft>
                <a:spcPts val="585"/>
              </a:spcAft>
            </a:pPr>
            <a:r>
              <a:rPr sz="1300" b="0" i="0">
                <a:solidFill>
                  <a:srgbClr val="1C1B19"/>
                </a:solidFill>
                <a:latin typeface="Source Serif 4"/>
              </a:rPr>
              <a:t>Hopelessness, feeling unsafe at home or with a friend or partner, or thoughts of not wanting to be here: walk the student to a counselor that day. 988 is there any time.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Let the bike analogy breathe.</a:t>
            </a:r>
          </a:p>
          <a:p>
            <a:pPr algn="l">
              <a:spcAft>
                <a:spcPts val="585"/>
              </a:spcAft>
            </a:pPr>
            <a:r>
              <a:rPr sz="1300" b="0" i="0">
                <a:solidFill>
                  <a:srgbClr val="1C1B19"/>
                </a:solidFill>
                <a:latin typeface="Source Serif 4"/>
              </a:rPr>
              <a:t>If you ride, run or drive, tell your own version of looking at the rock and hitting it. Students remember the story better than the study.</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Family styles differ.</a:t>
            </a:r>
          </a:p>
          <a:p>
            <a:pPr algn="l">
              <a:spcAft>
                <a:spcPts val="585"/>
              </a:spcAft>
            </a:pPr>
            <a:r>
              <a:rPr sz="1300" b="0" i="0">
                <a:solidFill>
                  <a:srgbClr val="1C1B19"/>
                </a:solidFill>
                <a:latin typeface="Source Serif 4"/>
              </a:rPr>
              <a:t>Families differ in how much they share, how loud disagreements get, how much privacy is normal and how much family comes first. The test that works anywhere: can people disagree and stay connected?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Family-first is a gate, too.</a:t>
            </a:r>
          </a:p>
          <a:p>
            <a:pPr algn="l">
              <a:spcAft>
                <a:spcPts val="585"/>
              </a:spcAft>
            </a:pPr>
            <a:r>
              <a:rPr sz="1300" b="0" i="0">
                <a:solidFill>
                  <a:srgbClr val="1C1B19"/>
                </a:solidFill>
                <a:latin typeface="Source Serif 4"/>
              </a:rPr>
              <a:t>Omar's card is there on purpose. Being home for dinner most nights can be a boundary a student chooses. Don't let the class call it unhealthy because it's different from their own family.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Diagnosis and disability.</a:t>
            </a:r>
          </a:p>
          <a:p>
            <a:pPr algn="l">
              <a:spcAft>
                <a:spcPts val="585"/>
              </a:spcAft>
            </a:pPr>
            <a:r>
              <a:rPr sz="1300" b="0" i="0">
                <a:solidFill>
                  <a:srgbClr val="1C1B19"/>
                </a:solidFill>
                <a:latin typeface="Source Serif 4"/>
              </a:rPr>
              <a:t>Neurodivergent students and students with mental health diagnoses should see themselves in "coping and growing." Avoid any picture of healthy that means "no condition."</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Borrowed pictures.</a:t>
            </a:r>
          </a:p>
          <a:p>
            <a:pPr algn="l">
              <a:spcAft>
                <a:spcPts val="585"/>
              </a:spcAft>
            </a:pPr>
            <a:r>
              <a:rPr sz="1300" b="0" i="0">
                <a:solidFill>
                  <a:srgbClr val="1C1B19"/>
                </a:solidFill>
                <a:latin typeface="Source Serif 4"/>
              </a:rPr>
              <a:t>"Think of someone who handles hard moments well" might be a grandparent, coach, faith leader, older sibling or friend. Let students pick from their own world.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Language for feelings.</a:t>
            </a:r>
          </a:p>
          <a:p>
            <a:pPr algn="l">
              <a:spcAft>
                <a:spcPts val="585"/>
              </a:spcAft>
            </a:pPr>
            <a:r>
              <a:rPr sz="1300" b="0" i="0">
                <a:solidFill>
                  <a:srgbClr val="1C1B19"/>
                </a:solidFill>
                <a:latin typeface="Source Serif 4"/>
              </a:rPr>
              <a:t>Some students have rich feeling words in a home language that English lacks. Invite them to use those; precise is what matters.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Money and stress.</a:t>
            </a:r>
          </a:p>
          <a:p>
            <a:pPr algn="l">
              <a:spcAft>
                <a:spcPts val="585"/>
              </a:spcAft>
            </a:pPr>
            <a:r>
              <a:rPr sz="1300" b="0" i="0">
                <a:solidFill>
                  <a:srgbClr val="1C1B19"/>
                </a:solidFill>
                <a:latin typeface="Source Serif 4"/>
              </a:rPr>
              <a:t>Students carrying real pressures, like money at home or caring for family, can still flourish, and their stress isn't a personal failing. Keep "small turns" realistic for them.</a:t>
            </a:r>
          </a:p>
          <a:p>
            <a:pPr algn="l">
              <a:spcAft>
                <a:spcPts val="585"/>
              </a:spcAft>
            </a:pPr>
            <a:r>
              <a:rPr sz="1300" b="0" i="0">
                <a:solidFill>
                  <a:srgbClr val="1C1B19"/>
                </a:solidFill>
                <a:latin typeface="Source Serif 4"/>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Mental illness and mental health are measured on two separate scales. Adults who were languishing were nearly six times as likely as flourishing adults to have a major depressive episode.</a:t>
            </a:r>
          </a:p>
          <a:p>
            <a:pPr algn="l">
              <a:spcAft>
                <a:spcPts val="585"/>
              </a:spcAft>
            </a:pPr>
            <a:r>
              <a:rPr sz="1050" b="0" i="0">
                <a:solidFill>
                  <a:srgbClr val="5D5A54"/>
                </a:solidFill>
                <a:latin typeface="Inter Tight"/>
              </a:rPr>
              <a:t>Keyes, Journal of Health and Social Behavior, 2002</a:t>
            </a:r>
          </a:p>
          <a:p>
            <a:pPr algn="l">
              <a:spcAft>
                <a:spcPts val="585"/>
              </a:spcAft>
            </a:pPr>
            <a:r>
              <a:rPr sz="1300" b="0" i="0">
                <a:solidFill>
                  <a:srgbClr val="1C1B19"/>
                </a:solidFill>
                <a:latin typeface="Source Serif 4"/>
              </a:rPr>
              <a:t>In a national sample of 1,234 youth, flourishing was the most common category for ages 12 to 14; by 15 to 18, "moderately healthy" had overtaken it.</a:t>
            </a:r>
          </a:p>
          <a:p>
            <a:pPr algn="l">
              <a:spcAft>
                <a:spcPts val="585"/>
              </a:spcAft>
            </a:pPr>
            <a:r>
              <a:rPr sz="1050" b="0" i="0">
                <a:solidFill>
                  <a:srgbClr val="5D5A54"/>
                </a:solidFill>
                <a:latin typeface="Inter Tight"/>
              </a:rPr>
              <a:t>Keyes, American Journal of Orthopsychiatry, 2006</a:t>
            </a:r>
          </a:p>
          <a:p>
            <a:pPr algn="l">
              <a:spcAft>
                <a:spcPts val="585"/>
              </a:spcAft>
            </a:pPr>
            <a:r>
              <a:rPr sz="1300" b="0" i="0">
                <a:solidFill>
                  <a:srgbClr val="1C1B19"/>
                </a:solidFill>
                <a:latin typeface="Source Serif 4"/>
              </a:rPr>
              <a:t>Drivers looked at a point on the inside of each curve one to two seconds before turning into it. Where they looked came first; steering followed.</a:t>
            </a:r>
          </a:p>
          <a:p>
            <a:pPr algn="l">
              <a:spcAft>
                <a:spcPts val="585"/>
              </a:spcAft>
            </a:pPr>
            <a:r>
              <a:rPr sz="1050" b="0" i="0">
                <a:solidFill>
                  <a:srgbClr val="5D5A54"/>
                </a:solidFill>
                <a:latin typeface="Inter Tight"/>
              </a:rPr>
              <a:t>Land and Lee, Nature, 1994</a:t>
            </a:r>
          </a:p>
          <a:p>
            <a:pPr algn="l">
              <a:spcAft>
                <a:spcPts val="585"/>
              </a:spcAft>
            </a:pPr>
            <a:r>
              <a:rPr sz="1300" b="0" i="0">
                <a:solidFill>
                  <a:srgbClr val="1C1B19"/>
                </a:solidFill>
                <a:latin typeface="Source Serif 4"/>
              </a:rPr>
              <a:t>Psychological flexibility, shifting strategies when one stops working and acting on values when it's uncomfortable, is central to health.</a:t>
            </a:r>
          </a:p>
          <a:p>
            <a:pPr algn="l">
              <a:spcAft>
                <a:spcPts val="585"/>
              </a:spcAft>
            </a:pPr>
            <a:r>
              <a:rPr sz="1050" b="0" i="0">
                <a:solidFill>
                  <a:srgbClr val="5D5A54"/>
                </a:solidFill>
                <a:latin typeface="Inter Tight"/>
              </a:rPr>
              <a:t>Kashdan and Rottenberg, Clinical Psychology Review, 2010</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People who can tell distinct negative feelings apart are less likely to turn to binge drinking, aggression or self-harm when upset.</a:t>
            </a:r>
          </a:p>
          <a:p>
            <a:pPr algn="l">
              <a:spcAft>
                <a:spcPts val="585"/>
              </a:spcAft>
            </a:pPr>
            <a:r>
              <a:rPr sz="1050" b="0" i="0">
                <a:solidFill>
                  <a:srgbClr val="5D5A54"/>
                </a:solidFill>
                <a:latin typeface="Inter Tight"/>
              </a:rPr>
              <a:t>Kashdan, Barrett and McKnight, Current Directions in Psychological Science, 2015</a:t>
            </a:r>
          </a:p>
          <a:p>
            <a:pPr algn="l">
              <a:spcAft>
                <a:spcPts val="585"/>
              </a:spcAft>
            </a:pPr>
            <a:r>
              <a:rPr sz="1300" b="0" i="0">
                <a:solidFill>
                  <a:srgbClr val="1C1B19"/>
                </a:solidFill>
                <a:latin typeface="Source Serif 4"/>
              </a:rPr>
              <a:t>Across 19 studies of 7,049 people ages 10 to 19, self-compassion was strongly linked with lower anxiety, depression and stress.</a:t>
            </a:r>
          </a:p>
          <a:p>
            <a:pPr algn="l">
              <a:spcAft>
                <a:spcPts val="585"/>
              </a:spcAft>
            </a:pPr>
            <a:r>
              <a:rPr sz="1050" b="0" i="0">
                <a:solidFill>
                  <a:srgbClr val="5D5A54"/>
                </a:solidFill>
                <a:latin typeface="Inter Tight"/>
              </a:rPr>
              <a:t>Marsh, Chan and MacBeth, Mindfulness, 2018</a:t>
            </a:r>
          </a:p>
          <a:p>
            <a:pPr algn="l">
              <a:spcAft>
                <a:spcPts val="585"/>
              </a:spcAft>
            </a:pPr>
            <a:r>
              <a:rPr sz="1300" b="0" i="0">
                <a:solidFill>
                  <a:srgbClr val="1C1B19"/>
                </a:solidFill>
                <a:latin typeface="Source Serif 4"/>
              </a:rPr>
              <a:t>The window of tolerance: the zone where you can feel something strongly and still think.</a:t>
            </a:r>
          </a:p>
          <a:p>
            <a:pPr algn="l">
              <a:spcAft>
                <a:spcPts val="585"/>
              </a:spcAft>
            </a:pPr>
            <a:r>
              <a:rPr sz="1050" b="0" i="0">
                <a:solidFill>
                  <a:srgbClr val="5D5A54"/>
                </a:solidFill>
                <a:latin typeface="Inter Tight"/>
              </a:rPr>
              <a:t>Siegel, The Developing Mind, 1999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