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Keep it light. Something like: "Today is about that pounding-heart feeling before a game or a test, what it's for, and how to tell when it's hanging around too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Movement is optional; anyone can just notice their pulse at the wrist or neck. After 30 seconds, ask for one word each: faster heart, breathing hard, warm, sweaty, awake. Then: "That's the same set of changes you get before a big test or a game. Your body doesn't really care which one it is. It's getting you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Walk through the pairs quickly. Ask: "Which of these do you notice first before something big?" The point is that each feeling has a job. Students who read butterflies as "something is wrong" often spiral; students who read them as "I'm getting ready" usually settle into the task faster.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4 minutes. Robert Sapolsky's zebra: the stress response is built for short bursts. A workout is the same: muscles are stressed, then get stronger during rest. Ask: "What's your recovery after a hard day?" (Music, a walk, a game, food, family, sleep.) Recovery is part of the deal, not a reward for finishing.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4 minutes. Yeager and colleagues (Nature, 2022) tested a 30-minute online lesson with thousands of high school and college students. Jamieson's GRE study: students told arousal helps did better on the real test months later. McEwen: the stress system protects us short term; harm comes from overuse and no recovery. Avoid the popular claim that stress only harms people who believe it does; that study was correlational.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write S (signal) or X (stuck on) for each card on their index card, then compare in pairs. Mia and Sam: signal, with recovery. Andre and Lena: stuck on, and neither caused it. Ask: "What would help Andre or Lena?" Steer toward people: a counselor, a trusted adult, a friend who notices, and adults changing things. Make the point that a pep talk about good stress wouldn't be fair to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circle one idea on their card: name it as fuel, spend the energy, flip the off switch, protect sleep, or tell someone. Share the student page link. Close with: "If your stress has been stuck on for a while, that's a good reason to talk to a counselor. You don't have to carry that kind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Stress Is a Signal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a pounding heart is the body getting ready, and how to tell stress that settles from stress that stays stuck on. Bring index cards, and keep it general: nobody shares their own stress, and if something heavy comes up, thank the student and let a counselor know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Keep the movement optional, and when the Andre and Lena cards come up, say plainly that stress from money, home, or racism is something that happens to people, not a sign they cope badly.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STRESS IS A SIGNAL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Stress Is a Signal</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Your body is getting you ready. Here's how to use it.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FEEL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Thirty seconds. Jumping jacks, fast claps, or tap your feet. Then notice.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What changed? Heart, breathing, hands, face?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 THE SIGNAL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each change is for</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 FEEL</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Racing heart</a:t>
            </a:r>
          </a:p>
          <a:p>
            <a:pPr algn="l">
              <a:spcAft>
                <a:spcPts val="855"/>
              </a:spcAft>
            </a:pPr>
            <a:r>
              <a:rPr sz="1900" b="0" i="0">
                <a:solidFill>
                  <a:srgbClr val="1C1B19"/>
                </a:solidFill>
                <a:latin typeface="Source Serif 4"/>
              </a:rPr>
              <a:t>Fast breathing</a:t>
            </a:r>
          </a:p>
          <a:p>
            <a:pPr algn="l">
              <a:spcAft>
                <a:spcPts val="855"/>
              </a:spcAft>
            </a:pPr>
            <a:r>
              <a:rPr sz="1900" b="0" i="0">
                <a:solidFill>
                  <a:srgbClr val="1C1B19"/>
                </a:solidFill>
                <a:latin typeface="Source Serif 4"/>
              </a:rPr>
              <a:t>Butterflies</a:t>
            </a:r>
          </a:p>
          <a:p>
            <a:pPr algn="l">
              <a:spcAft>
                <a:spcPts val="855"/>
              </a:spcAft>
            </a:pPr>
            <a:r>
              <a:rPr sz="1900" b="0" i="0">
                <a:solidFill>
                  <a:srgbClr val="1C1B19"/>
                </a:solidFill>
                <a:latin typeface="Source Serif 4"/>
              </a:rPr>
              <a:t>Sweaty hands</a:t>
            </a:r>
          </a:p>
          <a:p>
            <a:pPr algn="l">
              <a:spcAft>
                <a:spcPts val="855"/>
              </a:spcAft>
            </a:pPr>
            <a:r>
              <a:rPr sz="1900" b="0" i="0">
                <a:solidFill>
                  <a:srgbClr val="1C1B19"/>
                </a:solidFill>
                <a:latin typeface="Source Serif 4"/>
              </a:rPr>
              <a:t>Laser focus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 BODY IS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Sending blood to muscles and brain</a:t>
            </a:r>
          </a:p>
          <a:p>
            <a:pPr algn="l">
              <a:spcAft>
                <a:spcPts val="855"/>
              </a:spcAft>
            </a:pPr>
            <a:r>
              <a:rPr sz="1900" b="0" i="0">
                <a:solidFill>
                  <a:srgbClr val="1C1B19"/>
                </a:solidFill>
                <a:latin typeface="Source Serif 4"/>
              </a:rPr>
              <a:t>Taking in more oxygen</a:t>
            </a:r>
          </a:p>
          <a:p>
            <a:pPr algn="l">
              <a:spcAft>
                <a:spcPts val="855"/>
              </a:spcAft>
            </a:pPr>
            <a:r>
              <a:rPr sz="1900" b="0" i="0">
                <a:solidFill>
                  <a:srgbClr val="1C1B19"/>
                </a:solidFill>
                <a:latin typeface="Source Serif 4"/>
              </a:rPr>
              <a:t>Moving blood away from your stomach</a:t>
            </a:r>
          </a:p>
          <a:p>
            <a:pPr algn="l">
              <a:spcAft>
                <a:spcPts val="855"/>
              </a:spcAft>
            </a:pPr>
            <a:r>
              <a:rPr sz="1900" b="0" i="0">
                <a:solidFill>
                  <a:srgbClr val="1C1B19"/>
                </a:solidFill>
                <a:latin typeface="Source Serif 4"/>
              </a:rPr>
              <a:t>Turning the cooling system on early</a:t>
            </a:r>
          </a:p>
          <a:p>
            <a:pPr algn="l">
              <a:spcAft>
                <a:spcPts val="855"/>
              </a:spcAft>
            </a:pPr>
            <a:r>
              <a:rPr sz="1900" b="0" i="0">
                <a:solidFill>
                  <a:srgbClr val="1C1B19"/>
                </a:solidFill>
                <a:latin typeface="Source Serif 4"/>
              </a:rPr>
              <a:t>Zooming in on what matters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BUILT TO SWITCH OFF</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Signal, effort, recovery</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Challenge</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Signal</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Effort</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Recovery</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you're stronger for the next one</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A zebra runs from a lion for three minutes, then goes back to grazing.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Yeager et al., 2022  ·  Jamieson et al., 2010, 2012  ·  McEwen, 1998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How you read the signal matters, a little.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Teens who learned a racing heart can fuel them had steadier bodies under pressure.</a:t>
            </a:r>
          </a:p>
          <a:p>
            <a:pPr algn="l">
              <a:spcAft>
                <a:spcPts val="855"/>
              </a:spcAft>
            </a:pPr>
            <a:r>
              <a:rPr sz="1900" b="0" i="0">
                <a:solidFill>
                  <a:srgbClr val="1C1B19"/>
                </a:solidFill>
                <a:latin typeface="Source Serif 4"/>
              </a:rPr>
              <a:t>•  Less anxiety and better grades, in several studies.</a:t>
            </a:r>
          </a:p>
          <a:p>
            <a:pPr algn="l">
              <a:spcAft>
                <a:spcPts val="855"/>
              </a:spcAft>
            </a:pPr>
            <a:r>
              <a:rPr sz="1900" b="0" i="0">
                <a:solidFill>
                  <a:srgbClr val="1C1B19"/>
                </a:solidFill>
                <a:latin typeface="Source Serif 4"/>
              </a:rPr>
              <a:t>•  The pounding didn't stop. They read it differently.</a:t>
            </a:r>
          </a:p>
          <a:p>
            <a:pPr algn="l">
              <a:spcAft>
                <a:spcPts val="855"/>
              </a:spcAft>
            </a:pPr>
            <a:r>
              <a:rPr sz="1900" b="0" i="0">
                <a:solidFill>
                  <a:srgbClr val="1C1B19"/>
                </a:solidFill>
                <a:latin typeface="Source Serif 4"/>
              </a:rPr>
              <a:t>•  Stress that never shuts off is what wears the body down.</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Say it straight: this is a real boost, not a magic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SIGNAL OR STUCK 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is which?</a:t>
            </a:r>
          </a:p>
        </p:txBody>
      </p:sp>
      <p:sp>
        <p:nvSpPr>
          <p:cNvPr id="6" name="Rectangle 5"/>
          <p:cNvSpPr/>
          <p:nvPr/>
        </p:nvSpPr>
        <p:spPr>
          <a:xfrm>
            <a:off x="82296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MIA</a:t>
            </a:r>
          </a:p>
        </p:txBody>
      </p:sp>
      <p:sp>
        <p:nvSpPr>
          <p:cNvPr id="8" name="TextBox 7"/>
          <p:cNvSpPr txBox="1"/>
          <p:nvPr/>
        </p:nvSpPr>
        <p:spPr>
          <a:xfrm>
            <a:off x="105156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Heart pounding in the hallway before her solo. After the concert she's wiped out and happy.</a:t>
            </a:r>
          </a:p>
        </p:txBody>
      </p:sp>
      <p:sp>
        <p:nvSpPr>
          <p:cNvPr id="9" name="Rectangle 8"/>
          <p:cNvSpPr/>
          <p:nvPr/>
        </p:nvSpPr>
        <p:spPr>
          <a:xfrm>
            <a:off x="3520439"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39"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ANDRE</a:t>
            </a:r>
          </a:p>
        </p:txBody>
      </p:sp>
      <p:sp>
        <p:nvSpPr>
          <p:cNvPr id="11" name="TextBox 10"/>
          <p:cNvSpPr txBox="1"/>
          <p:nvPr/>
        </p:nvSpPr>
        <p:spPr>
          <a:xfrm>
            <a:off x="3749039"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Hasn't slept well in a month. His family might have to move, and he thinks about it all through class.</a:t>
            </a:r>
          </a:p>
        </p:txBody>
      </p:sp>
      <p:sp>
        <p:nvSpPr>
          <p:cNvPr id="12" name="Rectangle 11"/>
          <p:cNvSpPr/>
          <p:nvPr/>
        </p:nvSpPr>
        <p:spPr>
          <a:xfrm>
            <a:off x="621792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SAM</a:t>
            </a:r>
          </a:p>
        </p:txBody>
      </p:sp>
      <p:sp>
        <p:nvSpPr>
          <p:cNvPr id="14" name="TextBox 13"/>
          <p:cNvSpPr txBox="1"/>
          <p:nvPr/>
        </p:nvSpPr>
        <p:spPr>
          <a:xfrm>
            <a:off x="644652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Nervous all week about a big test. Once it's over, Sam sleeps nine hours.</a:t>
            </a:r>
          </a:p>
        </p:txBody>
      </p:sp>
      <p:sp>
        <p:nvSpPr>
          <p:cNvPr id="15" name="Rectangle 14"/>
          <p:cNvSpPr/>
          <p:nvPr/>
        </p:nvSpPr>
        <p:spPr>
          <a:xfrm>
            <a:off x="891540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LENA</a:t>
            </a:r>
          </a:p>
        </p:txBody>
      </p:sp>
      <p:sp>
        <p:nvSpPr>
          <p:cNvPr id="17" name="TextBox 16"/>
          <p:cNvSpPr txBox="1"/>
          <p:nvPr/>
        </p:nvSpPr>
        <p:spPr>
          <a:xfrm>
            <a:off x="914400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Gets comments about her accent most days. Her stomach hurts every morning before school.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Signal, or stuck on?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thing from the student page to try. Keep it to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https://rmwtoolkit.github.io/bcds-toolkit/stress-is-a-signal-high-school.html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Stress Is a Signal</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the stress response does for them, use one way to read a racing heart as fuel, and tell the difference between a stress signal that settles and stress that stays stuck on. Nobody is asked to share what's stressing them or how much.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board or chart paper with two columns: Signal and Stuck on</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Feel it: thirty seconds of movement, then notice</a:t>
            </a:r>
          </a:p>
          <a:p>
            <a:pPr algn="l">
              <a:spcAft>
                <a:spcPts val="630"/>
              </a:spcAft>
            </a:pPr>
            <a:r>
              <a:rPr sz="1300" b="1" i="0">
                <a:solidFill>
                  <a:srgbClr val="F47B20"/>
                </a:solidFill>
                <a:latin typeface="Inter Tight"/>
              </a:rPr>
              <a:t>4 min   </a:t>
            </a:r>
            <a:r>
              <a:rPr sz="1400" b="0" i="0">
                <a:solidFill>
                  <a:srgbClr val="1C1B19"/>
                </a:solidFill>
                <a:latin typeface="Source Serif 4"/>
              </a:rPr>
              <a:t>Read the signal: what each body change is for</a:t>
            </a:r>
          </a:p>
          <a:p>
            <a:pPr algn="l">
              <a:spcAft>
                <a:spcPts val="630"/>
              </a:spcAft>
            </a:pPr>
            <a:r>
              <a:rPr sz="1300" b="1" i="0">
                <a:solidFill>
                  <a:srgbClr val="F47B20"/>
                </a:solidFill>
                <a:latin typeface="Inter Tight"/>
              </a:rPr>
              <a:t>4 min   </a:t>
            </a:r>
            <a:r>
              <a:rPr sz="1400" b="0" i="0">
                <a:solidFill>
                  <a:srgbClr val="1C1B19"/>
                </a:solidFill>
                <a:latin typeface="Source Serif 4"/>
              </a:rPr>
              <a:t>Signal, effort, recovery, and the research</a:t>
            </a:r>
          </a:p>
          <a:p>
            <a:pPr algn="l">
              <a:spcAft>
                <a:spcPts val="630"/>
              </a:spcAft>
            </a:pPr>
            <a:r>
              <a:rPr sz="1300" b="1" i="0">
                <a:solidFill>
                  <a:srgbClr val="F47B20"/>
                </a:solidFill>
                <a:latin typeface="Inter Tight"/>
              </a:rPr>
              <a:t>5 min   </a:t>
            </a:r>
            <a:r>
              <a:rPr sz="1400" b="0" i="0">
                <a:solidFill>
                  <a:srgbClr val="1C1B19"/>
                </a:solidFill>
                <a:latin typeface="Source Serif 4"/>
              </a:rPr>
              <a:t>Signal or stuck on? (four cards)</a:t>
            </a:r>
          </a:p>
          <a:p>
            <a:pPr algn="l">
              <a:spcAft>
                <a:spcPts val="630"/>
              </a:spcAft>
            </a:pPr>
            <a:r>
              <a:rPr sz="1300" b="1" i="0">
                <a:solidFill>
                  <a:srgbClr val="F47B20"/>
                </a:solidFill>
                <a:latin typeface="Inter Tight"/>
              </a:rPr>
              <a:t>4 min   </a:t>
            </a:r>
            <a:r>
              <a:rPr sz="1400" b="0" i="0">
                <a:solidFill>
                  <a:srgbClr val="1C1B19"/>
                </a:solidFill>
                <a:latin typeface="Source Serif 4"/>
              </a:rPr>
              <a:t>Pick one,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Feel it (2), the Read the signal slide (3), Signal or stuck on with two of the cards (3), pick one and share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Lead with the good news, and keep it honest.</a:t>
            </a:r>
          </a:p>
          <a:p>
            <a:pPr algn="l">
              <a:spcAft>
                <a:spcPts val="585"/>
              </a:spcAft>
            </a:pPr>
            <a:r>
              <a:rPr sz="1300" b="0" i="0">
                <a:solidFill>
                  <a:srgbClr val="1C1B19"/>
                </a:solidFill>
                <a:latin typeface="Source Serif 4"/>
              </a:rPr>
              <a:t>Stress is necessary and the research backs that up: short bursts help focus and performance, and reading a racing heart as "getting ready" helps a little. Don't promise that a mindset makes stress harmless. The claim that stress only hurts people who believe it does goes beyond the evidence.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stress isn't a challenge.</a:t>
            </a:r>
          </a:p>
          <a:p>
            <a:pPr algn="l">
              <a:spcAft>
                <a:spcPts val="585"/>
              </a:spcAft>
            </a:pPr>
            <a:r>
              <a:rPr sz="1300" b="0" i="0">
                <a:solidFill>
                  <a:srgbClr val="1C1B19"/>
                </a:solidFill>
                <a:latin typeface="Source Serif 4"/>
              </a:rPr>
              <a:t>For a student dealing with money worries, a parent's illness, conflict at home, or racism, "stress is good for you" can land as "your problem is how you think about it." Say plainly that stress which stays on is a different thing, that it often comes from things students can't control, and that it's a reason to bring in adults, not to think harder.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cards invented.</a:t>
            </a:r>
          </a:p>
          <a:p>
            <a:pPr algn="l">
              <a:spcAft>
                <a:spcPts val="585"/>
              </a:spcAft>
            </a:pPr>
            <a:r>
              <a:rPr sz="1300" b="0" i="0">
                <a:solidFill>
                  <a:srgbClr val="1C1B19"/>
                </a:solidFill>
                <a:latin typeface="Source Serif 4"/>
              </a:rPr>
              <a:t>Use the scenario cards, not students' own stories. If a student starts describing something heavy, thank them, keep it brief in the group, and follow up privately.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for stuck on.</a:t>
            </a:r>
          </a:p>
          <a:p>
            <a:pPr algn="l">
              <a:spcAft>
                <a:spcPts val="585"/>
              </a:spcAft>
            </a:pPr>
            <a:r>
              <a:rPr sz="1300" b="0" i="0">
                <a:solidFill>
                  <a:srgbClr val="1C1B19"/>
                </a:solidFill>
                <a:latin typeface="Source Serif 4"/>
              </a:rPr>
              <a:t>Weeks of poor sleep, frequent headaches or stomachaches, pulling away, or using substances to come down are worth a quiet check-in after advisory and a same-day note to a counselor if it sounds serious. Disclosures go to a counselor. No screening questions in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Panic and anxiety disorders are their own thing.</a:t>
            </a:r>
          </a:p>
          <a:p>
            <a:pPr algn="l">
              <a:spcAft>
                <a:spcPts val="585"/>
              </a:spcAft>
            </a:pPr>
            <a:r>
              <a:rPr sz="1300" b="0" i="0">
                <a:solidFill>
                  <a:srgbClr val="1C1B19"/>
                </a:solidFill>
                <a:latin typeface="Source Serif 4"/>
              </a:rPr>
              <a:t>Some students have panic attacks or an anxiety disorder, and "it's just a signal" won't be enough for them. Point them to The False Alarm and to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Model it.</a:t>
            </a:r>
          </a:p>
          <a:p>
            <a:pPr algn="l">
              <a:spcAft>
                <a:spcPts val="585"/>
              </a:spcAft>
            </a:pPr>
            <a:r>
              <a:rPr sz="1300" b="0" i="0">
                <a:solidFill>
                  <a:srgbClr val="1C1B19"/>
                </a:solidFill>
                <a:latin typeface="Source Serif 4"/>
              </a:rPr>
              <a:t>Name a time your own heart pounded before something that mattered, and what you told yourself. It gives students permission to notice their own.</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Stress isn't spread evenly.</a:t>
            </a:r>
          </a:p>
          <a:p>
            <a:pPr algn="l">
              <a:spcAft>
                <a:spcPts val="585"/>
              </a:spcAft>
            </a:pPr>
            <a:r>
              <a:rPr sz="1300" b="0" i="0">
                <a:solidFill>
                  <a:srgbClr val="1C1B19"/>
                </a:solidFill>
                <a:latin typeface="Source Serif 4"/>
              </a:rPr>
              <a:t>Students carrying racism, poverty, immigration worries, caregiving, or unsafe neighborhoods face more stress that stays on. Name chronic stress as something that happens to people, not a flaw in how they cope.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name it differently.</a:t>
            </a:r>
          </a:p>
          <a:p>
            <a:pPr algn="l">
              <a:spcAft>
                <a:spcPts val="585"/>
              </a:spcAft>
            </a:pPr>
            <a:r>
              <a:rPr sz="1300" b="0" i="0">
                <a:solidFill>
                  <a:srgbClr val="1C1B19"/>
                </a:solidFill>
                <a:latin typeface="Source Serif 4"/>
              </a:rPr>
              <a:t>Some families say nerves, pressure, or nothing at all; in some homes stress shows up as stomachaches or headaches. Ask what students' families call it, and treat faith, music, food, family and community as real ways of coping.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Movement for every body.</a:t>
            </a:r>
          </a:p>
          <a:p>
            <a:pPr algn="l">
              <a:spcAft>
                <a:spcPts val="585"/>
              </a:spcAft>
            </a:pPr>
            <a:r>
              <a:rPr sz="1300" b="0" i="0">
                <a:solidFill>
                  <a:srgbClr val="1C1B19"/>
                </a:solidFill>
                <a:latin typeface="Source Serif 4"/>
              </a:rPr>
              <a:t>The opening movement is optional. Offer clapping fast, tapping feet, a few deep fast breaths, or simply noticing your pulse. Students with heart conditions, injuries or disabilities can sit it out without explaining.</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Bodies that react differently.</a:t>
            </a:r>
          </a:p>
          <a:p>
            <a:pPr algn="l">
              <a:spcAft>
                <a:spcPts val="585"/>
              </a:spcAft>
            </a:pPr>
            <a:r>
              <a:rPr sz="1300" b="0" i="0">
                <a:solidFill>
                  <a:srgbClr val="1C1B19"/>
                </a:solidFill>
                <a:latin typeface="Source Serif 4"/>
              </a:rPr>
              <a:t>Students with anxiety, trauma histories, or sensory sensitivities may find focusing on heartbeat uncomfortable. Make noticing optional and keep eyes-open.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or autism may feel stress signals more or less strongly, or read them later. There's no right way to feel it. Concrete cards help.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English learners can answer with a word in any language, a gesture, or a number from 1 to 10.</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30-minute online lesson tested in several studies with thousands of high school and college students, learning that stress responses can fuel performance (together with a growth mindset) improved heart and blood vessel responses to a stress test, lowered daily cortisol, reduced anxiety, and improved academic outcomes.</a:t>
            </a:r>
          </a:p>
          <a:p>
            <a:pPr algn="l">
              <a:spcAft>
                <a:spcPts val="585"/>
              </a:spcAft>
            </a:pPr>
            <a:r>
              <a:rPr sz="1050" b="0" i="0">
                <a:solidFill>
                  <a:srgbClr val="5D5A54"/>
                </a:solidFill>
                <a:latin typeface="Inter Tight"/>
              </a:rPr>
              <a:t>Yeager et al., Nature, 2022</a:t>
            </a:r>
          </a:p>
          <a:p>
            <a:pPr algn="l">
              <a:spcAft>
                <a:spcPts val="585"/>
              </a:spcAft>
            </a:pPr>
            <a:r>
              <a:rPr sz="1300" b="0" i="0">
                <a:solidFill>
                  <a:srgbClr val="1C1B19"/>
                </a:solidFill>
                <a:latin typeface="Source Serif 4"/>
              </a:rPr>
              <a:t>People told that a racing heart helps them perform showed a more efficient cardiovascular response under social stress and paid less attention to threat.</a:t>
            </a:r>
          </a:p>
          <a:p>
            <a:pPr algn="l">
              <a:spcAft>
                <a:spcPts val="585"/>
              </a:spcAft>
            </a:pPr>
            <a:r>
              <a:rPr sz="1050" b="0" i="0">
                <a:solidFill>
                  <a:srgbClr val="5D5A54"/>
                </a:solidFill>
                <a:latin typeface="Inter Tight"/>
              </a:rPr>
              <a:t>Jamieson, Nock &amp; Mendes, Journal of Experimental Psychology: General, 2012</a:t>
            </a:r>
          </a:p>
          <a:p>
            <a:pPr algn="l">
              <a:spcAft>
                <a:spcPts val="585"/>
              </a:spcAft>
            </a:pPr>
            <a:r>
              <a:rPr sz="1300" b="0" i="0">
                <a:solidFill>
                  <a:srgbClr val="1C1B19"/>
                </a:solidFill>
                <a:latin typeface="Source Serif 4"/>
              </a:rPr>
              <a:t>Students told that arousal can help did better on GRE math practice and on the real GRE months later.</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Believing stress can be enhancing was linked to better health and work performance, and a short video shifting that belief changed how people responded to stress.</a:t>
            </a:r>
          </a:p>
          <a:p>
            <a:pPr algn="l">
              <a:spcAft>
                <a:spcPts val="585"/>
              </a:spcAft>
            </a:pPr>
            <a:r>
              <a:rPr sz="1050" b="0" i="0">
                <a:solidFill>
                  <a:srgbClr val="5D5A54"/>
                </a:solidFill>
                <a:latin typeface="Inter Tight"/>
              </a:rPr>
              <a:t>Crum, Salovey &amp; Achor, Journal of Personality and Social Psychology, 2013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Short-term stress responses protect and prepare the body; harm comes when they are turned on too often or fail to turn off (allostatic load).</a:t>
            </a:r>
          </a:p>
          <a:p>
            <a:pPr algn="l">
              <a:spcAft>
                <a:spcPts val="585"/>
              </a:spcAft>
            </a:pPr>
            <a:r>
              <a:rPr sz="1050" b="0" i="0">
                <a:solidFill>
                  <a:srgbClr val="5D5A54"/>
                </a:solidFill>
                <a:latin typeface="Inter Tight"/>
              </a:rPr>
              <a:t>McEwen, New England Journal of Medicine, 1998</a:t>
            </a:r>
          </a:p>
          <a:p>
            <a:pPr algn="l">
              <a:spcAft>
                <a:spcPts val="585"/>
              </a:spcAft>
            </a:pPr>
            <a:r>
              <a:rPr sz="1300" b="0" i="0">
                <a:solidFill>
                  <a:srgbClr val="1C1B19"/>
                </a:solidFill>
                <a:latin typeface="Source Serif 4"/>
              </a:rPr>
              <a:t>Developmental scientists separate positive stress (brief, mild), tolerable stress (serious but buffered by supportive adults), and toxic stress (strong, frequent or prolonged without that support).</a:t>
            </a:r>
          </a:p>
          <a:p>
            <a:pPr algn="l">
              <a:spcAft>
                <a:spcPts val="585"/>
              </a:spcAft>
            </a:pPr>
            <a:r>
              <a:rPr sz="1050" b="0" i="0">
                <a:solidFill>
                  <a:srgbClr val="5D5A54"/>
                </a:solidFill>
                <a:latin typeface="Inter Tight"/>
              </a:rPr>
              <a:t>National Scientific Council on the Developing Child, Harvard, 2005/2014</a:t>
            </a:r>
          </a:p>
          <a:p>
            <a:pPr algn="l">
              <a:spcAft>
                <a:spcPts val="585"/>
              </a:spcAft>
            </a:pPr>
            <a:r>
              <a:rPr sz="1300" b="0" i="0">
                <a:solidFill>
                  <a:srgbClr val="1C1B19"/>
                </a:solidFill>
                <a:latin typeface="Source Serif 4"/>
              </a:rPr>
              <a:t>Worry and rumination keep the stress response switched on long after the stressful event is over.</a:t>
            </a:r>
          </a:p>
          <a:p>
            <a:pPr algn="l">
              <a:spcAft>
                <a:spcPts val="585"/>
              </a:spcAft>
            </a:pPr>
            <a:r>
              <a:rPr sz="1050" b="0" i="0">
                <a:solidFill>
                  <a:srgbClr val="5D5A54"/>
                </a:solidFill>
                <a:latin typeface="Inter Tight"/>
              </a:rPr>
              <a:t>Brosschot, Gerin &amp; Thayer, Journal of Psychosomatic Research, 2006</a:t>
            </a:r>
          </a:p>
          <a:p>
            <a:pPr algn="l">
              <a:spcAft>
                <a:spcPts val="585"/>
              </a:spcAft>
            </a:pPr>
            <a:r>
              <a:rPr sz="1300" b="0" i="0">
                <a:solidFill>
                  <a:srgbClr val="1C1B19"/>
                </a:solidFill>
                <a:latin typeface="Source Serif 4"/>
              </a:rPr>
              <a:t>Discrimination and poverty act as chronic stressors with measurable effects on mental and physical health.</a:t>
            </a:r>
          </a:p>
          <a:p>
            <a:pPr algn="l">
              <a:spcAft>
                <a:spcPts val="585"/>
              </a:spcAft>
            </a:pPr>
            <a:r>
              <a:rPr sz="1050" b="0" i="0">
                <a:solidFill>
                  <a:srgbClr val="5D5A54"/>
                </a:solidFill>
                <a:latin typeface="Inter Tight"/>
              </a:rPr>
              <a:t>Williams, Journal of Health and Social Behavior, 2018; Evans &amp; Kim, Child Development Perspectives, 2013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