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"Everyone here has planned an afternoon and watched it disappear. Today is about why your time estimates keep losing, and how to fix the estimate instead of just doubling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the cards and read out a few, or the range. Then the answer: only about 30% finished within their own realistic estimate. Most rooms guess higher. Then ask for a quick show of hands: "Something took longer than you planned this week?" Expect nearly every hand. Note the seniors had written plenty of papers before. Experience alone didn't fix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Roger Buehler and colleagues, 1994. They asked seniors for three estimates: realistic, best case, and worst case if everything went as badly as it could. The actual time was longer than even the worst case. Daniel Kahneman and Amos Tversky named this the planning fallacy in 1979, and it shows up in students, engineers and governments building bridges. Ask: "If you already know to double your estimate, why does it still go wrong?" Lead into the next slide: doubling helps, but knowing why the guess is wrong lets you fix it with real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Kahneman called the first one the inside view: you imagine this task going well. The outside view asks how long this kind of thing usually takes, and Buehler's students rarely thought about their past projects even though that was the best predictor they had. Michael Roy and colleagues found people underestimate how long past tasks took, then use that memory to plan. Interruptions are where much of the missing time goes. Sensing time passing is an executive skill, and many people with ADHD describe "now" and "not now" as the only two times; for them outside tools matter even more. Ask: "Which of these four is most you?" Take a few answers, no pressure.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Anonymous cards, collected face down. Read several aloud and sort them on the board into piles: phone, people, getting from place to place, looking for stuff, getting started. Expect: "five more minutes" on the phone, a sibling needing help, snacks, finding the right file, the walk from practice. Point out that most of these are predictable. Anything predictable can go on the calendar as a transition or a buffer. If a card mentions something heavy at home, don't read it aloud; check in with a counselor after class.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One card per group, then report back. Nia: unpack it (find sources, take notes, outline, draft, cite, proofread) and check how long her last paper actually took. Doubling to six hours is better than three, but unpacking gives her a real number. Trusting three hours and starting Thursday is the planning fallacy in action. Jae: add a buffer and plan to arrive ten minutes early. A plan that works only if every bus is on time is already late. Explaining that buses are unpredictable doesn't get him there. Sofia: estimate each item, block the important ones into time slots, and move the rest to another day on purpose. Making the list neater doesn't add a clock. There's usually more than one good answer. The best one is the one they'll actually 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Using your own data is the outside view about you: "Lab reports take me about 2.5 hours" beats any guess. Kruger and Evans, 2004: people who broke tasks into parts gave longer estimates, and in two of four experiments those were closer to the truth. Koole and van 't Spijker, 2000: students who wrote down exactly when and where they'd do an assignment finished more often and were interrupted less. Planning backward: write the due date, then the step before it, then the one before that, each on a real day. If the first step should have started yesterday, you just learned something useful. Two more from the BVR Diner page: schedule the transitions (practice to dinner to desk takes time), and set the stop before you open an app, with an alarm. A promise doesn't count.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on scrap paper. Students without a big assignment can use a regular one: a lab report, a set of problems, getting ready for practice. After three or four minutes, pair-share one thing only: the day and time of their first step. Ask: "Was the total bigger than your first gut guess?" Usually it is. That's the point. Homework for themselves: time this kind of task the next three times and keep the number somewhere they'll see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Collect anonymously, or let students keep it. Before they go, name when to ask for more help: late or behind most days even with timers, buffers and a calendar; losing track of time hurting grades, sleep, a job or friendships; trouble feeling time pass for as long as they can remember, which can be part of ADHD. A counselor can help sort it out and talk with teachers about deadlines. Share the BVR Diner link on the slide (post it on your class page too). It has the three fixes, the backward plan, a task timer, a private check-in and who to talk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Where Did the Afternoon Go?</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the planning fallacy (we plan from the inside, picturing a smooth run), name where their missing time goes, and use three fixes on a real task: unpack it, plan it backward with a buffer, and start keeping their own numbers. The aim is better data. Nobody should leave thinking running late means they don't care.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opening guess and the time-thief round</a:t>
            </a:r>
          </a:p>
          <a:p>
            <a:pPr algn="l">
              <a:spcAft>
                <a:spcPts val="675"/>
              </a:spcAft>
            </a:pPr>
            <a:r>
              <a:rPr sz="1500" b="0" i="0">
                <a:solidFill>
                  <a:srgbClr val="1C1B19"/>
                </a:solidFill>
                <a:latin typeface="Source Serif 4"/>
              </a:rPr>
              <a:t>Scrap paper for unpacking a real task</a:t>
            </a:r>
          </a:p>
          <a:p>
            <a:pPr algn="l">
              <a:spcAft>
                <a:spcPts val="675"/>
              </a:spcAft>
            </a:pPr>
            <a:r>
              <a:rPr sz="1500" b="0" i="0">
                <a:solidFill>
                  <a:srgbClr val="1C1B19"/>
                </a:solidFill>
                <a:latin typeface="Source Serif 4"/>
              </a:rPr>
              <a:t>The BVR Diner page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The guess (anonymous cards)</a:t>
            </a:r>
          </a:p>
          <a:p>
            <a:pPr algn="l">
              <a:spcAft>
                <a:spcPts val="630"/>
              </a:spcAft>
            </a:pPr>
            <a:r>
              <a:rPr sz="1300" b="1" i="0">
                <a:solidFill>
                  <a:srgbClr val="F47B20"/>
                </a:solidFill>
                <a:latin typeface="Inter Tight"/>
              </a:rPr>
              <a:t>6 min   </a:t>
            </a:r>
            <a:r>
              <a:rPr sz="1400" b="0" i="0">
                <a:solidFill>
                  <a:srgbClr val="1C1B19"/>
                </a:solidFill>
                <a:latin typeface="Source Serif 4"/>
              </a:rPr>
              <a:t>The planning fallacy</a:t>
            </a:r>
          </a:p>
          <a:p>
            <a:pPr algn="l">
              <a:spcAft>
                <a:spcPts val="630"/>
              </a:spcAft>
            </a:pPr>
            <a:r>
              <a:rPr sz="1300" b="1" i="0">
                <a:solidFill>
                  <a:srgbClr val="F47B20"/>
                </a:solidFill>
                <a:latin typeface="Inter Tight"/>
              </a:rPr>
              <a:t>7 min   </a:t>
            </a:r>
            <a:r>
              <a:rPr sz="1400" b="0" i="0">
                <a:solidFill>
                  <a:srgbClr val="1C1B19"/>
                </a:solidFill>
                <a:latin typeface="Source Serif 4"/>
              </a:rPr>
              <a:t>Why your brain lowballs time</a:t>
            </a:r>
          </a:p>
          <a:p>
            <a:pPr algn="l">
              <a:spcAft>
                <a:spcPts val="630"/>
              </a:spcAft>
            </a:pPr>
            <a:r>
              <a:rPr sz="1300" b="1" i="0">
                <a:solidFill>
                  <a:srgbClr val="F47B20"/>
                </a:solidFill>
                <a:latin typeface="Inter Tight"/>
              </a:rPr>
              <a:t>6 min   </a:t>
            </a:r>
            <a:r>
              <a:rPr sz="1400" b="0" i="0">
                <a:solidFill>
                  <a:srgbClr val="1C1B19"/>
                </a:solidFill>
                <a:latin typeface="Source Serif 4"/>
              </a:rPr>
              <a:t>Time thieves (anonymous cards)</a:t>
            </a:r>
          </a:p>
          <a:p>
            <a:pPr algn="l">
              <a:spcAft>
                <a:spcPts val="630"/>
              </a:spcAft>
            </a:pPr>
            <a:r>
              <a:rPr sz="1300" b="1" i="0">
                <a:solidFill>
                  <a:srgbClr val="F47B20"/>
                </a:solidFill>
                <a:latin typeface="Inter Tight"/>
              </a:rPr>
              <a:t>8 min   </a:t>
            </a:r>
            <a:r>
              <a:rPr sz="1400" b="0" i="0">
                <a:solidFill>
                  <a:srgbClr val="1C1B19"/>
                </a:solidFill>
                <a:latin typeface="Source Serif 4"/>
              </a:rPr>
              <a:t>Three plans (small groups)</a:t>
            </a:r>
          </a:p>
          <a:p>
            <a:pPr algn="l">
              <a:spcAft>
                <a:spcPts val="630"/>
              </a:spcAft>
            </a:pPr>
            <a:r>
              <a:rPr sz="1300" b="1" i="0">
                <a:solidFill>
                  <a:srgbClr val="F47B20"/>
                </a:solidFill>
                <a:latin typeface="Inter Tight"/>
              </a:rPr>
              <a:t>6 min   </a:t>
            </a:r>
            <a:r>
              <a:rPr sz="1400" b="0" i="0">
                <a:solidFill>
                  <a:srgbClr val="1C1B19"/>
                </a:solidFill>
                <a:latin typeface="Source Serif 4"/>
              </a:rPr>
              <a:t>Three fixes that work</a:t>
            </a:r>
          </a:p>
          <a:p>
            <a:pPr algn="l">
              <a:spcAft>
                <a:spcPts val="630"/>
              </a:spcAft>
            </a:pPr>
            <a:r>
              <a:rPr sz="1300" b="1" i="0">
                <a:solidFill>
                  <a:srgbClr val="F47B20"/>
                </a:solidFill>
                <a:latin typeface="Inter Tight"/>
              </a:rPr>
              <a:t>5 min   </a:t>
            </a:r>
            <a:r>
              <a:rPr sz="1400" b="0" i="0">
                <a:solidFill>
                  <a:srgbClr val="1C1B19"/>
                </a:solidFill>
                <a:latin typeface="Source Serif 4"/>
              </a:rPr>
              <a:t>Unpack a real task (private, then pair-share)</a:t>
            </a:r>
          </a:p>
          <a:p>
            <a:pPr algn="l">
              <a:spcAft>
                <a:spcPts val="630"/>
              </a:spcAft>
            </a:pPr>
            <a:r>
              <a:rPr sz="1300" b="1" i="0">
                <a:solidFill>
                  <a:srgbClr val="F47B20"/>
                </a:solidFill>
                <a:latin typeface="Inter Tight"/>
              </a:rPr>
              <a:t>2 min   </a:t>
            </a:r>
            <a:r>
              <a:rPr sz="1400" b="0" i="0">
                <a:solidFill>
                  <a:srgbClr val="1C1B19"/>
                </a:solidFill>
                <a:latin typeface="Source Serif 4"/>
              </a:rPr>
              <a:t>Exit card and the BVR Diner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The guess (4), the planning fallacy and why (6), unpack a real task (7), exit card and link (3). Share the BVR Diner link so students get the backward plan, the buffers and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Blame the plan.</a:t>
            </a:r>
          </a:p>
          <a:p>
            <a:pPr algn="l">
              <a:spcAft>
                <a:spcPts val="585"/>
              </a:spcAft>
            </a:pPr>
            <a:r>
              <a:rPr sz="1300" b="0" i="0">
                <a:solidFill>
                  <a:srgbClr val="1C1B19"/>
                </a:solidFill>
                <a:latin typeface="Source Serif 4"/>
              </a:rPr>
              <a:t>Many students have been told being late or behind means they don't care. Keep coming back to the research: the plan assumed a perfect day. Fix the plan, and the caring shows up on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schedules private.</a:t>
            </a:r>
          </a:p>
          <a:p>
            <a:pPr algn="l">
              <a:spcAft>
                <a:spcPts val="585"/>
              </a:spcAft>
            </a:pPr>
            <a:r>
              <a:rPr sz="1300" b="0" i="0">
                <a:solidFill>
                  <a:srgbClr val="1C1B19"/>
                </a:solidFill>
                <a:latin typeface="Source Serif 4"/>
              </a:rPr>
              <a:t>Students' afternoons hold things they may not want to share: a job, caring for siblings, time split between two homes, appointments. The unpacking stays on their own paper. The pair-share is one step and one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turn it into a phone lecture.</a:t>
            </a:r>
          </a:p>
          <a:p>
            <a:pPr algn="l">
              <a:spcAft>
                <a:spcPts val="585"/>
              </a:spcAft>
            </a:pPr>
            <a:r>
              <a:rPr sz="1300" b="0" i="0">
                <a:solidFill>
                  <a:srgbClr val="1C1B19"/>
                </a:solidFill>
                <a:latin typeface="Source Serif 4"/>
              </a:rPr>
              <a:t>"Scrolled longer than I meant to" will come up. Treat it like any other time thief: set the stop before you start, with an alarm.</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honest about the research.</a:t>
            </a:r>
          </a:p>
          <a:p>
            <a:pPr algn="l">
              <a:spcAft>
                <a:spcPts val="585"/>
              </a:spcAft>
            </a:pPr>
            <a:r>
              <a:rPr sz="1300" b="0" i="0">
                <a:solidFill>
                  <a:srgbClr val="1C1B19"/>
                </a:solidFill>
                <a:latin typeface="Source Serif 4"/>
              </a:rPr>
              <a:t>Buehler's study was college seniors, and the task-unpacking study found estimates closer to the truth in two of four experiments. Say so. The fixes raise the odds.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it's more than planning.</a:t>
            </a:r>
          </a:p>
          <a:p>
            <a:pPr algn="l">
              <a:spcAft>
                <a:spcPts val="585"/>
              </a:spcAft>
            </a:pPr>
            <a:r>
              <a:rPr sz="1300" b="0" i="0">
                <a:solidFill>
                  <a:srgbClr val="1C1B19"/>
                </a:solidFill>
                <a:latin typeface="Source Serif 4"/>
              </a:rPr>
              <a:t>A student who is late or behind most days even with timers, buffers and a calendar, or who has had trouble feeling time pass for as long as they can remember, may have ADHD. Connect them with the learning specialist or a counselor.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time trouble is hurting more.</a:t>
            </a:r>
          </a:p>
          <a:p>
            <a:pPr algn="l">
              <a:spcAft>
                <a:spcPts val="585"/>
              </a:spcAft>
            </a:pPr>
            <a:r>
              <a:rPr sz="1300" b="0" i="0">
                <a:solidFill>
                  <a:srgbClr val="1C1B19"/>
                </a:solidFill>
                <a:latin typeface="Source Serif 4"/>
              </a:rPr>
              <a:t>If losing track of time is hurting a student's grades, sleep or friendships, or they sound overwhelmed, thank them and walk them to a counselor that day. A counselor can also talk with teachers about deadlines.</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ADHD and time blindness.</a:t>
            </a:r>
          </a:p>
          <a:p>
            <a:pPr algn="l">
              <a:spcAft>
                <a:spcPts val="585"/>
              </a:spcAft>
            </a:pPr>
            <a:r>
              <a:rPr sz="1300" b="0" i="0">
                <a:solidFill>
                  <a:srgbClr val="1C1B19"/>
                </a:solidFill>
                <a:latin typeface="Source Serif 4"/>
              </a:rPr>
              <a:t>Many people with ADHD describe two times, "now" and "not now." For them, outside tools (alarms, timers, a visible calendar) are the method, and willpower talk doesn't help. Avoid diagnoses as casual adjectives in your own examples.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Afternoons aren't equal.</a:t>
            </a:r>
          </a:p>
          <a:p>
            <a:pPr algn="l">
              <a:spcAft>
                <a:spcPts val="585"/>
              </a:spcAft>
            </a:pPr>
            <a:r>
              <a:rPr sz="1300" b="0" i="0">
                <a:solidFill>
                  <a:srgbClr val="1C1B19"/>
                </a:solidFill>
                <a:latin typeface="Source Serif 4"/>
              </a:rPr>
              <a:t>Some students work, watch younger siblings, or take two buses home. Buffers and transitions matter more when there are more of them. Name those hours as real commitments that belong on the calendar.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Two homes, two calendars.</a:t>
            </a:r>
          </a:p>
          <a:p>
            <a:pPr algn="l">
              <a:spcAft>
                <a:spcPts val="585"/>
              </a:spcAft>
            </a:pPr>
            <a:r>
              <a:rPr sz="1300" b="0" i="0">
                <a:solidFill>
                  <a:srgbClr val="1C1B19"/>
                </a:solidFill>
                <a:latin typeface="Source Serif 4"/>
              </a:rPr>
              <a:t>Students who split time between parents, or live with grandparents, foster parents or other relatives, may plan around different schedules each week. Sofia's scenario has this in it. Planning backward helps when the free days move around.</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Tools cost nothing.</a:t>
            </a:r>
          </a:p>
          <a:p>
            <a:pPr algn="l">
              <a:spcAft>
                <a:spcPts val="585"/>
              </a:spcAft>
            </a:pPr>
            <a:r>
              <a:rPr sz="1300" b="0" i="0">
                <a:solidFill>
                  <a:srgbClr val="1C1B19"/>
                </a:solidFill>
                <a:latin typeface="Source Serif 4"/>
              </a:rPr>
              <a:t>Don't assume a planner app, a smartwatch, or a car. A paper calendar, a phone's free clock and timer, and the school's assignment page all work. Jae takes the city bus; buffers matter most when you don't control the ride.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Different ideas of on time.</a:t>
            </a:r>
          </a:p>
          <a:p>
            <a:pPr algn="l">
              <a:spcAft>
                <a:spcPts val="585"/>
              </a:spcAft>
            </a:pPr>
            <a:r>
              <a:rPr sz="1300" b="0" i="0">
                <a:solidFill>
                  <a:srgbClr val="1C1B19"/>
                </a:solidFill>
                <a:latin typeface="Source Serif 4"/>
              </a:rPr>
              <a:t>Norms about time vary across families and cultures, and none is wrong. The lesson is about school and work deadlines, where the clock is fixed. Ask students to think privately about how time works at home.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family and the calendar.</a:t>
            </a:r>
          </a:p>
          <a:p>
            <a:pPr algn="l">
              <a:spcAft>
                <a:spcPts val="585"/>
              </a:spcAft>
            </a:pPr>
            <a:r>
              <a:rPr sz="1300" b="0" i="0">
                <a:solidFill>
                  <a:srgbClr val="1C1B19"/>
                </a:solidFill>
                <a:latin typeface="Source Serif 4"/>
              </a:rPr>
              <a:t>Religious holidays, prayer times, fasting and family events take real time and often can't move. A backward plan lets students see those days coming and start earlier, instead of losing a week by surprise.</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College seniors gave a realistic, best-case and worst-case estimate for their thesis. The actual time beat even the worst case. Only about 30% finished within their own realistic estimate.</a:t>
            </a:r>
          </a:p>
          <a:p>
            <a:pPr algn="l">
              <a:spcAft>
                <a:spcPts val="585"/>
              </a:spcAft>
            </a:pPr>
            <a:r>
              <a:rPr sz="1050" b="0" i="0">
                <a:solidFill>
                  <a:srgbClr val="5D5A54"/>
                </a:solidFill>
                <a:latin typeface="Inter Tight"/>
              </a:rPr>
              <a:t>Buehler, Griffin and Ross, Journal of Personality and Social Psychology, 1994</a:t>
            </a:r>
          </a:p>
          <a:p>
            <a:pPr algn="l">
              <a:spcAft>
                <a:spcPts val="585"/>
              </a:spcAft>
            </a:pPr>
            <a:r>
              <a:rPr sz="1300" b="0" i="0">
                <a:solidFill>
                  <a:srgbClr val="1C1B19"/>
                </a:solidFill>
                <a:latin typeface="Source Serif 4"/>
              </a:rPr>
              <a:t>Buehler's students rarely thought about how long their past projects had actually taken, even though that history was the best predictor they had.</a:t>
            </a:r>
          </a:p>
          <a:p>
            <a:pPr algn="l">
              <a:spcAft>
                <a:spcPts val="585"/>
              </a:spcAft>
            </a:pPr>
            <a:r>
              <a:rPr sz="1050" b="0" i="0">
                <a:solidFill>
                  <a:srgbClr val="5D5A54"/>
                </a:solidFill>
                <a:latin typeface="Inter Tight"/>
              </a:rPr>
              <a:t>Buehler, Griffin and Ross, Journal of Personality and Social Psychology, 1994</a:t>
            </a:r>
          </a:p>
          <a:p>
            <a:pPr algn="l">
              <a:spcAft>
                <a:spcPts val="585"/>
              </a:spcAft>
            </a:pPr>
            <a:r>
              <a:rPr sz="1300" b="0" i="0">
                <a:solidFill>
                  <a:srgbClr val="1C1B19"/>
                </a:solidFill>
                <a:latin typeface="Source Serif 4"/>
              </a:rPr>
              <a:t>Kahneman and Tversky named the planning fallacy, and contrasted the inside view (picturing your plan going smoothly) with the outside view (how long this kind of thing usually takes).</a:t>
            </a:r>
          </a:p>
          <a:p>
            <a:pPr algn="l">
              <a:spcAft>
                <a:spcPts val="585"/>
              </a:spcAft>
            </a:pPr>
            <a:r>
              <a:rPr sz="1050" b="0" i="0">
                <a:solidFill>
                  <a:srgbClr val="5D5A54"/>
                </a:solidFill>
                <a:latin typeface="Inter Tight"/>
              </a:rPr>
              <a:t>Kahneman and Tversky, TIMS Studies in Management Science, 1979</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 tend to underestimate how long past tasks took, then base future guesses on that memory.</a:t>
            </a:r>
          </a:p>
          <a:p>
            <a:pPr algn="l">
              <a:spcAft>
                <a:spcPts val="585"/>
              </a:spcAft>
            </a:pPr>
            <a:r>
              <a:rPr sz="1050" b="0" i="0">
                <a:solidFill>
                  <a:srgbClr val="5D5A54"/>
                </a:solidFill>
                <a:latin typeface="Inter Tight"/>
              </a:rPr>
              <a:t>Roy, Christenfeld and McKenzie, Psychological Bulletin, 2005</a:t>
            </a:r>
          </a:p>
          <a:p>
            <a:pPr algn="l">
              <a:spcAft>
                <a:spcPts val="585"/>
              </a:spcAft>
            </a:pPr>
            <a:r>
              <a:rPr sz="1300" b="0" i="0">
                <a:solidFill>
                  <a:srgbClr val="1C1B19"/>
                </a:solidFill>
                <a:latin typeface="Source Serif 4"/>
              </a:rPr>
              <a:t>People who broke tasks into parts gave longer estimates, and in two of four experiments those estimates were closer to the truth.</a:t>
            </a:r>
          </a:p>
          <a:p>
            <a:pPr algn="l">
              <a:spcAft>
                <a:spcPts val="585"/>
              </a:spcAft>
            </a:pPr>
            <a:r>
              <a:rPr sz="1050" b="0" i="0">
                <a:solidFill>
                  <a:srgbClr val="5D5A54"/>
                </a:solidFill>
                <a:latin typeface="Inter Tight"/>
              </a:rPr>
              <a:t>Kruger and Evans, Journal of Experimental Social Psychology, 2004</a:t>
            </a:r>
          </a:p>
          <a:p>
            <a:pPr algn="l">
              <a:spcAft>
                <a:spcPts val="585"/>
              </a:spcAft>
            </a:pPr>
            <a:r>
              <a:rPr sz="1300" b="0" i="0">
                <a:solidFill>
                  <a:srgbClr val="1C1B19"/>
                </a:solidFill>
                <a:latin typeface="Source Serif 4"/>
              </a:rPr>
              <a:t>Students who wrote down exactly when and where they'd do an assignment finished it more often and were interrupted less, shrinking the gap between plan and reality.</a:t>
            </a:r>
          </a:p>
          <a:p>
            <a:pPr algn="l">
              <a:spcAft>
                <a:spcPts val="585"/>
              </a:spcAft>
            </a:pPr>
            <a:r>
              <a:rPr sz="1050" b="0" i="0">
                <a:solidFill>
                  <a:srgbClr val="5D5A54"/>
                </a:solidFill>
                <a:latin typeface="Inter Tight"/>
              </a:rPr>
              <a:t>Koole and van 't Spijker, European Journal of Social Psychology, 2000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WHERE DID THE AFTERNOON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371600"/>
            <a:ext cx="10515600" cy="2377440"/>
          </a:xfrm>
          <a:prstGeom prst="rect">
            <a:avLst/>
          </a:prstGeom>
          <a:noFill/>
        </p:spPr>
        <p:txBody>
          <a:bodyPr wrap="square" anchor="b" lIns="0" rIns="0" tIns="0" bIns="0">
            <a:spAutoFit/>
          </a:bodyPr>
          <a:lstStyle/>
          <a:p>
            <a:pPr algn="l">
              <a:spcAft>
                <a:spcPts val="2430"/>
              </a:spcAft>
            </a:pPr>
            <a:r>
              <a:rPr sz="5400" b="1" i="0">
                <a:solidFill>
                  <a:srgbClr val="FFFFFF"/>
                </a:solidFill>
                <a:latin typeface="Source Serif 4"/>
              </a:rPr>
              <a:t>Where Did the Afternoon Go?</a:t>
            </a:r>
          </a:p>
        </p:txBody>
      </p:sp>
      <p:sp>
        <p:nvSpPr>
          <p:cNvPr id="6" name="TextBox 5"/>
          <p:cNvSpPr txBox="1"/>
          <p:nvPr/>
        </p:nvSpPr>
        <p:spPr>
          <a:xfrm>
            <a:off x="822960" y="393192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"It'll take an hour." It did not take an hour.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 percent of college seniors finished their thesis on time?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 time means within their own realistic estimate. Write a number on your card.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PLANNING FALLACY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Even the worst case was too hopeful.</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Seniors gave a best case, a realistic case and a worst case. The real time beat the worst case.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HAPPENS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Why your brain lowballs time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plan from the inside.</a:t>
            </a:r>
          </a:p>
          <a:p>
            <a:pPr algn="l">
              <a:spcAft>
                <a:spcPts val="945"/>
              </a:spcAft>
            </a:pPr>
            <a:r>
              <a:rPr sz="1600" b="0" i="0">
                <a:solidFill>
                  <a:srgbClr val="5D5A54"/>
                </a:solidFill>
                <a:latin typeface="Source Serif 4"/>
              </a:rPr>
              <a:t>You picture every step going smoothly.</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remember past tasks as shorter.</a:t>
            </a:r>
          </a:p>
          <a:p>
            <a:pPr algn="l">
              <a:spcAft>
                <a:spcPts val="945"/>
              </a:spcAft>
            </a:pPr>
            <a:r>
              <a:rPr sz="1600" b="0" i="0">
                <a:solidFill>
                  <a:srgbClr val="5D5A54"/>
                </a:solidFill>
                <a:latin typeface="Source Serif 4"/>
              </a:rPr>
              <a:t>A bad memory feeds a bad plan.</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Interruptions never make the plan.</a:t>
            </a:r>
          </a:p>
          <a:p>
            <a:pPr algn="l">
              <a:spcAft>
                <a:spcPts val="945"/>
              </a:spcAft>
            </a:pPr>
            <a:r>
              <a:rPr sz="1600" b="0" i="0">
                <a:solidFill>
                  <a:srgbClr val="5D5A54"/>
                </a:solidFill>
                <a:latin typeface="Source Serif 4"/>
              </a:rPr>
              <a:t>The text, the snack, finding the file.</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 brains feel time less.</a:t>
            </a:r>
          </a:p>
          <a:p>
            <a:pPr algn="l">
              <a:spcAft>
                <a:spcPts val="945"/>
              </a:spcAft>
            </a:pPr>
            <a:r>
              <a:rPr sz="1600" b="0" i="0">
                <a:solidFill>
                  <a:srgbClr val="5D5A54"/>
                </a:solidFill>
                <a:latin typeface="Source Serif 4"/>
              </a:rPr>
              <a:t>"Now" and "not now" can feel like the only two times.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TIME THIEVES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 eats your time that never makes it into the plan?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per card. No names.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PLANS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Which fix would help most?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NIA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Her first history research paper is due Friday. It's Tuesday. She figures "about three hours," since that's how long it would take if she knew exactly what to say.</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Takes the city bus to school. The ride is 25 minutes, so he leaves 25 minutes before first bell. He's been late three times this month.</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SOFIA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Spends Sundays at her dad's apartment. She has four free hours and a list of seven things. She starts at the top, and the two biggest go untouched.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WORKS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Fix the estimate, then the calendar</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Use your own data.</a:t>
            </a:r>
          </a:p>
          <a:p>
            <a:pPr algn="l">
              <a:spcAft>
                <a:spcPts val="945"/>
              </a:spcAft>
            </a:pPr>
            <a:r>
              <a:rPr sz="1600" b="0" i="0">
                <a:solidFill>
                  <a:srgbClr val="5D5A54"/>
                </a:solidFill>
                <a:latin typeface="Source Serif 4"/>
              </a:rPr>
              <a:t>Time a kind of task three times. Use that number.</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Unpack the task.</a:t>
            </a:r>
          </a:p>
          <a:p>
            <a:pPr algn="l">
              <a:spcAft>
                <a:spcPts val="945"/>
              </a:spcAft>
            </a:pPr>
            <a:r>
              <a:rPr sz="1600" b="0" i="0">
                <a:solidFill>
                  <a:srgbClr val="5D5A54"/>
                </a:solidFill>
                <a:latin typeface="Source Serif 4"/>
              </a:rPr>
              <a:t>List every piece before you guess.</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Decide where and when.</a:t>
            </a:r>
          </a:p>
          <a:p>
            <a:pPr algn="l">
              <a:spcAft>
                <a:spcPts val="945"/>
              </a:spcAft>
            </a:pPr>
            <a:r>
              <a:rPr sz="1600" b="0" i="0">
                <a:solidFill>
                  <a:srgbClr val="5D5A54"/>
                </a:solidFill>
                <a:latin typeface="Source Serif 4"/>
              </a:rPr>
              <a:t>"Tuesday, 4:00, library" beats "sometime this week."</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Plan backward, with a buffer.</a:t>
            </a:r>
          </a:p>
          <a:p>
            <a:pPr algn="l">
              <a:spcAft>
                <a:spcPts val="945"/>
              </a:spcAft>
            </a:pPr>
            <a:r>
              <a:rPr sz="1600" b="0" i="0">
                <a:solidFill>
                  <a:srgbClr val="5D5A54"/>
                </a:solidFill>
                <a:latin typeface="Source Serif 4"/>
              </a:rPr>
              <a:t>Start at the due date. Leave open time before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Pick a real task. Break it into pieces. Guess each one.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Add them up. Then plan backward from the due date and add a buffer.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What will you time, unpack or buffer this week?</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https://rmwtoolkit.github.io/bcds-toolkit/where-did-the-afternoon-go-high-school.html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