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"You've known how to say sorry since you were little. Today is the next level: which parts of an apology actually do the work, why it's so hard to say, and how to fix things with people you can't walk away from, like a sibling, a lab partner, or a teammate. That's most of adult life. Nobody's retelling a real fight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Students vote by holding up fingers for the number they think matters most (or write it on scrap paper). Tally on the board. Then ask which one they think matters least. Expect a lot of votes for #1 and #6. Don't reveal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Roy Lewicki and colleagues at Ohio State had 755 people rate apologies built from those six parts. More parts worked better, but the parts weren't equal. The studies were with adults, and the ranking lines up with what most people feel when they get a weak apology: "sorry" alone doesn't land. If you leave one part out, the researchers said, leave out asking for forgiveness. Compare with the room's vote. Add: across four studies, Karina Schumann and Carol Dweck found that people who believe personality can change were more likely to take responsibility. If a mistake is something you can grow from, owning it feels less like a verdict on who you are.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In a 2013 study, people who wrote a message refusing to apologize felt more powerful and had higher self-esteem afterward. The researchers weren't recommending it; they were explaining why sorry is hard to say. Two more reasons: defense mode (when you feel attacked, attention narrows to protecting yourself) and going first feels like losing. Both people wait. Meanwhile the silence becomes its own problem, and the first message gets harder to send every day. Ask: "Why does the first text get harder the longer you wait?"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reflection on an index card. Any conflict works, even an old or small one. Students write two or three sentences about it using their own name in the third person, or as advice to a friend in their position. Nobody shares. Then explain: psychologists Igor Grossmann and Ethan Kross call it Solomon's paradox. People reason more wisely about a friend's conflict than their own. They consider other viewpoints, admit what they don't know, and look for compromise. When people thought about their own conflict from a distance, the gap disappeared. Ask by thumbs: "Did anything look different?"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Cooling down can take an hour, a night, sometimes a few days. You're ready when you can think about it without your heart racing and you want the friendship back more than you want to win. Responsibility is specific: "That was private, and I made it public," not "sorry for whatever happened." Repair is action: "I deleted it, and I told the group it was on me." Your side matters too; save it for a later conversation. Listening means not planning your comeback. You can disagree about what happened and both still feel heard. Online: move it offline ("can we talk tomorrow?" and stop there), delete what you posted in the heat of it, don't screenshot and share, and give a day or two of grace if you're left on read.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Mei: read four options aloud and have the group pick. "Sorry you feel that way" names her feelings and none of your actions. "Sorry, but it was obviously a joke" has a but. "omg ok I'm sorry!!" is regret only. The one that lands: "I shouldn't have posted that. It was your private message and I made it public. I deleted it and told the group it was on me. I won't do that again." Then say it in person or on a call if possible. Andre: sorry without change, again and again, isn't repair. Tell him the apology doesn't count without change, once, simply. Accepting again to keep the peace or mocking him back keeps it going. If it continues, that's a coach or counselor conversation. Tess and Jordan: both are waiting for the other to go first. Either one can send "can we talk after practice?" Stick to what happened this time, skip recruiting teammates, and don't act like it never happened. Big things you skip repairing tend to come back bigger.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Start with the hurt side. They may not have known how it landed, so let them answer. Forgiving isn't forgetting: you can accept an apology and still need time. You don't have to accept every apology; sorry without change isn't repair. Then the private reflection, written on the back of the step-back card: "How does your family usually make things right?" In some families a direct "I was wrong" is expected. In others repair happens through action: showing up, doing a favor, cooking for someone, acting normal again, or an older relative stepping in. Some rarely say sorry out loud. Both can be real repair, and a friend's apology may be there in a form you weren't looking for. Nobody shares.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Students draft on their card, for a real conflict or a practice one, and keep it. Check: does it start with what you did? Does it offer repair? Is there a "but," an "if," or a request for forgiveness you could drop? Share the take-home link (post it on your class page too). It has the repair sequence, the online moves, a private check-in, and who to talk to. Close with the times an apology isn't enough: someone is threatening you or anyone else, a fight is turning into a pile-on, someone keeps hurting you and apologizing, or something made you feel unsafe. Those go to an adult.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Repair Kit</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name which parts of an apology matter most (taking responsibility, then an offer to fix it), explain why sorry is hard to say, use the repair sequence on a real or practice conflict, and know their options when they're the one who got hurt. Nobody retells a real fight in class.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the private reflections and the exit card</a:t>
            </a:r>
          </a:p>
          <a:p>
            <a:pPr algn="l">
              <a:spcAft>
                <a:spcPts val="675"/>
              </a:spcAft>
            </a:pPr>
            <a:r>
              <a:rPr sz="1500" b="0" i="0">
                <a:solidFill>
                  <a:srgbClr val="1C1B19"/>
                </a:solidFill>
                <a:latin typeface="Source Serif 4"/>
              </a:rPr>
              <a:t>Scrap paper for the ranking vote (or use hands)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Guess the ranking (quick vote)</a:t>
            </a:r>
          </a:p>
          <a:p>
            <a:pPr algn="l">
              <a:spcAft>
                <a:spcPts val="630"/>
              </a:spcAft>
            </a:pPr>
            <a:r>
              <a:rPr sz="1300" b="1" i="0">
                <a:solidFill>
                  <a:srgbClr val="F47B20"/>
                </a:solidFill>
                <a:latin typeface="Inter Tight"/>
              </a:rPr>
              <a:t>5 min   </a:t>
            </a:r>
            <a:r>
              <a:rPr sz="1400" b="0" i="0">
                <a:solidFill>
                  <a:srgbClr val="1C1B19"/>
                </a:solidFill>
                <a:latin typeface="Source Serif 4"/>
              </a:rPr>
              <a:t>What makes an apology work</a:t>
            </a:r>
          </a:p>
          <a:p>
            <a:pPr algn="l">
              <a:spcAft>
                <a:spcPts val="630"/>
              </a:spcAft>
            </a:pPr>
            <a:r>
              <a:rPr sz="1300" b="1" i="0">
                <a:solidFill>
                  <a:srgbClr val="F47B20"/>
                </a:solidFill>
                <a:latin typeface="Inter Tight"/>
              </a:rPr>
              <a:t>5 min   </a:t>
            </a:r>
            <a:r>
              <a:rPr sz="1400" b="0" i="0">
                <a:solidFill>
                  <a:srgbClr val="1C1B19"/>
                </a:solidFill>
                <a:latin typeface="Source Serif 4"/>
              </a:rPr>
              <a:t>Why sorry is so hard</a:t>
            </a:r>
          </a:p>
          <a:p>
            <a:pPr algn="l">
              <a:spcAft>
                <a:spcPts val="630"/>
              </a:spcAft>
            </a:pPr>
            <a:r>
              <a:rPr sz="1300" b="1" i="0">
                <a:solidFill>
                  <a:srgbClr val="F47B20"/>
                </a:solidFill>
                <a:latin typeface="Inter Tight"/>
              </a:rPr>
              <a:t>5 min   </a:t>
            </a:r>
            <a:r>
              <a:rPr sz="1400" b="0" i="0">
                <a:solidFill>
                  <a:srgbClr val="1C1B19"/>
                </a:solidFill>
                <a:latin typeface="Source Serif 4"/>
              </a:rPr>
              <a:t>Step back (private reflection)</a:t>
            </a:r>
          </a:p>
          <a:p>
            <a:pPr algn="l">
              <a:spcAft>
                <a:spcPts val="630"/>
              </a:spcAft>
            </a:pPr>
            <a:r>
              <a:rPr sz="1300" b="1" i="0">
                <a:solidFill>
                  <a:srgbClr val="F47B20"/>
                </a:solidFill>
                <a:latin typeface="Inter Tight"/>
              </a:rPr>
              <a:t>5 min   </a:t>
            </a:r>
            <a:r>
              <a:rPr sz="1400" b="0" i="0">
                <a:solidFill>
                  <a:srgbClr val="1C1B19"/>
                </a:solidFill>
                <a:latin typeface="Source Serif 4"/>
              </a:rPr>
              <a:t>The repair sequence</a:t>
            </a:r>
          </a:p>
          <a:p>
            <a:pPr algn="l">
              <a:spcAft>
                <a:spcPts val="630"/>
              </a:spcAft>
            </a:pPr>
            <a:r>
              <a:rPr sz="1300" b="1" i="0">
                <a:solidFill>
                  <a:srgbClr val="F47B20"/>
                </a:solidFill>
                <a:latin typeface="Inter Tight"/>
              </a:rPr>
              <a:t>10 min   </a:t>
            </a:r>
            <a:r>
              <a:rPr sz="1400" b="0" i="0">
                <a:solidFill>
                  <a:srgbClr val="1C1B19"/>
                </a:solidFill>
                <a:latin typeface="Source Serif 4"/>
              </a:rPr>
              <a:t>Which apology lands? (small groups)</a:t>
            </a:r>
          </a:p>
          <a:p>
            <a:pPr algn="l">
              <a:spcAft>
                <a:spcPts val="630"/>
              </a:spcAft>
            </a:pPr>
            <a:r>
              <a:rPr sz="1300" b="1" i="0">
                <a:solidFill>
                  <a:srgbClr val="F47B20"/>
                </a:solidFill>
                <a:latin typeface="Inter Tight"/>
              </a:rPr>
              <a:t>7 min   </a:t>
            </a:r>
            <a:r>
              <a:rPr sz="1400" b="0" i="0">
                <a:solidFill>
                  <a:srgbClr val="1C1B19"/>
                </a:solidFill>
                <a:latin typeface="Source Serif 4"/>
              </a:rPr>
              <a:t>If you got hurt, and how your family repairs (private reflection)</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Guess the ranking and the answer (7), the repair sequence (5), the Mei card (5), exit card (3). The take-home sheet has the draft-it-messy check and the online moves.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Both sides of a fight may be in the room.</a:t>
            </a:r>
          </a:p>
          <a:p>
            <a:pPr algn="l">
              <a:spcAft>
                <a:spcPts val="585"/>
              </a:spcAft>
            </a:pPr>
            <a:r>
              <a:rPr sz="1300" b="0" i="0">
                <a:solidFill>
                  <a:srgbClr val="1C1B19"/>
                </a:solidFill>
                <a:latin typeface="Source Serif 4"/>
              </a:rPr>
              <a:t>9th grade conflicts often run through one advisory or one team. No real names, no retelling current fights, no "who was wrong" discussions. The reflections are private and stay on cards that go home.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Don't stage apologies in class.</a:t>
            </a:r>
          </a:p>
          <a:p>
            <a:pPr algn="l">
              <a:spcAft>
                <a:spcPts val="585"/>
              </a:spcAft>
            </a:pPr>
            <a:r>
              <a:rPr sz="1300" b="0" i="0">
                <a:solidFill>
                  <a:srgbClr val="1C1B19"/>
                </a:solidFill>
                <a:latin typeface="Source Serif 4"/>
              </a:rPr>
              <a:t>If a conflict between students is live, handle it outside the lesson with a counselor or dean. A lesson on repair isn't the place to make anyone say sorry in front of peers.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Hurt, then sorry, again and again, is a pattern.</a:t>
            </a:r>
          </a:p>
          <a:p>
            <a:pPr algn="l">
              <a:spcAft>
                <a:spcPts val="585"/>
              </a:spcAft>
            </a:pPr>
            <a:r>
              <a:rPr sz="1300" b="0" i="0">
                <a:solidFill>
                  <a:srgbClr val="1C1B19"/>
                </a:solidFill>
                <a:latin typeface="Source Serif 4"/>
              </a:rPr>
              <a:t>If a student describes someone who keeps hurting them and apologizing, at school, in a dating relationship, or at home, thank them and connect them with a counselor that day. Don't problem-solve it in front of the class.</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Nobody owes forgiveness.</a:t>
            </a:r>
          </a:p>
          <a:p>
            <a:pPr algn="l">
              <a:spcAft>
                <a:spcPts val="585"/>
              </a:spcAft>
            </a:pPr>
            <a:r>
              <a:rPr sz="1300" b="0" i="0">
                <a:solidFill>
                  <a:srgbClr val="1C1B19"/>
                </a:solidFill>
                <a:latin typeface="Source Serif 4"/>
              </a:rPr>
              <a:t>Students who were hurt can accept an apology and still need time to trust, or decline one that comes with no change. Avoid language that pressures the hurt person to "just move on."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situations need an adult more than an apology.</a:t>
            </a:r>
          </a:p>
          <a:p>
            <a:pPr algn="l">
              <a:spcAft>
                <a:spcPts val="585"/>
              </a:spcAft>
            </a:pPr>
            <a:r>
              <a:rPr sz="1300" b="0" i="0">
                <a:solidFill>
                  <a:srgbClr val="1C1B19"/>
                </a:solidFill>
                <a:latin typeface="Source Serif 4"/>
              </a:rPr>
              <a:t>Threats to anyone, a fight turning into a pile-on online or at school, or something that made a student feel unsafe. Say this plainly near the end, and know who you'd walk a student to.</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Screenshots of fights come up.</a:t>
            </a:r>
          </a:p>
          <a:p>
            <a:pPr algn="l">
              <a:spcAft>
                <a:spcPts val="585"/>
              </a:spcAft>
            </a:pPr>
            <a:r>
              <a:rPr sz="1300" b="0" i="0">
                <a:solidFill>
                  <a:srgbClr val="1C1B19"/>
                </a:solidFill>
                <a:latin typeface="Source Serif 4"/>
              </a:rPr>
              <a:t>Students may bring up a group chat fight everyone saw. Keep it general. If someone's private messages or photos are being passed around, that's a counselor conversation that day.</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Repair looks different from family to family.</a:t>
            </a:r>
          </a:p>
          <a:p>
            <a:pPr algn="l">
              <a:spcAft>
                <a:spcPts val="585"/>
              </a:spcAft>
            </a:pPr>
            <a:r>
              <a:rPr sz="1300" b="0" i="0">
                <a:solidFill>
                  <a:srgbClr val="1C1B19"/>
                </a:solidFill>
                <a:latin typeface="Source Serif 4"/>
              </a:rPr>
              <a:t>Some families expect a direct "I was wrong." Others repair through action: showing up, doing a favor, cooking for someone, acting normal again. Some rarely say sorry out loud. Present each as real repair and ask about students' own families privately.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The people you can't walk away from vary.</a:t>
            </a:r>
          </a:p>
          <a:p>
            <a:pPr algn="l">
              <a:spcAft>
                <a:spcPts val="585"/>
              </a:spcAft>
            </a:pPr>
            <a:r>
              <a:rPr sz="1300" b="0" i="0">
                <a:solidFill>
                  <a:srgbClr val="1C1B19"/>
                </a:solidFill>
                <a:latin typeface="Source Serif 4"/>
              </a:rPr>
              <a:t>For some students it's a sibling, a step-sibling, a cousin they share a room with, or a parent in one of two homes. In some families an older relative steps in to settle things. Use "someone you live with" so every household fits.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Apologizing in a second language.</a:t>
            </a:r>
          </a:p>
          <a:p>
            <a:pPr algn="l">
              <a:spcAft>
                <a:spcPts val="585"/>
              </a:spcAft>
            </a:pPr>
            <a:r>
              <a:rPr sz="1300" b="0" i="0">
                <a:solidFill>
                  <a:srgbClr val="1C1B19"/>
                </a:solidFill>
                <a:latin typeface="Source Serif 4"/>
              </a:rPr>
              <a:t>Getting the words exactly right is harder in a language you're still learning, and text strips out tone. Students who are new to English can apologize in person, by action, or in writing they've had time to check. The Andre card (mocking an accent) names a hurt these students know.</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Neurodivergent students may need a script and time.</a:t>
            </a:r>
          </a:p>
          <a:p>
            <a:pPr algn="l">
              <a:spcAft>
                <a:spcPts val="585"/>
              </a:spcAft>
            </a:pPr>
            <a:r>
              <a:rPr sz="1300" b="0" i="0">
                <a:solidFill>
                  <a:srgbClr val="1C1B19"/>
                </a:solidFill>
                <a:latin typeface="Source Serif 4"/>
              </a:rPr>
              <a:t>Cooling down can take longer, and reading tone over text is harder for some students. The repair sequence works as a script. Eye contact isn't required for an apology to count, and a written apology can be the right choice.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Faith can be a resource here.</a:t>
            </a:r>
          </a:p>
          <a:p>
            <a:pPr algn="l">
              <a:spcAft>
                <a:spcPts val="585"/>
              </a:spcAft>
            </a:pPr>
            <a:r>
              <a:rPr sz="1300" b="0" i="0">
                <a:solidFill>
                  <a:srgbClr val="1C1B19"/>
                </a:solidFill>
                <a:latin typeface="Source Serif 4"/>
              </a:rPr>
              <a:t>Some students' traditions have practices of confession, forgiveness, or making amends; others have none. Let "how does your family or tradition make things right?" cover both without assuming either.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Making it right shouldn't depend on money.</a:t>
            </a:r>
          </a:p>
          <a:p>
            <a:pPr algn="l">
              <a:spcAft>
                <a:spcPts val="585"/>
              </a:spcAft>
            </a:pPr>
            <a:r>
              <a:rPr sz="1300" b="0" i="0">
                <a:solidFill>
                  <a:srgbClr val="1C1B19"/>
                </a:solidFill>
                <a:latin typeface="Source Serif 4"/>
              </a:rPr>
              <a:t>"Paying for what broke" is one kind of repair offer. Deleting a post, telling the group it was your fault, fixing or replacing something with time or effort all count. Keep the examples free.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755 people rated apologies built from six possible parts. Apologies with more parts worked better, but the parts weren't equal. The studies were with adults.</a:t>
            </a:r>
          </a:p>
          <a:p>
            <a:pPr algn="l">
              <a:spcAft>
                <a:spcPts val="585"/>
              </a:spcAft>
            </a:pPr>
            <a:r>
              <a:rPr sz="1050" b="0" i="0">
                <a:solidFill>
                  <a:srgbClr val="5D5A54"/>
                </a:solidFill>
                <a:latin typeface="Inter Tight"/>
              </a:rPr>
              <a:t>Lewicki, Polin and Lount, Negotiation and Conflict Management Research, 2016 (Ohio State)</a:t>
            </a:r>
          </a:p>
          <a:p>
            <a:pPr algn="l">
              <a:spcAft>
                <a:spcPts val="585"/>
              </a:spcAft>
            </a:pPr>
            <a:r>
              <a:rPr sz="1300" b="0" i="0">
                <a:solidFill>
                  <a:srgbClr val="1C1B19"/>
                </a:solidFill>
                <a:latin typeface="Source Serif 4"/>
              </a:rPr>
              <a:t>Taking responsibility mattered most, then an offer of repair. Regret, explanation, and a promise to change were in the middle. Asking for forgiveness mattered least.</a:t>
            </a:r>
          </a:p>
          <a:p>
            <a:pPr algn="l">
              <a:spcAft>
                <a:spcPts val="585"/>
              </a:spcAft>
            </a:pPr>
            <a:r>
              <a:rPr sz="1050" b="0" i="0">
                <a:solidFill>
                  <a:srgbClr val="5D5A54"/>
                </a:solidFill>
                <a:latin typeface="Inter Tight"/>
              </a:rPr>
              <a:t>Lewicki, Polin and Lount, 2016</a:t>
            </a:r>
          </a:p>
          <a:p>
            <a:pPr algn="l">
              <a:spcAft>
                <a:spcPts val="585"/>
              </a:spcAft>
            </a:pPr>
            <a:r>
              <a:rPr sz="1300" b="0" i="0">
                <a:solidFill>
                  <a:srgbClr val="1C1B19"/>
                </a:solidFill>
                <a:latin typeface="Source Serif 4"/>
              </a:rPr>
              <a:t>Across four studies, people who believe personality can change were more likely to take responsibility after hurting someone.</a:t>
            </a:r>
          </a:p>
          <a:p>
            <a:pPr algn="l">
              <a:spcAft>
                <a:spcPts val="585"/>
              </a:spcAft>
            </a:pPr>
            <a:r>
              <a:rPr sz="1050" b="0" i="0">
                <a:solidFill>
                  <a:srgbClr val="5D5A54"/>
                </a:solidFill>
                <a:latin typeface="Inter Tight"/>
              </a:rPr>
              <a:t>Schumann and Dweck, Personality and Social Psychology Bulletin, 2014</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People who wrote a message refusing to apologize felt more powerful and had higher self-esteem afterward than people who didn't.</a:t>
            </a:r>
          </a:p>
          <a:p>
            <a:pPr algn="l">
              <a:spcAft>
                <a:spcPts val="585"/>
              </a:spcAft>
            </a:pPr>
            <a:r>
              <a:rPr sz="1050" b="0" i="0">
                <a:solidFill>
                  <a:srgbClr val="5D5A54"/>
                </a:solidFill>
                <a:latin typeface="Inter Tight"/>
              </a:rPr>
              <a:t>Okimoto, Wenzel and Hedrick, European Journal of Social Psychology, 2013</a:t>
            </a:r>
          </a:p>
          <a:p>
            <a:pPr algn="l">
              <a:spcAft>
                <a:spcPts val="585"/>
              </a:spcAft>
            </a:pPr>
            <a:r>
              <a:rPr sz="1300" b="0" i="0">
                <a:solidFill>
                  <a:srgbClr val="1C1B19"/>
                </a:solidFill>
                <a:latin typeface="Source Serif 4"/>
              </a:rPr>
              <a:t>People reasoned more wisely about a friend's relationship conflict than their own: considering other viewpoints, admitting what they didn't know, looking for compromise.</a:t>
            </a:r>
          </a:p>
          <a:p>
            <a:pPr algn="l">
              <a:spcAft>
                <a:spcPts val="585"/>
              </a:spcAft>
            </a:pPr>
            <a:r>
              <a:rPr sz="1050" b="0" i="0">
                <a:solidFill>
                  <a:srgbClr val="5D5A54"/>
                </a:solidFill>
                <a:latin typeface="Inter Tight"/>
              </a:rPr>
              <a:t>Grossmann and Kross, Psychological Science, 2014</a:t>
            </a:r>
          </a:p>
          <a:p>
            <a:pPr algn="l">
              <a:spcAft>
                <a:spcPts val="585"/>
              </a:spcAft>
            </a:pPr>
            <a:r>
              <a:rPr sz="1300" b="0" i="0">
                <a:solidFill>
                  <a:srgbClr val="1C1B19"/>
                </a:solidFill>
                <a:latin typeface="Source Serif 4"/>
              </a:rPr>
              <a:t>When people thought about their own conflict from a distance, for example in the third person, the gap disappeared, in younger and older adults alike.</a:t>
            </a:r>
          </a:p>
          <a:p>
            <a:pPr algn="l">
              <a:spcAft>
                <a:spcPts val="585"/>
              </a:spcAft>
            </a:pPr>
            <a:r>
              <a:rPr sz="1050" b="0" i="0">
                <a:solidFill>
                  <a:srgbClr val="5D5A54"/>
                </a:solidFill>
                <a:latin typeface="Inter Tight"/>
              </a:rPr>
              <a:t>Grossmann and Kross, Psychological Science, 2014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REPAIR KIT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Repair Kit</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Which parts of sorry actually matter.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GUESS THE RANKING</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Which part of an apology matters most?</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"I'm sorry."</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"Here's why it happened."</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did this. It was wrong."</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 won't do it again."</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"Here's how I'll fix it."</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6</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"Will you forgive 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MAKES AN APOLOGY WORK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755 people said</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Taking responsibility.</a:t>
            </a:r>
          </a:p>
          <a:p>
            <a:pPr algn="l">
              <a:spcAft>
                <a:spcPts val="945"/>
              </a:spcAft>
            </a:pPr>
            <a:r>
              <a:rPr sz="1600" b="0" i="0">
                <a:solidFill>
                  <a:srgbClr val="5D5A54"/>
                </a:solidFill>
                <a:latin typeface="Source Serif 4"/>
              </a:rPr>
              <a:t>Specific, with no "if" and no "but." Mattered most.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 offer to fix it.</a:t>
            </a:r>
          </a:p>
          <a:p>
            <a:pPr algn="l">
              <a:spcAft>
                <a:spcPts val="945"/>
              </a:spcAft>
            </a:pPr>
            <a:r>
              <a:rPr sz="1600" b="0" i="0">
                <a:solidFill>
                  <a:srgbClr val="5D5A54"/>
                </a:solidFill>
                <a:latin typeface="Source Serif 4"/>
              </a:rPr>
              <a:t>Delete it, tell the group, make it right.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Regret, explanation, a promise.</a:t>
            </a:r>
          </a:p>
          <a:p>
            <a:pPr algn="l">
              <a:spcAft>
                <a:spcPts val="945"/>
              </a:spcAft>
            </a:pPr>
            <a:r>
              <a:rPr sz="1600" b="0" i="0">
                <a:solidFill>
                  <a:srgbClr val="5D5A54"/>
                </a:solidFill>
                <a:latin typeface="Source Serif 4"/>
              </a:rPr>
              <a:t>All help, about equally.</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Asking forgiveness.</a:t>
            </a:r>
          </a:p>
          <a:p>
            <a:pPr algn="l">
              <a:spcAft>
                <a:spcPts val="945"/>
              </a:spcAft>
            </a:pPr>
            <a:r>
              <a:rPr sz="1600" b="0" i="0">
                <a:solidFill>
                  <a:srgbClr val="5D5A54"/>
                </a:solidFill>
                <a:latin typeface="Source Serif 4"/>
              </a:rPr>
              <a:t>Mattered least. It can feel like pressure.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WHY IT'S SO HARD</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Refusing to apologize feels good. For a minute.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People who refused felt more powerful afterward. The relationship got nothing.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STEP BACK</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fight. Now tell it in the third person.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"Why is Jae so angry at Sam?" instead of "Why is Sam so angry at me?" Private. Write it for yourself.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REPAIR SEQUENCE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Cool down, own it, make it right, listen.</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Cool down first.</a:t>
            </a:r>
          </a:p>
          <a:p>
            <a:pPr algn="l">
              <a:spcAft>
                <a:spcPts val="945"/>
              </a:spcAft>
            </a:pPr>
            <a:r>
              <a:rPr sz="1600" b="0" i="0">
                <a:solidFill>
                  <a:srgbClr val="5D5A54"/>
                </a:solidFill>
                <a:latin typeface="Source Serif 4"/>
              </a:rPr>
              <a:t>Ready when you're curious about their side.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Lead with responsibility.</a:t>
            </a:r>
          </a:p>
          <a:p>
            <a:pPr algn="l">
              <a:spcAft>
                <a:spcPts val="945"/>
              </a:spcAft>
            </a:pPr>
            <a:r>
              <a:rPr sz="1600" b="0" i="0">
                <a:solidFill>
                  <a:srgbClr val="5D5A54"/>
                </a:solidFill>
                <a:latin typeface="Source Serif 4"/>
              </a:rPr>
              <a:t>"I shouldn't have posted your message."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Offer to repair, and do it.</a:t>
            </a:r>
          </a:p>
          <a:p>
            <a:pPr algn="l">
              <a:spcAft>
                <a:spcPts val="945"/>
              </a:spcAft>
            </a:pPr>
            <a:r>
              <a:rPr sz="1600" b="0" i="0">
                <a:solidFill>
                  <a:srgbClr val="5D5A54"/>
                </a:solidFill>
                <a:latin typeface="Source Serif 4"/>
              </a:rPr>
              <a:t>The part people skip.</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Drop the "but."</a:t>
            </a:r>
          </a:p>
          <a:p>
            <a:pPr algn="l">
              <a:spcAft>
                <a:spcPts val="945"/>
              </a:spcAft>
            </a:pPr>
            <a:r>
              <a:rPr sz="1600" b="0" i="0">
                <a:solidFill>
                  <a:srgbClr val="5D5A54"/>
                </a:solidFill>
                <a:latin typeface="Source Serif 4"/>
              </a:rPr>
              <a:t>"Sorry, but you started it" cancels it.</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Listen to understand.</a:t>
            </a:r>
          </a:p>
          <a:p>
            <a:pPr algn="l">
              <a:spcAft>
                <a:spcPts val="945"/>
              </a:spcAft>
            </a:pPr>
            <a:r>
              <a:rPr sz="1600" b="0" i="0">
                <a:solidFill>
                  <a:srgbClr val="5D5A54"/>
                </a:solidFill>
                <a:latin typeface="Source Serif 4"/>
              </a:rPr>
              <a:t>"What was it like from your side?"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WHICH APOLOGY LANDS?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say or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YOU AND MEI</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You posted Mei's private message in the class group chat as a joke. She's furious and hasn't answered since.</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ANDRE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Mocked your accent in front of the team and said sorry. A week later he did it again, and said sorry again.</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TESS AND JORDAN</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JV teammates who haven't really talked since a blowup at practice two weeks ago. A month of season left.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IF YOU GOT HURT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Your side of repair counts too.</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HELPS</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Say it once: "When you ___, I felt ___."</a:t>
            </a:r>
          </a:p>
          <a:p>
            <a:pPr algn="l">
              <a:spcAft>
                <a:spcPts val="855"/>
              </a:spcAft>
            </a:pPr>
            <a:r>
              <a:rPr sz="1900" b="0" i="0">
                <a:solidFill>
                  <a:srgbClr val="1C1B19"/>
                </a:solidFill>
                <a:latin typeface="Source Serif 4"/>
              </a:rPr>
              <a:t>One thing, not a list</a:t>
            </a:r>
          </a:p>
          <a:p>
            <a:pPr algn="l">
              <a:spcAft>
                <a:spcPts val="855"/>
              </a:spcAft>
            </a:pPr>
            <a:r>
              <a:rPr sz="1900" b="0" i="0">
                <a:solidFill>
                  <a:srgbClr val="1C1B19"/>
                </a:solidFill>
                <a:latin typeface="Source Serif 4"/>
              </a:rPr>
              <a:t>Let them answer</a:t>
            </a:r>
          </a:p>
          <a:p>
            <a:pPr algn="l">
              <a:spcAft>
                <a:spcPts val="855"/>
              </a:spcAft>
            </a:pPr>
            <a:r>
              <a:rPr sz="1900" b="0" i="0">
                <a:solidFill>
                  <a:srgbClr val="1C1B19"/>
                </a:solidFill>
                <a:latin typeface="Source Serif 4"/>
              </a:rPr>
              <a:t>Take time to trust again</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WHAT MAKES IT BIGGER</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Fighting over text</a:t>
            </a:r>
          </a:p>
          <a:p>
            <a:pPr algn="l">
              <a:spcAft>
                <a:spcPts val="855"/>
              </a:spcAft>
            </a:pPr>
            <a:r>
              <a:rPr sz="1900" b="0" i="0">
                <a:solidFill>
                  <a:srgbClr val="1C1B19"/>
                </a:solidFill>
                <a:latin typeface="Source Serif 4"/>
              </a:rPr>
              <a:t>Recruiting a team</a:t>
            </a:r>
          </a:p>
          <a:p>
            <a:pPr algn="l">
              <a:spcAft>
                <a:spcPts val="855"/>
              </a:spcAft>
            </a:pPr>
            <a:r>
              <a:rPr sz="1900" b="0" i="0">
                <a:solidFill>
                  <a:srgbClr val="1C1B19"/>
                </a:solidFill>
                <a:latin typeface="Source Serif 4"/>
              </a:rPr>
              <a:t>Bringing up everything ever</a:t>
            </a:r>
          </a:p>
          <a:p>
            <a:pPr algn="l">
              <a:spcAft>
                <a:spcPts val="855"/>
              </a:spcAft>
            </a:pPr>
            <a:r>
              <a:rPr sz="1900" b="0" i="0">
                <a:solidFill>
                  <a:srgbClr val="1C1B19"/>
                </a:solidFill>
                <a:latin typeface="Source Serif 4"/>
              </a:rPr>
              <a:t>Screenshotting and sharing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Draft it messy</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I did, specifically, with no "but." How I'll make it right. What I'll do differently.</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https://rmwtoolkit.github.io/bcds-toolkit/the-repair-kit-high-school.html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