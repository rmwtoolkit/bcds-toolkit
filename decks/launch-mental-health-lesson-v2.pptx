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page is hidden and skipped when you present. The full plan, care notes and research are on the hidden pages at the end of the deck, if you want them.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Something like: "At home, somebody noticed when you skipped dinner. At college, nobody does by default. Today is about building that back on purpose."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MINUTES. Ask them to think, not answer. Let the silence sit for 20 seconds. Then: "If your answer for next year is 'not yet,' that's normal in the first weeks. It's the first thing to work on, and everything today comes back to it." No share-out.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 MINUTES. Solmi pooled 192 studies and 700,000 people. The peak age of onset is mid-adolescence, and new cases keep appearing through the early 20s: exactly when students move, change friends and lose sleep. The 35% (Auerbach) and 37% depression symptoms (Healthy Minds) are screening surveys, not diagnoses; say so. Loneliness is high (52%), and it has improved since 2022.</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 MINUTES. At 18, doctors and counselors generally can't share health information with parents without permission, even on their insurance. Decide with your family what you want shared; release forms exist. A therapist licensed in one state may not be able to keep seeing you in another: ask now. Sleep: about half of college students report daytime sleepiness (Hershner and Chervin). And often a roommate or floormate is the first to notice someone is struggling.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 MINUTES. Half the groups take each card. Imani: she doesn't have to choose between her family's values and getting support. The counseling center, a first-generation office, or a campus chaplain if faith is how she makes sense of things. Email the professor before she falls further behind; tell one person the truth; rebuild one anchor like breakfast. Wes and Arjun: Wes asks directly, "Did you mean you're thinking about killing yourself?" If yes or unsure, 988 or campus safety now, and tell the RA. Either way, walk Arjun to health services about the medication; stopping some medications suddenly can make people feel worse.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MINUTES. On their card, students pick the one they'll do first. If phones are allowed, give them 60 seconds to look up the counseling center at a school they're considering. Walton and Cohen: students who heard that a rough start is common did better for three years. "It's been harder than I expected" is a full sentence on the call home.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Share the student page link; it has the list of numbers to save before move-in. Close with: "If you or someone else ever talks about wanting to die or not seeing the point, call or text 988, use the campus after-hours line, or tell an RA. And if any of this hit close to home today, come find us before you leave."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you want more: this page and the next three are hidden and skipped when you present.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Before you start</a:t>
            </a:r>
          </a:p>
        </p:txBody>
      </p:sp>
      <p:sp>
        <p:nvSpPr>
          <p:cNvPr id="4" name="TextBox 3"/>
          <p:cNvSpPr txBox="1"/>
          <p:nvPr/>
        </p:nvSpPr>
        <p:spPr>
          <a:xfrm>
            <a:off x="548640" y="685800"/>
            <a:ext cx="10972800" cy="73152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Mental Health Without a Safety Net</a:t>
            </a:r>
          </a:p>
        </p:txBody>
      </p:sp>
      <p:sp>
        <p:nvSpPr>
          <p:cNvPr id="5" name="TextBox 4"/>
          <p:cNvSpPr txBox="1"/>
          <p:nvPr/>
        </p:nvSpPr>
        <p:spPr>
          <a:xfrm>
            <a:off x="548640" y="1325880"/>
            <a:ext cx="10972800" cy="365760"/>
          </a:xfrm>
          <a:prstGeom prst="rect">
            <a:avLst/>
          </a:prstGeom>
          <a:noFill/>
        </p:spPr>
        <p:txBody>
          <a:bodyPr wrap="square" anchor="t" lIns="0" rIns="0" tIns="0" bIns="0">
            <a:spAutoFit/>
          </a:bodyPr>
          <a:lstStyle/>
          <a:p>
            <a:pPr algn="l">
              <a:spcAft>
                <a:spcPts val="630"/>
              </a:spcAft>
            </a:pPr>
            <a:r>
              <a:rPr sz="1400" b="0" i="0">
                <a:solidFill>
                  <a:srgbClr val="5D5A54"/>
                </a:solidFill>
                <a:latin typeface="Inter Tight"/>
              </a:rPr>
              <a:t>Upper School  ·  20 minutes (fits a 30-minute senior seminar or advisory, with time for your opening check-in; 10-minute version below)  ·  12th grade, spring of senior year</a:t>
            </a:r>
          </a:p>
        </p:txBody>
      </p:sp>
      <p:sp>
        <p:nvSpPr>
          <p:cNvPr id="6" name="TextBox 5"/>
          <p:cNvSpPr txBox="1"/>
          <p:nvPr/>
        </p:nvSpPr>
        <p:spPr>
          <a:xfrm>
            <a:off x="548640" y="2011680"/>
            <a:ext cx="11064240" cy="4206240"/>
          </a:xfrm>
          <a:prstGeom prst="rect">
            <a:avLst/>
          </a:prstGeom>
          <a:noFill/>
        </p:spPr>
        <p:txBody>
          <a:bodyPr wrap="square" anchor="t" lIns="0" rIns="0" tIns="0" bIns="0">
            <a:spAutoFit/>
          </a:bodyPr>
          <a:lstStyle/>
          <a:p>
            <a:pPr algn="l">
              <a:spcAft>
                <a:spcPts val="900"/>
              </a:spcAft>
            </a:pPr>
            <a:r>
              <a:rPr sz="1200" b="1" i="0">
                <a:solidFill>
                  <a:srgbClr val="0B2D5B"/>
                </a:solidFill>
                <a:latin typeface="Inter Tight"/>
              </a:rPr>
              <a:t>BEFORE YOU START</a:t>
            </a:r>
          </a:p>
          <a:p>
            <a:pPr algn="l">
              <a:spcAft>
                <a:spcPts val="900"/>
              </a:spcAft>
            </a:pPr>
            <a:r>
              <a:rPr sz="2000" b="0" i="0">
                <a:solidFill>
                  <a:srgbClr val="1C1B19"/>
                </a:solidFill>
                <a:latin typeface="Source Serif 4"/>
              </a:rPr>
              <a:t>Students learn that many mental health conditions start between the teens and mid-20s, that college help is opt-in, and they plan what to set up before move-in. Bring index cards, keep the 2 a.m. question private, and have a counselor available afterward because the Wes and Arjun story involves suicide risk.</a:t>
            </a:r>
          </a:p>
          <a:p>
            <a:pPr algn="l">
              <a:spcAft>
                <a:spcPts val="900"/>
              </a:spcAft>
            </a:pPr>
            <a:r>
              <a:rPr sz="2000" b="0" i="0">
                <a:solidFill>
                  <a:srgbClr val="1C1B19"/>
                </a:solidFill>
                <a:latin typeface="Source Serif 4"/>
              </a:rPr>
              <a:t/>
            </a:r>
          </a:p>
          <a:p>
            <a:pPr algn="l">
              <a:spcAft>
                <a:spcPts val="900"/>
              </a:spcAft>
            </a:pPr>
            <a:r>
              <a:rPr sz="1200" b="1" i="0">
                <a:solidFill>
                  <a:srgbClr val="0B2D5B"/>
                </a:solidFill>
                <a:latin typeface="Inter Tight"/>
              </a:rPr>
              <a:t>EVERY STUDENT IN THE ROOM</a:t>
            </a:r>
          </a:p>
          <a:p>
            <a:pPr algn="l">
              <a:spcAft>
                <a:spcPts val="900"/>
              </a:spcAft>
            </a:pPr>
            <a:r>
              <a:rPr sz="2000" b="0" i="0">
                <a:solidFill>
                  <a:srgbClr val="1C1B19"/>
                </a:solidFill>
                <a:latin typeface="Source Serif 4"/>
              </a:rPr>
              <a:t>On the Imani card, say plainly that families and faiths handle mental health very differently, and that getting support doesn't mean choosing against your family's values.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2D5B"/>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MENTAL HEALTH WITHOUT A SAFETY NET</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371600"/>
            <a:ext cx="10515600" cy="2377440"/>
          </a:xfrm>
          <a:prstGeom prst="rect">
            <a:avLst/>
          </a:prstGeom>
          <a:noFill/>
        </p:spPr>
        <p:txBody>
          <a:bodyPr wrap="square" anchor="b" lIns="0" rIns="0" tIns="0" bIns="0">
            <a:spAutoFit/>
          </a:bodyPr>
          <a:lstStyle/>
          <a:p>
            <a:pPr algn="l">
              <a:spcAft>
                <a:spcPts val="2430"/>
              </a:spcAft>
            </a:pPr>
            <a:r>
              <a:rPr sz="5400" b="1" i="0">
                <a:solidFill>
                  <a:srgbClr val="FFFFFF"/>
                </a:solidFill>
                <a:latin typeface="Source Serif 4"/>
              </a:rPr>
              <a:t>Mental Health Without a Safety Net</a:t>
            </a:r>
          </a:p>
        </p:txBody>
      </p:sp>
      <p:sp>
        <p:nvSpPr>
          <p:cNvPr id="6" name="TextBox 5"/>
          <p:cNvSpPr txBox="1"/>
          <p:nvPr/>
        </p:nvSpPr>
        <p:spPr>
          <a:xfrm>
            <a:off x="822960" y="3931920"/>
            <a:ext cx="10515600" cy="914400"/>
          </a:xfrm>
          <a:prstGeom prst="rect">
            <a:avLst/>
          </a:prstGeom>
          <a:noFill/>
        </p:spPr>
        <p:txBody>
          <a:bodyPr wrap="square" anchor="t" lIns="0" rIns="0" tIns="0" bIns="0">
            <a:spAutoFit/>
          </a:bodyPr>
          <a:lstStyle/>
          <a:p>
            <a:pPr algn="l">
              <a:spcAft>
                <a:spcPts val="1080"/>
              </a:spcAft>
            </a:pPr>
            <a:r>
              <a:rPr sz="2400" b="0" i="1">
                <a:solidFill>
                  <a:srgbClr val="E8E4DA"/>
                </a:solidFill>
                <a:latin typeface="Source Serif 4"/>
              </a:rPr>
              <a:t>What changes when nobody signs you up, and what to set up before you go.</a:t>
            </a:r>
          </a:p>
        </p:txBody>
      </p:sp>
      <p:sp>
        <p:nvSpPr>
          <p:cNvPr id="7" name="TextBox 6"/>
          <p:cNvSpPr txBox="1"/>
          <p:nvPr/>
        </p:nvSpPr>
        <p:spPr>
          <a:xfrm>
            <a:off x="822960" y="6035040"/>
            <a:ext cx="7315200" cy="365760"/>
          </a:xfrm>
          <a:prstGeom prst="rect">
            <a:avLst/>
          </a:prstGeom>
          <a:noFill/>
        </p:spPr>
        <p:txBody>
          <a:bodyPr wrap="square" anchor="t" lIns="0" rIns="0" tIns="0" bIns="0">
            <a:spAutoFit/>
          </a:bodyPr>
          <a:lstStyle/>
          <a:p>
            <a:pPr algn="l">
              <a:spcAft>
                <a:spcPts val="585"/>
              </a:spcAft>
            </a:pPr>
            <a:r>
              <a:rPr sz="1300" b="0" i="0">
                <a:solidFill>
                  <a:srgbClr val="E8E4DA"/>
                </a:solidFill>
                <a:latin typeface="Inter Tight"/>
              </a:rPr>
              <a:t>Beaver Upper School · Counseling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JUST FOR YOU</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Rectangle 4"/>
          <p:cNvSpPr/>
          <p:nvPr/>
        </p:nvSpPr>
        <p:spPr>
          <a:xfrm>
            <a:off x="822960" y="1371600"/>
            <a:ext cx="73152" cy="3566160"/>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88720" y="1371600"/>
            <a:ext cx="10058400" cy="3566160"/>
          </a:xfrm>
          <a:prstGeom prst="rect">
            <a:avLst/>
          </a:prstGeom>
          <a:noFill/>
        </p:spPr>
        <p:txBody>
          <a:bodyPr wrap="square" anchor="ctr" lIns="0" rIns="0" tIns="0" bIns="0">
            <a:spAutoFit/>
          </a:bodyPr>
          <a:lstStyle/>
          <a:p>
            <a:pPr algn="l">
              <a:spcAft>
                <a:spcPts val="1800"/>
              </a:spcAft>
            </a:pPr>
            <a:r>
              <a:rPr sz="4000" b="0" i="1">
                <a:solidFill>
                  <a:srgbClr val="1C1B19"/>
                </a:solidFill>
                <a:latin typeface="Source Serif 4"/>
              </a:rPr>
              <a:t>Who would you call at 2 a.m.?</a:t>
            </a:r>
          </a:p>
        </p:txBody>
      </p:sp>
      <p:sp>
        <p:nvSpPr>
          <p:cNvPr id="7" name="TextBox 6"/>
          <p:cNvSpPr txBox="1"/>
          <p:nvPr/>
        </p:nvSpPr>
        <p:spPr>
          <a:xfrm>
            <a:off x="1188720" y="5120640"/>
            <a:ext cx="10058400" cy="914400"/>
          </a:xfrm>
          <a:prstGeom prst="rect">
            <a:avLst/>
          </a:prstGeom>
          <a:noFill/>
        </p:spPr>
        <p:txBody>
          <a:bodyPr wrap="square" anchor="t" lIns="0" rIns="0" tIns="0" bIns="0">
            <a:spAutoFit/>
          </a:bodyPr>
          <a:lstStyle/>
          <a:p>
            <a:pPr algn="l">
              <a:spcAft>
                <a:spcPts val="810"/>
              </a:spcAft>
            </a:pPr>
            <a:r>
              <a:rPr sz="1800" b="0" i="0">
                <a:solidFill>
                  <a:srgbClr val="5D5A54"/>
                </a:solidFill>
                <a:latin typeface="Inter Tight"/>
              </a:rPr>
              <a:t>Someone at school, not only at home, who would pick up, walk over, or notice you didn't come back.</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WHY THE TIMING MATTERS</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914400"/>
            <a:ext cx="10515600" cy="365760"/>
          </a:xfrm>
          <a:prstGeom prst="rect">
            <a:avLst/>
          </a:prstGeom>
          <a:noFill/>
        </p:spPr>
        <p:txBody>
          <a:bodyPr wrap="square" anchor="t" lIns="0" rIns="0" tIns="0" bIns="0">
            <a:spAutoFit/>
          </a:bodyPr>
          <a:lstStyle/>
          <a:p>
            <a:pPr algn="l">
              <a:spcAft>
                <a:spcPts val="630"/>
              </a:spcAft>
            </a:pPr>
            <a:r>
              <a:rPr sz="1400" b="1" i="0">
                <a:solidFill>
                  <a:srgbClr val="0B2D5B"/>
                </a:solidFill>
                <a:latin typeface="Inter Tight"/>
              </a:rPr>
              <a:t>Solmi et al., 2022  ·  Auerbach et al., 2018  ·  Healthy Minds Study, 2024-25</a:t>
            </a:r>
          </a:p>
        </p:txBody>
      </p:sp>
      <p:sp>
        <p:nvSpPr>
          <p:cNvPr id="6" name="TextBox 5"/>
          <p:cNvSpPr txBox="1"/>
          <p:nvPr/>
        </p:nvSpPr>
        <p:spPr>
          <a:xfrm>
            <a:off x="822960" y="1325880"/>
            <a:ext cx="10515600" cy="1097280"/>
          </a:xfrm>
          <a:prstGeom prst="rect">
            <a:avLst/>
          </a:prstGeom>
          <a:noFill/>
        </p:spPr>
        <p:txBody>
          <a:bodyPr wrap="square" anchor="t" lIns="0" rIns="0" tIns="0" bIns="0">
            <a:spAutoFit/>
          </a:bodyPr>
          <a:lstStyle/>
          <a:p>
            <a:pPr algn="l">
              <a:spcAft>
                <a:spcPts val="1440"/>
              </a:spcAft>
            </a:pPr>
            <a:r>
              <a:rPr sz="3200" b="1" i="0">
                <a:solidFill>
                  <a:srgbClr val="1C1B19"/>
                </a:solidFill>
                <a:latin typeface="Source Serif 4"/>
              </a:rPr>
              <a:t>The college years are prime time.</a:t>
            </a:r>
          </a:p>
        </p:txBody>
      </p:sp>
      <p:sp>
        <p:nvSpPr>
          <p:cNvPr id="7" name="TextBox 6"/>
          <p:cNvSpPr txBox="1"/>
          <p:nvPr/>
        </p:nvSpPr>
        <p:spPr>
          <a:xfrm>
            <a:off x="822960" y="2514600"/>
            <a:ext cx="10515600" cy="2194560"/>
          </a:xfrm>
          <a:prstGeom prst="rect">
            <a:avLst/>
          </a:prstGeom>
          <a:noFill/>
        </p:spPr>
        <p:txBody>
          <a:bodyPr wrap="square" anchor="t" lIns="0" rIns="0" tIns="0" bIns="0">
            <a:spAutoFit/>
          </a:bodyPr>
          <a:lstStyle/>
          <a:p>
            <a:pPr algn="l">
              <a:spcAft>
                <a:spcPts val="855"/>
              </a:spcAft>
            </a:pPr>
            <a:r>
              <a:rPr sz="1900" b="0" i="0">
                <a:solidFill>
                  <a:srgbClr val="1C1B19"/>
                </a:solidFill>
                <a:latin typeface="Source Serif 4"/>
              </a:rPr>
              <a:t>•  About a third of conditions have started by 14, close to two-thirds by 25.</a:t>
            </a:r>
          </a:p>
          <a:p>
            <a:pPr algn="l">
              <a:spcAft>
                <a:spcPts val="855"/>
              </a:spcAft>
            </a:pPr>
            <a:r>
              <a:rPr sz="1900" b="0" i="0">
                <a:solidFill>
                  <a:srgbClr val="1C1B19"/>
                </a:solidFill>
                <a:latin typeface="Source Serif 4"/>
              </a:rPr>
              <a:t>•  About 1 in 3 first-years screened positive for a mental health condition.</a:t>
            </a:r>
          </a:p>
          <a:p>
            <a:pPr algn="l">
              <a:spcAft>
                <a:spcPts val="855"/>
              </a:spcAft>
            </a:pPr>
            <a:r>
              <a:rPr sz="1900" b="0" i="0">
                <a:solidFill>
                  <a:srgbClr val="1C1B19"/>
                </a:solidFill>
                <a:latin typeface="Source Serif 4"/>
              </a:rPr>
              <a:t>•  Struggling is common. Staying stuck is the signal.</a:t>
            </a:r>
          </a:p>
        </p:txBody>
      </p:sp>
      <p:sp>
        <p:nvSpPr>
          <p:cNvPr id="8" name="Rectangle 7"/>
          <p:cNvSpPr/>
          <p:nvPr/>
        </p:nvSpPr>
        <p:spPr>
          <a:xfrm>
            <a:off x="822960" y="4892040"/>
            <a:ext cx="73152" cy="1097280"/>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4892040"/>
            <a:ext cx="10241280" cy="1188720"/>
          </a:xfrm>
          <a:prstGeom prst="rect">
            <a:avLst/>
          </a:prstGeom>
          <a:noFill/>
        </p:spPr>
        <p:txBody>
          <a:bodyPr wrap="square" anchor="t" lIns="0" rIns="0" tIns="0" bIns="0">
            <a:spAutoFit/>
          </a:bodyPr>
          <a:lstStyle/>
          <a:p>
            <a:pPr algn="l">
              <a:spcAft>
                <a:spcPts val="855"/>
              </a:spcAft>
            </a:pPr>
            <a:r>
              <a:rPr sz="1200" b="1" i="0">
                <a:solidFill>
                  <a:srgbClr val="F47B20"/>
                </a:solidFill>
                <a:latin typeface="Inter Tight"/>
              </a:rPr>
              <a:t>IN CLASS</a:t>
            </a:r>
          </a:p>
          <a:p>
            <a:pPr algn="l">
              <a:spcAft>
                <a:spcPts val="855"/>
              </a:spcAft>
            </a:pPr>
            <a:r>
              <a:rPr sz="1900" b="0" i="0">
                <a:solidFill>
                  <a:srgbClr val="1C1B19"/>
                </a:solidFill>
                <a:latin typeface="Source Serif 4"/>
              </a:rPr>
              <a:t>You don't need proof it's bad enough. Earlier is easier.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WHAT CHANGES</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91440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Help exists. You have to go get it.</a:t>
            </a:r>
          </a:p>
        </p:txBody>
      </p:sp>
      <p:sp>
        <p:nvSpPr>
          <p:cNvPr id="6" name="Rectangle 5"/>
          <p:cNvSpPr/>
          <p:nvPr/>
        </p:nvSpPr>
        <p:spPr>
          <a:xfrm>
            <a:off x="822960" y="2103120"/>
            <a:ext cx="5120640" cy="393192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2286000"/>
            <a:ext cx="4572000" cy="45720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AT HOME</a:t>
            </a:r>
          </a:p>
        </p:txBody>
      </p:sp>
      <p:sp>
        <p:nvSpPr>
          <p:cNvPr id="8" name="TextBox 7"/>
          <p:cNvSpPr txBox="1"/>
          <p:nvPr/>
        </p:nvSpPr>
        <p:spPr>
          <a:xfrm>
            <a:off x="1097280" y="2788920"/>
            <a:ext cx="4572000" cy="3108960"/>
          </a:xfrm>
          <a:prstGeom prst="rect">
            <a:avLst/>
          </a:prstGeom>
          <a:noFill/>
        </p:spPr>
        <p:txBody>
          <a:bodyPr wrap="square" anchor="t" lIns="0" rIns="0" tIns="0" bIns="0">
            <a:spAutoFit/>
          </a:bodyPr>
          <a:lstStyle/>
          <a:p>
            <a:pPr algn="l">
              <a:spcAft>
                <a:spcPts val="855"/>
              </a:spcAft>
            </a:pPr>
            <a:r>
              <a:rPr sz="1900" b="0" i="0">
                <a:solidFill>
                  <a:srgbClr val="1C1B19"/>
                </a:solidFill>
                <a:latin typeface="Source Serif 4"/>
              </a:rPr>
              <a:t>Someone noticed you skipped dinner</a:t>
            </a:r>
          </a:p>
          <a:p>
            <a:pPr algn="l">
              <a:spcAft>
                <a:spcPts val="855"/>
              </a:spcAft>
            </a:pPr>
            <a:r>
              <a:rPr sz="1900" b="0" i="0">
                <a:solidFill>
                  <a:srgbClr val="1C1B19"/>
                </a:solidFill>
                <a:latin typeface="Source Serif 4"/>
              </a:rPr>
              <a:t>A parent made the appointments</a:t>
            </a:r>
          </a:p>
          <a:p>
            <a:pPr algn="l">
              <a:spcAft>
                <a:spcPts val="855"/>
              </a:spcAft>
            </a:pPr>
            <a:r>
              <a:rPr sz="1900" b="0" i="0">
                <a:solidFill>
                  <a:srgbClr val="1C1B19"/>
                </a:solidFill>
                <a:latin typeface="Source Serif 4"/>
              </a:rPr>
              <a:t>A coach said "You seem off"</a:t>
            </a:r>
          </a:p>
          <a:p>
            <a:pPr algn="l">
              <a:spcAft>
                <a:spcPts val="855"/>
              </a:spcAft>
            </a:pPr>
            <a:r>
              <a:rPr sz="1900" b="0" i="0">
                <a:solidFill>
                  <a:srgbClr val="1C1B19"/>
                </a:solidFill>
                <a:latin typeface="Source Serif 4"/>
              </a:rPr>
              <a:t>Bells, curfew, dinner at six</a:t>
            </a:r>
          </a:p>
        </p:txBody>
      </p:sp>
      <p:sp>
        <p:nvSpPr>
          <p:cNvPr id="9" name="Rectangle 8"/>
          <p:cNvSpPr/>
          <p:nvPr/>
        </p:nvSpPr>
        <p:spPr>
          <a:xfrm>
            <a:off x="6309360" y="2103120"/>
            <a:ext cx="5120640" cy="393192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0" y="2286000"/>
            <a:ext cx="4572000" cy="45720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AT COLLEGE</a:t>
            </a:r>
          </a:p>
        </p:txBody>
      </p:sp>
      <p:sp>
        <p:nvSpPr>
          <p:cNvPr id="11" name="TextBox 10"/>
          <p:cNvSpPr txBox="1"/>
          <p:nvPr/>
        </p:nvSpPr>
        <p:spPr>
          <a:xfrm>
            <a:off x="6583680" y="2788920"/>
            <a:ext cx="4572000" cy="3108960"/>
          </a:xfrm>
          <a:prstGeom prst="rect">
            <a:avLst/>
          </a:prstGeom>
          <a:noFill/>
        </p:spPr>
        <p:txBody>
          <a:bodyPr wrap="square" anchor="t" lIns="0" rIns="0" tIns="0" bIns="0">
            <a:spAutoFit/>
          </a:bodyPr>
          <a:lstStyle/>
          <a:p>
            <a:pPr algn="l">
              <a:spcAft>
                <a:spcPts val="855"/>
              </a:spcAft>
            </a:pPr>
            <a:r>
              <a:rPr sz="1900" b="0" i="0">
                <a:solidFill>
                  <a:srgbClr val="1C1B19"/>
                </a:solidFill>
                <a:latin typeface="Source Serif 4"/>
              </a:rPr>
              <a:t>Nobody notices by default</a:t>
            </a:r>
          </a:p>
          <a:p>
            <a:pPr algn="l">
              <a:spcAft>
                <a:spcPts val="855"/>
              </a:spcAft>
            </a:pPr>
            <a:r>
              <a:rPr sz="1900" b="0" i="0">
                <a:solidFill>
                  <a:srgbClr val="1C1B19"/>
                </a:solidFill>
                <a:latin typeface="Source Serif 4"/>
              </a:rPr>
              <a:t>Counseling is opt-in, with waits</a:t>
            </a:r>
          </a:p>
          <a:p>
            <a:pPr algn="l">
              <a:spcAft>
                <a:spcPts val="855"/>
              </a:spcAft>
            </a:pPr>
            <a:r>
              <a:rPr sz="1900" b="0" i="0">
                <a:solidFill>
                  <a:srgbClr val="1C1B19"/>
                </a:solidFill>
                <a:latin typeface="Source Serif 4"/>
              </a:rPr>
              <a:t>At 18, your health info is yours</a:t>
            </a:r>
          </a:p>
          <a:p>
            <a:pPr algn="l">
              <a:spcAft>
                <a:spcPts val="855"/>
              </a:spcAft>
            </a:pPr>
            <a:r>
              <a:rPr sz="1900" b="0" i="0">
                <a:solidFill>
                  <a:srgbClr val="1C1B19"/>
                </a:solidFill>
                <a:latin typeface="Source Serif 4"/>
              </a:rPr>
              <a:t>Your home therapist may not cross state lines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TWO STORIES</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91440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What would you do?</a:t>
            </a:r>
          </a:p>
        </p:txBody>
      </p:sp>
      <p:sp>
        <p:nvSpPr>
          <p:cNvPr id="6" name="Rectangle 5"/>
          <p:cNvSpPr/>
          <p:nvPr/>
        </p:nvSpPr>
        <p:spPr>
          <a:xfrm>
            <a:off x="822960" y="2103120"/>
            <a:ext cx="5120640" cy="384048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2286000"/>
            <a:ext cx="4663440" cy="36576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IMANI</a:t>
            </a:r>
          </a:p>
        </p:txBody>
      </p:sp>
      <p:sp>
        <p:nvSpPr>
          <p:cNvPr id="8" name="TextBox 7"/>
          <p:cNvSpPr txBox="1"/>
          <p:nvPr/>
        </p:nvSpPr>
        <p:spPr>
          <a:xfrm>
            <a:off x="1051560" y="2743200"/>
            <a:ext cx="4663440" cy="3017520"/>
          </a:xfrm>
          <a:prstGeom prst="rect">
            <a:avLst/>
          </a:prstGeom>
          <a:noFill/>
        </p:spPr>
        <p:txBody>
          <a:bodyPr wrap="square" anchor="t" lIns="0" rIns="0" tIns="0" bIns="0">
            <a:spAutoFit/>
          </a:bodyPr>
          <a:lstStyle/>
          <a:p>
            <a:pPr algn="l">
              <a:spcAft>
                <a:spcPts val="810"/>
              </a:spcAft>
            </a:pPr>
            <a:r>
              <a:rPr sz="1800" b="0" i="0">
                <a:solidFill>
                  <a:srgbClr val="1C1B19"/>
                </a:solidFill>
                <a:latin typeface="Source Serif 4"/>
              </a:rPr>
              <a:t>First in her family to go to college. Five weeks in, she's stopped going to chemistry and eats one meal a day. On the Sunday call she says everything's great. In her family, you handle it yourself or pray about it.</a:t>
            </a:r>
          </a:p>
        </p:txBody>
      </p:sp>
      <p:sp>
        <p:nvSpPr>
          <p:cNvPr id="9" name="Rectangle 8"/>
          <p:cNvSpPr/>
          <p:nvPr/>
        </p:nvSpPr>
        <p:spPr>
          <a:xfrm>
            <a:off x="6217920" y="2103120"/>
            <a:ext cx="5120640" cy="384048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46520" y="2286000"/>
            <a:ext cx="4663440" cy="36576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WES AND ARJUN</a:t>
            </a:r>
          </a:p>
        </p:txBody>
      </p:sp>
      <p:sp>
        <p:nvSpPr>
          <p:cNvPr id="11" name="TextBox 10"/>
          <p:cNvSpPr txBox="1"/>
          <p:nvPr/>
        </p:nvSpPr>
        <p:spPr>
          <a:xfrm>
            <a:off x="6446520" y="2743200"/>
            <a:ext cx="4663440" cy="3017520"/>
          </a:xfrm>
          <a:prstGeom prst="rect">
            <a:avLst/>
          </a:prstGeom>
          <a:noFill/>
        </p:spPr>
        <p:txBody>
          <a:bodyPr wrap="square" anchor="t" lIns="0" rIns="0" tIns="0" bIns="0">
            <a:spAutoFit/>
          </a:bodyPr>
          <a:lstStyle/>
          <a:p>
            <a:pPr algn="l">
              <a:spcAft>
                <a:spcPts val="810"/>
              </a:spcAft>
            </a:pPr>
            <a:r>
              <a:rPr sz="1800" b="0" i="0">
                <a:solidFill>
                  <a:srgbClr val="1C1B19"/>
                </a:solidFill>
                <a:latin typeface="Source Serif 4"/>
              </a:rPr>
              <a:t>Arjun stopped his depression medication when the prescription ran out. He's missed two exams and told Wes, "Honestly, I don't know why I'm here." Wes isn't sure what he meant.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BEFORE MOVE-IN</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1097280"/>
          </a:xfrm>
          <a:prstGeom prst="rect">
            <a:avLst/>
          </a:prstGeom>
          <a:noFill/>
        </p:spPr>
        <p:txBody>
          <a:bodyPr wrap="square" anchor="t" lIns="0" rIns="0" tIns="0" bIns="0">
            <a:spAutoFit/>
          </a:bodyPr>
          <a:lstStyle/>
          <a:p>
            <a:pPr algn="l">
              <a:spcAft>
                <a:spcPts val="1620"/>
              </a:spcAft>
            </a:pPr>
            <a:r>
              <a:rPr sz="3600" b="1" i="0">
                <a:solidFill>
                  <a:srgbClr val="1C1B19"/>
                </a:solidFill>
                <a:latin typeface="Source Serif 4"/>
              </a:rPr>
              <a:t>Set it up this summer.</a:t>
            </a:r>
          </a:p>
        </p:txBody>
      </p:sp>
      <p:sp>
        <p:nvSpPr>
          <p:cNvPr id="6" name="TextBox 5"/>
          <p:cNvSpPr txBox="1"/>
          <p:nvPr/>
        </p:nvSpPr>
        <p:spPr>
          <a:xfrm>
            <a:off x="822960" y="2057400"/>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1</a:t>
            </a:r>
          </a:p>
        </p:txBody>
      </p:sp>
      <p:sp>
        <p:nvSpPr>
          <p:cNvPr id="7" name="TextBox 6"/>
          <p:cNvSpPr txBox="1"/>
          <p:nvPr/>
        </p:nvSpPr>
        <p:spPr>
          <a:xfrm>
            <a:off x="1463040" y="2093976"/>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Plan the handoff</a:t>
            </a:r>
          </a:p>
          <a:p>
            <a:pPr algn="l">
              <a:spcAft>
                <a:spcPts val="945"/>
              </a:spcAft>
            </a:pPr>
            <a:r>
              <a:rPr sz="1600" b="0" i="0">
                <a:solidFill>
                  <a:srgbClr val="5D5A54"/>
                </a:solidFill>
                <a:latin typeface="Source Serif 4"/>
              </a:rPr>
              <a:t>Ask your provider about refills and who takes over.</a:t>
            </a:r>
          </a:p>
        </p:txBody>
      </p:sp>
      <p:sp>
        <p:nvSpPr>
          <p:cNvPr id="8" name="TextBox 7"/>
          <p:cNvSpPr txBox="1"/>
          <p:nvPr/>
        </p:nvSpPr>
        <p:spPr>
          <a:xfrm>
            <a:off x="822960" y="2862072"/>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2</a:t>
            </a:r>
          </a:p>
        </p:txBody>
      </p:sp>
      <p:sp>
        <p:nvSpPr>
          <p:cNvPr id="9" name="TextBox 8"/>
          <p:cNvSpPr txBox="1"/>
          <p:nvPr/>
        </p:nvSpPr>
        <p:spPr>
          <a:xfrm>
            <a:off x="1463040" y="2898648"/>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Find the counseling center</a:t>
            </a:r>
          </a:p>
          <a:p>
            <a:pPr algn="l">
              <a:spcAft>
                <a:spcPts val="945"/>
              </a:spcAft>
            </a:pPr>
            <a:r>
              <a:rPr sz="1600" b="0" i="0">
                <a:solidFill>
                  <a:srgbClr val="5D5A54"/>
                </a:solidFill>
                <a:latin typeface="Source Serif 4"/>
              </a:rPr>
              <a:t>Walk-in hours and the after-hours number, in your phone.</a:t>
            </a:r>
          </a:p>
        </p:txBody>
      </p:sp>
      <p:sp>
        <p:nvSpPr>
          <p:cNvPr id="10" name="TextBox 9"/>
          <p:cNvSpPr txBox="1"/>
          <p:nvPr/>
        </p:nvSpPr>
        <p:spPr>
          <a:xfrm>
            <a:off x="822960" y="3666744"/>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3</a:t>
            </a:r>
          </a:p>
        </p:txBody>
      </p:sp>
      <p:sp>
        <p:nvSpPr>
          <p:cNvPr id="11" name="TextBox 10"/>
          <p:cNvSpPr txBox="1"/>
          <p:nvPr/>
        </p:nvSpPr>
        <p:spPr>
          <a:xfrm>
            <a:off x="1463040" y="3703320"/>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Decide what your family can see</a:t>
            </a:r>
          </a:p>
          <a:p>
            <a:pPr algn="l">
              <a:spcAft>
                <a:spcPts val="945"/>
              </a:spcAft>
            </a:pPr>
            <a:r>
              <a:rPr sz="1600" b="0" i="0">
                <a:solidFill>
                  <a:srgbClr val="5D5A54"/>
                </a:solidFill>
                <a:latin typeface="Source Serif 4"/>
              </a:rPr>
              <a:t>Talk it through, then sign what you choose.</a:t>
            </a:r>
          </a:p>
        </p:txBody>
      </p:sp>
      <p:sp>
        <p:nvSpPr>
          <p:cNvPr id="12" name="TextBox 11"/>
          <p:cNvSpPr txBox="1"/>
          <p:nvPr/>
        </p:nvSpPr>
        <p:spPr>
          <a:xfrm>
            <a:off x="822960" y="4471416"/>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4</a:t>
            </a:r>
          </a:p>
        </p:txBody>
      </p:sp>
      <p:sp>
        <p:nvSpPr>
          <p:cNvPr id="13" name="TextBox 12"/>
          <p:cNvSpPr txBox="1"/>
          <p:nvPr/>
        </p:nvSpPr>
        <p:spPr>
          <a:xfrm>
            <a:off x="1463040" y="4507992"/>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Pick two anchors</a:t>
            </a:r>
          </a:p>
          <a:p>
            <a:pPr algn="l">
              <a:spcAft>
                <a:spcPts val="945"/>
              </a:spcAft>
            </a:pPr>
            <a:r>
              <a:rPr sz="1600" b="0" i="0">
                <a:solidFill>
                  <a:srgbClr val="5D5A54"/>
                </a:solidFill>
                <a:latin typeface="Source Serif 4"/>
              </a:rPr>
              <a:t>Bedtime, breakfast, a run, a weekly call, a club.</a:t>
            </a:r>
          </a:p>
        </p:txBody>
      </p:sp>
      <p:sp>
        <p:nvSpPr>
          <p:cNvPr id="14" name="TextBox 13"/>
          <p:cNvSpPr txBox="1"/>
          <p:nvPr/>
        </p:nvSpPr>
        <p:spPr>
          <a:xfrm>
            <a:off x="822960" y="5276088"/>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5</a:t>
            </a:r>
          </a:p>
        </p:txBody>
      </p:sp>
      <p:sp>
        <p:nvSpPr>
          <p:cNvPr id="15" name="TextBox 14"/>
          <p:cNvSpPr txBox="1"/>
          <p:nvPr/>
        </p:nvSpPr>
        <p:spPr>
          <a:xfrm>
            <a:off x="1463040" y="5312664"/>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Make an appointment, not a decision</a:t>
            </a:r>
          </a:p>
          <a:p>
            <a:pPr algn="l">
              <a:spcAft>
                <a:spcPts val="945"/>
              </a:spcAft>
            </a:pPr>
            <a:r>
              <a:rPr sz="1600" b="0" i="0">
                <a:solidFill>
                  <a:srgbClr val="5D5A54"/>
                </a:solidFill>
                <a:latin typeface="Source Serif 4"/>
              </a:rPr>
              <a:t>One session. Let a professional sort it out.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BEFORE YOU GO</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188720"/>
            <a:ext cx="10515600" cy="914400"/>
          </a:xfrm>
          <a:prstGeom prst="rect">
            <a:avLst/>
          </a:prstGeom>
          <a:noFill/>
        </p:spPr>
        <p:txBody>
          <a:bodyPr wrap="square" anchor="t" lIns="0" rIns="0" tIns="0" bIns="0">
            <a:spAutoFit/>
          </a:bodyPr>
          <a:lstStyle/>
          <a:p>
            <a:pPr algn="l">
              <a:spcAft>
                <a:spcPts val="1620"/>
              </a:spcAft>
            </a:pPr>
            <a:r>
              <a:rPr sz="3600" b="1" i="0">
                <a:solidFill>
                  <a:srgbClr val="1C1B19"/>
                </a:solidFill>
                <a:latin typeface="Source Serif 4"/>
              </a:rPr>
              <a:t>Your 2 a.m. person</a:t>
            </a:r>
          </a:p>
        </p:txBody>
      </p:sp>
      <p:sp>
        <p:nvSpPr>
          <p:cNvPr id="6" name="TextBox 5"/>
          <p:cNvSpPr txBox="1"/>
          <p:nvPr/>
        </p:nvSpPr>
        <p:spPr>
          <a:xfrm>
            <a:off x="822960" y="2286000"/>
            <a:ext cx="10515600" cy="1463040"/>
          </a:xfrm>
          <a:prstGeom prst="rect">
            <a:avLst/>
          </a:prstGeom>
          <a:noFill/>
        </p:spPr>
        <p:txBody>
          <a:bodyPr wrap="square" anchor="t" lIns="0" rIns="0" tIns="0" bIns="0">
            <a:spAutoFit/>
          </a:bodyPr>
          <a:lstStyle/>
          <a:p>
            <a:pPr algn="l">
              <a:spcAft>
                <a:spcPts val="1080"/>
              </a:spcAft>
            </a:pPr>
            <a:r>
              <a:rPr sz="2400" b="0" i="0">
                <a:solidFill>
                  <a:srgbClr val="1C1B19"/>
                </a:solidFill>
                <a:latin typeface="Source Serif 4"/>
              </a:rPr>
              <a:t>Next year, find one at school in the first month.</a:t>
            </a:r>
          </a:p>
        </p:txBody>
      </p:sp>
      <p:sp>
        <p:nvSpPr>
          <p:cNvPr id="7" name="Rectangle 6"/>
          <p:cNvSpPr/>
          <p:nvPr/>
        </p:nvSpPr>
        <p:spPr>
          <a:xfrm>
            <a:off x="822960" y="4023360"/>
            <a:ext cx="10515600" cy="1371600"/>
          </a:xfrm>
          <a:prstGeom prst="rect">
            <a:avLst/>
          </a:prstGeom>
          <a:solidFill>
            <a:srgbClr val="FFFFFF"/>
          </a:solidFill>
          <a:ln w="15875">
            <a:solidFill>
              <a:srgbClr val="1C1B1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4206240"/>
            <a:ext cx="10058400" cy="365760"/>
          </a:xfrm>
          <a:prstGeom prst="rect">
            <a:avLst/>
          </a:prstGeom>
          <a:noFill/>
        </p:spPr>
        <p:txBody>
          <a:bodyPr wrap="square" anchor="t" lIns="0" rIns="0" tIns="0" bIns="0">
            <a:spAutoFit/>
          </a:bodyPr>
          <a:lstStyle/>
          <a:p>
            <a:pPr algn="l">
              <a:spcAft>
                <a:spcPts val="540"/>
              </a:spcAft>
            </a:pPr>
            <a:r>
              <a:rPr sz="1200" b="1" i="0">
                <a:solidFill>
                  <a:srgbClr val="0B2D5B"/>
                </a:solidFill>
                <a:latin typeface="Inter Tight"/>
              </a:rPr>
              <a:t>STUDENT PAGE</a:t>
            </a:r>
          </a:p>
        </p:txBody>
      </p:sp>
      <p:sp>
        <p:nvSpPr>
          <p:cNvPr id="9" name="TextBox 8"/>
          <p:cNvSpPr txBox="1"/>
          <p:nvPr/>
        </p:nvSpPr>
        <p:spPr>
          <a:xfrm>
            <a:off x="1097280" y="4617720"/>
            <a:ext cx="10058400" cy="640080"/>
          </a:xfrm>
          <a:prstGeom prst="rect">
            <a:avLst/>
          </a:prstGeom>
          <a:noFill/>
        </p:spPr>
        <p:txBody>
          <a:bodyPr wrap="square" anchor="t" lIns="0" rIns="0" tIns="0" bIns="0">
            <a:spAutoFit/>
          </a:bodyPr>
          <a:lstStyle/>
          <a:p>
            <a:pPr algn="l">
              <a:spcAft>
                <a:spcPts val="900"/>
              </a:spcAft>
            </a:pPr>
            <a:r>
              <a:rPr sz="2000" b="0" i="0">
                <a:solidFill>
                  <a:srgbClr val="1C1B19"/>
                </a:solidFill>
                <a:latin typeface="Inter Tight"/>
              </a:rPr>
              <a:t>https://rmwtoolkit.github.io/bcds-toolkit/launch-mental-health-high-school.html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Lesson plan</a:t>
            </a:r>
          </a:p>
        </p:txBody>
      </p:sp>
      <p:sp>
        <p:nvSpPr>
          <p:cNvPr id="4" name="TextBox 3"/>
          <p:cNvSpPr txBox="1"/>
          <p:nvPr/>
        </p:nvSpPr>
        <p:spPr>
          <a:xfrm>
            <a:off x="548640" y="685800"/>
            <a:ext cx="10972800" cy="73152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Mental Health Without a Safety Net</a:t>
            </a:r>
          </a:p>
        </p:txBody>
      </p:sp>
      <p:sp>
        <p:nvSpPr>
          <p:cNvPr id="5" name="TextBox 4"/>
          <p:cNvSpPr txBox="1"/>
          <p:nvPr/>
        </p:nvSpPr>
        <p:spPr>
          <a:xfrm>
            <a:off x="548640" y="1325880"/>
            <a:ext cx="10972800" cy="365760"/>
          </a:xfrm>
          <a:prstGeom prst="rect">
            <a:avLst/>
          </a:prstGeom>
          <a:noFill/>
        </p:spPr>
        <p:txBody>
          <a:bodyPr wrap="square" anchor="t" lIns="0" rIns="0" tIns="0" bIns="0">
            <a:spAutoFit/>
          </a:bodyPr>
          <a:lstStyle/>
          <a:p>
            <a:pPr algn="l">
              <a:spcAft>
                <a:spcPts val="630"/>
              </a:spcAft>
            </a:pPr>
            <a:r>
              <a:rPr sz="1400" b="0" i="0">
                <a:solidFill>
                  <a:srgbClr val="5D5A54"/>
                </a:solidFill>
                <a:latin typeface="Inter Tight"/>
              </a:rPr>
              <a:t>Upper School  ·  20 minutes (fits a 30-minute senior seminar or advisory, with time for your opening check-in; 10-minute version below)  ·  12th grade, spring of senior year</a:t>
            </a:r>
          </a:p>
        </p:txBody>
      </p:sp>
      <p:sp>
        <p:nvSpPr>
          <p:cNvPr id="6" name="TextBox 5"/>
          <p:cNvSpPr txBox="1"/>
          <p:nvPr/>
        </p:nvSpPr>
        <p:spPr>
          <a:xfrm>
            <a:off x="548640" y="1828800"/>
            <a:ext cx="5120640" cy="4389120"/>
          </a:xfrm>
          <a:prstGeom prst="rect">
            <a:avLst/>
          </a:prstGeom>
          <a:noFill/>
        </p:spPr>
        <p:txBody>
          <a:bodyPr wrap="square" anchor="t" lIns="0" rIns="0" tIns="0" bIns="0">
            <a:spAutoFit/>
          </a:bodyPr>
          <a:lstStyle/>
          <a:p>
            <a:pPr algn="l">
              <a:spcAft>
                <a:spcPts val="675"/>
              </a:spcAft>
            </a:pPr>
            <a:r>
              <a:rPr sz="1100" b="1" i="0">
                <a:solidFill>
                  <a:srgbClr val="0B2D5B"/>
                </a:solidFill>
                <a:latin typeface="Inter Tight"/>
              </a:rPr>
              <a:t>GOAL</a:t>
            </a:r>
          </a:p>
          <a:p>
            <a:pPr algn="l">
              <a:spcAft>
                <a:spcPts val="675"/>
              </a:spcAft>
            </a:pPr>
            <a:r>
              <a:rPr sz="1500" b="0" i="0">
                <a:solidFill>
                  <a:srgbClr val="1C1B19"/>
                </a:solidFill>
                <a:latin typeface="Source Serif 4"/>
              </a:rPr>
              <a:t>Students understand why the college years are prime time for mental health problems to start, what changes when nobody signs them up for help, and leave with a short list of things to set up before move-in, starting with their 2 a.m. person.</a:t>
            </a:r>
          </a:p>
          <a:p>
            <a:pPr algn="l">
              <a:spcAft>
                <a:spcPts val="675"/>
              </a:spcAft>
            </a:pPr>
            <a:r>
              <a:rPr sz="1500" b="0" i="0">
                <a:solidFill>
                  <a:srgbClr val="1C1B19"/>
                </a:solidFill>
                <a:latin typeface="Source Serif 4"/>
              </a:rPr>
              <a:t/>
            </a:r>
          </a:p>
          <a:p>
            <a:pPr algn="l">
              <a:spcAft>
                <a:spcPts val="675"/>
              </a:spcAft>
            </a:pPr>
            <a:r>
              <a:rPr sz="1100" b="1" i="0">
                <a:solidFill>
                  <a:srgbClr val="0B2D5B"/>
                </a:solidFill>
                <a:latin typeface="Inter Tight"/>
              </a:rPr>
              <a:t>MATERIALS</a:t>
            </a:r>
          </a:p>
          <a:p>
            <a:pPr algn="l">
              <a:spcAft>
                <a:spcPts val="675"/>
              </a:spcAft>
            </a:pPr>
            <a:r>
              <a:rPr sz="1500" b="0" i="0">
                <a:solidFill>
                  <a:srgbClr val="1C1B19"/>
                </a:solidFill>
                <a:latin typeface="Source Serif 4"/>
              </a:rPr>
              <a:t>Index cards, one per student</a:t>
            </a:r>
          </a:p>
          <a:p>
            <a:pPr algn="l">
              <a:spcAft>
                <a:spcPts val="675"/>
              </a:spcAft>
            </a:pPr>
            <a:r>
              <a:rPr sz="1500" b="0" i="0">
                <a:solidFill>
                  <a:srgbClr val="1C1B19"/>
                </a:solidFill>
                <a:latin typeface="Source Serif 4"/>
              </a:rPr>
              <a:t>Phones allowed for the last step (looking up a counseling center)</a:t>
            </a:r>
          </a:p>
          <a:p>
            <a:pPr algn="l">
              <a:spcAft>
                <a:spcPts val="675"/>
              </a:spcAft>
            </a:pPr>
            <a:r>
              <a:rPr sz="1500" b="0" i="0">
                <a:solidFill>
                  <a:srgbClr val="1C1B19"/>
                </a:solidFill>
                <a:latin typeface="Source Serif 4"/>
              </a:rPr>
              <a:t>The student page link (last slide) to share afterward</a:t>
            </a:r>
          </a:p>
        </p:txBody>
      </p:sp>
      <p:sp>
        <p:nvSpPr>
          <p:cNvPr id="7" name="TextBox 6"/>
          <p:cNvSpPr txBox="1"/>
          <p:nvPr/>
        </p:nvSpPr>
        <p:spPr>
          <a:xfrm>
            <a:off x="6126480" y="1828800"/>
            <a:ext cx="5486400" cy="4389120"/>
          </a:xfrm>
          <a:prstGeom prst="rect">
            <a:avLst/>
          </a:prstGeom>
          <a:noFill/>
        </p:spPr>
        <p:txBody>
          <a:bodyPr wrap="square" anchor="t" lIns="0" rIns="0" tIns="0" bIns="0">
            <a:spAutoFit/>
          </a:bodyPr>
          <a:lstStyle/>
          <a:p>
            <a:pPr algn="l">
              <a:spcAft>
                <a:spcPts val="630"/>
              </a:spcAft>
            </a:pPr>
            <a:r>
              <a:rPr sz="1100" b="1" i="0">
                <a:solidFill>
                  <a:srgbClr val="0B2D5B"/>
                </a:solidFill>
                <a:latin typeface="Inter Tight"/>
              </a:rPr>
              <a:t>FLOW</a:t>
            </a:r>
          </a:p>
          <a:p>
            <a:pPr algn="l">
              <a:spcAft>
                <a:spcPts val="630"/>
              </a:spcAft>
            </a:pPr>
            <a:r>
              <a:rPr sz="1300" b="1" i="0">
                <a:solidFill>
                  <a:srgbClr val="F47B20"/>
                </a:solidFill>
                <a:latin typeface="Inter Tight"/>
              </a:rPr>
              <a:t>3 min   </a:t>
            </a:r>
            <a:r>
              <a:rPr sz="1400" b="0" i="0">
                <a:solidFill>
                  <a:srgbClr val="1C1B19"/>
                </a:solidFill>
                <a:latin typeface="Source Serif 4"/>
              </a:rPr>
              <a:t>Who do you call at 2 a.m.? (private)</a:t>
            </a:r>
          </a:p>
          <a:p>
            <a:pPr algn="l">
              <a:spcAft>
                <a:spcPts val="630"/>
              </a:spcAft>
            </a:pPr>
            <a:r>
              <a:rPr sz="1300" b="1" i="0">
                <a:solidFill>
                  <a:srgbClr val="F47B20"/>
                </a:solidFill>
                <a:latin typeface="Inter Tight"/>
              </a:rPr>
              <a:t>4 min   </a:t>
            </a:r>
            <a:r>
              <a:rPr sz="1400" b="0" i="0">
                <a:solidFill>
                  <a:srgbClr val="1C1B19"/>
                </a:solidFill>
                <a:latin typeface="Source Serif 4"/>
              </a:rPr>
              <a:t>Why the timing matters (research)</a:t>
            </a:r>
          </a:p>
          <a:p>
            <a:pPr algn="l">
              <a:spcAft>
                <a:spcPts val="630"/>
              </a:spcAft>
            </a:pPr>
            <a:r>
              <a:rPr sz="1300" b="1" i="0">
                <a:solidFill>
                  <a:srgbClr val="F47B20"/>
                </a:solidFill>
                <a:latin typeface="Inter Tight"/>
              </a:rPr>
              <a:t>4 min   </a:t>
            </a:r>
            <a:r>
              <a:rPr sz="1400" b="0" i="0">
                <a:solidFill>
                  <a:srgbClr val="1C1B19"/>
                </a:solidFill>
                <a:latin typeface="Source Serif 4"/>
              </a:rPr>
              <a:t>What changes when you leave home</a:t>
            </a:r>
          </a:p>
          <a:p>
            <a:pPr algn="l">
              <a:spcAft>
                <a:spcPts val="630"/>
              </a:spcAft>
            </a:pPr>
            <a:r>
              <a:rPr sz="1300" b="1" i="0">
                <a:solidFill>
                  <a:srgbClr val="F47B20"/>
                </a:solidFill>
                <a:latin typeface="Inter Tight"/>
              </a:rPr>
              <a:t>6 min   </a:t>
            </a:r>
            <a:r>
              <a:rPr sz="1400" b="0" i="0">
                <a:solidFill>
                  <a:srgbClr val="1C1B19"/>
                </a:solidFill>
                <a:latin typeface="Source Serif 4"/>
              </a:rPr>
              <a:t>Two stories: Imani, Wes and Arjun</a:t>
            </a:r>
          </a:p>
          <a:p>
            <a:pPr algn="l">
              <a:spcAft>
                <a:spcPts val="630"/>
              </a:spcAft>
            </a:pPr>
            <a:r>
              <a:rPr sz="1300" b="1" i="0">
                <a:solidFill>
                  <a:srgbClr val="F47B20"/>
                </a:solidFill>
                <a:latin typeface="Inter Tight"/>
              </a:rPr>
              <a:t>3 min   </a:t>
            </a:r>
            <a:r>
              <a:rPr sz="1400" b="0" i="0">
                <a:solidFill>
                  <a:srgbClr val="1C1B19"/>
                </a:solidFill>
                <a:latin typeface="Source Serif 4"/>
              </a:rPr>
              <a:t>Set it up before move-in</a:t>
            </a:r>
          </a:p>
          <a:p>
            <a:pPr algn="l">
              <a:spcAft>
                <a:spcPts val="630"/>
              </a:spcAft>
            </a:pPr>
            <a:r>
              <a:rPr sz="1400" b="0" i="0">
                <a:solidFill>
                  <a:srgbClr val="1C1B19"/>
                </a:solidFill>
                <a:latin typeface="Source Serif 4"/>
              </a:rPr>
              <a:t/>
            </a:r>
          </a:p>
          <a:p>
            <a:pPr algn="l">
              <a:spcAft>
                <a:spcPts val="630"/>
              </a:spcAft>
            </a:pPr>
            <a:r>
              <a:rPr sz="1100" b="1" i="0">
                <a:solidFill>
                  <a:srgbClr val="0B2D5B"/>
                </a:solidFill>
                <a:latin typeface="Inter Tight"/>
              </a:rPr>
              <a:t>SHORT ON TIME (10-MINUTE VERSION)</a:t>
            </a:r>
          </a:p>
          <a:p>
            <a:pPr algn="l">
              <a:spcAft>
                <a:spcPts val="630"/>
              </a:spcAft>
            </a:pPr>
            <a:r>
              <a:rPr sz="1400" b="0" i="0">
                <a:solidFill>
                  <a:srgbClr val="1C1B19"/>
                </a:solidFill>
                <a:latin typeface="Source Serif 4"/>
              </a:rPr>
              <a:t>The 2 a.m. question (2), what changes (3), set it up before move-in (5). Skip the stories or hand them out for later.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Before you teach</a:t>
            </a:r>
          </a:p>
        </p:txBody>
      </p:sp>
      <p:sp>
        <p:nvSpPr>
          <p:cNvPr id="4" name="TextBox 3"/>
          <p:cNvSpPr txBox="1"/>
          <p:nvPr/>
        </p:nvSpPr>
        <p:spPr>
          <a:xfrm>
            <a:off x="548640" y="685800"/>
            <a:ext cx="10972800" cy="640080"/>
          </a:xfrm>
          <a:prstGeom prst="rect">
            <a:avLst/>
          </a:prstGeom>
          <a:noFill/>
        </p:spPr>
        <p:txBody>
          <a:bodyPr wrap="square" anchor="t" lIns="0" rIns="0" tIns="0" bIns="0">
            <a:spAutoFit/>
          </a:bodyPr>
          <a:lstStyle/>
          <a:p>
            <a:pPr algn="l">
              <a:spcAft>
                <a:spcPts val="1350"/>
              </a:spcAft>
            </a:pPr>
            <a:r>
              <a:rPr sz="3000" b="1" i="0">
                <a:solidFill>
                  <a:srgbClr val="1C1B19"/>
                </a:solidFill>
                <a:latin typeface="Source Serif 4"/>
              </a:rPr>
              <a:t>Before you teach</a:t>
            </a:r>
          </a:p>
        </p:txBody>
      </p:sp>
      <p:sp>
        <p:nvSpPr>
          <p:cNvPr id="5" name="TextBox 4"/>
          <p:cNvSpPr txBox="1"/>
          <p:nvPr/>
        </p:nvSpPr>
        <p:spPr>
          <a:xfrm>
            <a:off x="548640" y="1463040"/>
            <a:ext cx="5394960" cy="493776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The 2 a.m. question is private.</a:t>
            </a:r>
          </a:p>
          <a:p>
            <a:pPr algn="l">
              <a:spcAft>
                <a:spcPts val="585"/>
              </a:spcAft>
            </a:pPr>
            <a:r>
              <a:rPr sz="1300" b="0" i="0">
                <a:solidFill>
                  <a:srgbClr val="1C1B19"/>
                </a:solidFill>
                <a:latin typeface="Source Serif 4"/>
              </a:rPr>
              <a:t>Pause on it and let the silence work. Some students have nobody in mind, at school or at home. Say "not yet" is normal and is the first thing to work on.</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Some students are already in care.</a:t>
            </a:r>
          </a:p>
          <a:p>
            <a:pPr algn="l">
              <a:spcAft>
                <a:spcPts val="585"/>
              </a:spcAft>
            </a:pPr>
            <a:r>
              <a:rPr sz="1300" b="0" i="0">
                <a:solidFill>
                  <a:srgbClr val="1C1B19"/>
                </a:solidFill>
                <a:latin typeface="Source Serif 4"/>
              </a:rPr>
              <a:t>Students who see a therapist or take medication are in the room. Talk about planning the handoff as ordinary, the way you'd plan for any prescription.</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Wes and Arjun involve suicide risk.</a:t>
            </a:r>
          </a:p>
          <a:p>
            <a:pPr algn="l">
              <a:spcAft>
                <a:spcPts val="585"/>
              </a:spcAft>
            </a:pPr>
            <a:r>
              <a:rPr sz="1300" b="0" i="0">
                <a:solidFill>
                  <a:srgbClr val="1C1B19"/>
                </a:solidFill>
                <a:latin typeface="Source Serif 4"/>
              </a:rPr>
              <a:t>Read the story slowly. Model the direct question ("Did you mean you're thinking about killing yourself?") and say plainly that asking doesn't put the idea in anyone's head. Then say what Wes does next: 988, campus safety, the RA.</a:t>
            </a:r>
          </a:p>
          <a:p>
            <a:pPr algn="l">
              <a:spcAft>
                <a:spcPts val="585"/>
              </a:spcAft>
            </a:pPr>
            <a:r>
              <a:rPr sz="1300" b="0" i="0">
                <a:solidFill>
                  <a:srgbClr val="1C1B19"/>
                </a:solidFill>
                <a:latin typeface="Source Serif 4"/>
              </a:rPr>
              <a:t/>
            </a:r>
          </a:p>
        </p:txBody>
      </p:sp>
      <p:sp>
        <p:nvSpPr>
          <p:cNvPr id="6" name="TextBox 5"/>
          <p:cNvSpPr txBox="1"/>
          <p:nvPr/>
        </p:nvSpPr>
        <p:spPr>
          <a:xfrm>
            <a:off x="6217920" y="1463040"/>
            <a:ext cx="5394960" cy="493776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Screening numbers aren't diagnoses.</a:t>
            </a:r>
          </a:p>
          <a:p>
            <a:pPr algn="l">
              <a:spcAft>
                <a:spcPts val="585"/>
              </a:spcAft>
            </a:pPr>
            <a:r>
              <a:rPr sz="1300" b="0" i="0">
                <a:solidFill>
                  <a:srgbClr val="1C1B19"/>
                </a:solidFill>
                <a:latin typeface="Source Serif 4"/>
              </a:rPr>
              <a:t>The 35% and 37% figures come from screening surveys of symptoms. Say so, so nobody leaves thinking a third of college students have a disorder.</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No screening questions in class.</a:t>
            </a:r>
          </a:p>
          <a:p>
            <a:pPr algn="l">
              <a:spcAft>
                <a:spcPts val="585"/>
              </a:spcAft>
            </a:pPr>
            <a:r>
              <a:rPr sz="1300" b="0" i="0">
                <a:solidFill>
                  <a:srgbClr val="1C1B19"/>
                </a:solidFill>
                <a:latin typeface="Source Serif 4"/>
              </a:rPr>
              <a:t>Don't ask students to rate their own mood or history out loud. Keep it to planning.</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After the lesson.</a:t>
            </a:r>
          </a:p>
          <a:p>
            <a:pPr algn="l">
              <a:spcAft>
                <a:spcPts val="585"/>
              </a:spcAft>
            </a:pPr>
            <a:r>
              <a:rPr sz="1300" b="0" i="0">
                <a:solidFill>
                  <a:srgbClr val="1C1B19"/>
                </a:solidFill>
                <a:latin typeface="Source Serif 4"/>
              </a:rPr>
              <a:t>If a student tells you they're struggling or worried about a friend, walk them to a counselor that day.</a:t>
            </a:r>
          </a:p>
          <a:p>
            <a:pPr algn="l">
              <a:spcAft>
                <a:spcPts val="585"/>
              </a:spcAft>
            </a:pPr>
            <a:r>
              <a:rPr sz="1300" b="0" i="0">
                <a:solidFill>
                  <a:srgbClr val="1C1B19"/>
                </a:solidFill>
                <a:latin typeface="Source Serif 4"/>
              </a:rPr>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Every student in the room</a:t>
            </a:r>
          </a:p>
        </p:txBody>
      </p:sp>
      <p:sp>
        <p:nvSpPr>
          <p:cNvPr id="4" name="TextBox 3"/>
          <p:cNvSpPr txBox="1"/>
          <p:nvPr/>
        </p:nvSpPr>
        <p:spPr>
          <a:xfrm>
            <a:off x="548640" y="685800"/>
            <a:ext cx="10972800" cy="640080"/>
          </a:xfrm>
          <a:prstGeom prst="rect">
            <a:avLst/>
          </a:prstGeom>
          <a:noFill/>
        </p:spPr>
        <p:txBody>
          <a:bodyPr wrap="square" anchor="t" lIns="0" rIns="0" tIns="0" bIns="0">
            <a:spAutoFit/>
          </a:bodyPr>
          <a:lstStyle/>
          <a:p>
            <a:pPr algn="l">
              <a:spcAft>
                <a:spcPts val="1350"/>
              </a:spcAft>
            </a:pPr>
            <a:r>
              <a:rPr sz="3000" b="1" i="0">
                <a:solidFill>
                  <a:srgbClr val="1C1B19"/>
                </a:solidFill>
                <a:latin typeface="Source Serif 4"/>
              </a:rPr>
              <a:t>Every student in the room</a:t>
            </a:r>
          </a:p>
        </p:txBody>
      </p:sp>
      <p:sp>
        <p:nvSpPr>
          <p:cNvPr id="5" name="TextBox 4"/>
          <p:cNvSpPr txBox="1"/>
          <p:nvPr/>
        </p:nvSpPr>
        <p:spPr>
          <a:xfrm>
            <a:off x="548640" y="1325880"/>
            <a:ext cx="10972800" cy="365760"/>
          </a:xfrm>
          <a:prstGeom prst="rect">
            <a:avLst/>
          </a:prstGeom>
          <a:noFill/>
        </p:spPr>
        <p:txBody>
          <a:bodyPr wrap="square" anchor="t" lIns="0" rIns="0" tIns="0" bIns="0">
            <a:spAutoFit/>
          </a:bodyPr>
          <a:lstStyle/>
          <a:p>
            <a:pPr algn="l">
              <a:spcAft>
                <a:spcPts val="630"/>
              </a:spcAft>
            </a:pPr>
            <a:r>
              <a:rPr sz="1400" b="0" i="0">
                <a:solidFill>
                  <a:srgbClr val="5D5A54"/>
                </a:solidFill>
                <a:latin typeface="Inter Tight"/>
              </a:rPr>
              <a:t>Culture, family, identity, ability and money: what to keep in mind for this topic.</a:t>
            </a:r>
          </a:p>
        </p:txBody>
      </p:sp>
      <p:sp>
        <p:nvSpPr>
          <p:cNvPr id="6" name="TextBox 5"/>
          <p:cNvSpPr txBox="1"/>
          <p:nvPr/>
        </p:nvSpPr>
        <p:spPr>
          <a:xfrm>
            <a:off x="548640" y="1828800"/>
            <a:ext cx="5394960" cy="457200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Families talk about mental health differently.</a:t>
            </a:r>
          </a:p>
          <a:p>
            <a:pPr algn="l">
              <a:spcAft>
                <a:spcPts val="585"/>
              </a:spcAft>
            </a:pPr>
            <a:r>
              <a:rPr sz="1300" b="0" i="0">
                <a:solidFill>
                  <a:srgbClr val="1C1B19"/>
                </a:solidFill>
                <a:latin typeface="Source Serif 4"/>
              </a:rPr>
              <a:t>Some families expect to know everything; some never talk about mental health; some handle problems through prayer or keeping it in the family. Present each as a starting point the student gets to work with, not a barrier to be fixed.</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First in the family.</a:t>
            </a:r>
          </a:p>
          <a:p>
            <a:pPr algn="l">
              <a:spcAft>
                <a:spcPts val="585"/>
              </a:spcAft>
            </a:pPr>
            <a:r>
              <a:rPr sz="1300" b="0" i="0">
                <a:solidFill>
                  <a:srgbClr val="1C1B19"/>
                </a:solidFill>
                <a:latin typeface="Source Serif 4"/>
              </a:rPr>
              <a:t>First-generation students may feel they can't say it's hard because of what their family gave up. Name first-generation offices and the line "It's been harder than I expected" as normal.</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Faith as support.</a:t>
            </a:r>
          </a:p>
          <a:p>
            <a:pPr algn="l">
              <a:spcAft>
                <a:spcPts val="585"/>
              </a:spcAft>
            </a:pPr>
            <a:r>
              <a:rPr sz="1300" b="0" i="0">
                <a:solidFill>
                  <a:srgbClr val="1C1B19"/>
                </a:solidFill>
                <a:latin typeface="Source Serif 4"/>
              </a:rPr>
              <a:t>For some students, a campus chaplain, a place of worship or a faith group is the natural first door. Name it alongside the counseling center.</a:t>
            </a:r>
          </a:p>
          <a:p>
            <a:pPr algn="l">
              <a:spcAft>
                <a:spcPts val="585"/>
              </a:spcAft>
            </a:pPr>
            <a:r>
              <a:rPr sz="1300" b="0" i="0">
                <a:solidFill>
                  <a:srgbClr val="1C1B19"/>
                </a:solidFill>
                <a:latin typeface="Source Serif 4"/>
              </a:rPr>
              <a:t/>
            </a:r>
          </a:p>
        </p:txBody>
      </p:sp>
      <p:sp>
        <p:nvSpPr>
          <p:cNvPr id="7" name="TextBox 6"/>
          <p:cNvSpPr txBox="1"/>
          <p:nvPr/>
        </p:nvSpPr>
        <p:spPr>
          <a:xfrm>
            <a:off x="6217920" y="1828800"/>
            <a:ext cx="5394960" cy="457200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Black students and belonging.</a:t>
            </a:r>
          </a:p>
          <a:p>
            <a:pPr algn="l">
              <a:spcAft>
                <a:spcPts val="585"/>
              </a:spcAft>
            </a:pPr>
            <a:r>
              <a:rPr sz="1300" b="0" i="0">
                <a:solidFill>
                  <a:srgbClr val="1C1B19"/>
                </a:solidFill>
                <a:latin typeface="Source Serif 4"/>
              </a:rPr>
              <a:t>The Walton and Cohen study found the biggest gains for Black students. Present it as evidence that a rough start is usually a phase, not as a statement about any group's ability.</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Money and insurance.</a:t>
            </a:r>
          </a:p>
          <a:p>
            <a:pPr algn="l">
              <a:spcAft>
                <a:spcPts val="585"/>
              </a:spcAft>
            </a:pPr>
            <a:r>
              <a:rPr sz="1300" b="0" i="0">
                <a:solidFill>
                  <a:srgbClr val="1C1B19"/>
                </a:solidFill>
                <a:latin typeface="Source Serif 4"/>
              </a:rPr>
              <a:t>Counseling centers are often free or low-cost; outside care and prescriptions may not be. Mention that health services can help with cost so no student assumes help is out of reach.</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Disability and neurodivergence.</a:t>
            </a:r>
          </a:p>
          <a:p>
            <a:pPr algn="l">
              <a:spcAft>
                <a:spcPts val="585"/>
              </a:spcAft>
            </a:pPr>
            <a:r>
              <a:rPr sz="1300" b="0" i="0">
                <a:solidFill>
                  <a:srgbClr val="1C1B19"/>
                </a:solidFill>
                <a:latin typeface="Source Serif 4"/>
              </a:rPr>
              <a:t>Students with ADHD, learning differences or chronic illness lose their high school supports too. Disability services must be contacted by the student; plan that like the counseling handoff.</a:t>
            </a:r>
          </a:p>
          <a:p>
            <a:pPr algn="l">
              <a:spcAft>
                <a:spcPts val="585"/>
              </a:spcAft>
            </a:pPr>
            <a:r>
              <a:rPr sz="1300" b="0" i="0">
                <a:solidFill>
                  <a:srgbClr val="1C1B19"/>
                </a:solidFill>
                <a:latin typeface="Source Serif 4"/>
              </a:rPr>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Background</a:t>
            </a:r>
          </a:p>
        </p:txBody>
      </p:sp>
      <p:sp>
        <p:nvSpPr>
          <p:cNvPr id="4" name="TextBox 3"/>
          <p:cNvSpPr txBox="1"/>
          <p:nvPr/>
        </p:nvSpPr>
        <p:spPr>
          <a:xfrm>
            <a:off x="548640" y="685800"/>
            <a:ext cx="10972800" cy="640080"/>
          </a:xfrm>
          <a:prstGeom prst="rect">
            <a:avLst/>
          </a:prstGeom>
          <a:noFill/>
        </p:spPr>
        <p:txBody>
          <a:bodyPr wrap="square" anchor="t" lIns="0" rIns="0" tIns="0" bIns="0">
            <a:spAutoFit/>
          </a:bodyPr>
          <a:lstStyle/>
          <a:p>
            <a:pPr algn="l">
              <a:spcAft>
                <a:spcPts val="1350"/>
              </a:spcAft>
            </a:pPr>
            <a:r>
              <a:rPr sz="3000" b="1" i="0">
                <a:solidFill>
                  <a:srgbClr val="1C1B19"/>
                </a:solidFill>
                <a:latin typeface="Source Serif 4"/>
              </a:rPr>
              <a:t>What the research says</a:t>
            </a:r>
          </a:p>
        </p:txBody>
      </p:sp>
      <p:sp>
        <p:nvSpPr>
          <p:cNvPr id="5" name="TextBox 4"/>
          <p:cNvSpPr txBox="1"/>
          <p:nvPr/>
        </p:nvSpPr>
        <p:spPr>
          <a:xfrm>
            <a:off x="548640" y="1463040"/>
            <a:ext cx="5394960" cy="4937760"/>
          </a:xfrm>
          <a:prstGeom prst="rect">
            <a:avLst/>
          </a:prstGeom>
          <a:noFill/>
        </p:spPr>
        <p:txBody>
          <a:bodyPr wrap="square" anchor="t" lIns="0" rIns="0" tIns="0" bIns="0">
            <a:spAutoFit/>
          </a:bodyPr>
          <a:lstStyle/>
          <a:p>
            <a:pPr algn="l">
              <a:spcAft>
                <a:spcPts val="585"/>
              </a:spcAft>
            </a:pPr>
            <a:r>
              <a:rPr sz="1300" b="0" i="0">
                <a:solidFill>
                  <a:srgbClr val="1C1B19"/>
                </a:solidFill>
                <a:latin typeface="Source Serif 4"/>
              </a:rPr>
              <a:t>Pooling 192 studies and more than 700,000 people, about a third of people who ever have a mental health condition already had symptoms by 14, and close to two-thirds by 25. The peak age of onset is mid-adolescence.</a:t>
            </a:r>
          </a:p>
          <a:p>
            <a:pPr algn="l">
              <a:spcAft>
                <a:spcPts val="585"/>
              </a:spcAft>
            </a:pPr>
            <a:r>
              <a:rPr sz="1050" b="0" i="0">
                <a:solidFill>
                  <a:srgbClr val="5D5A54"/>
                </a:solidFill>
                <a:latin typeface="Inter Tight"/>
              </a:rPr>
              <a:t>Solmi et al., 2022</a:t>
            </a:r>
          </a:p>
          <a:p>
            <a:pPr algn="l">
              <a:spcAft>
                <a:spcPts val="585"/>
              </a:spcAft>
            </a:pPr>
            <a:r>
              <a:rPr sz="1300" b="0" i="0">
                <a:solidFill>
                  <a:srgbClr val="1C1B19"/>
                </a:solidFill>
                <a:latin typeface="Source Serif 4"/>
              </a:rPr>
              <a:t>35% of first-year students across 19 colleges in 8 countries screened positive for a lifetime mental health condition, and 31% for one in the past year.</a:t>
            </a:r>
          </a:p>
          <a:p>
            <a:pPr algn="l">
              <a:spcAft>
                <a:spcPts val="585"/>
              </a:spcAft>
            </a:pPr>
            <a:r>
              <a:rPr sz="1050" b="0" i="0">
                <a:solidFill>
                  <a:srgbClr val="5D5A54"/>
                </a:solidFill>
                <a:latin typeface="Inter Tight"/>
              </a:rPr>
              <a:t>Auerbach et al., WHO World Mental Health International College Student Project, 2018</a:t>
            </a:r>
          </a:p>
          <a:p>
            <a:pPr algn="l">
              <a:spcAft>
                <a:spcPts val="585"/>
              </a:spcAft>
            </a:pPr>
            <a:r>
              <a:rPr sz="1300" b="0" i="0">
                <a:solidFill>
                  <a:srgbClr val="1C1B19"/>
                </a:solidFill>
                <a:latin typeface="Source Serif 4"/>
              </a:rPr>
              <a:t>In 2024 to 2025, 37% of US college students had moderate to severe depression symptoms, 32% had moderate to severe anxiety, and 52% reported high loneliness. These are screening surveys, and the numbers have improved since 2022.</a:t>
            </a:r>
          </a:p>
          <a:p>
            <a:pPr algn="l">
              <a:spcAft>
                <a:spcPts val="585"/>
              </a:spcAft>
            </a:pPr>
            <a:r>
              <a:rPr sz="1050" b="0" i="0">
                <a:solidFill>
                  <a:srgbClr val="5D5A54"/>
                </a:solidFill>
                <a:latin typeface="Inter Tight"/>
              </a:rPr>
              <a:t>Healthy Minds Study, 2024 to 2025 report</a:t>
            </a:r>
          </a:p>
        </p:txBody>
      </p:sp>
      <p:sp>
        <p:nvSpPr>
          <p:cNvPr id="6" name="TextBox 5"/>
          <p:cNvSpPr txBox="1"/>
          <p:nvPr/>
        </p:nvSpPr>
        <p:spPr>
          <a:xfrm>
            <a:off x="6217920" y="1463040"/>
            <a:ext cx="5394960" cy="4937760"/>
          </a:xfrm>
          <a:prstGeom prst="rect">
            <a:avLst/>
          </a:prstGeom>
          <a:noFill/>
        </p:spPr>
        <p:txBody>
          <a:bodyPr wrap="square" anchor="t" lIns="0" rIns="0" tIns="0" bIns="0">
            <a:spAutoFit/>
          </a:bodyPr>
          <a:lstStyle/>
          <a:p>
            <a:pPr algn="l">
              <a:spcAft>
                <a:spcPts val="585"/>
              </a:spcAft>
            </a:pPr>
            <a:r>
              <a:rPr sz="1300" b="0" i="0">
                <a:solidFill>
                  <a:srgbClr val="1C1B19"/>
                </a:solidFill>
                <a:latin typeface="Source Serif 4"/>
              </a:rPr>
              <a:t>In a review of college sleep research, about half of students reported daytime sleepiness and most weren't getting enough sleep, which is tied to lower grades and worse mood.</a:t>
            </a:r>
          </a:p>
          <a:p>
            <a:pPr algn="l">
              <a:spcAft>
                <a:spcPts val="585"/>
              </a:spcAft>
            </a:pPr>
            <a:r>
              <a:rPr sz="1050" b="0" i="0">
                <a:solidFill>
                  <a:srgbClr val="5D5A54"/>
                </a:solidFill>
                <a:latin typeface="Inter Tight"/>
              </a:rPr>
              <a:t>Hershner and Chervin, 2014</a:t>
            </a:r>
          </a:p>
          <a:p>
            <a:pPr algn="l">
              <a:spcAft>
                <a:spcPts val="585"/>
              </a:spcAft>
            </a:pPr>
            <a:r>
              <a:rPr sz="1300" b="0" i="0">
                <a:solidFill>
                  <a:srgbClr val="1C1B19"/>
                </a:solidFill>
                <a:latin typeface="Source Serif 4"/>
              </a:rPr>
              <a:t>First-year students who read that worries about belonging are common and fade with time did better over the next three years. Black students who got the message earned higher grades, cutting the racial achievement gap roughly in half, and reported better health. It was one small study at one school.</a:t>
            </a:r>
          </a:p>
          <a:p>
            <a:pPr algn="l">
              <a:spcAft>
                <a:spcPts val="585"/>
              </a:spcAft>
            </a:pPr>
            <a:r>
              <a:rPr sz="1050" b="0" i="0">
                <a:solidFill>
                  <a:srgbClr val="5D5A54"/>
                </a:solidFill>
                <a:latin typeface="Inter Tight"/>
              </a:rPr>
              <a:t>Walton and Cohen, Science, 2011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