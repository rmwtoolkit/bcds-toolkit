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"You've heard the hype and the scare version. Today is what the research shows, including what it hasn't shown yet." Say nobody will be asked about their own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face down and read a few aloud. Sort them on the board into "sounds like hype," "sounds like a scare story," and "not sure." Expect: cures depression, microdosing helps focus, you can get stuck, it's natural so it's safe, gas-station gummies. Come back to the "not sure" pile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Psilocybin and LSD switch on serotonin 2A receptors, packed into the cortex. Areas that normally keep each other in check lose their grip. The 2012 imaging study found psilocybin lowered activity in the inner-narrator hub, and the bigger the drop, the stronger the trip. The weakened link to the posterior cingulate is tied to losing the sense of self: some people find it freeing, others terrifying, and nobody picks in advance. The thalamus works like a sound engineer deciding which tracks reach awareness. None of it can be switched off once it starts; it lasts 4 to 12 hours. Ask: "Why would the same experience feel freeing to one person and terrifying to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Students vote by moving to three spots, or hold up 1, 2 or 3 fingers. After each vote, share the research. 1, half the story: in a 2021 trial of 59 adults with long-term depression, two psilocybin sessions with therapy did about as well as six weeks of an antidepressant, and weren't significantly better on the main measure. "Cure" goes past the evidence. Trials screen out anyone with a family history of psychosis, use pure measured doses, keep monitors in the room, and enroll adults only. 2, mostly wrong: in a self-blinded study, real microdoses and empty capsules worked about the same. Expectation did most of the work. 3, half the story: addiction risk is low; psychological risk is real. Ask: "Why does a breakthrough headline spread faster than a careful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Add the two less common harms: for people with a personal or family history of psychosis, schizophrenia or bipolar disorder, a trip can set off an episode that doesn't end when the drug wears off. And a small number of people keep seeing visual changes for weeks or longer (HPPD). The Diamond Shruumz products turned out to contain high levels of muscimol, a compound from a different mushroom. Mention the Indigenous ceremony point here if it hasn't come up: a tradition with guides and preparation is a different thing from a store gummy.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One card per group, then report back. Kai: pass, and put the energy into sleep and practice tests. Microdoses mostly matched placebo, and he can't see the dose. Amara: stay with her, move somewhere quieter, and find the medical tent. Medical staff are there to help, and Massachusetts' Good Samaritan law protects people who call for help with an overdose from possession charges. Diego: tell him the research is real, and this isn't it. Trials use screening, pure doses and therapy. Help him reach a counselor or doctor. Handle Diego gently; someone in the room may feel like him.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Have pairs practice step 3 out loud, one calm sentence repeated. Calm and repeated beats clever. For step 4, list: hurting themselves, can't be calmed, seizure, chest pain, trouble breathing, or getting sick after an unknown product. For an emotional crisis without physical danger, 988 is there any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Go back to the "not sure" pile from the start and answer any you can. Share the take-home link on the slide. It has the brain areas, the research, the four questions to ask, the hard-trip steps, and who to talk to, including after hours.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Mushrooms and Psychedelics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what psychedelics change in the brain, why promising adult trials don't mean a gummy is safe, and how to help a friend through a hard trip. Run the headline vote as media literacy, keep it about research rather than anyone's experience, and if a student says they plan to self-treat depression, connect them with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Indigenous communities use psychedelic plants in ceremony with their own traditions, some students have a family history of psychosis or bipolar disorder, and some are struggling with depression; keep all three in mind.</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Headline vs. reality (8), what can go wrong (5), the hard-trip steps (4),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MUSHROOMS AND PSYCHEDELICS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Mushrooms and Psychedelics</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Miracle cure or brain damage? Neither is the full story.</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TURN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What have you heard about mushrooms or psychedelics?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thing per card. No names.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WORKS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Four areas where the trip happens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Medial prefrontal cortex.</a:t>
            </a:r>
          </a:p>
          <a:p>
            <a:pPr algn="l">
              <a:spcAft>
                <a:spcPts val="945"/>
              </a:spcAft>
            </a:pPr>
            <a:r>
              <a:rPr sz="1600" b="0" i="0">
                <a:solidFill>
                  <a:srgbClr val="5D5A54"/>
                </a:solidFill>
                <a:latin typeface="Source Serif 4"/>
              </a:rPr>
              <a:t>Your inner narrator quiets down.</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Posterior cingulate.</a:t>
            </a:r>
          </a:p>
          <a:p>
            <a:pPr algn="l">
              <a:spcAft>
                <a:spcPts val="945"/>
              </a:spcAft>
            </a:pPr>
            <a:r>
              <a:rPr sz="1600" b="0" i="0">
                <a:solidFill>
                  <a:srgbClr val="5D5A54"/>
                </a:solidFill>
                <a:latin typeface="Source Serif 4"/>
              </a:rPr>
              <a:t>Its link to the narrator weakens. The sense of self can slip.</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Thalamus.</a:t>
            </a:r>
          </a:p>
          <a:p>
            <a:pPr algn="l">
              <a:spcAft>
                <a:spcPts val="945"/>
              </a:spcAft>
            </a:pPr>
            <a:r>
              <a:rPr sz="1600" b="0" i="0">
                <a:solidFill>
                  <a:srgbClr val="5D5A54"/>
                </a:solidFill>
                <a:latin typeface="Source Serif 4"/>
              </a:rPr>
              <a:t>The filter lets more in, less sorted.</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Visual cortex.</a:t>
            </a:r>
          </a:p>
          <a:p>
            <a:pPr algn="l">
              <a:spcAft>
                <a:spcPts val="945"/>
              </a:spcAft>
            </a:pPr>
            <a:r>
              <a:rPr sz="1600" b="0" i="0">
                <a:solidFill>
                  <a:srgbClr val="5D5A54"/>
                </a:solidFill>
                <a:latin typeface="Source Serif 4"/>
              </a:rPr>
              <a:t>Patterns, motion and color that aren't there.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HEADLINE VS. REALITY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Whole story, half the story, or wrong?</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"Magic mushrooms cure depression."</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"Microdosing makes you calmer and more creative."</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"Psychedelics aren't addictive, so they're harmless."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CAN GO WRONG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Low addiction risk. Real psychological risk.</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DURING</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Hard trips: panic for hours, no exit</a:t>
            </a:r>
          </a:p>
          <a:p>
            <a:pPr algn="l">
              <a:spcAft>
                <a:spcPts val="855"/>
              </a:spcAft>
            </a:pPr>
            <a:r>
              <a:rPr sz="1900" b="0" i="0">
                <a:solidFill>
                  <a:srgbClr val="1C1B19"/>
                </a:solidFill>
                <a:latin typeface="Source Serif 4"/>
              </a:rPr>
              <a:t>Accidents: roads, water, heights</a:t>
            </a:r>
          </a:p>
          <a:p>
            <a:pPr algn="l">
              <a:spcAft>
                <a:spcPts val="855"/>
              </a:spcAft>
            </a:pPr>
            <a:r>
              <a:rPr sz="1900" b="0" i="0">
                <a:solidFill>
                  <a:srgbClr val="1C1B19"/>
                </a:solidFill>
                <a:latin typeface="Source Serif 4"/>
              </a:rPr>
              <a:t>Mixing makes it harder to predict</a:t>
            </a:r>
          </a:p>
          <a:p>
            <a:pPr algn="l">
              <a:spcAft>
                <a:spcPts val="855"/>
              </a:spcAft>
            </a:pPr>
            <a:r>
              <a:rPr sz="1900" b="0" i="0">
                <a:solidFill>
                  <a:srgbClr val="1C1B19"/>
                </a:solidFill>
                <a:latin typeface="Source Serif 4"/>
              </a:rPr>
              <a:t>It doesn't end when the party does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WHAT'S IN THE BAG</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Gummies may not hold psilocybin</a:t>
            </a:r>
          </a:p>
          <a:p>
            <a:pPr algn="l">
              <a:spcAft>
                <a:spcPts val="855"/>
              </a:spcAft>
            </a:pPr>
            <a:r>
              <a:rPr sz="1900" b="0" i="0">
                <a:solidFill>
                  <a:srgbClr val="1C1B19"/>
                </a:solidFill>
                <a:latin typeface="Source Serif 4"/>
              </a:rPr>
              <a:t>2024 recall: 48 illnesses, 27 hospitalized</a:t>
            </a:r>
          </a:p>
          <a:p>
            <a:pPr algn="l">
              <a:spcAft>
                <a:spcPts val="855"/>
              </a:spcAft>
            </a:pPr>
            <a:r>
              <a:rPr sz="1900" b="0" i="0">
                <a:solidFill>
                  <a:srgbClr val="1C1B19"/>
                </a:solidFill>
                <a:latin typeface="Source Serif 4"/>
              </a:rPr>
              <a:t>Teen poison center calls up 317%</a:t>
            </a:r>
          </a:p>
          <a:p>
            <a:pPr algn="l">
              <a:spcAft>
                <a:spcPts val="855"/>
              </a:spcAft>
            </a:pPr>
            <a:r>
              <a:rPr sz="1900" b="0" i="0">
                <a:solidFill>
                  <a:srgbClr val="1C1B19"/>
                </a:solidFill>
                <a:latin typeface="Source Serif 4"/>
              </a:rPr>
              <a:t>Sold in a store doesn't mean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SITUATIONS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KAI</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older cousin offers him a "microdose" capsule for focus the week of AP exams.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AMARA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summer festival, her friend took mushrooms an hour ago and keeps saying she's dying.</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DIEGO</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felt low for months. He read psilocybin treats depression and plans to try mushrooms this weekend.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SOMEONE IS HAVING A HARD TRIP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Stay, lower the noise, keep it simple.</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Stay with them.</a:t>
            </a:r>
          </a:p>
          <a:p>
            <a:pPr algn="l">
              <a:spcAft>
                <a:spcPts val="945"/>
              </a:spcAft>
            </a:pPr>
            <a:r>
              <a:rPr sz="1600" b="0" i="0">
                <a:solidFill>
                  <a:srgbClr val="5D5A54"/>
                </a:solidFill>
                <a:latin typeface="Source Serif 4"/>
              </a:rPr>
              <a:t>Hand off by name if you must step away.</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Turn the input down.</a:t>
            </a:r>
          </a:p>
          <a:p>
            <a:pPr algn="l">
              <a:spcAft>
                <a:spcPts val="945"/>
              </a:spcAft>
            </a:pPr>
            <a:r>
              <a:rPr sz="1600" b="0" i="0">
                <a:solidFill>
                  <a:srgbClr val="5D5A54"/>
                </a:solidFill>
                <a:latin typeface="Source Serif 4"/>
              </a:rPr>
              <a:t>Quieter, dimmer, sitting down.</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Say the same few things.</a:t>
            </a:r>
          </a:p>
          <a:p>
            <a:pPr algn="l">
              <a:spcAft>
                <a:spcPts val="945"/>
              </a:spcAft>
            </a:pPr>
            <a:r>
              <a:rPr sz="1600" b="0" i="0">
                <a:solidFill>
                  <a:srgbClr val="5D5A54"/>
                </a:solidFill>
                <a:latin typeface="Source Serif 4"/>
              </a:rPr>
              <a:t>"You took something. It'll wear off. I'm here."</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Know when to get help.</a:t>
            </a:r>
          </a:p>
          <a:p>
            <a:pPr algn="l">
              <a:spcAft>
                <a:spcPts val="945"/>
              </a:spcAft>
            </a:pPr>
            <a:r>
              <a:rPr sz="1600" b="0" i="0">
                <a:solidFill>
                  <a:srgbClr val="5D5A54"/>
                </a:solidFill>
                <a:latin typeface="Source Serif 4"/>
              </a:rPr>
              <a:t>Injury, seizure, chest pain, can't be calmed: 911.</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Check in the next day.</a:t>
            </a:r>
          </a:p>
          <a:p>
            <a:pPr algn="l">
              <a:spcAft>
                <a:spcPts val="945"/>
              </a:spcAft>
            </a:pPr>
            <a:r>
              <a:rPr sz="1600" b="0" i="0">
                <a:solidFill>
                  <a:srgbClr val="5D5A54"/>
                </a:solidFill>
                <a:latin typeface="Source Serif 4"/>
              </a:rPr>
              <a:t>Some people feel shaky for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Pick one headline you've heard. What would you need to know before believing it?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https://rmwtoolkit.github.io/bcds-toolkit/mushrooms-and-psychedelics-high-school.html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Mushrooms and Psychedelics</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what psilocybin and LSD change in the brain, read psychedelic headlines critically (promising adult trials versus unscreened use), and know what to do for a friend having a hard trip. The tone is curious and evidence-first, avoiding both hype and scare stories.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Board space for a three-column headline vote</a:t>
            </a:r>
          </a:p>
          <a:p>
            <a:pPr algn="l">
              <a:spcAft>
                <a:spcPts val="675"/>
              </a:spcAft>
            </a:pPr>
            <a:r>
              <a:rPr sz="1500" b="0" i="0">
                <a:solidFill>
                  <a:srgbClr val="1C1B19"/>
                </a:solidFill>
                <a:latin typeface="Source Serif 4"/>
              </a:rPr>
              <a:t>Index cards for the exit card</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What have you heard? (anonymous cards)</a:t>
            </a:r>
          </a:p>
          <a:p>
            <a:pPr algn="l">
              <a:spcAft>
                <a:spcPts val="630"/>
              </a:spcAft>
            </a:pPr>
            <a:r>
              <a:rPr sz="1300" b="1" i="0">
                <a:solidFill>
                  <a:srgbClr val="F47B20"/>
                </a:solidFill>
                <a:latin typeface="Inter Tight"/>
              </a:rPr>
              <a:t>8 min   </a:t>
            </a:r>
            <a:r>
              <a:rPr sz="1400" b="0" i="0">
                <a:solidFill>
                  <a:srgbClr val="1C1B19"/>
                </a:solidFill>
                <a:latin typeface="Source Serif 4"/>
              </a:rPr>
              <a:t>Four areas where the trip happens</a:t>
            </a:r>
          </a:p>
          <a:p>
            <a:pPr algn="l">
              <a:spcAft>
                <a:spcPts val="630"/>
              </a:spcAft>
            </a:pPr>
            <a:r>
              <a:rPr sz="1300" b="1" i="0">
                <a:solidFill>
                  <a:srgbClr val="F47B20"/>
                </a:solidFill>
                <a:latin typeface="Inter Tight"/>
              </a:rPr>
              <a:t>10 min   </a:t>
            </a:r>
            <a:r>
              <a:rPr sz="1400" b="0" i="0">
                <a:solidFill>
                  <a:srgbClr val="1C1B19"/>
                </a:solidFill>
                <a:latin typeface="Source Serif 4"/>
              </a:rPr>
              <a:t>Headline vs. reality (vote)</a:t>
            </a:r>
          </a:p>
          <a:p>
            <a:pPr algn="l">
              <a:spcAft>
                <a:spcPts val="630"/>
              </a:spcAft>
            </a:pPr>
            <a:r>
              <a:rPr sz="1300" b="1" i="0">
                <a:solidFill>
                  <a:srgbClr val="F47B20"/>
                </a:solidFill>
                <a:latin typeface="Inter Tight"/>
              </a:rPr>
              <a:t>5 min   </a:t>
            </a:r>
            <a:r>
              <a:rPr sz="1400" b="0" i="0">
                <a:solidFill>
                  <a:srgbClr val="1C1B19"/>
                </a:solidFill>
                <a:latin typeface="Source Serif 4"/>
              </a:rPr>
              <a:t>What can go wrong, and what's in the bag</a:t>
            </a:r>
          </a:p>
          <a:p>
            <a:pPr algn="l">
              <a:spcAft>
                <a:spcPts val="630"/>
              </a:spcAft>
            </a:pPr>
            <a:r>
              <a:rPr sz="1300" b="1" i="0">
                <a:solidFill>
                  <a:srgbClr val="F47B20"/>
                </a:solidFill>
                <a:latin typeface="Inter Tight"/>
              </a:rPr>
              <a:t>7 min   </a:t>
            </a:r>
            <a:r>
              <a:rPr sz="1400" b="0" i="0">
                <a:solidFill>
                  <a:srgbClr val="1C1B19"/>
                </a:solidFill>
                <a:latin typeface="Source Serif 4"/>
              </a:rPr>
              <a:t>Three situations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Helping someone through a hard trip</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Headline vs. reality (8), what can go wrong (5), the hard-trip steps (4), exit card (3).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Run it as media literacy.</a:t>
            </a:r>
          </a:p>
          <a:p>
            <a:pPr algn="l">
              <a:spcAft>
                <a:spcPts val="585"/>
              </a:spcAft>
            </a:pPr>
            <a:r>
              <a:rPr sz="1300" b="0" i="0">
                <a:solidFill>
                  <a:srgbClr val="1C1B19"/>
                </a:solidFill>
                <a:latin typeface="Source Serif 4"/>
              </a:rPr>
              <a:t>The headline vote works because it's about how claims spread. Keep the focus there and off anyone's personal experience.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Give the research its due.</a:t>
            </a:r>
          </a:p>
          <a:p>
            <a:pPr algn="l">
              <a:spcAft>
                <a:spcPts val="585"/>
              </a:spcAft>
            </a:pPr>
            <a:r>
              <a:rPr sz="1300" b="0" i="0">
                <a:solidFill>
                  <a:srgbClr val="1C1B19"/>
                </a:solidFill>
                <a:latin typeface="Source Serif 4"/>
              </a:rPr>
              <a:t>Early adult trials are real and promising. Students who've heard the podcasts will trust you more if you say so before adding the limits.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students who are struggling.</a:t>
            </a:r>
          </a:p>
          <a:p>
            <a:pPr algn="l">
              <a:spcAft>
                <a:spcPts val="585"/>
              </a:spcAft>
            </a:pPr>
            <a:r>
              <a:rPr sz="1300" b="0" i="0">
                <a:solidFill>
                  <a:srgbClr val="1C1B19"/>
                </a:solidFill>
                <a:latin typeface="Source Serif 4"/>
              </a:rPr>
              <a:t>A student who's felt low for months may see psilocybin as hope. If someone says they plan to treat their own depression, thank them and connect them with a counselor that day. The real research involves screening and therapy.</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Family history matters here.</a:t>
            </a:r>
          </a:p>
          <a:p>
            <a:pPr algn="l">
              <a:spcAft>
                <a:spcPts val="585"/>
              </a:spcAft>
            </a:pPr>
            <a:r>
              <a:rPr sz="1300" b="0" i="0">
                <a:solidFill>
                  <a:srgbClr val="1C1B19"/>
                </a:solidFill>
                <a:latin typeface="Source Serif 4"/>
              </a:rPr>
              <a:t>Psychosis, schizophrenia or bipolar disorder in a parent or sibling raises the risk. Mention it as information, and offer the nurse or a counselor to anyone who wants to talk it through privately.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the emergency line.</a:t>
            </a:r>
          </a:p>
          <a:p>
            <a:pPr algn="l">
              <a:spcAft>
                <a:spcPts val="585"/>
              </a:spcAft>
            </a:pPr>
            <a:r>
              <a:rPr sz="1300" b="0" i="0">
                <a:solidFill>
                  <a:srgbClr val="1C1B19"/>
                </a:solidFill>
                <a:latin typeface="Source Serif 4"/>
              </a:rPr>
              <a:t>Hurting themselves or someone else, a seizure, chest pain, trouble breathing, or getting very sick after a product: 911 or event medical staff. An emotional crisis without physical danger: 988.</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 questions about legality.</a:t>
            </a:r>
          </a:p>
          <a:p>
            <a:pPr algn="l">
              <a:spcAft>
                <a:spcPts val="585"/>
              </a:spcAft>
            </a:pPr>
            <a:r>
              <a:rPr sz="1300" b="0" i="0">
                <a:solidFill>
                  <a:srgbClr val="1C1B19"/>
                </a:solidFill>
                <a:latin typeface="Source Serif 4"/>
              </a:rPr>
              <a:t>Psilocybin and LSD are illegal in Massachusetts. In 2024 about 57% of voters rejected legalizing psilocybin and some other natural psychedelics. State it and move on.</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Indigenous traditions.</a:t>
            </a:r>
          </a:p>
          <a:p>
            <a:pPr algn="l">
              <a:spcAft>
                <a:spcPts val="585"/>
              </a:spcAft>
            </a:pPr>
            <a:r>
              <a:rPr sz="1300" b="0" i="0">
                <a:solidFill>
                  <a:srgbClr val="1C1B19"/>
                </a:solidFill>
                <a:latin typeface="Source Serif 4"/>
              </a:rPr>
              <a:t>Some Indigenous communities have used psychedelic plants and mushrooms in ceremony for centuries, with guides, rules and preparation. Treat that as its own thing, separate from a party or a store gummy, and never as a joke.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mental health history.</a:t>
            </a:r>
          </a:p>
          <a:p>
            <a:pPr algn="l">
              <a:spcAft>
                <a:spcPts val="585"/>
              </a:spcAft>
            </a:pPr>
            <a:r>
              <a:rPr sz="1300" b="0" i="0">
                <a:solidFill>
                  <a:srgbClr val="1C1B19"/>
                </a:solidFill>
                <a:latin typeface="Source Serif 4"/>
              </a:rPr>
              <a:t>Some students know a parent or sibling has bipolar disorder or schizophrenia; some don't know their family history at all, including students who were adopted or are in foster care. Offer "if you don't know, that's worth finding out" gently.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and culture.</a:t>
            </a:r>
          </a:p>
          <a:p>
            <a:pPr algn="l">
              <a:spcAft>
                <a:spcPts val="585"/>
              </a:spcAft>
            </a:pPr>
            <a:r>
              <a:rPr sz="1300" b="0" i="0">
                <a:solidFill>
                  <a:srgbClr val="1C1B19"/>
                </a:solidFill>
                <a:latin typeface="Source Serif 4"/>
              </a:rPr>
              <a:t>For some families any drug talk is off limits; others see natural remedies as safer than medicine. Keep the facts about the brain and leave values to the family.</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Access to mental health care.</a:t>
            </a:r>
          </a:p>
          <a:p>
            <a:pPr algn="l">
              <a:spcAft>
                <a:spcPts val="585"/>
              </a:spcAft>
            </a:pPr>
            <a:r>
              <a:rPr sz="1300" b="0" i="0">
                <a:solidFill>
                  <a:srgbClr val="1C1B19"/>
                </a:solidFill>
                <a:latin typeface="Source Serif 4"/>
              </a:rPr>
              <a:t>Students without easy access to therapy may see a mushroom as the only treatment they can reach. Point them to the counselor and free options.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Students with ADHD or anxiety may hear microdosing pitched for focus or calm. The blinded study found real microdoses and empty capsules worked about the same.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Mixed names and situations.</a:t>
            </a:r>
          </a:p>
          <a:p>
            <a:pPr algn="l">
              <a:spcAft>
                <a:spcPts val="585"/>
              </a:spcAft>
            </a:pPr>
            <a:r>
              <a:rPr sz="1300" b="0" i="0">
                <a:solidFill>
                  <a:srgbClr val="1C1B19"/>
                </a:solidFill>
                <a:latin typeface="Source Serif 4"/>
              </a:rPr>
              <a:t>Keep the scenario names and settings varied. Festivals, family gatherings and school weeks all fit.</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Psilocybin and LSD act mainly on serotonin 2A receptors, which are packed into the cortex.</a:t>
            </a:r>
          </a:p>
          <a:p>
            <a:pPr algn="l">
              <a:spcAft>
                <a:spcPts val="585"/>
              </a:spcAft>
            </a:pPr>
            <a:r>
              <a:rPr sz="1050" b="0" i="0">
                <a:solidFill>
                  <a:srgbClr val="5D5A54"/>
                </a:solidFill>
                <a:latin typeface="Inter Tight"/>
              </a:rPr>
              <a:t>Nichols, Pharmacological Reviews, 2016</a:t>
            </a:r>
          </a:p>
          <a:p>
            <a:pPr algn="l">
              <a:spcAft>
                <a:spcPts val="585"/>
              </a:spcAft>
            </a:pPr>
            <a:r>
              <a:rPr sz="1300" b="0" i="0">
                <a:solidFill>
                  <a:srgbClr val="1C1B19"/>
                </a:solidFill>
                <a:latin typeface="Source Serif 4"/>
              </a:rPr>
              <a:t>In brain imaging, psilocybin lowered activity in the medial prefrontal cortex and weakened its connection with the posterior cingulate; the bigger the drop, the stronger the trip.</a:t>
            </a:r>
          </a:p>
          <a:p>
            <a:pPr algn="l">
              <a:spcAft>
                <a:spcPts val="585"/>
              </a:spcAft>
            </a:pPr>
            <a:r>
              <a:rPr sz="1050" b="0" i="0">
                <a:solidFill>
                  <a:srgbClr val="5D5A54"/>
                </a:solidFill>
                <a:latin typeface="Inter Tight"/>
              </a:rPr>
              <a:t>Carhart-Harris et al., PNAS, 2012</a:t>
            </a:r>
          </a:p>
          <a:p>
            <a:pPr algn="l">
              <a:spcAft>
                <a:spcPts val="585"/>
              </a:spcAft>
            </a:pPr>
            <a:r>
              <a:rPr sz="1300" b="0" i="0">
                <a:solidFill>
                  <a:srgbClr val="1C1B19"/>
                </a:solidFill>
                <a:latin typeface="Source Serif 4"/>
              </a:rPr>
              <a:t>59 adults with long-term depression got two psilocybin sessions or six weeks of a standard antidepressant, both with therapy. Psilocybin did about as well and wasn't significantly better on the main measure.</a:t>
            </a:r>
          </a:p>
          <a:p>
            <a:pPr algn="l">
              <a:spcAft>
                <a:spcPts val="585"/>
              </a:spcAft>
            </a:pPr>
            <a:r>
              <a:rPr sz="1050" b="0" i="0">
                <a:solidFill>
                  <a:srgbClr val="5D5A54"/>
                </a:solidFill>
                <a:latin typeface="Inter Tight"/>
              </a:rPr>
              <a:t>Carhart-Harris et al., New England Journal of Medicine, 2021</a:t>
            </a:r>
          </a:p>
          <a:p>
            <a:pPr algn="l">
              <a:spcAft>
                <a:spcPts val="585"/>
              </a:spcAft>
            </a:pPr>
            <a:r>
              <a:rPr sz="1300" b="0" i="0">
                <a:solidFill>
                  <a:srgbClr val="1C1B19"/>
                </a:solidFill>
                <a:latin typeface="Source Serif 4"/>
              </a:rPr>
              <a:t>Research guidelines screen out anyone with a personal or family history of psychosis, use measured doses of pure drug, and keep trained monitors present. Overwhelming distress is the most likely risk.</a:t>
            </a:r>
          </a:p>
          <a:p>
            <a:pPr algn="l">
              <a:spcAft>
                <a:spcPts val="585"/>
              </a:spcAft>
            </a:pPr>
            <a:r>
              <a:rPr sz="1050" b="0" i="0">
                <a:solidFill>
                  <a:srgbClr val="5D5A54"/>
                </a:solidFill>
                <a:latin typeface="Inter Tight"/>
              </a:rPr>
              <a:t>Johnson, Richards and Griffiths, Journal of Psychopharmacology, 2008</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self-blinded study, people microdosing with real doses and people taking empty capsules improved about the same over four weeks.</a:t>
            </a:r>
          </a:p>
          <a:p>
            <a:pPr algn="l">
              <a:spcAft>
                <a:spcPts val="585"/>
              </a:spcAft>
            </a:pPr>
            <a:r>
              <a:rPr sz="1050" b="0" i="0">
                <a:solidFill>
                  <a:srgbClr val="5D5A54"/>
                </a:solidFill>
                <a:latin typeface="Inter Tight"/>
              </a:rPr>
              <a:t>Szigeti et al., eLife, 2021</a:t>
            </a:r>
          </a:p>
          <a:p>
            <a:pPr algn="l">
              <a:spcAft>
                <a:spcPts val="585"/>
              </a:spcAft>
            </a:pPr>
            <a:r>
              <a:rPr sz="1300" b="0" i="0">
                <a:solidFill>
                  <a:srgbClr val="1C1B19"/>
                </a:solidFill>
                <a:latin typeface="Source Serif 4"/>
              </a:rPr>
              <a:t>Poison center calls about psilocybin among 12 to 17 year olds rose 317% between 2019 and 2023.</a:t>
            </a:r>
          </a:p>
          <a:p>
            <a:pPr algn="l">
              <a:spcAft>
                <a:spcPts val="585"/>
              </a:spcAft>
            </a:pPr>
            <a:r>
              <a:rPr sz="1050" b="0" i="0">
                <a:solidFill>
                  <a:srgbClr val="5D5A54"/>
                </a:solidFill>
                <a:latin typeface="Inter Tight"/>
              </a:rPr>
              <a:t>Rockhill et al., Annals of Internal Medicine, 2025</a:t>
            </a:r>
          </a:p>
          <a:p>
            <a:pPr algn="l">
              <a:spcAft>
                <a:spcPts val="585"/>
              </a:spcAft>
            </a:pPr>
            <a:r>
              <a:rPr sz="1300" b="0" i="0">
                <a:solidFill>
                  <a:srgbClr val="1C1B19"/>
                </a:solidFill>
                <a:latin typeface="Source Serif 4"/>
              </a:rPr>
              <a:t>Diamond Shruumz chocolates and gummies were recalled in 2024 after at least 48 illnesses in 24 states, including seizures, 27 hospitalizations and one possible death.</a:t>
            </a:r>
          </a:p>
          <a:p>
            <a:pPr algn="l">
              <a:spcAft>
                <a:spcPts val="585"/>
              </a:spcAft>
            </a:pPr>
            <a:r>
              <a:rPr sz="1050" b="0" i="0">
                <a:solidFill>
                  <a:srgbClr val="5D5A54"/>
                </a:solidFill>
                <a:latin typeface="Inter Tight"/>
              </a:rPr>
              <a:t>U.S. Food and Drug Administration, 2024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