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and the next three are hidden. They stay in the deck for you and are skipped when you present.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OF THE OPENING 3 MINUTES. Open plainly. Something like: "You all know the word upstander. Today is about why it's so hard in the moment, and what makes the difference." Say up front that nobody will share real incidents or real names, and that everything today is optional to say out loud.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(with the title). Collect the cards, shuffle them, and tally out loud. Most circles land mostly on yes. That's the point to make: freezing is common, and it usually means you got stuck somewhere, which is what the next slide is about. If anyone wrote more than yes or no, read it privately afterward, and if it points to something ongoing, follow up with a counselor that day. Hand the cards back blank side up, or have a fresh card ready for the private line later.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Psychologists Bibb Latané and John Darley mapped these steps in 1970. Every gate is a place to drop out and a place to get through. Tell the 1968 intercom study: students heard someone seem to have a seizure. Alone, 85% went for help before the call cut off. When they thought four others could hear, 31% did. That's gate 3: everyone assumes someone else has it. Pair-share for two minutes: "Which gate do you get stuck at most?" Expect gate 2 ("it's just a joke"), gate 3 ("someone else will") and gate 4 ("I don't know what to say"). Add that online every gate gets harder: it's easy not to notice, easy to call it a joke, easy to assume someone else will report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On playgrounds, when peers did step in, it stopped 57% of the time. Those were younger kids, and high school is more complicated, but the people watching hold a lot of power. More good news: in security footage of 219 real public fights in three countries, at least one bystander helped in 9 of 10. A review of more than 7,700 people found friends who notice together act more. And in 56 New Jersey middle schools, small groups of students who took a public stand cut reported conflict by 25% in a year, most when they were students others paid attention to. Ask: "Why might friends step in more than strangers?" Expect: you can look at each other, you have backup, you're less worried about looking weird.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This is gate 4: know a move. You don't need a speech. Distract interrupts without confronting anyone. Delegate is using your resources. Direct is one sentence, then move on, and only if it feels safe for you. Delay is never too late, and people remember who did it. Say out loud that what's safe can depend on who you are: a comment that costs one student nothing might cost another more. All four count. Including someone who keeps ending up on the edge counts too. Name what usually backfires: getting physical (get an adult), and forwarding something to show it's wrong (sharing spreads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Talk through all three as a circle, or give each pair one. More than one answer works; the best one is the one you'd actually do. Locker room: "Bro, chill" and change the subject, or check on him after: "That was out of line. You good?" Laughing so it isn't awkward keeps it going. Party: walk over with "Hey, we're heading to the kitchen, come with us," or get a couple of friends or the host to step in together. "It's not my business" is gate 3. Class chat: a reaction is still joining in. Good moves are screenshotting it for an adult and sharing it nowhere else, posting "not okay, delete it" if that feels safe, and checking on Wei. Keep the locker room talk on the move, not on the body or the comment.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Gate 4 is easier when the line is ready before you need it. Offer examples if students are stuck: "Not funny." "I'm not sending that around." "Would you say that if they were standing here?" "You okay? That was messed up." Nobody shares unless they want to. If someone offers theirs, thank them and move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MINUTE. Share the student page link (post it on your advisory page too). It has the five gates, the four moves, a private check-in, and who to talk to. Close with: "Everyone has frozen. A late check-in still counts." Remind students that the same person getting targeted over and over, or worrying they'll be next, is a good reason to talk to a counselor.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Lesson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Speaking Up</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20 minutes (fits a 30-minute advisory, with time for your opening check-in; 10-minute version below)  ·  Any grade</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Students can name the five gates between seeing something and doing something, explain why freezing is common, and pick one of four moves (distract, delegate, direct, delay) that is safe for them, with a line ready before they need it. Nobody shares a real incident or a real name.</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Index cards: one per student, for the anonymous yes/no and the private line</a:t>
            </a:r>
          </a:p>
          <a:p>
            <a:pPr algn="l">
              <a:spcAft>
                <a:spcPts val="675"/>
              </a:spcAft>
            </a:pPr>
            <a:r>
              <a:rPr sz="1500" b="0" i="0">
                <a:solidFill>
                  <a:srgbClr val="1C1B19"/>
                </a:solidFill>
                <a:latin typeface="Source Serif 4"/>
              </a:rPr>
              <a:t>A board or sheet of paper for the tally</a:t>
            </a:r>
          </a:p>
          <a:p>
            <a:pPr algn="l">
              <a:spcAft>
                <a:spcPts val="675"/>
              </a:spcAft>
            </a:pPr>
            <a:r>
              <a:rPr sz="1500" b="0" i="0">
                <a:solidFill>
                  <a:srgbClr val="1C1B19"/>
                </a:solidFill>
                <a:latin typeface="Source Serif 4"/>
              </a:rPr>
              <a:t>The student page link (last slide) to share after advisory</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3 min   </a:t>
            </a:r>
            <a:r>
              <a:rPr sz="1400" b="0" i="0">
                <a:solidFill>
                  <a:srgbClr val="1C1B19"/>
                </a:solidFill>
                <a:latin typeface="Source Serif 4"/>
              </a:rPr>
              <a:t>Have you ever frozen? (anonymous cards)</a:t>
            </a:r>
          </a:p>
          <a:p>
            <a:pPr algn="l">
              <a:spcAft>
                <a:spcPts val="630"/>
              </a:spcAft>
            </a:pPr>
            <a:r>
              <a:rPr sz="1300" b="1" i="0">
                <a:solidFill>
                  <a:srgbClr val="F47B20"/>
                </a:solidFill>
                <a:latin typeface="Inter Tight"/>
              </a:rPr>
              <a:t>4 min   </a:t>
            </a:r>
            <a:r>
              <a:rPr sz="1400" b="0" i="0">
                <a:solidFill>
                  <a:srgbClr val="1C1B19"/>
                </a:solidFill>
                <a:latin typeface="Source Serif 4"/>
              </a:rPr>
              <a:t>Five gates (pair-share: where do you get stuck?)</a:t>
            </a:r>
          </a:p>
          <a:p>
            <a:pPr algn="l">
              <a:spcAft>
                <a:spcPts val="630"/>
              </a:spcAft>
            </a:pPr>
            <a:r>
              <a:rPr sz="1300" b="1" i="0">
                <a:solidFill>
                  <a:srgbClr val="F47B20"/>
                </a:solidFill>
                <a:latin typeface="Inter Tight"/>
              </a:rPr>
              <a:t>3 min   </a:t>
            </a:r>
            <a:r>
              <a:rPr sz="1400" b="0" i="0">
                <a:solidFill>
                  <a:srgbClr val="1C1B19"/>
                </a:solidFill>
                <a:latin typeface="Source Serif 4"/>
              </a:rPr>
              <a:t>Someone usually steps in, and it works</a:t>
            </a:r>
          </a:p>
          <a:p>
            <a:pPr algn="l">
              <a:spcAft>
                <a:spcPts val="630"/>
              </a:spcAft>
            </a:pPr>
            <a:r>
              <a:rPr sz="1300" b="1" i="0">
                <a:solidFill>
                  <a:srgbClr val="F47B20"/>
                </a:solidFill>
                <a:latin typeface="Inter Tight"/>
              </a:rPr>
              <a:t>2 min   </a:t>
            </a:r>
            <a:r>
              <a:rPr sz="1400" b="0" i="0">
                <a:solidFill>
                  <a:srgbClr val="1C1B19"/>
                </a:solidFill>
                <a:latin typeface="Source Serif 4"/>
              </a:rPr>
              <a:t>Four ways to step in</a:t>
            </a:r>
          </a:p>
          <a:p>
            <a:pPr algn="l">
              <a:spcAft>
                <a:spcPts val="630"/>
              </a:spcAft>
            </a:pPr>
            <a:r>
              <a:rPr sz="1300" b="1" i="0">
                <a:solidFill>
                  <a:srgbClr val="F47B20"/>
                </a:solidFill>
                <a:latin typeface="Inter Tight"/>
              </a:rPr>
              <a:t>5 min   </a:t>
            </a:r>
            <a:r>
              <a:rPr sz="1400" b="0" i="0">
                <a:solidFill>
                  <a:srgbClr val="1C1B19"/>
                </a:solidFill>
                <a:latin typeface="Source Serif 4"/>
              </a:rPr>
              <a:t>Three moments (scenario talk)</a:t>
            </a:r>
          </a:p>
          <a:p>
            <a:pPr algn="l">
              <a:spcAft>
                <a:spcPts val="630"/>
              </a:spcAft>
            </a:pPr>
            <a:r>
              <a:rPr sz="1300" b="1" i="0">
                <a:solidFill>
                  <a:srgbClr val="F47B20"/>
                </a:solidFill>
                <a:latin typeface="Inter Tight"/>
              </a:rPr>
              <a:t>2 min   </a:t>
            </a:r>
            <a:r>
              <a:rPr sz="1400" b="0" i="0">
                <a:solidFill>
                  <a:srgbClr val="1C1B19"/>
                </a:solidFill>
                <a:latin typeface="Source Serif 4"/>
              </a:rPr>
              <a:t>Your line (private card)</a:t>
            </a:r>
          </a:p>
          <a:p>
            <a:pPr algn="l">
              <a:spcAft>
                <a:spcPts val="630"/>
              </a:spcAft>
            </a:pPr>
            <a:r>
              <a:rPr sz="1300" b="1" i="0">
                <a:solidFill>
                  <a:srgbClr val="F47B20"/>
                </a:solidFill>
                <a:latin typeface="Inter Tight"/>
              </a:rPr>
              <a:t>1 min   </a:t>
            </a:r>
            <a:r>
              <a:rPr sz="1400" b="0" i="0">
                <a:solidFill>
                  <a:srgbClr val="1C1B19"/>
                </a:solidFill>
                <a:latin typeface="Source Serif 4"/>
              </a:rPr>
              <a:t>One move, and the student page link</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SHORT ON TIME (10-MINUTE CHECK-IN)</a:t>
            </a:r>
          </a:p>
          <a:p>
            <a:pPr algn="l">
              <a:spcAft>
                <a:spcPts val="630"/>
              </a:spcAft>
            </a:pPr>
            <a:r>
              <a:rPr sz="1400" b="0" i="0">
                <a:solidFill>
                  <a:srgbClr val="1C1B19"/>
                </a:solidFill>
                <a:latin typeface="Source Serif 4"/>
              </a:rPr>
              <a:t>Anonymous cards and the tally (3), the five gates with a quick pair-share (3), one scenario with the four moves (3), close and the link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teach</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teach</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No real incidents, no real names.</a:t>
            </a:r>
          </a:p>
          <a:p>
            <a:pPr algn="l">
              <a:spcAft>
                <a:spcPts val="585"/>
              </a:spcAft>
            </a:pPr>
            <a:r>
              <a:rPr sz="1300" b="0" i="0">
                <a:solidFill>
                  <a:srgbClr val="1C1B19"/>
                </a:solidFill>
                <a:latin typeface="Source Serif 4"/>
              </a:rPr>
              <a:t>Use only the moments on the slides. Don't ask students to describe something they saw or did. Someone in your circle may be the target of something right now, and someone may have been part of it.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If a real situation comes up, take it out of the circle.</a:t>
            </a:r>
          </a:p>
          <a:p>
            <a:pPr algn="l">
              <a:spcAft>
                <a:spcPts val="585"/>
              </a:spcAft>
            </a:pPr>
            <a:r>
              <a:rPr sz="1300" b="0" i="0">
                <a:solidFill>
                  <a:srgbClr val="1C1B19"/>
                </a:solidFill>
                <a:latin typeface="Source Serif 4"/>
              </a:rPr>
              <a:t>If a student names something ongoing, thank them, say you want to help with it privately, and move on. Follow up that day with a counselor or dean.</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Know what needs an adult right away.</a:t>
            </a:r>
          </a:p>
          <a:p>
            <a:pPr algn="l">
              <a:spcAft>
                <a:spcPts val="585"/>
              </a:spcAft>
            </a:pPr>
            <a:r>
              <a:rPr sz="1300" b="0" i="0">
                <a:solidFill>
                  <a:srgbClr val="1C1B19"/>
                </a:solidFill>
                <a:latin typeface="Source Serif 4"/>
              </a:rPr>
              <a:t>Someone being physically hurt or threatened, private or sexual images being shared (real or AI-made), or someone saying they want to hurt themselves or others. Don't ask about these in advisory. Any disclosure goes to a counselor the same day.</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Telling an adult will feel like snitching to some students.</a:t>
            </a:r>
          </a:p>
          <a:p>
            <a:pPr algn="l">
              <a:spcAft>
                <a:spcPts val="585"/>
              </a:spcAft>
            </a:pPr>
            <a:r>
              <a:rPr sz="1300" b="0" i="0">
                <a:solidFill>
                  <a:srgbClr val="1C1B19"/>
                </a:solidFill>
                <a:latin typeface="Source Serif 4"/>
              </a:rPr>
              <a:t>Name that worry out loud. Delegating means bringing in someone with more power, and it counts as stepping in. Say plainly what happens at Beaver when a student reports something, so it feels less like a leap.</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Leave room for past silence.</a:t>
            </a:r>
          </a:p>
          <a:p>
            <a:pPr algn="l">
              <a:spcAft>
                <a:spcPts val="585"/>
              </a:spcAft>
            </a:pPr>
            <a:r>
              <a:rPr sz="1300" b="0" i="0">
                <a:solidFill>
                  <a:srgbClr val="1C1B19"/>
                </a:solidFill>
                <a:latin typeface="Source Serif 4"/>
              </a:rPr>
              <a:t>Most students have frozen at least once, and some have laughed along. Keep shame out of it. A late check-in still counts, and what matters is the next time.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Don't rank the moves.</a:t>
            </a:r>
          </a:p>
          <a:p>
            <a:pPr algn="l">
              <a:spcAft>
                <a:spcPts val="585"/>
              </a:spcAft>
            </a:pPr>
            <a:r>
              <a:rPr sz="1300" b="0" i="0">
                <a:solidFill>
                  <a:srgbClr val="1C1B19"/>
                </a:solidFill>
                <a:latin typeface="Source Serif 4"/>
              </a:rPr>
              <a:t>Direct can look like the brave one. It isn't always safe, and getting physical is never the move. Every one of the four counts, and so does including someone who keeps ending up on the edge.</a:t>
            </a:r>
          </a:p>
          <a:p>
            <a:pPr algn="l">
              <a:spcAft>
                <a:spcPts val="585"/>
              </a:spcAft>
            </a:pPr>
            <a:r>
              <a:rPr sz="1300" b="0" i="0">
                <a:solidFill>
                  <a:srgbClr val="1C1B19"/>
                </a:solidFill>
                <a:latin typeface="Source Serif 4"/>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Speaking up costs some students more.</a:t>
            </a:r>
          </a:p>
          <a:p>
            <a:pPr algn="l">
              <a:spcAft>
                <a:spcPts val="585"/>
              </a:spcAft>
            </a:pPr>
            <a:r>
              <a:rPr sz="1300" b="0" i="0">
                <a:solidFill>
                  <a:srgbClr val="1C1B19"/>
                </a:solidFill>
                <a:latin typeface="Source Serif 4"/>
              </a:rPr>
              <a:t>A comment that costs one student nothing might cost another more, because of race, gender, size, being new, or how people already treat them. Say this out loud, and let students choose the move that is safe for them.</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The accent scenario may be close to home.</a:t>
            </a:r>
          </a:p>
          <a:p>
            <a:pPr algn="l">
              <a:spcAft>
                <a:spcPts val="585"/>
              </a:spcAft>
            </a:pPr>
            <a:r>
              <a:rPr sz="1300" b="0" i="0">
                <a:solidFill>
                  <a:srgbClr val="1C1B19"/>
                </a:solidFill>
                <a:latin typeface="Source Serif 4"/>
              </a:rPr>
              <a:t>Some students in your circle speak another language at home or have been mocked for an accent. Keep the focus on what a bystander can do. Never ask a student to explain what it feels like or to speak for a group.</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Gender scripts show up in the locker room and the party.</a:t>
            </a:r>
          </a:p>
          <a:p>
            <a:pPr algn="l">
              <a:spcAft>
                <a:spcPts val="585"/>
              </a:spcAft>
            </a:pPr>
            <a:r>
              <a:rPr sz="1300" b="0" i="0">
                <a:solidFill>
                  <a:srgbClr val="1C1B19"/>
                </a:solidFill>
                <a:latin typeface="Source Serif 4"/>
              </a:rPr>
              <a:t>Boys can check on a teammate and say "not funny" without it being soft. In the party scenario, keep the talk on the person who looks uncomfortable and on what friends can do together.</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Targeting about identity is a same-day conversation.</a:t>
            </a:r>
          </a:p>
          <a:p>
            <a:pPr algn="l">
              <a:spcAft>
                <a:spcPts val="585"/>
              </a:spcAft>
            </a:pPr>
            <a:r>
              <a:rPr sz="1300" b="0" i="0">
                <a:solidFill>
                  <a:srgbClr val="1C1B19"/>
                </a:solidFill>
                <a:latin typeface="Source Serif 4"/>
              </a:rPr>
              <a:t>If a student is being harassed about their sexuality, gender identity, race, or religion, or someone is outing them, that goes to a counselor that day. The Trevor Project (call 1-866-488-7386 or text START to 678-678) is there for LGBTQ+ young people any time.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Speaking up isn't the only way to be brave.</a:t>
            </a:r>
          </a:p>
          <a:p>
            <a:pPr algn="l">
              <a:spcAft>
                <a:spcPts val="585"/>
              </a:spcAft>
            </a:pPr>
            <a:r>
              <a:rPr sz="1300" b="0" i="0">
                <a:solidFill>
                  <a:srgbClr val="1C1B19"/>
                </a:solidFill>
                <a:latin typeface="Source Serif 4"/>
              </a:rPr>
              <a:t>Students with social anxiety, a stutter, or who process slowly in the moment may freeze longer or find Direct hard. Delay, Delegate and Distract count just as much. Don't treat speaking out loud as the measure of a good person.</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Keep bodies out of the locker room discussion.</a:t>
            </a:r>
          </a:p>
          <a:p>
            <a:pPr algn="l">
              <a:spcAft>
                <a:spcPts val="585"/>
              </a:spcAft>
            </a:pPr>
            <a:r>
              <a:rPr sz="1300" b="0" i="0">
                <a:solidFill>
                  <a:srgbClr val="1C1B19"/>
                </a:solidFill>
                <a:latin typeface="Source Serif 4"/>
              </a:rPr>
              <a:t>The first scenario is about a comment on someone's body. Talk about the move, not the body or the comment. Students of every size are in the circle.</a:t>
            </a:r>
          </a:p>
          <a:p>
            <a:pPr algn="l">
              <a:spcAft>
                <a:spcPts val="585"/>
              </a:spcAft>
            </a:pPr>
            <a:r>
              <a:rPr sz="1300" b="0" i="0">
                <a:solidFill>
                  <a:srgbClr val="1C1B19"/>
                </a:solidFill>
                <a:latin typeface="Source Serif 4"/>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Before a bystander helps, they have to get through five steps: notice, decide it's a problem, feel it's theirs to act on, know what to do, and act. Getting stuck at any step looks like freezing.</a:t>
            </a:r>
          </a:p>
          <a:p>
            <a:pPr algn="l">
              <a:spcAft>
                <a:spcPts val="585"/>
              </a:spcAft>
            </a:pPr>
            <a:r>
              <a:rPr sz="1050" b="0" i="0">
                <a:solidFill>
                  <a:srgbClr val="5D5A54"/>
                </a:solidFill>
                <a:latin typeface="Inter Tight"/>
              </a:rPr>
              <a:t>Latané and Darley, The Unresponsive Bystander, 1970</a:t>
            </a:r>
          </a:p>
          <a:p>
            <a:pPr algn="l">
              <a:spcAft>
                <a:spcPts val="585"/>
              </a:spcAft>
            </a:pPr>
            <a:r>
              <a:rPr sz="1300" b="0" i="0">
                <a:solidFill>
                  <a:srgbClr val="1C1B19"/>
                </a:solidFill>
                <a:latin typeface="Source Serif 4"/>
              </a:rPr>
              <a:t>Students who heard someone over an intercom seem to have a seizure went for help before the call cut off 85% of the time when they thought they were alone, and 31% of the time when they thought four others could hear.</a:t>
            </a:r>
          </a:p>
          <a:p>
            <a:pPr algn="l">
              <a:spcAft>
                <a:spcPts val="585"/>
              </a:spcAft>
            </a:pPr>
            <a:r>
              <a:rPr sz="1050" b="0" i="0">
                <a:solidFill>
                  <a:srgbClr val="5D5A54"/>
                </a:solidFill>
                <a:latin typeface="Inter Tight"/>
              </a:rPr>
              <a:t>Darley and Latané, Journal of Personality and Social Psychology, 1968</a:t>
            </a:r>
          </a:p>
          <a:p>
            <a:pPr algn="l">
              <a:spcAft>
                <a:spcPts val="585"/>
              </a:spcAft>
            </a:pPr>
            <a:r>
              <a:rPr sz="1300" b="0" i="0">
                <a:solidFill>
                  <a:srgbClr val="1C1B19"/>
                </a:solidFill>
                <a:latin typeface="Source Serif 4"/>
              </a:rPr>
              <a:t>A review of studies with more than 7,700 people confirmed the bystander effect, and found it gets weaker when a situation is clearly dangerous and when bystanders know each other.</a:t>
            </a:r>
          </a:p>
          <a:p>
            <a:pPr algn="l">
              <a:spcAft>
                <a:spcPts val="585"/>
              </a:spcAft>
            </a:pPr>
            <a:r>
              <a:rPr sz="1050" b="0" i="0">
                <a:solidFill>
                  <a:srgbClr val="5D5A54"/>
                </a:solidFill>
                <a:latin typeface="Inter Tight"/>
              </a:rPr>
              <a:t>Fischer et al., Psychological Bulletin, 2011</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In security-camera footage of 219 real public fights in the UK, the Netherlands and South Africa, at least one bystander did something to help in 9 of 10. More people around made help more likely.</a:t>
            </a:r>
          </a:p>
          <a:p>
            <a:pPr algn="l">
              <a:spcAft>
                <a:spcPts val="585"/>
              </a:spcAft>
            </a:pPr>
            <a:r>
              <a:rPr sz="1050" b="0" i="0">
                <a:solidFill>
                  <a:srgbClr val="5D5A54"/>
                </a:solidFill>
                <a:latin typeface="Inter Tight"/>
              </a:rPr>
              <a:t>Philpot et al., American Psychologist, 2020</a:t>
            </a:r>
          </a:p>
          <a:p>
            <a:pPr algn="l">
              <a:spcAft>
                <a:spcPts val="585"/>
              </a:spcAft>
            </a:pPr>
            <a:r>
              <a:rPr sz="1300" b="0" i="0">
                <a:solidFill>
                  <a:srgbClr val="1C1B19"/>
                </a:solidFill>
                <a:latin typeface="Source Serif 4"/>
              </a:rPr>
              <a:t>On school playgrounds, peers were present for 88% of bullying episodes but stepped in during only 19%. When they did, the bullying stopped most of the time (57%). These were younger children.</a:t>
            </a:r>
          </a:p>
          <a:p>
            <a:pPr algn="l">
              <a:spcAft>
                <a:spcPts val="585"/>
              </a:spcAft>
            </a:pPr>
            <a:r>
              <a:rPr sz="1050" b="0" i="0">
                <a:solidFill>
                  <a:srgbClr val="5D5A54"/>
                </a:solidFill>
                <a:latin typeface="Inter Tight"/>
              </a:rPr>
              <a:t>Hawkins, Pepler and Craig, Social Development, 2001</a:t>
            </a:r>
          </a:p>
          <a:p>
            <a:pPr algn="l">
              <a:spcAft>
                <a:spcPts val="585"/>
              </a:spcAft>
            </a:pPr>
            <a:r>
              <a:rPr sz="1300" b="0" i="0">
                <a:solidFill>
                  <a:srgbClr val="1C1B19"/>
                </a:solidFill>
                <a:latin typeface="Source Serif 4"/>
              </a:rPr>
              <a:t>In 56 New Jersey middle schools with more than 24,000 students, small groups of students who took a public stand against conflict cut disciplinary reports of conflict by 25% in a year. The effect was strongest when the group included students others paid attention to.</a:t>
            </a:r>
          </a:p>
          <a:p>
            <a:pPr algn="l">
              <a:spcAft>
                <a:spcPts val="585"/>
              </a:spcAft>
            </a:pPr>
            <a:r>
              <a:rPr sz="1050" b="0" i="0">
                <a:solidFill>
                  <a:srgbClr val="5D5A54"/>
                </a:solidFill>
                <a:latin typeface="Inter Tight"/>
              </a:rPr>
              <a:t>Paluck, Shepherd and Aronow, PNAS, 2016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SPEAKING UP</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2011680"/>
            <a:ext cx="10515600" cy="1463040"/>
          </a:xfrm>
          <a:prstGeom prst="rect">
            <a:avLst/>
          </a:prstGeom>
          <a:noFill/>
        </p:spPr>
        <p:txBody>
          <a:bodyPr wrap="square" anchor="b" lIns="0" rIns="0" tIns="0" bIns="0">
            <a:spAutoFit/>
          </a:bodyPr>
          <a:lstStyle/>
          <a:p>
            <a:pPr algn="l">
              <a:spcAft>
                <a:spcPts val="2700"/>
              </a:spcAft>
            </a:pPr>
            <a:r>
              <a:rPr sz="6000" b="1" i="0">
                <a:solidFill>
                  <a:srgbClr val="FFFFFF"/>
                </a:solidFill>
                <a:latin typeface="Source Serif 4"/>
              </a:rPr>
              <a:t>Speaking Up</a:t>
            </a:r>
          </a:p>
        </p:txBody>
      </p:sp>
      <p:sp>
        <p:nvSpPr>
          <p:cNvPr id="6" name="TextBox 5"/>
          <p:cNvSpPr txBox="1"/>
          <p:nvPr/>
        </p:nvSpPr>
        <p:spPr>
          <a:xfrm>
            <a:off x="822960" y="361188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You saw it. You froze. Then you replayed it all night.</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Upper School · Counseling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ANONYMOUS CARDS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Have you ever seen someone get picked on and said nothing?</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Write yes or no on a card. Fold it. No names.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FIVE GATES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Between seeing it and doing something</a:t>
            </a:r>
          </a:p>
        </p:txBody>
      </p:sp>
      <p:sp>
        <p:nvSpPr>
          <p:cNvPr id="6" name="Rectangle 5"/>
          <p:cNvSpPr/>
          <p:nvPr/>
        </p:nvSpPr>
        <p:spPr>
          <a:xfrm>
            <a:off x="82296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Notice</a:t>
            </a:r>
          </a:p>
        </p:txBody>
      </p:sp>
      <p:cxnSp>
        <p:nvCxnSpPr>
          <p:cNvPr id="8" name="Connector 7"/>
          <p:cNvCxnSpPr/>
          <p:nvPr/>
        </p:nvCxnSpPr>
        <p:spPr>
          <a:xfrm>
            <a:off x="2752344" y="3246120"/>
            <a:ext cx="176021"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2983229"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83229"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Call it a problem</a:t>
            </a:r>
          </a:p>
        </p:txBody>
      </p:sp>
      <p:cxnSp>
        <p:nvCxnSpPr>
          <p:cNvPr id="11" name="Connector 10"/>
          <p:cNvCxnSpPr/>
          <p:nvPr/>
        </p:nvCxnSpPr>
        <p:spPr>
          <a:xfrm>
            <a:off x="4912614" y="3246120"/>
            <a:ext cx="176022"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514350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4350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Feel it's yours</a:t>
            </a:r>
          </a:p>
        </p:txBody>
      </p:sp>
      <p:cxnSp>
        <p:nvCxnSpPr>
          <p:cNvPr id="14" name="Connector 13"/>
          <p:cNvCxnSpPr/>
          <p:nvPr/>
        </p:nvCxnSpPr>
        <p:spPr>
          <a:xfrm>
            <a:off x="7072883" y="3246120"/>
            <a:ext cx="176023"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730377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0377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Know a move</a:t>
            </a:r>
          </a:p>
        </p:txBody>
      </p:sp>
      <p:cxnSp>
        <p:nvCxnSpPr>
          <p:cNvPr id="17" name="Connector 16"/>
          <p:cNvCxnSpPr/>
          <p:nvPr/>
        </p:nvCxnSpPr>
        <p:spPr>
          <a:xfrm>
            <a:off x="9233154" y="3246120"/>
            <a:ext cx="176022"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946404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6404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Act</a:t>
            </a:r>
          </a:p>
        </p:txBody>
      </p:sp>
      <p:sp>
        <p:nvSpPr>
          <p:cNvPr id="20" name="TextBox 19"/>
          <p:cNvSpPr txBox="1"/>
          <p:nvPr/>
        </p:nvSpPr>
        <p:spPr>
          <a:xfrm>
            <a:off x="822960" y="4160520"/>
            <a:ext cx="10515600" cy="457200"/>
          </a:xfrm>
          <a:prstGeom prst="rect">
            <a:avLst/>
          </a:prstGeom>
          <a:noFill/>
        </p:spPr>
        <p:txBody>
          <a:bodyPr wrap="square" anchor="t" lIns="0" rIns="0" tIns="0" bIns="0">
            <a:spAutoFit/>
          </a:bodyPr>
          <a:lstStyle/>
          <a:p>
            <a:pPr algn="ctr">
              <a:spcAft>
                <a:spcPts val="810"/>
              </a:spcAft>
            </a:pPr>
            <a:r>
              <a:rPr sz="1800" b="1" i="0">
                <a:solidFill>
                  <a:srgbClr val="F47B20"/>
                </a:solidFill>
                <a:latin typeface="Inter Tight"/>
              </a:rPr>
              <a:t>↺  and around again</a:t>
            </a:r>
          </a:p>
        </p:txBody>
      </p:sp>
      <p:sp>
        <p:nvSpPr>
          <p:cNvPr id="21" name="TextBox 20"/>
          <p:cNvSpPr txBox="1"/>
          <p:nvPr/>
        </p:nvSpPr>
        <p:spPr>
          <a:xfrm>
            <a:off x="822960" y="4846320"/>
            <a:ext cx="10515600" cy="1188720"/>
          </a:xfrm>
          <a:prstGeom prst="rect">
            <a:avLst/>
          </a:prstGeom>
          <a:noFill/>
        </p:spPr>
        <p:txBody>
          <a:bodyPr wrap="square" anchor="t" lIns="0" rIns="0" tIns="0" bIns="0">
            <a:spAutoFit/>
          </a:bodyPr>
          <a:lstStyle/>
          <a:p>
            <a:pPr algn="ctr">
              <a:spcAft>
                <a:spcPts val="900"/>
              </a:spcAft>
            </a:pPr>
            <a:r>
              <a:rPr sz="2000" b="0" i="1">
                <a:solidFill>
                  <a:srgbClr val="5D5A54"/>
                </a:solidFill>
                <a:latin typeface="Source Serif 4"/>
              </a:rPr>
              <a:t>Most people stall at gate 3 or gate 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COMEBACK</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463040"/>
            <a:ext cx="10515600" cy="3291840"/>
          </a:xfrm>
          <a:prstGeom prst="rect">
            <a:avLst/>
          </a:prstGeom>
          <a:noFill/>
        </p:spPr>
        <p:txBody>
          <a:bodyPr wrap="square" anchor="ctr" lIns="0" rIns="0" tIns="0" bIns="0">
            <a:spAutoFit/>
          </a:bodyPr>
          <a:lstStyle/>
          <a:p>
            <a:pPr algn="l">
              <a:spcAft>
                <a:spcPts val="2070"/>
              </a:spcAft>
            </a:pPr>
            <a:r>
              <a:rPr sz="4600" b="1" i="0">
                <a:solidFill>
                  <a:srgbClr val="1C1B19"/>
                </a:solidFill>
                <a:latin typeface="Source Serif 4"/>
              </a:rPr>
              <a:t>When peers stepped in, bullying usually stopped.</a:t>
            </a:r>
          </a:p>
        </p:txBody>
      </p:sp>
      <p:sp>
        <p:nvSpPr>
          <p:cNvPr id="6" name="TextBox 5"/>
          <p:cNvSpPr txBox="1"/>
          <p:nvPr/>
        </p:nvSpPr>
        <p:spPr>
          <a:xfrm>
            <a:off x="822960" y="4846320"/>
            <a:ext cx="10515600" cy="1097280"/>
          </a:xfrm>
          <a:prstGeom prst="rect">
            <a:avLst/>
          </a:prstGeom>
          <a:noFill/>
        </p:spPr>
        <p:txBody>
          <a:bodyPr wrap="square" anchor="t" lIns="0" rIns="0" tIns="0" bIns="0">
            <a:spAutoFit/>
          </a:bodyPr>
          <a:lstStyle/>
          <a:p>
            <a:pPr algn="l">
              <a:spcAft>
                <a:spcPts val="990"/>
              </a:spcAft>
            </a:pPr>
            <a:r>
              <a:rPr sz="2200" b="0" i="1">
                <a:solidFill>
                  <a:srgbClr val="5D5A54"/>
                </a:solidFill>
                <a:latin typeface="Source Serif 4"/>
              </a:rPr>
              <a:t>Peers were there for 88% of playground bullying. They stepped in 19% of the time.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KNOW A MOVE</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Four ways to step in</a:t>
            </a:r>
          </a:p>
        </p:txBody>
      </p:sp>
      <p:sp>
        <p:nvSpPr>
          <p:cNvPr id="6" name="TextBox 5"/>
          <p:cNvSpPr txBox="1"/>
          <p:nvPr/>
        </p:nvSpPr>
        <p:spPr>
          <a:xfrm>
            <a:off x="822960" y="219456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23113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Distract.</a:t>
            </a:r>
          </a:p>
          <a:p>
            <a:pPr algn="l">
              <a:spcAft>
                <a:spcPts val="945"/>
              </a:spcAft>
            </a:pPr>
            <a:r>
              <a:rPr sz="1600" b="0" i="0">
                <a:solidFill>
                  <a:srgbClr val="5D5A54"/>
                </a:solidFill>
                <a:latin typeface="Source Serif 4"/>
              </a:rPr>
              <a:t>"Yo, come with me for a sec."</a:t>
            </a:r>
          </a:p>
        </p:txBody>
      </p:sp>
      <p:sp>
        <p:nvSpPr>
          <p:cNvPr id="8" name="TextBox 7"/>
          <p:cNvSpPr txBox="1"/>
          <p:nvPr/>
        </p:nvSpPr>
        <p:spPr>
          <a:xfrm>
            <a:off x="822960" y="320040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323697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Delegate.</a:t>
            </a:r>
          </a:p>
          <a:p>
            <a:pPr algn="l">
              <a:spcAft>
                <a:spcPts val="945"/>
              </a:spcAft>
            </a:pPr>
            <a:r>
              <a:rPr sz="1600" b="0" i="0">
                <a:solidFill>
                  <a:srgbClr val="5D5A54"/>
                </a:solidFill>
                <a:latin typeface="Source Serif 4"/>
              </a:rPr>
              <a:t>Bring in a coach, teacher, host, or a friend people listen to.</a:t>
            </a:r>
          </a:p>
        </p:txBody>
      </p:sp>
      <p:sp>
        <p:nvSpPr>
          <p:cNvPr id="10" name="TextBox 9"/>
          <p:cNvSpPr txBox="1"/>
          <p:nvPr/>
        </p:nvSpPr>
        <p:spPr>
          <a:xfrm>
            <a:off x="822960" y="420624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424281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Direct.</a:t>
            </a:r>
          </a:p>
          <a:p>
            <a:pPr algn="l">
              <a:spcAft>
                <a:spcPts val="945"/>
              </a:spcAft>
            </a:pPr>
            <a:r>
              <a:rPr sz="1600" b="0" i="0">
                <a:solidFill>
                  <a:srgbClr val="5D5A54"/>
                </a:solidFill>
                <a:latin typeface="Source Serif 4"/>
              </a:rPr>
              <a:t>Short and flat, only if it feels safe: "Not funny."</a:t>
            </a:r>
          </a:p>
        </p:txBody>
      </p:sp>
      <p:sp>
        <p:nvSpPr>
          <p:cNvPr id="12" name="TextBox 11"/>
          <p:cNvSpPr txBox="1"/>
          <p:nvPr/>
        </p:nvSpPr>
        <p:spPr>
          <a:xfrm>
            <a:off x="822960" y="521208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524865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Delay.</a:t>
            </a:r>
          </a:p>
          <a:p>
            <a:pPr algn="l">
              <a:spcAft>
                <a:spcPts val="945"/>
              </a:spcAft>
            </a:pPr>
            <a:r>
              <a:rPr sz="1600" b="0" i="0">
                <a:solidFill>
                  <a:srgbClr val="5D5A54"/>
                </a:solidFill>
                <a:latin typeface="Source Serif 4"/>
              </a:rPr>
              <a:t>Afterward: "I saw what happened. You okay?"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THREE MOMENTS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Which move would you actually make?</a:t>
            </a:r>
          </a:p>
        </p:txBody>
      </p:sp>
      <p:sp>
        <p:nvSpPr>
          <p:cNvPr id="6" name="Rectangle 5"/>
          <p:cNvSpPr/>
          <p:nvPr/>
        </p:nvSpPr>
        <p:spPr>
          <a:xfrm>
            <a:off x="82296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LOCKER ROOM</a:t>
            </a:r>
          </a:p>
        </p:txBody>
      </p:sp>
      <p:sp>
        <p:nvSpPr>
          <p:cNvPr id="8" name="TextBox 7"/>
          <p:cNvSpPr txBox="1"/>
          <p:nvPr/>
        </p:nvSpPr>
        <p:spPr>
          <a:xfrm>
            <a:off x="105156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A teammate makes a comment about another player's body. A few guys laugh. The player goes quiet.</a:t>
            </a:r>
          </a:p>
        </p:txBody>
      </p:sp>
      <p:sp>
        <p:nvSpPr>
          <p:cNvPr id="9" name="Rectangle 8"/>
          <p:cNvSpPr/>
          <p:nvPr/>
        </p:nvSpPr>
        <p:spPr>
          <a:xfrm>
            <a:off x="441960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820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AT A PARTY</a:t>
            </a:r>
          </a:p>
        </p:txBody>
      </p:sp>
      <p:sp>
        <p:nvSpPr>
          <p:cNvPr id="11" name="TextBox 10"/>
          <p:cNvSpPr txBox="1"/>
          <p:nvPr/>
        </p:nvSpPr>
        <p:spPr>
          <a:xfrm>
            <a:off x="464820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Someone keeps following Ana from your chem class. She looks uncomfortable and keeps scanning the room.</a:t>
            </a:r>
          </a:p>
        </p:txBody>
      </p:sp>
      <p:sp>
        <p:nvSpPr>
          <p:cNvPr id="12" name="Rectangle 11"/>
          <p:cNvSpPr/>
          <p:nvPr/>
        </p:nvSpPr>
        <p:spPr>
          <a:xfrm>
            <a:off x="8016239"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4839"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THE CLASS CHAT</a:t>
            </a:r>
          </a:p>
        </p:txBody>
      </p:sp>
      <p:sp>
        <p:nvSpPr>
          <p:cNvPr id="14" name="TextBox 13"/>
          <p:cNvSpPr txBox="1"/>
          <p:nvPr/>
        </p:nvSpPr>
        <p:spPr>
          <a:xfrm>
            <a:off x="8244839"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Someone posts a voice clip mocking Wei's accent. In a 30-person chat, reactions start rolling 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PRIVATE</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What's one line you'd actually say?</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Write it on your card. It goes home with you.</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BEFORE YOU GO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You don't need a speech. You need one move.</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If someone is hurt, threatened, or private images are being shared, get an adult right away.</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STUDENT PAGE</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https://rmwtoolkit.github.io/bcds-toolkit/speaking-up-high-school.html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