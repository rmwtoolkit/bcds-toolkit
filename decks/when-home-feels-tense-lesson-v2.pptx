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"Every family hits hard stretches. We'll talk about research and made-up situations, not anyone's family." Say what you'd have to act on: someone being hurt, or a student not being cared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On the card, students check any that fit. Nobody shares. Say: "Families handle hard stretches differently. Today is about what that stress does to you, and what's yours to carry."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That's one reason a bad night at home turns into a bad test the next day. Ask: "Where does it show up for people: sleep, temper, headaches, focus?"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Cummings and Davies: seeing adults disagree and work it out made kids feel more secure; yelling, threats and unresolved fights did the opposite. Grych and Fincham: the impact depends partly on whether kids feel threatened and whether they blame themselves. Amato: differences after divorce were small with lots of overlap. Hostinar: parent support erased the cortisol response at 9 to 10 and had no measurable effect at 15 to 16. Ask: "Who's in a teenager's wider circle?"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Telzer and Fuligni followed 752 teens from Latin American, Asian and European backgrounds: on days they helped their families they felt happier, mostly because it felt meaningful, and overall it didn't add stress. The line is cost and adult problems. Private question: "Where is that line in your family?"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 then share. Divorce: "I don't want to be the go-between. You'd have to ask her." Practice saying it calmly, more than once. Arguing: keep the safe places, and tell one adult what's going on; don't step between them. Ana: tell her counselor so teachers can adjust, and ask family who could help, rather than quitting everything. Safety is the exception to staying out of it: if someone is being hurt, getting help isn't taking sides.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Students fill it in now, on a calm day, so it's ready on a hard one. Sort out loud: yours (schoolwork, sleep, how you respond) and not yours (their relationship, the bills, an adult's drinking or temper). Share the student page link. Invite anyone to check in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Home Feels Tense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why home stress shows up at school, that how conflict ends and how they read it matters more than whether it happens, and sort what's theirs to carry. Bring index cards, and keep the group on research and invented situations rather than anyone's family.</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On the helping-at-home slide, lead with the Telzer and Fuligni finding that helping family often feels meaningful across Latin American, Asian and European backgrounds before naming where the line 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WHEN HOME FEELS TENSE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When Home Feels Tense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Why it follows you to school, and how to steady yourself.</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SOUND FAMILIAR?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Headphones in before you open the door</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Checking the mood</a:t>
            </a:r>
          </a:p>
          <a:p>
            <a:pPr algn="l">
              <a:spcAft>
                <a:spcPts val="945"/>
              </a:spcAft>
            </a:pPr>
            <a:r>
              <a:rPr sz="1600" b="0" i="0">
                <a:solidFill>
                  <a:srgbClr val="5D5A54"/>
                </a:solidFill>
                <a:latin typeface="Source Serif 4"/>
              </a:rPr>
              <a:t>Before you walk in</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peacekeeper</a:t>
            </a:r>
          </a:p>
          <a:p>
            <a:pPr algn="l">
              <a:spcAft>
                <a:spcPts val="945"/>
              </a:spcAft>
            </a:pPr>
            <a:r>
              <a:rPr sz="1600" b="0" i="0">
                <a:solidFill>
                  <a:srgbClr val="5D5A54"/>
                </a:solidFill>
                <a:latin typeface="Source Serif 4"/>
              </a:rPr>
              <a:t>Translating, smoothing things over</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Two addresses</a:t>
            </a:r>
          </a:p>
          <a:p>
            <a:pPr algn="l">
              <a:spcAft>
                <a:spcPts val="945"/>
              </a:spcAft>
            </a:pPr>
            <a:r>
              <a:rPr sz="1600" b="0" i="0">
                <a:solidFill>
                  <a:srgbClr val="5D5A54"/>
                </a:solidFill>
                <a:latin typeface="Source Serif 4"/>
              </a:rPr>
              <a:t>Two sets of rules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Money</a:t>
            </a:r>
          </a:p>
          <a:p>
            <a:pPr algn="l">
              <a:spcAft>
                <a:spcPts val="945"/>
              </a:spcAft>
            </a:pPr>
            <a:r>
              <a:rPr sz="1600" b="0" i="0">
                <a:solidFill>
                  <a:srgbClr val="5D5A54"/>
                </a:solidFill>
                <a:latin typeface="Source Serif 4"/>
              </a:rPr>
              <a:t>Worrying more than anyone knows</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Carrying it</a:t>
            </a:r>
          </a:p>
          <a:p>
            <a:pPr algn="l">
              <a:spcAft>
                <a:spcPts val="945"/>
              </a:spcAft>
            </a:pPr>
            <a:r>
              <a:rPr sz="1600" b="0" i="0">
                <a:solidFill>
                  <a:srgbClr val="5D5A54"/>
                </a:solidFill>
                <a:latin typeface="Source Serif 4"/>
              </a:rPr>
              <a:t>Siblings, cooking, someone who's sick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 FOLLOWS YOU TO SCHOOL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stress chain</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Amygdala</a:t>
            </a:r>
          </a:p>
          <a:p>
            <a:pPr algn="l">
              <a:spcAft>
                <a:spcPts val="945"/>
              </a:spcAft>
            </a:pPr>
            <a:r>
              <a:rPr sz="1600" b="0" i="0">
                <a:solidFill>
                  <a:srgbClr val="5D5A54"/>
                </a:solidFill>
                <a:latin typeface="Source Serif 4"/>
              </a:rPr>
              <a:t>A slammed door, a loaded silence. It reacts first.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Hypothalamus and pituitary</a:t>
            </a:r>
          </a:p>
          <a:p>
            <a:pPr algn="l">
              <a:spcAft>
                <a:spcPts val="945"/>
              </a:spcAft>
            </a:pPr>
            <a:r>
              <a:rPr sz="1600" b="0" i="0">
                <a:solidFill>
                  <a:srgbClr val="5D5A54"/>
                </a:solidFill>
                <a:latin typeface="Source Serif 4"/>
              </a:rPr>
              <a:t>Sound the alarm and send the message</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Adrenal glands</a:t>
            </a:r>
          </a:p>
          <a:p>
            <a:pPr algn="l">
              <a:spcAft>
                <a:spcPts val="945"/>
              </a:spcAft>
            </a:pPr>
            <a:r>
              <a:rPr sz="1600" b="0" i="0">
                <a:solidFill>
                  <a:srgbClr val="5D5A54"/>
                </a:solidFill>
                <a:latin typeface="Source Serif 4"/>
              </a:rPr>
              <a:t>Cortisol: helpful for a crisis, wearing for weeks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Hippocampus and prefrontal cortex</a:t>
            </a:r>
          </a:p>
          <a:p>
            <a:pPr algn="l">
              <a:spcAft>
                <a:spcPts val="945"/>
              </a:spcAft>
            </a:pPr>
            <a:r>
              <a:rPr sz="1600" b="0" i="0">
                <a:solidFill>
                  <a:srgbClr val="5D5A54"/>
                </a:solidFill>
                <a:latin typeface="Source Serif 4"/>
              </a:rPr>
              <a:t>Turn it off, and handle memory and focus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McCoy et al., 2009  ·  Grych and Fincham, 1990  ·  Amato, 2001  ·  Hostinar et al., 2015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What actually matters when home is tense</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Arguing isn't automatically harmful. How it ends matters.</a:t>
            </a:r>
          </a:p>
          <a:p>
            <a:pPr algn="l">
              <a:spcAft>
                <a:spcPts val="855"/>
              </a:spcAft>
            </a:pPr>
            <a:r>
              <a:rPr sz="1900" b="0" i="0">
                <a:solidFill>
                  <a:srgbClr val="1C1B19"/>
                </a:solidFill>
                <a:latin typeface="Source Serif 4"/>
              </a:rPr>
              <a:t>•  Blaming yourself makes it heavier. Adult conflict is adult work.</a:t>
            </a:r>
          </a:p>
          <a:p>
            <a:pPr algn="l">
              <a:spcAft>
                <a:spcPts val="855"/>
              </a:spcAft>
            </a:pPr>
            <a:r>
              <a:rPr sz="1900" b="0" i="0">
                <a:solidFill>
                  <a:srgbClr val="1C1B19"/>
                </a:solidFill>
                <a:latin typeface="Source Serif 4"/>
              </a:rPr>
              <a:t>•  After divorce, most kids end up okay; conflict, money and stability matter most.</a:t>
            </a:r>
          </a:p>
          <a:p>
            <a:pPr algn="l">
              <a:spcAft>
                <a:spcPts val="855"/>
              </a:spcAft>
            </a:pPr>
            <a:r>
              <a:rPr sz="1900" b="0" i="0">
                <a:solidFill>
                  <a:srgbClr val="1C1B19"/>
                </a:solidFill>
                <a:latin typeface="Source Serif 4"/>
              </a:rPr>
              <a:t>•  At 15, parents buffer stress less. Teens need a wider circle.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You didn't cause it, and you're allowed to lean on more people.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HELPING AT HOME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Carrying some is normal. Carrying all of it isn't.</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OFTEN MEANINGFUL</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Watching siblings</a:t>
            </a:r>
          </a:p>
          <a:p>
            <a:pPr algn="l">
              <a:spcAft>
                <a:spcPts val="855"/>
              </a:spcAft>
            </a:pPr>
            <a:r>
              <a:rPr sz="1900" b="0" i="0">
                <a:solidFill>
                  <a:srgbClr val="1C1B19"/>
                </a:solidFill>
                <a:latin typeface="Source Serif 4"/>
              </a:rPr>
              <a:t>Translating at appointments</a:t>
            </a:r>
          </a:p>
          <a:p>
            <a:pPr algn="l">
              <a:spcAft>
                <a:spcPts val="855"/>
              </a:spcAft>
            </a:pPr>
            <a:r>
              <a:rPr sz="1900" b="0" i="0">
                <a:solidFill>
                  <a:srgbClr val="1C1B19"/>
                </a:solidFill>
                <a:latin typeface="Source Serif 4"/>
              </a:rPr>
              <a:t>Working</a:t>
            </a:r>
          </a:p>
          <a:p>
            <a:pPr algn="l">
              <a:spcAft>
                <a:spcPts val="855"/>
              </a:spcAft>
            </a:pPr>
            <a:r>
              <a:rPr sz="1900" b="0" i="0">
                <a:solidFill>
                  <a:srgbClr val="1C1B19"/>
                </a:solidFill>
                <a:latin typeface="Source Serif 4"/>
              </a:rPr>
              <a:t>Caring for a grandparent</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WHERE IT TIPS</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It costs sleep, school or friends</a:t>
            </a:r>
          </a:p>
          <a:p>
            <a:pPr algn="l">
              <a:spcAft>
                <a:spcPts val="855"/>
              </a:spcAft>
            </a:pPr>
            <a:r>
              <a:rPr sz="1900" b="0" i="0">
                <a:solidFill>
                  <a:srgbClr val="1C1B19"/>
                </a:solidFill>
                <a:latin typeface="Source Serif 4"/>
              </a:rPr>
              <a:t>Being a parent's therapist</a:t>
            </a:r>
          </a:p>
          <a:p>
            <a:pPr algn="l">
              <a:spcAft>
                <a:spcPts val="855"/>
              </a:spcAft>
            </a:pPr>
            <a:r>
              <a:rPr sz="1900" b="0" i="0">
                <a:solidFill>
                  <a:srgbClr val="1C1B19"/>
                </a:solidFill>
                <a:latin typeface="Source Serif 4"/>
              </a:rPr>
              <a:t>Keeping an adult's secrets</a:t>
            </a:r>
          </a:p>
          <a:p>
            <a:pPr algn="l">
              <a:spcAft>
                <a:spcPts val="855"/>
              </a:spcAft>
            </a:pPr>
            <a:r>
              <a:rPr sz="1900" b="0" i="0">
                <a:solidFill>
                  <a:srgbClr val="1C1B19"/>
                </a:solidFill>
                <a:latin typeface="Source Serif 4"/>
              </a:rPr>
              <a:t>Making money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HARD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help?</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SINCE THE DIVORCE</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dad keeps asking whether your mom is seeing someone.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MOST NIGHTS</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Your parents argue. Lately you stay late at practice or a friend's to avoid going home.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ANA</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Since her mom got sick, she does most of the cooking and her brother's pickups. Her grades are sliding.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FINDING STEADY GROUND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You can't fix home. You can steady yourself.</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your card: where you cool down, what settles you, an adult outside the conflict, a friend who gets it, and your line for the middle.</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https://rmwtoolkit.github.io/bcds-toolkit/when-home-feels-tense-high-school.html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When Home Feels Tense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Counselor-led small group, 25 minutes (one-on-one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learn why stress at home follows them to school, what the research says about conflict and divorce, where helping at home turns into carrying too much, and how to sort what's theirs from what isn't. Nobody is asked about their own family.</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Pens</a:t>
            </a:r>
          </a:p>
          <a:p>
            <a:pPr algn="l">
              <a:spcAft>
                <a:spcPts val="675"/>
              </a:spcAft>
            </a:pPr>
            <a:r>
              <a:rPr sz="1500" b="0" i="0">
                <a:solidFill>
                  <a:srgbClr val="1C1B19"/>
                </a:solidFill>
                <a:latin typeface="Source Serif 4"/>
              </a:rPr>
              <a:t>The student page link (last slide) to share afterward</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Headphones in before you open the door</a:t>
            </a:r>
          </a:p>
          <a:p>
            <a:pPr algn="l">
              <a:spcAft>
                <a:spcPts val="630"/>
              </a:spcAft>
            </a:pPr>
            <a:r>
              <a:rPr sz="1300" b="1" i="0">
                <a:solidFill>
                  <a:srgbClr val="F47B20"/>
                </a:solidFill>
                <a:latin typeface="Inter Tight"/>
              </a:rPr>
              <a:t>4 min   </a:t>
            </a:r>
            <a:r>
              <a:rPr sz="1400" b="0" i="0">
                <a:solidFill>
                  <a:srgbClr val="1C1B19"/>
                </a:solidFill>
                <a:latin typeface="Source Serif 4"/>
              </a:rPr>
              <a:t>Why stress at home follows you to school</a:t>
            </a:r>
          </a:p>
          <a:p>
            <a:pPr algn="l">
              <a:spcAft>
                <a:spcPts val="630"/>
              </a:spcAft>
            </a:pPr>
            <a:r>
              <a:rPr sz="1300" b="1" i="0">
                <a:solidFill>
                  <a:srgbClr val="F47B20"/>
                </a:solidFill>
                <a:latin typeface="Inter Tight"/>
              </a:rPr>
              <a:t>5 min   </a:t>
            </a:r>
            <a:r>
              <a:rPr sz="1400" b="0" i="0">
                <a:solidFill>
                  <a:srgbClr val="1C1B19"/>
                </a:solidFill>
                <a:latin typeface="Source Serif 4"/>
              </a:rPr>
              <a:t>What actually matters when home is tense</a:t>
            </a:r>
          </a:p>
          <a:p>
            <a:pPr algn="l">
              <a:spcAft>
                <a:spcPts val="630"/>
              </a:spcAft>
            </a:pPr>
            <a:r>
              <a:rPr sz="1300" b="1" i="0">
                <a:solidFill>
                  <a:srgbClr val="F47B20"/>
                </a:solidFill>
                <a:latin typeface="Inter Tight"/>
              </a:rPr>
              <a:t>4 min   </a:t>
            </a:r>
            <a:r>
              <a:rPr sz="1400" b="0" i="0">
                <a:solidFill>
                  <a:srgbClr val="1C1B19"/>
                </a:solidFill>
                <a:latin typeface="Source Serif 4"/>
              </a:rPr>
              <a:t>Helping at home: where's the line?</a:t>
            </a:r>
          </a:p>
          <a:p>
            <a:pPr algn="l">
              <a:spcAft>
                <a:spcPts val="630"/>
              </a:spcAft>
            </a:pPr>
            <a:r>
              <a:rPr sz="1300" b="1" i="0">
                <a:solidFill>
                  <a:srgbClr val="F47B20"/>
                </a:solidFill>
                <a:latin typeface="Inter Tight"/>
              </a:rPr>
              <a:t>5 min   </a:t>
            </a:r>
            <a:r>
              <a:rPr sz="1400" b="0" i="0">
                <a:solidFill>
                  <a:srgbClr val="1C1B19"/>
                </a:solidFill>
                <a:latin typeface="Source Serif 4"/>
              </a:rPr>
              <a:t>Three hard situations</a:t>
            </a:r>
          </a:p>
          <a:p>
            <a:pPr algn="l">
              <a:spcAft>
                <a:spcPts val="630"/>
              </a:spcAft>
            </a:pPr>
            <a:r>
              <a:rPr sz="1300" b="1" i="0">
                <a:solidFill>
                  <a:srgbClr val="F47B20"/>
                </a:solidFill>
                <a:latin typeface="Inter Tight"/>
              </a:rPr>
              <a:t>4 min   </a:t>
            </a:r>
            <a:r>
              <a:rPr sz="1400" b="0" i="0">
                <a:solidFill>
                  <a:srgbClr val="1C1B19"/>
                </a:solidFill>
                <a:latin typeface="Source Serif 4"/>
              </a:rPr>
              <a:t>Yours, not yours, and what you can count on</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ONE ON ONE (ABOUT 15 MINUTES)</a:t>
            </a:r>
          </a:p>
          <a:p>
            <a:pPr algn="l">
              <a:spcAft>
                <a:spcPts val="630"/>
              </a:spcAft>
            </a:pPr>
            <a:r>
              <a:rPr sz="1400" b="0" i="0">
                <a:solidFill>
                  <a:srgbClr val="1C1B19"/>
                </a:solidFill>
                <a:latin typeface="Source Serif 4"/>
              </a:rPr>
              <a:t>One on one: what home has been like lately, at the student's pace (4). The research that self-blame makes it heavier and adult conflict is adult work (3). Where helping has tipped into carrying too much (3). Their what-I-can-count-on list and one line for when they get pulled into the middle (5).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Every kind of tense.</a:t>
            </a:r>
          </a:p>
          <a:p>
            <a:pPr algn="l">
              <a:spcAft>
                <a:spcPts val="585"/>
              </a:spcAft>
            </a:pPr>
            <a:r>
              <a:rPr sz="1300" b="0" i="0">
                <a:solidFill>
                  <a:srgbClr val="1C1B19"/>
                </a:solidFill>
                <a:latin typeface="Source Serif 4"/>
              </a:rPr>
              <a:t>Students in the room may be dealing with divorce, money stress, a sick parent, constant arguing, or violence between adults. Keep the frame wide so no one feels singled out.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Say your reporting rules first.</a:t>
            </a:r>
          </a:p>
          <a:p>
            <a:pPr algn="l">
              <a:spcAft>
                <a:spcPts val="585"/>
              </a:spcAft>
            </a:pPr>
            <a:r>
              <a:rPr sz="1300" b="0" i="0">
                <a:solidFill>
                  <a:srgbClr val="1C1B19"/>
                </a:solidFill>
                <a:latin typeface="Source Serif 4"/>
              </a:rPr>
              <a:t>Arguing at home isn't something you'd report; someone being hurt or a student not being cared for is. Say the difference clearly at the start.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Self-blame is the target.</a:t>
            </a:r>
          </a:p>
          <a:p>
            <a:pPr algn="l">
              <a:spcAft>
                <a:spcPts val="585"/>
              </a:spcAft>
            </a:pPr>
            <a:r>
              <a:rPr sz="1300" b="0" i="0">
                <a:solidFill>
                  <a:srgbClr val="1C1B19"/>
                </a:solidFill>
                <a:latin typeface="Source Serif 4"/>
              </a:rPr>
              <a:t>Grych and Fincham's finding that self-blame makes conflict heavier is the most useful thing in the session. Come back to it.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make home the villain.</a:t>
            </a:r>
          </a:p>
          <a:p>
            <a:pPr algn="l">
              <a:spcAft>
                <a:spcPts val="585"/>
              </a:spcAft>
            </a:pPr>
            <a:r>
              <a:rPr sz="1300" b="0" i="0">
                <a:solidFill>
                  <a:srgbClr val="1C1B19"/>
                </a:solidFill>
                <a:latin typeface="Source Serif 4"/>
              </a:rPr>
              <a:t>Most families in a hard stretch are doing their best. Keep the language about stress and situations, not bad parents.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Teens need a wider circle.</a:t>
            </a:r>
          </a:p>
          <a:p>
            <a:pPr algn="l">
              <a:spcAft>
                <a:spcPts val="585"/>
              </a:spcAft>
            </a:pPr>
            <a:r>
              <a:rPr sz="1300" b="0" i="0">
                <a:solidFill>
                  <a:srgbClr val="1C1B19"/>
                </a:solidFill>
                <a:latin typeface="Source Serif 4"/>
              </a:rPr>
              <a:t>The Hostinar finding (parent support no longer buffered cortisol at 15 to 16) helps students see that leaning on friends, relatives and mentors is normal development, not disloyalty.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Avoidance can be adaptive.</a:t>
            </a:r>
          </a:p>
          <a:p>
            <a:pPr algn="l">
              <a:spcAft>
                <a:spcPts val="585"/>
              </a:spcAft>
            </a:pPr>
            <a:r>
              <a:rPr sz="1300" b="0" i="0">
                <a:solidFill>
                  <a:srgbClr val="1C1B19"/>
                </a:solidFill>
                <a:latin typeface="Source Serif 4"/>
              </a:rPr>
              <a:t>Staying late at practice can be a good exit. Help students keep their safe places while adding one adult who knows.</a:t>
            </a:r>
          </a:p>
          <a:p>
            <a:pPr algn="l">
              <a:spcAft>
                <a:spcPts val="585"/>
              </a:spcAft>
            </a:pPr>
            <a:r>
              <a:rPr sz="1300" b="0" i="0">
                <a:solidFill>
                  <a:srgbClr val="1C1B19"/>
                </a:solidFill>
                <a:latin typeface="Source Serif 4"/>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Helping at home is often a strength.</a:t>
            </a:r>
          </a:p>
          <a:p>
            <a:pPr algn="l">
              <a:spcAft>
                <a:spcPts val="585"/>
              </a:spcAft>
            </a:pPr>
            <a:r>
              <a:rPr sz="1300" b="0" i="0">
                <a:solidFill>
                  <a:srgbClr val="1C1B19"/>
                </a:solidFill>
                <a:latin typeface="Source Serif 4"/>
              </a:rPr>
              <a:t>Translating, sibling care, working and caring for a grandparent are normal in many families. Present the line about cost, never the helping itself, as the issue.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Many family shapes.</a:t>
            </a:r>
          </a:p>
          <a:p>
            <a:pPr algn="l">
              <a:spcAft>
                <a:spcPts val="585"/>
              </a:spcAft>
            </a:pPr>
            <a:r>
              <a:rPr sz="1300" b="0" i="0">
                <a:solidFill>
                  <a:srgbClr val="1C1B19"/>
                </a:solidFill>
                <a:latin typeface="Source Serif 4"/>
              </a:rPr>
              <a:t>Two homes, one parent, grandparents, stepfamilies, foster care, a parent who's deployed or incarcerated. Keep examples and language open to every household.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Money stress.</a:t>
            </a:r>
          </a:p>
          <a:p>
            <a:pPr algn="l">
              <a:spcAft>
                <a:spcPts val="585"/>
              </a:spcAft>
            </a:pPr>
            <a:r>
              <a:rPr sz="1300" b="0" i="0">
                <a:solidFill>
                  <a:srgbClr val="1C1B19"/>
                </a:solidFill>
                <a:latin typeface="Source Serif 4"/>
              </a:rPr>
              <a:t>Some students work partly to help their family or worry about bills. Name it without asking who.</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Immigration and language.</a:t>
            </a:r>
          </a:p>
          <a:p>
            <a:pPr algn="l">
              <a:spcAft>
                <a:spcPts val="585"/>
              </a:spcAft>
            </a:pPr>
            <a:r>
              <a:rPr sz="1300" b="0" i="0">
                <a:solidFill>
                  <a:srgbClr val="1C1B19"/>
                </a:solidFill>
                <a:latin typeface="Source Serif 4"/>
              </a:rPr>
              <a:t>Students who translate for parents may carry adult information early. Some families avoid agencies for good reasons; a counselor can plan around that.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For some LGBTQ+ students, tension at home is about who they are. Make sure the circle-building step includes adults and spaces where they're safe.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communities.</a:t>
            </a:r>
          </a:p>
          <a:p>
            <a:pPr algn="l">
              <a:spcAft>
                <a:spcPts val="585"/>
              </a:spcAft>
            </a:pPr>
            <a:r>
              <a:rPr sz="1300" b="0" i="0">
                <a:solidFill>
                  <a:srgbClr val="1C1B19"/>
                </a:solidFill>
                <a:latin typeface="Source Serif 4"/>
              </a:rPr>
              <a:t>A faith community can be part of a student's circle or exit. Include it alongside friends and relatives.</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When children saw adults disagree and work it out, they felt more emotionally secure. Yelling, threats and fights that never resolve had the opposite effect.</a:t>
            </a:r>
          </a:p>
          <a:p>
            <a:pPr algn="l">
              <a:spcAft>
                <a:spcPts val="585"/>
              </a:spcAft>
            </a:pPr>
            <a:r>
              <a:rPr sz="1050" b="0" i="0">
                <a:solidFill>
                  <a:srgbClr val="5D5A54"/>
                </a:solidFill>
                <a:latin typeface="Inter Tight"/>
              </a:rPr>
              <a:t>McCoy, Cummings and Davies, Journal of Child Psychology and Psychiatry, 2009</a:t>
            </a:r>
          </a:p>
          <a:p>
            <a:pPr algn="l">
              <a:spcAft>
                <a:spcPts val="585"/>
              </a:spcAft>
            </a:pPr>
            <a:r>
              <a:rPr sz="1300" b="0" i="0">
                <a:solidFill>
                  <a:srgbClr val="1C1B19"/>
                </a:solidFill>
                <a:latin typeface="Source Serif 4"/>
              </a:rPr>
              <a:t>The impact of parents' conflict depends partly on how kids read it, especially whether they feel threatened and whether they blame themselves.</a:t>
            </a:r>
          </a:p>
          <a:p>
            <a:pPr algn="l">
              <a:spcAft>
                <a:spcPts val="585"/>
              </a:spcAft>
            </a:pPr>
            <a:r>
              <a:rPr sz="1050" b="0" i="0">
                <a:solidFill>
                  <a:srgbClr val="5D5A54"/>
                </a:solidFill>
                <a:latin typeface="Inter Tight"/>
              </a:rPr>
              <a:t>Grych and Fincham, Psychological Bulletin, 1990</a:t>
            </a:r>
          </a:p>
          <a:p>
            <a:pPr algn="l">
              <a:spcAft>
                <a:spcPts val="585"/>
              </a:spcAft>
            </a:pPr>
            <a:r>
              <a:rPr sz="1300" b="0" i="0">
                <a:solidFill>
                  <a:srgbClr val="1C1B19"/>
                </a:solidFill>
                <a:latin typeface="Source Serif 4"/>
              </a:rPr>
              <a:t>Across dozens of studies, children of divorced parents scored a bit lower on average than children of married parents, but the differences were small with lots of overlap; conflict, money and stability mattered more than the label.</a:t>
            </a:r>
          </a:p>
          <a:p>
            <a:pPr algn="l">
              <a:spcAft>
                <a:spcPts val="585"/>
              </a:spcAft>
            </a:pPr>
            <a:r>
              <a:rPr sz="1050" b="0" i="0">
                <a:solidFill>
                  <a:srgbClr val="5D5A54"/>
                </a:solidFill>
                <a:latin typeface="Inter Tight"/>
              </a:rPr>
              <a:t>Amato and Keith, 1991  ·  Amato, Journal of Family Psychology, 2001</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Help from a parent before a stressful speech erased the cortisol response in 9- and 10-year-olds and had no measurable effect for 15- and 16-year-olds.</a:t>
            </a:r>
          </a:p>
          <a:p>
            <a:pPr algn="l">
              <a:spcAft>
                <a:spcPts val="585"/>
              </a:spcAft>
            </a:pPr>
            <a:r>
              <a:rPr sz="1050" b="0" i="0">
                <a:solidFill>
                  <a:srgbClr val="5D5A54"/>
                </a:solidFill>
                <a:latin typeface="Inter Tight"/>
              </a:rPr>
              <a:t>Hostinar, Johnson and Gunnar, Developmental Science, 2015</a:t>
            </a:r>
          </a:p>
          <a:p>
            <a:pPr algn="l">
              <a:spcAft>
                <a:spcPts val="585"/>
              </a:spcAft>
            </a:pPr>
            <a:r>
              <a:rPr sz="1300" b="0" i="0">
                <a:solidFill>
                  <a:srgbClr val="1C1B19"/>
                </a:solidFill>
                <a:latin typeface="Source Serif 4"/>
              </a:rPr>
              <a:t>In a daily diary study of 752 teens from Latin American, Asian and European backgrounds, teens felt happier on days they helped their families, mostly because helping felt meaningful; overall it didn't add stress.</a:t>
            </a:r>
          </a:p>
          <a:p>
            <a:pPr algn="l">
              <a:spcAft>
                <a:spcPts val="585"/>
              </a:spcAft>
            </a:pPr>
            <a:r>
              <a:rPr sz="1050" b="0" i="0">
                <a:solidFill>
                  <a:srgbClr val="5D5A54"/>
                </a:solidFill>
                <a:latin typeface="Inter Tight"/>
              </a:rPr>
              <a:t>Telzer and Fuligni, Developmental Psychology,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