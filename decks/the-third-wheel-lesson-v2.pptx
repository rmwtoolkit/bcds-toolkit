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Open plainly. Something like: "Today is about feeling left out, even a little. Why small stuff hits hard, why our first read on it is often off, and what helps." Say up front that nobody will name real people, real plans, or real chats.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If they need examples of "on the edge": finding out about plans from a screenshot, being the odd number when the group splits into pairs, seeing everyone together on the map. Collect the yes/no scraps in a hat or bag, shuffle, and count out loud next to the average guess. Often more people say yes than the room guessed. If the guess matches, say so and move on. Connect it to the spotlight effect: in a Cornell study, students wearing an embarrassing T-shirt guessed half the room would notice, and about a quarter did. When you're on the edge, it feels like everyone sees it. Most people are busy thinking about themselves, and some of them feel on the edge too.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Psychologist Kipling Williams has studied being ignored and left out for decades. His model says exclusion hits these four needs. In one of his studies, 1,486 people from 62 countries played a simple online ball toss with two "players" who were really a computer. The ones who stopped getting the ball felt worse and less like they belonged, even with strangers in a game that didn't matter. So the hurt is real and fast. Then the brain hunts for a reason, and "they don't want me" is often the first it finds, even when the real one is boring, like a car with four seats. Point to Control: being left out happens to you, which is why doing something about it often helps. Ask: "What's a boring reason someone might get left out of a plan?" Expect: ran out of seats, assumed you were busy, made the plan in a rush, forgot who was in which chat.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The feeling is real, and it isn't the verdict. One missed invite is different from a pattern over a month. Name the trap: pulling back feels protective, and it also makes it easier for people to forget to include you, which confirms the feeling. Add the dating piece: Oxford researchers surveyed 540 adults, and people in a romantic relationship had lost about two close people on average, even counting the new partner. When a friend disappears into a relationship, that's a common pattern and still a real loss. It's fair to ask for protected time: "Can Thursdays still be ours?" If on purpose keeps happening, that's a form of bullying, and it goes to a counselor or dean.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Count off into pairs, and join one yourself if the numbers are odd. Each pair picks a card and decides, then shares back. More than one answer can be reasonable. Nadia: mostly drift. She still texts most nights. A good move is asking for protected time: "Can we keep Thursdays?" Rohan: likely an accident, since he may have assumed you were working. A move: "Next time ask me anyway. I'm free most other nights." The lunch group: a pattern over three weekends, plus the talk stopping, starts to look on purpose. Good moves: one honest sentence to the person you trust most in that group, and putting energy into people who make room for you. If it's targeted, telling a counselor, teacher, or parent or caregiver is a smart move. Name what tends to backfire: disappearing to see who notices (people read it as busy, not hurt), keeping score, making people choose, and replaying their stories.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Private. Give the example from the student page: "When the plans moved to a new chat, I felt left out. Could we do something Saturday?" Keep it about how it felt, with no list of what they did wrong. If they do say it, one on one, in person or on a call, works better than the group chat. Students who don't have a situation right now can write one for a time it might help, or just sit with it. Nobody shares. Mention the "can I come?" move too: suggesting a plan or sitting down at the table works more often than it feels like it will.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Mention the online moves: muting stories notifies nobody and stops the replays, and not knowing where everyone is often feels easier than watching the map. Add widening your base: friends in several places, like a team, a job, a cousin, a neighbor, or an online group, mean one place changing knocks you over less. Share the student page link. It has the accident, drift, or on purpose check, the moves, a private check-in, and when to get more help. Say plainly: if someone keeps leaving you out on purpose, or you've felt low or alone for weeks, a counselor can help, and it isn't your fault.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Third Wheel</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why small exclusions hurt and why the first read is often off, then sort a situation into accident, drift, or on purpose. Bring scrap paper and index cards, count off for pairs so nobody is odd one out, and take deliberate, repeated exclusion to a counselor.</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Family rules, faith, money, rides and two-home weekends all mean some students miss more plans, and Nadia's partner can be any gender.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THIRD WHEEL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Third Wheel</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Technically in the group. Somehow always on the edge.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How many people in this circle felt on the edge of a group at least once this month?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your guess. On a second scrap, write yes or no for yourself. Fold it. No names.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EXCLUSION DOES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Hurt first. Then your brain looks for a reason.</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Belonging</a:t>
            </a:r>
          </a:p>
          <a:p>
            <a:pPr algn="l">
              <a:spcAft>
                <a:spcPts val="945"/>
              </a:spcAft>
            </a:pPr>
            <a:r>
              <a:rPr sz="1600" b="0" i="0">
                <a:solidFill>
                  <a:srgbClr val="5D5A54"/>
                </a:solidFill>
                <a:latin typeface="Source Serif 4"/>
              </a:rPr>
              <a:t>The sense you're part of something takes a hit.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Self-esteem</a:t>
            </a:r>
          </a:p>
          <a:p>
            <a:pPr algn="l">
              <a:spcAft>
                <a:spcPts val="945"/>
              </a:spcAft>
            </a:pPr>
            <a:r>
              <a:rPr sz="1600" b="0" i="0">
                <a:solidFill>
                  <a:srgbClr val="5D5A54"/>
                </a:solidFill>
                <a:latin typeface="Source Serif 4"/>
              </a:rPr>
              <a:t>"What's wrong with me?" Even when it was an accident.</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Control</a:t>
            </a:r>
          </a:p>
          <a:p>
            <a:pPr algn="l">
              <a:spcAft>
                <a:spcPts val="945"/>
              </a:spcAft>
            </a:pPr>
            <a:r>
              <a:rPr sz="1600" b="0" i="0">
                <a:solidFill>
                  <a:srgbClr val="5D5A54"/>
                </a:solidFill>
                <a:latin typeface="Source Serif 4"/>
              </a:rPr>
              <a:t>It happened to you. Doing something helps.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Mattering</a:t>
            </a:r>
          </a:p>
          <a:p>
            <a:pPr algn="l">
              <a:spcAft>
                <a:spcPts val="945"/>
              </a:spcAft>
            </a:pPr>
            <a:r>
              <a:rPr sz="1600" b="0" i="0">
                <a:solidFill>
                  <a:srgbClr val="5D5A54"/>
                </a:solidFill>
                <a:latin typeface="Source Serif 4"/>
              </a:rPr>
              <a:t>Wondering if your being there makes a difference.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CHECK FIRST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Accident, drift, or on purpose?</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 accident</a:t>
            </a:r>
          </a:p>
          <a:p>
            <a:pPr algn="l">
              <a:spcAft>
                <a:spcPts val="945"/>
              </a:spcAft>
            </a:pPr>
            <a:r>
              <a:rPr sz="1600" b="0" i="0">
                <a:solidFill>
                  <a:srgbClr val="5D5A54"/>
                </a:solidFill>
                <a:latin typeface="Source Serif 4"/>
              </a:rPr>
              <a:t>Someone didn't think, or assumed you were busy.</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drift</a:t>
            </a:r>
          </a:p>
          <a:p>
            <a:pPr algn="l">
              <a:spcAft>
                <a:spcPts val="945"/>
              </a:spcAft>
            </a:pPr>
            <a:r>
              <a:rPr sz="1600" b="0" i="0">
                <a:solidFill>
                  <a:srgbClr val="5D5A54"/>
                </a:solidFill>
                <a:latin typeface="Source Serif 4"/>
              </a:rPr>
              <a:t>Schedules, jobs or relationships pulled people apart.</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On purpose</a:t>
            </a:r>
          </a:p>
          <a:p>
            <a:pPr algn="l">
              <a:spcAft>
                <a:spcPts val="945"/>
              </a:spcAft>
            </a:pPr>
            <a:r>
              <a:rPr sz="1600" b="0" i="0">
                <a:solidFill>
                  <a:srgbClr val="5D5A54"/>
                </a:solidFill>
                <a:latin typeface="Source Serif 4"/>
              </a:rPr>
              <a:t>Someone is choosing to keep you out. That isn't okay.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 DECIDE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Accident, drift, or on purpose?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NADIA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Started dating Chris in October. She used to drive you home after practice. Now she drives Chris. She still texts you most nights.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ROHAN</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Posts a story from a late study session at the library with three friends. Earlier that week, you mentioned you work Tuesday nights.</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LUNCH GROUP</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For three weekends, plans happen in a separate chat. When you walk up, the talk stops. "It's nothing, just a small 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ONE HONEST SENTENCE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"When... I felt... Could we...?"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 a card, privately, write one you might say to someone. You decide if you ever say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move this week, if you want</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Ask "can I come?", make a plan, mute a story, or turn off the map.</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https://rmwtoolkit.github.io/bcds-toolkit/the-third-wheel-high-school.html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Third Wheel</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small exclusions hurt and why the first read on them is often off, sort a situation into accident, drift, or on purpose, and draft one honest sentence they could say to a friend. Nobody names real people or plans.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 paper and a hat or bag for the anonymous guess</a:t>
            </a:r>
          </a:p>
          <a:p>
            <a:pPr algn="l">
              <a:spcAft>
                <a:spcPts val="675"/>
              </a:spcAft>
            </a:pPr>
            <a:r>
              <a:rPr sz="1500" b="0" i="0">
                <a:solidFill>
                  <a:srgbClr val="1C1B19"/>
                </a:solidFill>
                <a:latin typeface="Source Serif 4"/>
              </a:rPr>
              <a:t>Index cards for the private honest sentence</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The guess (anonymous cards)</a:t>
            </a:r>
          </a:p>
          <a:p>
            <a:pPr algn="l">
              <a:spcAft>
                <a:spcPts val="630"/>
              </a:spcAft>
            </a:pPr>
            <a:r>
              <a:rPr sz="1300" b="1" i="0">
                <a:solidFill>
                  <a:srgbClr val="F47B20"/>
                </a:solidFill>
                <a:latin typeface="Inter Tight"/>
              </a:rPr>
              <a:t>5 min   </a:t>
            </a:r>
            <a:r>
              <a:rPr sz="1400" b="0" i="0">
                <a:solidFill>
                  <a:srgbClr val="1C1B19"/>
                </a:solidFill>
                <a:latin typeface="Source Serif 4"/>
              </a:rPr>
              <a:t>What exclusion does, and check first</a:t>
            </a:r>
          </a:p>
          <a:p>
            <a:pPr algn="l">
              <a:spcAft>
                <a:spcPts val="630"/>
              </a:spcAft>
            </a:pPr>
            <a:r>
              <a:rPr sz="1300" b="1" i="0">
                <a:solidFill>
                  <a:srgbClr val="F47B20"/>
                </a:solidFill>
                <a:latin typeface="Inter Tight"/>
              </a:rPr>
              <a:t>5 min   </a:t>
            </a:r>
            <a:r>
              <a:rPr sz="1400" b="0" i="0">
                <a:solidFill>
                  <a:srgbClr val="1C1B19"/>
                </a:solidFill>
                <a:latin typeface="Source Serif 4"/>
              </a:rPr>
              <a:t>Accident, drift, or on purpose? (pairs)</a:t>
            </a:r>
          </a:p>
          <a:p>
            <a:pPr algn="l">
              <a:spcAft>
                <a:spcPts val="630"/>
              </a:spcAft>
            </a:pPr>
            <a:r>
              <a:rPr sz="1300" b="1" i="0">
                <a:solidFill>
                  <a:srgbClr val="F47B20"/>
                </a:solidFill>
                <a:latin typeface="Inter Tight"/>
              </a:rPr>
              <a:t>3 min   </a:t>
            </a:r>
            <a:r>
              <a:rPr sz="1400" b="0" i="0">
                <a:solidFill>
                  <a:srgbClr val="1C1B19"/>
                </a:solidFill>
                <a:latin typeface="Source Serif 4"/>
              </a:rPr>
              <a:t>One honest sentence (private)</a:t>
            </a:r>
          </a:p>
          <a:p>
            <a:pPr algn="l">
              <a:spcAft>
                <a:spcPts val="630"/>
              </a:spcAft>
            </a:pPr>
            <a:r>
              <a:rPr sz="1300" b="1" i="0">
                <a:solidFill>
                  <a:srgbClr val="F47B20"/>
                </a:solidFill>
                <a:latin typeface="Inter Tight"/>
              </a:rPr>
              <a:t>2 min   </a:t>
            </a:r>
            <a:r>
              <a:rPr sz="1400" b="0" i="0">
                <a:solidFill>
                  <a:srgbClr val="1C1B19"/>
                </a:solidFill>
                <a:latin typeface="Source Serif 4"/>
              </a:rPr>
              <a:t>One move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The guess (3), accident, drift, or on purpose with one scenario (3), one honest sentence (2), one move and the student page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It may be happening in this circle.</a:t>
            </a:r>
          </a:p>
          <a:p>
            <a:pPr algn="l">
              <a:spcAft>
                <a:spcPts val="585"/>
              </a:spcAft>
            </a:pPr>
            <a:r>
              <a:rPr sz="1300" b="0" i="0">
                <a:solidFill>
                  <a:srgbClr val="1C1B19"/>
                </a:solidFill>
                <a:latin typeface="Source Serif 4"/>
              </a:rPr>
              <a:t>Advisory groups are small, and the student on the edge of a friend group may be sitting near that group. Don't ask for real examples, names, or plans. Use only the slide scenarios.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Make pairing easy.</a:t>
            </a:r>
          </a:p>
          <a:p>
            <a:pPr algn="l">
              <a:spcAft>
                <a:spcPts val="585"/>
              </a:spcAft>
            </a:pPr>
            <a:r>
              <a:rPr sz="1300" b="0" i="0">
                <a:solidFill>
                  <a:srgbClr val="1C1B19"/>
                </a:solidFill>
                <a:latin typeface="Source Serif 4"/>
              </a:rPr>
              <a:t>Being the odd one out is the topic, so don't let students choose partners. Count off, and join a pair yourself if the numbers are uneven.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On purpose, again and again, is bullying.</a:t>
            </a:r>
          </a:p>
          <a:p>
            <a:pPr algn="l">
              <a:spcAft>
                <a:spcPts val="585"/>
              </a:spcAft>
            </a:pPr>
            <a:r>
              <a:rPr sz="1300" b="0" i="0">
                <a:solidFill>
                  <a:srgbClr val="1C1B19"/>
                </a:solidFill>
                <a:latin typeface="Source Serif 4"/>
              </a:rPr>
              <a:t>If a student describes being deliberately left out, rumors, or someone telling others not to hang out with them, thank them, move on, and follow up privately that day with a counselor or dean.</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Weeks of feeling low go to a counselor.</a:t>
            </a:r>
          </a:p>
          <a:p>
            <a:pPr algn="l">
              <a:spcAft>
                <a:spcPts val="585"/>
              </a:spcAft>
            </a:pPr>
            <a:r>
              <a:rPr sz="1300" b="0" i="0">
                <a:solidFill>
                  <a:srgbClr val="1C1B19"/>
                </a:solidFill>
                <a:latin typeface="Source Serif 4"/>
              </a:rPr>
              <a:t>The student page names feeling low or alone for weeks as a reason to get help. Don't ask about this in the circle. Any disclosure goes to a counselor the same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Jealousy is allowed.</a:t>
            </a:r>
          </a:p>
          <a:p>
            <a:pPr algn="l">
              <a:spcAft>
                <a:spcPts val="585"/>
              </a:spcAft>
            </a:pPr>
            <a:r>
              <a:rPr sz="1300" b="0" i="0">
                <a:solidFill>
                  <a:srgbClr val="1C1B19"/>
                </a:solidFill>
                <a:latin typeface="Source Serif 4"/>
              </a:rPr>
              <a:t>Students may admit they're jealous of a friend's new friend or partner. Treat it as a sign the friendship matters and keep shame out of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Leave room for students who did the leaving out.</a:t>
            </a:r>
          </a:p>
          <a:p>
            <a:pPr algn="l">
              <a:spcAft>
                <a:spcPts val="585"/>
              </a:spcAft>
            </a:pPr>
            <a:r>
              <a:rPr sz="1300" b="0" i="0">
                <a:solidFill>
                  <a:srgbClr val="1C1B19"/>
                </a:solidFill>
                <a:latin typeface="Source Serif 4"/>
              </a:rPr>
              <a:t>Some students have started a separate chat or forgotten someone. Give them a way in: a quick "want to come?" fixes a lot of accidents.</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rules and faith shape plans.</a:t>
            </a:r>
          </a:p>
          <a:p>
            <a:pPr algn="l">
              <a:spcAft>
                <a:spcPts val="585"/>
              </a:spcAft>
            </a:pPr>
            <a:r>
              <a:rPr sz="1300" b="0" i="0">
                <a:solidFill>
                  <a:srgbClr val="1C1B19"/>
                </a:solidFill>
                <a:latin typeface="Source Serif 4"/>
              </a:rPr>
              <a:t>Curfews, religious services and holy days, family responsibilities, and rules about where students can go mean some miss more plans. Present "I usually can't do Friday nights, but I'm in for Saturday afternoons" as a strong move, and don't assume every family runs the same way.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jobs and rides.</a:t>
            </a:r>
          </a:p>
          <a:p>
            <a:pPr algn="l">
              <a:spcAft>
                <a:spcPts val="585"/>
              </a:spcAft>
            </a:pPr>
            <a:r>
              <a:rPr sz="1300" b="0" i="0">
                <a:solidFill>
                  <a:srgbClr val="1C1B19"/>
                </a:solidFill>
                <a:latin typeface="Source Serif 4"/>
              </a:rPr>
              <a:t>Some students work, can't afford the plan, or don't have a ride. The "car with four seats" example fits here. When you model making a plan, suggest free ones.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Dating examples include everyone.</a:t>
            </a:r>
          </a:p>
          <a:p>
            <a:pPr algn="l">
              <a:spcAft>
                <a:spcPts val="585"/>
              </a:spcAft>
            </a:pPr>
            <a:r>
              <a:rPr sz="1300" b="0" i="0">
                <a:solidFill>
                  <a:srgbClr val="1C1B19"/>
                </a:solidFill>
                <a:latin typeface="Source Serif 4"/>
              </a:rPr>
              <a:t>Nadia's partner Chris could be any gender; say "partner" or "someone you like" when you talk about it. A Close Friends list or a screenshot can also reveal who someone likes, which makes it a counselor conversation and never a discussion topic.</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Social cues and social energy.</a:t>
            </a:r>
          </a:p>
          <a:p>
            <a:pPr algn="l">
              <a:spcAft>
                <a:spcPts val="585"/>
              </a:spcAft>
            </a:pPr>
            <a:r>
              <a:rPr sz="1300" b="0" i="0">
                <a:solidFill>
                  <a:srgbClr val="1C1B19"/>
                </a:solidFill>
                <a:latin typeface="Source Serif 4"/>
              </a:rPr>
              <a:t>Autistic students, students with ADHD, and students with social anxiety may find it harder to tell whether a plan was open, or to walk up and sit down. The one honest sentence gives a script. Don't treat speaking up in the group as the only sign of a good friend.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Two homes, two schedules.</a:t>
            </a:r>
          </a:p>
          <a:p>
            <a:pPr algn="l">
              <a:spcAft>
                <a:spcPts val="585"/>
              </a:spcAft>
            </a:pPr>
            <a:r>
              <a:rPr sz="1300" b="0" i="0">
                <a:solidFill>
                  <a:srgbClr val="1C1B19"/>
                </a:solidFill>
                <a:latin typeface="Source Serif 4"/>
              </a:rPr>
              <a:t>Students who split time between households, live with grandparents, or are in foster or kinship care may miss plans on certain weekends. Say "the adults at home" and treat it as logistics.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New to the group, the school, or the country.</a:t>
            </a:r>
          </a:p>
          <a:p>
            <a:pPr algn="l">
              <a:spcAft>
                <a:spcPts val="585"/>
              </a:spcAft>
            </a:pPr>
            <a:r>
              <a:rPr sz="1300" b="0" i="0">
                <a:solidFill>
                  <a:srgbClr val="1C1B19"/>
                </a:solidFill>
                <a:latin typeface="Source Serif 4"/>
              </a:rPr>
              <a:t>Students who are new, or who speak another language at home, may feel on the edge when inside jokes and fast talk fly by. Widening your base can include a cultural club, a cousin, or an online group in their language.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Psychologist Kipling Williams's model says being ignored or left out threatens four needs: belonging, self-esteem, control, and a sense that your presence matters ("meaningful existence").</a:t>
            </a:r>
          </a:p>
          <a:p>
            <a:pPr algn="l">
              <a:spcAft>
                <a:spcPts val="585"/>
              </a:spcAft>
            </a:pPr>
            <a:r>
              <a:rPr sz="1050" b="0" i="0">
                <a:solidFill>
                  <a:srgbClr val="5D5A54"/>
                </a:solidFill>
                <a:latin typeface="Inter Tight"/>
              </a:rPr>
              <a:t>Williams, Advances in Experimental Social Psychology, 2009</a:t>
            </a:r>
          </a:p>
          <a:p>
            <a:pPr algn="l">
              <a:spcAft>
                <a:spcPts val="585"/>
              </a:spcAft>
            </a:pPr>
            <a:r>
              <a:rPr sz="1300" b="0" i="0">
                <a:solidFill>
                  <a:srgbClr val="1C1B19"/>
                </a:solidFill>
                <a:latin typeface="Source Serif 4"/>
              </a:rPr>
              <a:t>The model describes stages. The first two (the quick hurt, then a reflective stage) are well studied in experiments. The third, resignation, comes mostly from interviews and long-term observation, so it's less certain.</a:t>
            </a:r>
          </a:p>
          <a:p>
            <a:pPr algn="l">
              <a:spcAft>
                <a:spcPts val="585"/>
              </a:spcAft>
            </a:pPr>
            <a:r>
              <a:rPr sz="1050" b="0" i="0">
                <a:solidFill>
                  <a:srgbClr val="5D5A54"/>
                </a:solidFill>
                <a:latin typeface="Inter Tight"/>
              </a:rPr>
              <a:t>Williams, 2009</a:t>
            </a:r>
          </a:p>
          <a:p>
            <a:pPr algn="l">
              <a:spcAft>
                <a:spcPts val="585"/>
              </a:spcAft>
            </a:pPr>
            <a:r>
              <a:rPr sz="1300" b="0" i="0">
                <a:solidFill>
                  <a:srgbClr val="1C1B19"/>
                </a:solidFill>
                <a:latin typeface="Source Serif 4"/>
              </a:rPr>
              <a:t>1,486 people from 62 countries played an online ball toss with two "players" who were really a computer. Those who stopped getting the ball felt worse and reported a weaker sense of belonging, even with strangers in a game that didn't matter.</a:t>
            </a:r>
          </a:p>
          <a:p>
            <a:pPr algn="l">
              <a:spcAft>
                <a:spcPts val="585"/>
              </a:spcAft>
            </a:pPr>
            <a:r>
              <a:rPr sz="1050" b="0" i="0">
                <a:solidFill>
                  <a:srgbClr val="5D5A54"/>
                </a:solidFill>
                <a:latin typeface="Inter Tight"/>
              </a:rPr>
              <a:t>Williams, Cheung and Choi, Journal of Personality and Social Psychology, 2000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Cornell students who wore an embarrassing T-shirt into a room guessed about half the room would notice. About a quarter did.</a:t>
            </a:r>
          </a:p>
          <a:p>
            <a:pPr algn="l">
              <a:spcAft>
                <a:spcPts val="585"/>
              </a:spcAft>
            </a:pPr>
            <a:r>
              <a:rPr sz="1050" b="0" i="0">
                <a:solidFill>
                  <a:srgbClr val="5D5A54"/>
                </a:solidFill>
                <a:latin typeface="Inter Tight"/>
              </a:rPr>
              <a:t>Gilovich, Medvec and Savitsky, Journal of Personality and Social Psychology, 2000</a:t>
            </a:r>
          </a:p>
          <a:p>
            <a:pPr algn="l">
              <a:spcAft>
                <a:spcPts val="585"/>
              </a:spcAft>
            </a:pPr>
            <a:r>
              <a:rPr sz="1300" b="0" i="0">
                <a:solidFill>
                  <a:srgbClr val="1C1B19"/>
                </a:solidFill>
                <a:latin typeface="Source Serif 4"/>
              </a:rPr>
              <a:t>In a survey of 540 adults, people in a romantic relationship had smaller close support networks. Even counting the new partner, they had lost about two close people on average.</a:t>
            </a:r>
          </a:p>
          <a:p>
            <a:pPr algn="l">
              <a:spcAft>
                <a:spcPts val="585"/>
              </a:spcAft>
            </a:pPr>
            <a:r>
              <a:rPr sz="1050" b="0" i="0">
                <a:solidFill>
                  <a:srgbClr val="5D5A54"/>
                </a:solidFill>
                <a:latin typeface="Inter Tight"/>
              </a:rPr>
              <a:t>Burton-Chellew and Dunbar, Evolutionary Behavioral Sciences, 2015</a:t>
            </a:r>
          </a:p>
          <a:p>
            <a:pPr algn="l">
              <a:spcAft>
                <a:spcPts val="585"/>
              </a:spcAft>
            </a:pPr>
            <a:r>
              <a:rPr sz="1300" b="0" i="0">
                <a:solidFill>
                  <a:srgbClr val="1C1B19"/>
                </a:solidFill>
                <a:latin typeface="Source Serif 4"/>
              </a:rPr>
              <a:t>Being left out hits control in particular, because it happens to you. That's why doing something about it, like making a plan yourself, often helps.</a:t>
            </a:r>
          </a:p>
          <a:p>
            <a:pPr algn="l">
              <a:spcAft>
                <a:spcPts val="585"/>
              </a:spcAft>
            </a:pPr>
            <a:r>
              <a:rPr sz="1050" b="0" i="0">
                <a:solidFill>
                  <a:srgbClr val="5D5A54"/>
                </a:solidFill>
                <a:latin typeface="Inter Tight"/>
              </a:rPr>
              <a:t>Williams,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