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"Most people have a voice in their head that replays the one comment from class at 1 a.m., or remembers the one note from a coach and forgets the ten compliments. Today is about why that voice is so convincing, and how to get some distance from it." Say up front that nobody will share what their own critic says.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with the title. Take a quick show of hands for each option. Then the reveal: in the study, students wearing the embarrassing shirt guessed about half the room noticed. Fewer than a quarter did (Gilovich, Medvec and Savitsky, 2000). Psychologists call it the spotlight effect. Ask: "Why do we guess so high?" Expect: we're watching ourselves all day, so we assume everyone else is too. Connect it: the critic works the same way. It treats every slip as if the whole room saw.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This is psychologist Paul Gilbert's model from compassion-focused therapy (2009). It's a model of how emotions work and doesn't map to brain regions. The critic treats a mistake as a threat to your standing and attacks you before anyone else can. In a strange way, it's trying to protect you. Gilbert argues that self-critical people tend to underuse soothing, which can come from someone else or from yourself, so threat runs unchecked. Add where some of the lines come from: a coach, a sibling, a teacher, comments about your body, or messages about race, gender, sexuality or background picked up from the world. Ask, as a private question: "Whose voice does your critic sound like?" Nobody answers out loud.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Many students vote yes, and the feeling makes sense: the critic feels like motivation. Then the research. After failing a hard test, college students who were prompted to treat themselves with compassion studied longer for a retest than students told to boost their self-esteem, or given no prompt (Breines and Chen, 2012). A review of 19 studies with more than 7,000 teens found a strong link between self-compassion and lower anxiety, depression and stress (Marsh, Chan and MacBeth, 2018). Those are correlations, so they show a connection without proving cause. Self-compassion here means honest about the mistake and kind about the person. It doesn't mean shrugging it off or telling yourself you're amazing.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Notice it: "I'm having the thought that I'm an idiot" is a thought. "I'm an idiot" is a verdict. Use your name: people who prepped for a stressful speech by talking to themselves by name or as "you" felt less anxious and gave better speeches than people who used "I" (Kross et al., 2014). "Maya, you've done this before." Check the evidence: fact or opinion? Would it hold up if a friend said it about themselves? Coach, don't condemn: honest about the mistake, specific about the fix. "That intro was rushed. Slow down next time." One more from the student page: trying to shut the critic up backfires. People told not to think about a white bear thought about it more (Wegner et al., 1987). Notice it, then redirect.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Pairs take one card each: name the voice (critic, coach, or shrug), then write what a coach on their side would say. Jordan: a coach says, "That stings. Which section cost me the most, and do I want to retake it?" "Whatever, tests don't matter" is the shrug. It skips the useful part. Aaliyah: "Bad miss. Shake it off. Next rep." The spotlight effect applies here too: most people notice less than you think, and forget faster. Mateo: "That hurts. Maybe it was a family thing or a small table. I could ask, or let it go." There's usually more than one good answer. The best one is the one you'd actually use. Keep the talk on the characters.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Private. Nobody shares, and the card goes home. Offer the steps from the student page: what the critic says; fact or opinion, with evidence on both sides; the same message from a coach, using your name; one specific thing to do differently next time, if anything. Some students will write nothing, and that's fine. Mention two more tools they might try: an evidence file (wins, kind words, hard things you handled, since the critic has a selective memory) and saying the critic's line out loud to someone who likes you, where it usually sounds less convincing.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Share the student page link (post it on your class page too). It has the three systems, the tools, the rewrite, a private check-in, and who to talk to. Close with: if the critic is loud most of the day, if you feel worthless or hopeless, or if it's mostly about your body, food or weight, that's worth bringing to a counselor soon. You don't have to wait until it's bad.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Inner Critic</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the inner critic sounds so convincing (it runs on the threat system), what research says about self-compassion and effort, and how to get some distance from the voice. Each student privately rewrites one critic line as a coach on their side would say it.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Scrap paper for the opening guess</a:t>
            </a:r>
          </a:p>
          <a:p>
            <a:pPr algn="l">
              <a:spcAft>
                <a:spcPts val="675"/>
              </a:spcAft>
            </a:pPr>
            <a:r>
              <a:rPr sz="1500" b="0" i="0">
                <a:solidFill>
                  <a:srgbClr val="1C1B19"/>
                </a:solidFill>
                <a:latin typeface="Source Serif 4"/>
              </a:rPr>
              <a:t>Index cards for the private critic-to-coach rewrite</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The T-shirt guess (spotlight effect)</a:t>
            </a:r>
          </a:p>
          <a:p>
            <a:pPr algn="l">
              <a:spcAft>
                <a:spcPts val="630"/>
              </a:spcAft>
            </a:pPr>
            <a:r>
              <a:rPr sz="1300" b="1" i="0">
                <a:solidFill>
                  <a:srgbClr val="F47B20"/>
                </a:solidFill>
                <a:latin typeface="Inter Tight"/>
              </a:rPr>
              <a:t>3 min   </a:t>
            </a:r>
            <a:r>
              <a:rPr sz="1400" b="0" i="0">
                <a:solidFill>
                  <a:srgbClr val="1C1B19"/>
                </a:solidFill>
                <a:latin typeface="Source Serif 4"/>
              </a:rPr>
              <a:t>Three systems: threat, drive, soothing</a:t>
            </a:r>
          </a:p>
          <a:p>
            <a:pPr algn="l">
              <a:spcAft>
                <a:spcPts val="630"/>
              </a:spcAft>
            </a:pPr>
            <a:r>
              <a:rPr sz="1300" b="1" i="0">
                <a:solidFill>
                  <a:srgbClr val="F47B20"/>
                </a:solidFill>
                <a:latin typeface="Inter Tight"/>
              </a:rPr>
              <a:t>3 min   </a:t>
            </a:r>
            <a:r>
              <a:rPr sz="1400" b="0" i="0">
                <a:solidFill>
                  <a:srgbClr val="1C1B19"/>
                </a:solidFill>
                <a:latin typeface="Source Serif 4"/>
              </a:rPr>
              <a:t>Quick vote: does being hard on yourself keep you sharp?</a:t>
            </a:r>
          </a:p>
          <a:p>
            <a:pPr algn="l">
              <a:spcAft>
                <a:spcPts val="630"/>
              </a:spcAft>
            </a:pPr>
            <a:r>
              <a:rPr sz="1300" b="1" i="0">
                <a:solidFill>
                  <a:srgbClr val="F47B20"/>
                </a:solidFill>
                <a:latin typeface="Inter Tight"/>
              </a:rPr>
              <a:t>3 min   </a:t>
            </a:r>
            <a:r>
              <a:rPr sz="1400" b="0" i="0">
                <a:solidFill>
                  <a:srgbClr val="1C1B19"/>
                </a:solidFill>
                <a:latin typeface="Source Serif 4"/>
              </a:rPr>
              <a:t>Get some distance from the voice</a:t>
            </a:r>
          </a:p>
          <a:p>
            <a:pPr algn="l">
              <a:spcAft>
                <a:spcPts val="630"/>
              </a:spcAft>
            </a:pPr>
            <a:r>
              <a:rPr sz="1300" b="1" i="0">
                <a:solidFill>
                  <a:srgbClr val="F47B20"/>
                </a:solidFill>
                <a:latin typeface="Inter Tight"/>
              </a:rPr>
              <a:t>4 min   </a:t>
            </a:r>
            <a:r>
              <a:rPr sz="1400" b="0" i="0">
                <a:solidFill>
                  <a:srgbClr val="1C1B19"/>
                </a:solidFill>
                <a:latin typeface="Source Serif 4"/>
              </a:rPr>
              <a:t>Three moments: which voice is talking? (pairs)</a:t>
            </a:r>
          </a:p>
          <a:p>
            <a:pPr algn="l">
              <a:spcAft>
                <a:spcPts val="630"/>
              </a:spcAft>
            </a:pPr>
            <a:r>
              <a:rPr sz="1300" b="1" i="0">
                <a:solidFill>
                  <a:srgbClr val="F47B20"/>
                </a:solidFill>
                <a:latin typeface="Inter Tight"/>
              </a:rPr>
              <a:t>3 min   </a:t>
            </a:r>
            <a:r>
              <a:rPr sz="1400" b="0" i="0">
                <a:solidFill>
                  <a:srgbClr val="1C1B19"/>
                </a:solidFill>
                <a:latin typeface="Source Serif 4"/>
              </a:rPr>
              <a:t>Rewrite the critic as a coach (private card)</a:t>
            </a:r>
          </a:p>
          <a:p>
            <a:pPr algn="l">
              <a:spcAft>
                <a:spcPts val="630"/>
              </a:spcAft>
            </a:pPr>
            <a:r>
              <a:rPr sz="1300" b="1" i="0">
                <a:solidFill>
                  <a:srgbClr val="F47B20"/>
                </a:solidFill>
                <a:latin typeface="Inter Tight"/>
              </a:rPr>
              <a:t>1 min   </a:t>
            </a:r>
            <a:r>
              <a:rPr sz="1400" b="0" i="0">
                <a:solidFill>
                  <a:srgbClr val="1C1B19"/>
                </a:solidFill>
                <a:latin typeface="Source Serif 4"/>
              </a:rPr>
              <a:t>One thing to try,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The T-shirt guess (2), quick vote and the self-compassion research (3), rewrite the critic as a coach on a private card (4), the student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Keep the critic's lines private.</a:t>
            </a:r>
          </a:p>
          <a:p>
            <a:pPr algn="l">
              <a:spcAft>
                <a:spcPts val="585"/>
              </a:spcAft>
            </a:pPr>
            <a:r>
              <a:rPr sz="1300" b="0" i="0">
                <a:solidFill>
                  <a:srgbClr val="1C1B19"/>
                </a:solidFill>
                <a:latin typeface="Source Serif 4"/>
              </a:rPr>
              <a:t>Nobody reads their card aloud or says what their critic tells them. The cards go home with the student.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Worthless or hopeless goes to a counselor.</a:t>
            </a:r>
          </a:p>
          <a:p>
            <a:pPr algn="l">
              <a:spcAft>
                <a:spcPts val="585"/>
              </a:spcAft>
            </a:pPr>
            <a:r>
              <a:rPr sz="1300" b="0" i="0">
                <a:solidFill>
                  <a:srgbClr val="1C1B19"/>
                </a:solidFill>
                <a:latin typeface="Source Serif 4"/>
              </a:rPr>
              <a:t>If a student says the critic is loud most of the day, or that they feel worthless or hopeless, thank them, don't explore it in the circle, and connect them with a counselor that day. Don't ask screening questions in advisory.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the critic is about bodies or food.</a:t>
            </a:r>
          </a:p>
          <a:p>
            <a:pPr algn="l">
              <a:spcAft>
                <a:spcPts val="585"/>
              </a:spcAft>
            </a:pPr>
            <a:r>
              <a:rPr sz="1300" b="0" i="0">
                <a:solidFill>
                  <a:srgbClr val="1C1B19"/>
                </a:solidFill>
                <a:latin typeface="Source Serif 4"/>
              </a:rPr>
              <a:t>Keep every example away from weight, shape and eating. If a student's critic is mostly about their body, food or weight, that's a counselor conversation. The student page lists help for that.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Respect where a voice came from.</a:t>
            </a:r>
          </a:p>
          <a:p>
            <a:pPr algn="l">
              <a:spcAft>
                <a:spcPts val="585"/>
              </a:spcAft>
            </a:pPr>
            <a:r>
              <a:rPr sz="1300" b="0" i="0">
                <a:solidFill>
                  <a:srgbClr val="1C1B19"/>
                </a:solidFill>
                <a:latin typeface="Source Serif 4"/>
              </a:rPr>
              <a:t>Some students hear their critic in a parent's, coach's or grandparent's words. Don't invite anyone to criticize their family. The point from the student page is that a voice can be loving at its source and still not get the last word.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SAT card can land hard.</a:t>
            </a:r>
          </a:p>
          <a:p>
            <a:pPr algn="l">
              <a:spcAft>
                <a:spcPts val="585"/>
              </a:spcAft>
            </a:pPr>
            <a:r>
              <a:rPr sz="1300" b="0" i="0">
                <a:solidFill>
                  <a:srgbClr val="1C1B19"/>
                </a:solidFill>
                <a:latin typeface="Source Serif 4"/>
              </a:rPr>
              <a:t>Juniors and seniors may be in testing season. Keep it on the character, and don't ask anyone about their own scores.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push affirmations.</a:t>
            </a:r>
          </a:p>
          <a:p>
            <a:pPr algn="l">
              <a:spcAft>
                <a:spcPts val="585"/>
              </a:spcAft>
            </a:pPr>
            <a:r>
              <a:rPr sz="1300" b="0" i="0">
                <a:solidFill>
                  <a:srgbClr val="1C1B19"/>
                </a:solidFill>
                <a:latin typeface="Source Serif 4"/>
              </a:rPr>
              <a:t>If a student says "just tell yourself you're amazing," gently note that glowing lines you don't believe can make the gap feel bigger. Aim for fair and kind.</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Messages about race and background.</a:t>
            </a:r>
          </a:p>
          <a:p>
            <a:pPr algn="l">
              <a:spcAft>
                <a:spcPts val="585"/>
              </a:spcAft>
            </a:pPr>
            <a:r>
              <a:rPr sz="1300" b="0" i="0">
                <a:solidFill>
                  <a:srgbClr val="1C1B19"/>
                </a:solidFill>
                <a:latin typeface="Source Serif 4"/>
              </a:rPr>
              <a:t>Some critic lines start as messages students absorbed about their race, culture or background. Name that once, plainly, as something that comes from outside. Don't ask anyone to share which messages they've heard.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High expectations at home.</a:t>
            </a:r>
          </a:p>
          <a:p>
            <a:pPr algn="l">
              <a:spcAft>
                <a:spcPts val="585"/>
              </a:spcAft>
            </a:pPr>
            <a:r>
              <a:rPr sz="1300" b="0" i="0">
                <a:solidFill>
                  <a:srgbClr val="1C1B19"/>
                </a:solidFill>
                <a:latin typeface="Source Serif 4"/>
              </a:rPr>
              <a:t>Some families show love through high expectations and blunt feedback, and for many students that's where drive comes from. Present it as loving and still able to leave a harsh voice behind. Avoid "In X families" generalizations, and say "parent or caregiver."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The critic can repeat messages about sexuality or gender identity. If a student raises it privately, connect them with a counselor, who can also share The Trevor Project (1-866-488-7386, or text START to 678-678) and, for gender identity, Trans Lifeline (877-565-8860).</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Students who've heard a lot of correction.</a:t>
            </a:r>
          </a:p>
          <a:p>
            <a:pPr algn="l">
              <a:spcAft>
                <a:spcPts val="585"/>
              </a:spcAft>
            </a:pPr>
            <a:r>
              <a:rPr sz="1300" b="0" i="0">
                <a:solidFill>
                  <a:srgbClr val="1C1B19"/>
                </a:solidFill>
                <a:latin typeface="Source Serif 4"/>
              </a:rPr>
              <a:t>Students with ADHD, learning differences or a learning plan have often heard more correction than praise, and the critic may sound like years of it. The evidence file helps here. Never use a diagnosis as a casual adjective.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Bodies of every size.</a:t>
            </a:r>
          </a:p>
          <a:p>
            <a:pPr algn="l">
              <a:spcAft>
                <a:spcPts val="585"/>
              </a:spcAft>
            </a:pPr>
            <a:r>
              <a:rPr sz="1300" b="0" i="0">
                <a:solidFill>
                  <a:srgbClr val="1C1B19"/>
                </a:solidFill>
                <a:latin typeface="Source Serif 4"/>
              </a:rPr>
              <a:t>Body talk is part of many students' critic. Keep examples on grades, sports and friendships, and never offer weight loss or appearance as a fix.</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Retakes and tutoring cost money.</a:t>
            </a:r>
          </a:p>
          <a:p>
            <a:pPr algn="l">
              <a:spcAft>
                <a:spcPts val="585"/>
              </a:spcAft>
            </a:pPr>
            <a:r>
              <a:rPr sz="1300" b="0" i="0">
                <a:solidFill>
                  <a:srgbClr val="1C1B19"/>
                </a:solidFill>
                <a:latin typeface="Source Serif 4"/>
              </a:rPr>
              <a:t>In the SAT moment, "do I want to retake it?" assumes the fee and time are there. Point out that a coach voice works whether or not a retake happens, and that the college counseling office can talk through options.</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Psychologist Paul Gilbert describes three emotion systems: threat, drive and soothing. Self-critical people tend to underuse soothing, so the threat system runs unchecked. It's a model of how emotions work and doesn't map to brain regions.</a:t>
            </a:r>
          </a:p>
          <a:p>
            <a:pPr algn="l">
              <a:spcAft>
                <a:spcPts val="585"/>
              </a:spcAft>
            </a:pPr>
            <a:r>
              <a:rPr sz="1050" b="0" i="0">
                <a:solidFill>
                  <a:srgbClr val="5D5A54"/>
                </a:solidFill>
                <a:latin typeface="Inter Tight"/>
              </a:rPr>
              <a:t>Gilbert, 2009, Advances in Psychiatric Treatment</a:t>
            </a:r>
          </a:p>
          <a:p>
            <a:pPr algn="l">
              <a:spcAft>
                <a:spcPts val="585"/>
              </a:spcAft>
            </a:pPr>
            <a:r>
              <a:rPr sz="1300" b="0" i="0">
                <a:solidFill>
                  <a:srgbClr val="1C1B19"/>
                </a:solidFill>
                <a:latin typeface="Source Serif 4"/>
              </a:rPr>
              <a:t>After failing a hard test, college students prompted to treat themselves with compassion studied longer for a retest than students prompted to boost their self-esteem, or given no prompt.</a:t>
            </a:r>
          </a:p>
          <a:p>
            <a:pPr algn="l">
              <a:spcAft>
                <a:spcPts val="585"/>
              </a:spcAft>
            </a:pPr>
            <a:r>
              <a:rPr sz="1050" b="0" i="0">
                <a:solidFill>
                  <a:srgbClr val="5D5A54"/>
                </a:solidFill>
                <a:latin typeface="Inter Tight"/>
              </a:rPr>
              <a:t>Breines and Chen, 2012, Personality and Social Psychology Bulletin</a:t>
            </a:r>
          </a:p>
          <a:p>
            <a:pPr algn="l">
              <a:spcAft>
                <a:spcPts val="585"/>
              </a:spcAft>
            </a:pPr>
            <a:r>
              <a:rPr sz="1300" b="0" i="0">
                <a:solidFill>
                  <a:srgbClr val="1C1B19"/>
                </a:solidFill>
                <a:latin typeface="Source Serif 4"/>
              </a:rPr>
              <a:t>A review of 19 studies with more than 7,000 adolescents found a large link between higher self-compassion and lower anxiety, depression and stress. These are correlations, so they show a strong connection without proving cause.</a:t>
            </a:r>
          </a:p>
          <a:p>
            <a:pPr algn="l">
              <a:spcAft>
                <a:spcPts val="585"/>
              </a:spcAft>
            </a:pPr>
            <a:r>
              <a:rPr sz="1050" b="0" i="0">
                <a:solidFill>
                  <a:srgbClr val="5D5A54"/>
                </a:solidFill>
                <a:latin typeface="Inter Tight"/>
              </a:rPr>
              <a:t>Marsh, Chan and MacBeth, 2018, Mindfulness</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Students who walked into a room in an embarrassing T-shirt guessed about half the room noticed. Fewer than a quarter did. Psychologists call it the spotlight effect.</a:t>
            </a:r>
          </a:p>
          <a:p>
            <a:pPr algn="l">
              <a:spcAft>
                <a:spcPts val="585"/>
              </a:spcAft>
            </a:pPr>
            <a:r>
              <a:rPr sz="1050" b="0" i="0">
                <a:solidFill>
                  <a:srgbClr val="5D5A54"/>
                </a:solidFill>
                <a:latin typeface="Inter Tight"/>
              </a:rPr>
              <a:t>Gilovich, Medvec and Savitsky, 2000, Journal of Personality and Social Psychology</a:t>
            </a:r>
          </a:p>
          <a:p>
            <a:pPr algn="l">
              <a:spcAft>
                <a:spcPts val="585"/>
              </a:spcAft>
            </a:pPr>
            <a:r>
              <a:rPr sz="1300" b="0" i="0">
                <a:solidFill>
                  <a:srgbClr val="1C1B19"/>
                </a:solidFill>
                <a:latin typeface="Source Serif 4"/>
              </a:rPr>
              <a:t>People who prepped for a stressful speech by talking to themselves by name or as "you" felt less anxious and gave better speeches than people who used "I."</a:t>
            </a:r>
          </a:p>
          <a:p>
            <a:pPr algn="l">
              <a:spcAft>
                <a:spcPts val="585"/>
              </a:spcAft>
            </a:pPr>
            <a:r>
              <a:rPr sz="1050" b="0" i="0">
                <a:solidFill>
                  <a:srgbClr val="5D5A54"/>
                </a:solidFill>
                <a:latin typeface="Inter Tight"/>
              </a:rPr>
              <a:t>Kross et al., 2014, Journal of Personality and Social Psychology</a:t>
            </a:r>
          </a:p>
          <a:p>
            <a:pPr algn="l">
              <a:spcAft>
                <a:spcPts val="585"/>
              </a:spcAft>
            </a:pPr>
            <a:r>
              <a:rPr sz="1300" b="0" i="0">
                <a:solidFill>
                  <a:srgbClr val="1C1B19"/>
                </a:solidFill>
                <a:latin typeface="Source Serif 4"/>
              </a:rPr>
              <a:t>People told not to think about a white bear ended up thinking about it more.</a:t>
            </a:r>
          </a:p>
          <a:p>
            <a:pPr algn="l">
              <a:spcAft>
                <a:spcPts val="585"/>
              </a:spcAft>
            </a:pPr>
            <a:r>
              <a:rPr sz="1050" b="0" i="0">
                <a:solidFill>
                  <a:srgbClr val="5D5A54"/>
                </a:solidFill>
                <a:latin typeface="Inter Tight"/>
              </a:rPr>
              <a:t>Wegner et al., 1987, Journal of Personality and Social Psychology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INNER CRITIC</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Inner Critic</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would never talk to a friend like this.</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You walk in wearing an embarrassing T-shirt. Who notices?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your guess on a scrap: a few, about a quarter, about half, almost everyone.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WHERE THE CRITIC LIVES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Three systems that are supposed to balance</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Threat: protect</a:t>
            </a:r>
          </a:p>
          <a:p>
            <a:pPr algn="l">
              <a:spcAft>
                <a:spcPts val="945"/>
              </a:spcAft>
            </a:pPr>
            <a:r>
              <a:rPr sz="1600" b="0" i="0">
                <a:solidFill>
                  <a:srgbClr val="5D5A54"/>
                </a:solidFill>
                <a:latin typeface="Source Serif 4"/>
              </a:rPr>
              <a:t>Scans for danger. The critic runs here.</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Drive: achieve</a:t>
            </a:r>
          </a:p>
          <a:p>
            <a:pPr algn="l">
              <a:spcAft>
                <a:spcPts val="945"/>
              </a:spcAft>
            </a:pPr>
            <a:r>
              <a:rPr sz="1600" b="0" i="0">
                <a:solidFill>
                  <a:srgbClr val="5D5A54"/>
                </a:solidFill>
                <a:latin typeface="Source Serif 4"/>
              </a:rPr>
              <a:t>Goals and rewards. Fused with fear, it feeds the critic.</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Soothing: calm and connect</a:t>
            </a:r>
          </a:p>
          <a:p>
            <a:pPr algn="l">
              <a:spcAft>
                <a:spcPts val="945"/>
              </a:spcAft>
            </a:pPr>
            <a:r>
              <a:rPr sz="1600" b="0" i="0">
                <a:solidFill>
                  <a:srgbClr val="5D5A54"/>
                </a:solidFill>
                <a:latin typeface="Source Serif 4"/>
              </a:rPr>
              <a:t>Comes online when you feel safe and cared for.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QUICK VOTE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Does being hard on yourself keep you sharp?</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Thumbs up for yes, down for no, sideways if it depends.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CORE SKILL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Get some distance from the voice.</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Notice it</a:t>
            </a:r>
          </a:p>
        </p:txBody>
      </p:sp>
      <p:cxnSp>
        <p:nvCxnSpPr>
          <p:cNvPr id="8" name="Connector 7"/>
          <p:cNvCxnSpPr/>
          <p:nvPr/>
        </p:nvCxnSpPr>
        <p:spPr>
          <a:xfrm>
            <a:off x="275234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70332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Use your name</a:t>
            </a:r>
          </a:p>
        </p:txBody>
      </p:sp>
      <p:cxnSp>
        <p:nvCxnSpPr>
          <p:cNvPr id="11" name="Connector 10"/>
          <p:cNvCxnSpPr/>
          <p:nvPr/>
        </p:nvCxnSpPr>
        <p:spPr>
          <a:xfrm>
            <a:off x="563270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58368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Check the evidence</a:t>
            </a:r>
          </a:p>
        </p:txBody>
      </p:sp>
      <p:cxnSp>
        <p:nvCxnSpPr>
          <p:cNvPr id="14" name="Connector 13"/>
          <p:cNvCxnSpPr/>
          <p:nvPr/>
        </p:nvCxnSpPr>
        <p:spPr>
          <a:xfrm>
            <a:off x="851306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Coach, don't condemn</a:t>
            </a:r>
          </a:p>
        </p:txBody>
      </p:sp>
      <p:sp>
        <p:nvSpPr>
          <p:cNvPr id="17" name="TextBox 16"/>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18" name="TextBox 17"/>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You can't delete the critic. You can change how much it gets to decide.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voice is talking?</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JORDAN</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SAT score comes back 80 points below the goal. First thought: "I'm not smart enough for the schools I want. Why even try?"</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AALIYAH</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Misses an easy shot at practice and hears a teammate laugh. "Everyone thinks I don't deserve my spot."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MATEO</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friend has a small birthday dinner, and he wasn't invited. "Of course. Nobody actually likes 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PRIVATE CARD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Rewrite your critic as a coach.</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one thing your critic says. Then say it the way a coach on your side would, using your name.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thing to try</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Your name, the evidence check, an evidence file, or muting a few accounts for a week. Which one, if any?</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https://rmwtoolkit.github.io/bcds-toolkit/the-inner-critic-high-school.html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