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light and say as little as possible about what's coming. Something like: "Today's quick. You're going to sort some cards on your phone, on instinct. Don't overthink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No names needed. Take a few call-outs and write the words on the board: shows up, honest, funny, loyal, calm. Don't call them values yet. Leave the board up for the reveal.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Share the link (QR, Canvas, or the chat). Quiet work, like a quiz nobody grades. Students who finish early can screenshot their card. If a student doesn't have a device, hand them the Who's Driving? values card and ask them to circle five and star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Point to the warm-up words on the board: "Same kind of words. You picked the people in your corner for their values, and now you've picked yours." Say that family, faith, culture and community count as much as freedom or adventure.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Cohen and colleagues (Science, 2006) had 7th graders write about their most important value; grades rose a bit, most for Black students facing stereotype threat. Larger trials found less (Borman 2016; Hanselman 2017), so don't oversell it. Bryan and Yeager (2016) found teens changed what they did when a choice was about their own independence and fairness.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In pairs, pick one card. Each of you: pick any value (yours or not) and say what it would do here, in one line you'd actually say. Nobody has to reveal their star. Hear a few lines. Point out that two different values can lead to the same good move.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The writing box is at the bottom of their results card and is never saved. Quiet. Students who'd rather not write can just think.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Close with: "Nobody can tell you what your values are, and no quiz can either. You just noticed them. Use them." If anything heavy came up, thank the student and let a counselor know that day.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rmwtoolkit.github.io/bcds-toolkit/gut-check-high-school.html"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Gut Check</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  Any grade; fits right after Who's Driving? in 10th</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sort cards on their phones without being told they're values, then get the reveal. Don't say "values" until slide 4.</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Family, faith, culture and community count as values just as much as independence or adventure; say so at the reveal, and never ask anyone which value they starred.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GUT CHECK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Gut Check</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Thirty-two cards. Go with your gut.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WARM-UP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Who's someone you'd want in your corner?</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Think of one person. What makes them that person?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GUT CHECK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gut-check-shot.jpg">
            <a:hlinkClick r:id="rId3"/>
          </p:cNvPr>
          <p:cNvPicPr>
            <a:picLocks noChangeAspect="1"/>
          </p:cNvPicPr>
          <p:nvPr/>
        </p:nvPicPr>
        <p:blipFill>
          <a:blip r:embed="rId2"/>
          <a:stretch>
            <a:fillRect/>
          </a:stretch>
        </p:blipFill>
        <p:spPr>
          <a:xfrm>
            <a:off x="822960" y="960120"/>
            <a:ext cx="6773728" cy="5074920"/>
          </a:xfrm>
          <a:prstGeom prst="rect">
            <a:avLst/>
          </a:prstGeom>
          <a:ln>
            <a:solidFill>
              <a:srgbClr val="D8D2C6"/>
            </a:solidFill>
          </a:ln>
        </p:spPr>
      </p:pic>
      <p:sp>
        <p:nvSpPr>
          <p:cNvPr id="6" name="TextBox 5"/>
          <p:cNvSpPr txBox="1"/>
          <p:nvPr/>
        </p:nvSpPr>
        <p:spPr>
          <a:xfrm>
            <a:off x="7955279" y="960120"/>
            <a:ext cx="3504895" cy="1280160"/>
          </a:xfrm>
          <a:prstGeom prst="rect">
            <a:avLst/>
          </a:prstGeom>
          <a:noFill/>
        </p:spPr>
        <p:txBody>
          <a:bodyPr wrap="square" anchor="t" lIns="0" rIns="0" tIns="0" bIns="0">
            <a:spAutoFit/>
          </a:bodyPr>
          <a:lstStyle/>
          <a:p>
            <a:pPr algn="l">
              <a:spcAft>
                <a:spcPts val="1170"/>
              </a:spcAft>
            </a:pPr>
            <a:r>
              <a:rPr sz="2600" b="1" i="0">
                <a:solidFill>
                  <a:srgbClr val="1C1B19"/>
                </a:solidFill>
                <a:latin typeface="Source Serif 4"/>
              </a:rPr>
              <a:t>Open the Gut Check</a:t>
            </a:r>
          </a:p>
        </p:txBody>
      </p:sp>
      <p:sp>
        <p:nvSpPr>
          <p:cNvPr id="7" name="TextBox 6"/>
          <p:cNvSpPr txBox="1"/>
          <p:nvPr/>
        </p:nvSpPr>
        <p:spPr>
          <a:xfrm>
            <a:off x="7955279" y="2331720"/>
            <a:ext cx="3504895" cy="2743200"/>
          </a:xfrm>
          <a:prstGeom prst="rect">
            <a:avLst/>
          </a:prstGeom>
          <a:noFill/>
        </p:spPr>
        <p:txBody>
          <a:bodyPr wrap="square" anchor="t" lIns="0" rIns="0" tIns="0" bIns="0">
            <a:spAutoFit/>
          </a:bodyPr>
          <a:lstStyle/>
          <a:p>
            <a:pPr algn="l">
              <a:spcAft>
                <a:spcPts val="720"/>
              </a:spcAft>
            </a:pPr>
            <a:r>
              <a:rPr sz="1600" b="0" i="0">
                <a:solidFill>
                  <a:srgbClr val="1C1B19"/>
                </a:solidFill>
                <a:latin typeface="Source Serif 4"/>
              </a:rPr>
              <a:t>—  Tap each card: not really me, matters some, or very me.</a:t>
            </a:r>
          </a:p>
          <a:p>
            <a:pPr algn="l">
              <a:spcAft>
                <a:spcPts val="720"/>
              </a:spcAft>
            </a:pPr>
            <a:r>
              <a:rPr sz="1600" b="0" i="0">
                <a:solidFill>
                  <a:srgbClr val="1C1B19"/>
                </a:solidFill>
                <a:latin typeface="Source Serif 4"/>
              </a:rPr>
              <a:t>—  Keep your top five (or three).</a:t>
            </a:r>
          </a:p>
          <a:p>
            <a:pPr algn="l">
              <a:spcAft>
                <a:spcPts val="720"/>
              </a:spcAft>
            </a:pPr>
            <a:r>
              <a:rPr sz="1600" b="0" i="0">
                <a:solidFill>
                  <a:srgbClr val="1C1B19"/>
                </a:solidFill>
                <a:latin typeface="Source Serif 4"/>
              </a:rPr>
              <a:t>—  Star the one you'd keep if you could only keep one.</a:t>
            </a:r>
          </a:p>
        </p:txBody>
      </p:sp>
      <p:sp>
        <p:nvSpPr>
          <p:cNvPr id="8" name="TextBox 7"/>
          <p:cNvSpPr txBox="1"/>
          <p:nvPr/>
        </p:nvSpPr>
        <p:spPr>
          <a:xfrm>
            <a:off x="7955279" y="5440680"/>
            <a:ext cx="3504895" cy="457200"/>
          </a:xfrm>
          <a:prstGeom prst="rect">
            <a:avLst/>
          </a:prstGeom>
          <a:noFill/>
        </p:spPr>
        <p:txBody>
          <a:bodyPr wrap="square" anchor="t" lIns="0" rIns="0" tIns="0" bIns="0">
            <a:spAutoFit/>
          </a:bodyPr>
          <a:lstStyle/>
          <a:p>
            <a:pPr algn="l">
              <a:spcAft>
                <a:spcPts val="675"/>
              </a:spcAft>
            </a:pPr>
            <a:r>
              <a:rPr sz="1500" b="1" i="0">
                <a:solidFill>
                  <a:srgbClr val="0B2D5B"/>
                </a:solidFill>
                <a:latin typeface="Inter Tight"/>
              </a:rPr>
              <a:t/>
            </a:r>
            <a:r>
              <a:rPr sz="1500" b="1">
                <a:solidFill>
                  <a:srgbClr val="0B2D5B"/>
                </a:solidFill>
                <a:latin typeface="Inter Tight"/>
                <a:hlinkClick r:id="rId3"/>
              </a:rPr>
              <a:t>Open the Gut Check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REVEAL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What you just sorted are your values.</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What you want steering when it counts: in the group chat, at a party, when nobody's watching.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Miller et al., 2001  ·  Cohen et al., 2006  ·  Hanselman et al., 2017  ·  Bryan, Yeager et al., 2016</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Naming what matters helps, a little.</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Counselors use this same card sort to help people figure out what they want.</a:t>
            </a:r>
          </a:p>
          <a:p>
            <a:pPr algn="l">
              <a:spcAft>
                <a:spcPts val="855"/>
              </a:spcAft>
            </a:pPr>
            <a:r>
              <a:rPr sz="1900" b="0" i="0">
                <a:solidFill>
                  <a:srgbClr val="1C1B19"/>
                </a:solidFill>
                <a:latin typeface="Source Serif 4"/>
              </a:rPr>
              <a:t>•  Students who wrote about their top value before a hard stretch did a bit better in some studies.</a:t>
            </a:r>
          </a:p>
          <a:p>
            <a:pPr algn="l">
              <a:spcAft>
                <a:spcPts val="855"/>
              </a:spcAft>
            </a:pPr>
            <a:r>
              <a:rPr sz="1900" b="0" i="0">
                <a:solidFill>
                  <a:srgbClr val="1C1B19"/>
                </a:solidFill>
                <a:latin typeface="Source Serif 4"/>
              </a:rPr>
              <a:t>•  Bigger studies found a smaller effect. It's a nudge, not magic.</a:t>
            </a:r>
          </a:p>
          <a:p>
            <a:pPr algn="l">
              <a:spcAft>
                <a:spcPts val="855"/>
              </a:spcAft>
            </a:pPr>
            <a:r>
              <a:rPr sz="1900" b="0" i="0">
                <a:solidFill>
                  <a:srgbClr val="1C1B19"/>
                </a:solidFill>
                <a:latin typeface="Source Serif 4"/>
              </a:rPr>
              <a:t>•  Choices framed around your own values stick better than rules from adults.</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Say it straight: a few minutes of knowing what you'd stand for, and nothing more than that.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TURN AND TALK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Your star value at work</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GROUP CHAT</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Someone posts a screenshot to roast a classmate. Everyone's reacting with laughing faces.</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FRIDAY</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 promised your family you'd be home for dinner. Everyone else is going out.</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SHORTCUT</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friend offers you last year's answers to the take-home 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MINUTES, JUST FOR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Why this one?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 the page or on paper: a time your star value mattered. Nobody reads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You picked yours.</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Keep the screenshot. Values shift as you grow, so try it again next year.</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GUT CHECK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https://rmwtoolkit.github.io/bcds-toolkit/gut-check-high-school.html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Gut Check</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  Any grade; fits right after Who's Driving? in 10th</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sort 32 cards on instinct, keep five, star one, and only then learn that what they sorted are their values. They see one way their star value could steer a real moment, and write privately about why it matters. Nobody shares their list.</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A phone or laptop per student, or one per pair (students without one can circle five on the Who's Driving? values card)</a:t>
            </a:r>
          </a:p>
          <a:p>
            <a:pPr algn="l">
              <a:spcAft>
                <a:spcPts val="675"/>
              </a:spcAft>
            </a:pPr>
            <a:r>
              <a:rPr sz="1500" b="0" i="0">
                <a:solidFill>
                  <a:srgbClr val="1C1B19"/>
                </a:solidFill>
                <a:latin typeface="Source Serif 4"/>
              </a:rPr>
              <a:t>A board for the warm-up words</a:t>
            </a:r>
          </a:p>
          <a:p>
            <a:pPr algn="l">
              <a:spcAft>
                <a:spcPts val="675"/>
              </a:spcAft>
            </a:pPr>
            <a:r>
              <a:rPr sz="1500" b="0" i="0">
                <a:solidFill>
                  <a:srgbClr val="1C1B19"/>
                </a:solidFill>
                <a:latin typeface="Source Serif 4"/>
              </a:rPr>
              <a:t>The Gut Check link (slide 3) to share</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2 min   </a:t>
            </a:r>
            <a:r>
              <a:rPr sz="1400" b="0" i="0">
                <a:solidFill>
                  <a:srgbClr val="1C1B19"/>
                </a:solidFill>
                <a:latin typeface="Source Serif 4"/>
              </a:rPr>
              <a:t>Warm-up: someone you'd want in your corner</a:t>
            </a:r>
          </a:p>
          <a:p>
            <a:pPr algn="l">
              <a:spcAft>
                <a:spcPts val="630"/>
              </a:spcAft>
            </a:pPr>
            <a:r>
              <a:rPr sz="1300" b="1" i="0">
                <a:solidFill>
                  <a:srgbClr val="F47B20"/>
                </a:solidFill>
                <a:latin typeface="Inter Tight"/>
              </a:rPr>
              <a:t>6 min   </a:t>
            </a:r>
            <a:r>
              <a:rPr sz="1400" b="0" i="0">
                <a:solidFill>
                  <a:srgbClr val="1C1B19"/>
                </a:solidFill>
                <a:latin typeface="Source Serif 4"/>
              </a:rPr>
              <a:t>The Gut Check, quietly on phones</a:t>
            </a:r>
          </a:p>
          <a:p>
            <a:pPr algn="l">
              <a:spcAft>
                <a:spcPts val="630"/>
              </a:spcAft>
            </a:pPr>
            <a:r>
              <a:rPr sz="1300" b="1" i="0">
                <a:solidFill>
                  <a:srgbClr val="F47B20"/>
                </a:solidFill>
                <a:latin typeface="Inter Tight"/>
              </a:rPr>
              <a:t>3 min   </a:t>
            </a:r>
            <a:r>
              <a:rPr sz="1400" b="0" i="0">
                <a:solidFill>
                  <a:srgbClr val="1C1B19"/>
                </a:solidFill>
                <a:latin typeface="Source Serif 4"/>
              </a:rPr>
              <a:t>The reveal, and what the research says</a:t>
            </a:r>
          </a:p>
          <a:p>
            <a:pPr algn="l">
              <a:spcAft>
                <a:spcPts val="630"/>
              </a:spcAft>
            </a:pPr>
            <a:r>
              <a:rPr sz="1300" b="1" i="0">
                <a:solidFill>
                  <a:srgbClr val="F47B20"/>
                </a:solidFill>
                <a:latin typeface="Inter Tight"/>
              </a:rPr>
              <a:t>5 min   </a:t>
            </a:r>
            <a:r>
              <a:rPr sz="1400" b="0" i="0">
                <a:solidFill>
                  <a:srgbClr val="1C1B19"/>
                </a:solidFill>
                <a:latin typeface="Source Serif 4"/>
              </a:rPr>
              <a:t>Turn and talk: your star value at work</a:t>
            </a:r>
          </a:p>
          <a:p>
            <a:pPr algn="l">
              <a:spcAft>
                <a:spcPts val="630"/>
              </a:spcAft>
            </a:pPr>
            <a:r>
              <a:rPr sz="1300" b="1" i="0">
                <a:solidFill>
                  <a:srgbClr val="F47B20"/>
                </a:solidFill>
                <a:latin typeface="Inter Tight"/>
              </a:rPr>
              <a:t>2 min   </a:t>
            </a:r>
            <a:r>
              <a:rPr sz="1400" b="0" i="0">
                <a:solidFill>
                  <a:srgbClr val="1C1B19"/>
                </a:solidFill>
                <a:latin typeface="Source Serif 4"/>
              </a:rPr>
              <a:t>Two minutes, just for you</a:t>
            </a:r>
          </a:p>
          <a:p>
            <a:pPr algn="l">
              <a:spcAft>
                <a:spcPts val="630"/>
              </a:spcAft>
            </a:pPr>
            <a:r>
              <a:rPr sz="1300" b="1" i="0">
                <a:solidFill>
                  <a:srgbClr val="F47B20"/>
                </a:solidFill>
                <a:latin typeface="Inter Tight"/>
              </a:rPr>
              <a:t>2 min   </a:t>
            </a:r>
            <a:r>
              <a:rPr sz="1400" b="0" i="0">
                <a:solidFill>
                  <a:srgbClr val="1C1B19"/>
                </a:solidFill>
                <a:latin typeface="Source Serif 4"/>
              </a:rPr>
              <a:t>Close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Warm-up (1), the Gut Check (5), the reveal (2), one turn-and-talk card (2). Students write on their own later.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Keep the reveal.</a:t>
            </a:r>
          </a:p>
          <a:p>
            <a:pPr algn="l">
              <a:spcAft>
                <a:spcPts val="585"/>
              </a:spcAft>
            </a:pPr>
            <a:r>
              <a:rPr sz="1300" b="0" i="0">
                <a:solidFill>
                  <a:srgbClr val="1C1B19"/>
                </a:solidFill>
                <a:latin typeface="Source Serif 4"/>
              </a:rPr>
              <a:t>The point is that students pick on instinct before the word "values" shows up and they start choosing what sounds good. If someone asks, say "you'll see at the end."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Nobody shares their list.</a:t>
            </a:r>
          </a:p>
          <a:p>
            <a:pPr algn="l">
              <a:spcAft>
                <a:spcPts val="585"/>
              </a:spcAft>
            </a:pPr>
            <a:r>
              <a:rPr sz="1300" b="0" i="0">
                <a:solidFill>
                  <a:srgbClr val="1C1B19"/>
                </a:solidFill>
                <a:latin typeface="Source Serif 4"/>
              </a:rPr>
              <a:t>Turn-and-talk is about what a value would do in a moment, not which one you starred. Students can talk about any value, theirs or not.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When values pull against home.</a:t>
            </a:r>
          </a:p>
          <a:p>
            <a:pPr algn="l">
              <a:spcAft>
                <a:spcPts val="585"/>
              </a:spcAft>
            </a:pPr>
            <a:r>
              <a:rPr sz="1300" b="0" i="0">
                <a:solidFill>
                  <a:srgbClr val="1C1B19"/>
                </a:solidFill>
                <a:latin typeface="Source Serif 4"/>
              </a:rPr>
              <a:t>A student whose star is independence may live in a family that prizes making them proud, or the other way around. Both can be true at once. If it seems to weigh on someone, mention that counselors are good to talk to about exactly that.</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Values come from many places.</a:t>
            </a:r>
          </a:p>
          <a:p>
            <a:pPr algn="l">
              <a:spcAft>
                <a:spcPts val="585"/>
              </a:spcAft>
            </a:pPr>
            <a:r>
              <a:rPr sz="1300" b="0" i="0">
                <a:solidFill>
                  <a:srgbClr val="1C1B19"/>
                </a:solidFill>
                <a:latin typeface="Source Serif 4"/>
              </a:rPr>
              <a:t>For some students, values come from their family, faith or community more than from themselves. The cards include family, faith, culture and heritage, making my family proud, and community on purpose. Treat those as their own choices, not someone else driving.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and no faith.</a:t>
            </a:r>
          </a:p>
          <a:p>
            <a:pPr algn="l">
              <a:spcAft>
                <a:spcPts val="585"/>
              </a:spcAft>
            </a:pPr>
            <a:r>
              <a:rPr sz="1300" b="0" i="0">
                <a:solidFill>
                  <a:srgbClr val="1C1B19"/>
                </a:solidFill>
                <a:latin typeface="Source Serif 4"/>
              </a:rPr>
              <a:t>Faith is one card among 32. Students who aren't religious skip it; students who are can star it. Neither needs explaining.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Devices and reading.</a:t>
            </a:r>
          </a:p>
          <a:p>
            <a:pPr algn="l">
              <a:spcAft>
                <a:spcPts val="585"/>
              </a:spcAft>
            </a:pPr>
            <a:r>
              <a:rPr sz="1300" b="0" i="0">
                <a:solidFill>
                  <a:srgbClr val="1C1B19"/>
                </a:solidFill>
                <a:latin typeface="Source Serif 4"/>
              </a:rPr>
              <a:t>Students can work in pairs on one phone, use the paper card, or have the cards read aloud. The page works with a screen reader and keyboard.</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The Personal Values Card Sort, used in motivational interviewing, has people sort value cards into piles by how important each is, then rank the top ones. It is in the public domain.</a:t>
            </a:r>
          </a:p>
          <a:p>
            <a:pPr algn="l">
              <a:spcAft>
                <a:spcPts val="585"/>
              </a:spcAft>
            </a:pPr>
            <a:r>
              <a:rPr sz="1050" b="0" i="0">
                <a:solidFill>
                  <a:srgbClr val="5D5A54"/>
                </a:solidFill>
                <a:latin typeface="Inter Tight"/>
              </a:rPr>
              <a:t>Miller, C'de Baca, Matthews &amp; Wilbourne, University of New Mexico, 2001</a:t>
            </a:r>
          </a:p>
          <a:p>
            <a:pPr algn="l">
              <a:spcAft>
                <a:spcPts val="585"/>
              </a:spcAft>
            </a:pPr>
            <a:r>
              <a:rPr sz="1300" b="0" i="0">
                <a:solidFill>
                  <a:srgbClr val="1C1B19"/>
                </a:solidFill>
                <a:latin typeface="Source Serif 4"/>
              </a:rPr>
              <a:t>Seventh graders who wrote for a few minutes about their most important value early in the year earned somewhat better grades, with the largest effect for Black students facing stereotype threat.</a:t>
            </a:r>
          </a:p>
          <a:p>
            <a:pPr algn="l">
              <a:spcAft>
                <a:spcPts val="585"/>
              </a:spcAft>
            </a:pPr>
            <a:r>
              <a:rPr sz="1050" b="0" i="0">
                <a:solidFill>
                  <a:srgbClr val="5D5A54"/>
                </a:solidFill>
                <a:latin typeface="Inter Tight"/>
              </a:rPr>
              <a:t>Cohen, Garcia, Apfel &amp; Master, Science, 2006</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larger trial across many schools, the effect was smaller, and a large replication found little overall effect.</a:t>
            </a:r>
          </a:p>
          <a:p>
            <a:pPr algn="l">
              <a:spcAft>
                <a:spcPts val="585"/>
              </a:spcAft>
            </a:pPr>
            <a:r>
              <a:rPr sz="1050" b="0" i="0">
                <a:solidFill>
                  <a:srgbClr val="5D5A54"/>
                </a:solidFill>
                <a:latin typeface="Inter Tight"/>
              </a:rPr>
              <a:t>Borman et al., 2016; Hanselman et al., Journal of Educational Psychology, 2017</a:t>
            </a:r>
          </a:p>
          <a:p>
            <a:pPr algn="l">
              <a:spcAft>
                <a:spcPts val="585"/>
              </a:spcAft>
            </a:pPr>
            <a:r>
              <a:rPr sz="1300" b="0" i="0">
                <a:solidFill>
                  <a:srgbClr val="1C1B19"/>
                </a:solidFill>
                <a:latin typeface="Source Serif 4"/>
              </a:rPr>
              <a:t>Teens changed their choices for months when a choice was framed around their own values, like independence and fairness, rather than adult rules.</a:t>
            </a:r>
          </a:p>
          <a:p>
            <a:pPr algn="l">
              <a:spcAft>
                <a:spcPts val="585"/>
              </a:spcAft>
            </a:pPr>
            <a:r>
              <a:rPr sz="1050" b="0" i="0">
                <a:solidFill>
                  <a:srgbClr val="5D5A54"/>
                </a:solidFill>
                <a:latin typeface="Inter Tight"/>
              </a:rPr>
              <a:t>Bryan, Yeager et al., PNAS, 2016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