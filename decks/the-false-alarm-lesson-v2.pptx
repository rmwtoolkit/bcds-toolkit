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OF THE FIRST 5 MINUTES. Open plainly. Something like: "Your body has a smoke alarm. Sometimes it goes off for burnt toast. Today is about why that happens, and how to teach it something new." Mention up front that a counselor is around afterward for anyone who wants to talk.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(with the next slide). Read each one; students stand for fact, sit for myth. Anyone who'd rather not stand can raise a hand or just watch. Don't reveal yet, just notice where the room splits.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out the one the room split on most. On #3: if 1 in 3 sounds high, say it counts anyone who met the criteria at any point by 18. The useful takeaway is that nobody in the room is alone with this. On #5: in a major trial, about 60% improved with 12 weeks of CBT and 81% with CBT plus medication.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Draw it on the board. Talking points: anxiety is a forecast. Avoiding means the forecast never gets checked, so it sticks around. Next time the alarm fires sooner and louder, and the list of things you avoid grows. Then draw the other path: when you stay, your body can't stay at peak alarm for long. The feeling crests and settles, and your brain collects new evidence: I handled that. Reassurance works like leaving. Asking "Are you sure it's fine?" or having someone else make the call brings relief and keeps the prediction untested. Ask: "What are some common false alarms for people our age?" Keep it general. Expect: calling to order food, raising a hand, a new lunch table, tryouts, a silent group chat, a test.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Describe it plainly: a surge of intense fear that peaks within minutes. Pounding heart, short breath, dizziness, shaking, a sense that something terrible is happening. It is frightening, and it passes. If someone has never had symptoms like chest pain checked by a doctor, they should get checked once. After that, the work is learning the sensations themselves are safe. Practice the breath as a class for one minute: in for 4, out for 6. Ask: "What could you do for a friend who's having one?" Expect and affirm: stay with them, speak calmly, breathe slowly with them, don't crowd, get an adult if it's new or they feel faint or have chest pain. If a student starts to describe their own attacks in detail, thank them and offer to talk after class, then pass it to a counselor.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Therapists call this exposure. The UCLA research (Craske) says it works mainly by proving the prediction wrong, so you don't have to feel calm for it to count. The useful questions are "What exactly do I expect?" before and "What actually happened?" after. Add one more tool: saying "I'm excited" before a speech or a test beat trying to calm down in experiments, because the two feel alike in your body. Be clear this is for everyday false alarms; bigger fears are worth doing with a counselor. Shared language with other lessons: stretch zone (effortful but doable, keep going) vs. shutdown (nothing moving, change something: a smaller step, a worked example, a narrower question).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These are made-up students, not anyone in the room. Read each story aloud. Students vote by walking to a corner (or pointing, for anyone who'd rather stay seated). Then talk about the brave next step. Jalen: false alarm. Dropping out would feel like relief and teach his brain that tryouts are dangerous. Next step: write down his prediction, go, and compare. Directors expect nerves. Sofia: real fire. Her alarm is doing its job. Call 911, stay with her, roll her onto her side, and get an adult. Anxiety work is about burnt toast. It never means ignoring real danger. Dev: mostly a false alarm. People get busy. Rereading and apologizing keep the prediction from being tested. Next step: phone away for an hour, then see. If something did land wrong, a calm check-in later works better than a panicked apology. Ask: "What could a friend say that helps someone approach instead of avoid?"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Give the example first: phone calls. 1. Call a store to ask their hours. 2. Call to schedule a haircut. 3. Leave a voicemail for a coach or teacher. 4. Call to book your own doctor's appointment. Repeat a step until the prediction stops holding up, then climb. Sliding back a step on a hard day is normal. Students keep their cards. If a student can't think of anything, phone calls work as a default. Remind them that "ask for coaching, not rescue" helps here: an adult can back them up without doing it for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Collect anonymously. Share the take-home link on the slide (post it on your class page too). It has the experiment, the in-the-moment tools, a private check-in, and who to talk to. Say again that a counselor is available today for anyone who wants to talk, and that anxiety is one of the most treatable things teens deal with.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False Alarm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how avoidance teaches anxiety to ring louder, that a panic attack peaks and passes, and how to test one anxious prediction. Bring index cards and the three corner signs, assume someone in the room has panic attacks, and tell a counselor the same day after any panic in class.</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Some fears match real danger, like racism or immigration worries, so treat those as real, and never use coming out as an exposure example.</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Myth or fact (5), the avoidance loop (5), toast or fire with two of the stories (7), exit card (3). Share the take-home link so students get the ladder and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FALSE ALARM</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The False Alarm</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Burnt toast, full fire alarm.</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
        <p:nvSpPr>
          <p:cNvPr id="8" name="TextBox 7"/>
          <p:cNvSpPr txBox="1"/>
          <p:nvPr/>
        </p:nvSpPr>
        <p:spPr>
          <a:xfrm>
            <a:off x="6766560" y="5897880"/>
            <a:ext cx="4846320" cy="640080"/>
          </a:xfrm>
          <a:prstGeom prst="rect">
            <a:avLst/>
          </a:prstGeom>
          <a:noFill/>
        </p:spPr>
        <p:txBody>
          <a:bodyPr wrap="square" anchor="t" lIns="0" rIns="0" tIns="0" bIns="0">
            <a:spAutoFit/>
          </a:bodyPr>
          <a:lstStyle/>
          <a:p>
            <a:pPr algn="r">
              <a:spcAft>
                <a:spcPts val="495"/>
              </a:spcAft>
            </a:pPr>
            <a:r>
              <a:rPr sz="1100" b="0" i="0">
                <a:solidFill>
                  <a:srgbClr val="E8E4DA"/>
                </a:solidFill>
                <a:latin typeface="Inter Tight"/>
              </a:rPr>
              <a:t>Written by Dr. Rick Wilson, with AI-assisted drafting. Every lesson is reviewed and edited by Dr. Wilson.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Stand up if you think it's a fact.</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Avoiding what makes you anxious is self-care.</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You have to feel calm before you can do a hard thing.</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About 1 in 3 teens has an anxiety disorder by 18.</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 panic attack means something is physically wrong.</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Anxiety is one of the most treatable conditions in teens.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 OR FACT?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The answers</a:t>
            </a:r>
          </a:p>
        </p:txBody>
      </p:sp>
      <p:sp>
        <p:nvSpPr>
          <p:cNvPr id="6" name="TextBox 5"/>
          <p:cNvSpPr txBox="1"/>
          <p:nvPr/>
        </p:nvSpPr>
        <p:spPr>
          <a:xfrm>
            <a:off x="822960" y="2057400"/>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093976"/>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Rest is self-care. Skipping what anxiety predicts makes it grow.</a:t>
            </a:r>
          </a:p>
        </p:txBody>
      </p:sp>
      <p:sp>
        <p:nvSpPr>
          <p:cNvPr id="8" name="TextBox 7"/>
          <p:cNvSpPr txBox="1"/>
          <p:nvPr/>
        </p:nvSpPr>
        <p:spPr>
          <a:xfrm>
            <a:off x="822960" y="2862072"/>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2898648"/>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Myth.</a:t>
            </a:r>
          </a:p>
          <a:p>
            <a:pPr algn="l">
              <a:spcAft>
                <a:spcPts val="945"/>
              </a:spcAft>
            </a:pPr>
            <a:r>
              <a:rPr sz="1600" b="0" i="0">
                <a:solidFill>
                  <a:srgbClr val="5D5A54"/>
                </a:solidFill>
                <a:latin typeface="Source Serif 4"/>
              </a:rPr>
              <a:t>You can do hard things nervous. That's often how the alarm learns.</a:t>
            </a:r>
          </a:p>
        </p:txBody>
      </p:sp>
      <p:sp>
        <p:nvSpPr>
          <p:cNvPr id="10" name="TextBox 9"/>
          <p:cNvSpPr txBox="1"/>
          <p:nvPr/>
        </p:nvSpPr>
        <p:spPr>
          <a:xfrm>
            <a:off x="822960" y="3666744"/>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3703320"/>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In a national survey of over 10,000 teens.</a:t>
            </a:r>
          </a:p>
        </p:txBody>
      </p:sp>
      <p:sp>
        <p:nvSpPr>
          <p:cNvPr id="12" name="TextBox 11"/>
          <p:cNvSpPr txBox="1"/>
          <p:nvPr/>
        </p:nvSpPr>
        <p:spPr>
          <a:xfrm>
            <a:off x="822960" y="4471416"/>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4507992"/>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Mostly myth.</a:t>
            </a:r>
          </a:p>
          <a:p>
            <a:pPr algn="l">
              <a:spcAft>
                <a:spcPts val="945"/>
              </a:spcAft>
            </a:pPr>
            <a:r>
              <a:rPr sz="1600" b="0" i="0">
                <a:solidFill>
                  <a:srgbClr val="5D5A54"/>
                </a:solidFill>
                <a:latin typeface="Source Serif 4"/>
              </a:rPr>
              <a:t>It's the alarm at full volume with no fire. Get checked once.</a:t>
            </a:r>
          </a:p>
        </p:txBody>
      </p:sp>
      <p:sp>
        <p:nvSpPr>
          <p:cNvPr id="14" name="TextBox 13"/>
          <p:cNvSpPr txBox="1"/>
          <p:nvPr/>
        </p:nvSpPr>
        <p:spPr>
          <a:xfrm>
            <a:off x="822960" y="5276088"/>
            <a:ext cx="548640" cy="804672"/>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5</a:t>
            </a:r>
          </a:p>
        </p:txBody>
      </p:sp>
      <p:sp>
        <p:nvSpPr>
          <p:cNvPr id="15" name="TextBox 14"/>
          <p:cNvSpPr txBox="1"/>
          <p:nvPr/>
        </p:nvSpPr>
        <p:spPr>
          <a:xfrm>
            <a:off x="1463040" y="5312664"/>
            <a:ext cx="9875520" cy="804672"/>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Fact.</a:t>
            </a:r>
          </a:p>
          <a:p>
            <a:pPr algn="l">
              <a:spcAft>
                <a:spcPts val="945"/>
              </a:spcAft>
            </a:pPr>
            <a:r>
              <a:rPr sz="1600" b="0" i="0">
                <a:solidFill>
                  <a:srgbClr val="5D5A54"/>
                </a:solidFill>
                <a:latin typeface="Source Serif 4"/>
              </a:rPr>
              <a:t>Most teens in a big trial improved with treatment.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HOW ANXIETY LEARNS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avoidance loop</a:t>
            </a:r>
          </a:p>
        </p:txBody>
      </p:sp>
      <p:sp>
        <p:nvSpPr>
          <p:cNvPr id="6" name="Rectangle 5"/>
          <p:cNvSpPr/>
          <p:nvPr/>
        </p:nvSpPr>
        <p:spPr>
          <a:xfrm>
            <a:off x="82296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Alarm fires</a:t>
            </a:r>
          </a:p>
        </p:txBody>
      </p:sp>
      <p:cxnSp>
        <p:nvCxnSpPr>
          <p:cNvPr id="8" name="Connector 7"/>
          <p:cNvCxnSpPr/>
          <p:nvPr/>
        </p:nvCxnSpPr>
        <p:spPr>
          <a:xfrm>
            <a:off x="2752344" y="3246120"/>
            <a:ext cx="176021"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2983229"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83229"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You leave</a:t>
            </a:r>
          </a:p>
        </p:txBody>
      </p:sp>
      <p:cxnSp>
        <p:nvCxnSpPr>
          <p:cNvPr id="11" name="Connector 10"/>
          <p:cNvCxnSpPr/>
          <p:nvPr/>
        </p:nvCxnSpPr>
        <p:spPr>
          <a:xfrm>
            <a:off x="491261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2" name="Rectangle 11"/>
          <p:cNvSpPr/>
          <p:nvPr/>
        </p:nvSpPr>
        <p:spPr>
          <a:xfrm>
            <a:off x="514350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4350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Quick relief</a:t>
            </a:r>
          </a:p>
        </p:txBody>
      </p:sp>
      <p:cxnSp>
        <p:nvCxnSpPr>
          <p:cNvPr id="14" name="Connector 13"/>
          <p:cNvCxnSpPr/>
          <p:nvPr/>
        </p:nvCxnSpPr>
        <p:spPr>
          <a:xfrm>
            <a:off x="7072883" y="3246120"/>
            <a:ext cx="176023"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730377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0377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"That was dangerous"</a:t>
            </a:r>
          </a:p>
        </p:txBody>
      </p:sp>
      <p:cxnSp>
        <p:nvCxnSpPr>
          <p:cNvPr id="17" name="Connector 16"/>
          <p:cNvCxnSpPr/>
          <p:nvPr/>
        </p:nvCxnSpPr>
        <p:spPr>
          <a:xfrm>
            <a:off x="9233154" y="3246120"/>
            <a:ext cx="176022" cy="0"/>
          </a:xfrm>
          <a:prstGeom prst="line">
            <a:avLst/>
          </a:prstGeom>
          <a:ln w="31750">
            <a:solidFill>
              <a:srgbClr val="F47B2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9464040" y="2743200"/>
            <a:ext cx="1874519" cy="1005840"/>
          </a:xfrm>
          <a:prstGeom prst="rect">
            <a:avLst/>
          </a:prstGeom>
          <a:solidFill>
            <a:srgbClr val="FFFFFF"/>
          </a:solidFill>
          <a:ln w="15875">
            <a:solidFill>
              <a:srgbClr val="0B2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2743200"/>
            <a:ext cx="1874519" cy="1005840"/>
          </a:xfrm>
          <a:prstGeom prst="rect">
            <a:avLst/>
          </a:prstGeom>
          <a:noFill/>
        </p:spPr>
        <p:txBody>
          <a:bodyPr wrap="square" anchor="ctr" lIns="0" rIns="0" tIns="0" bIns="0">
            <a:spAutoFit/>
          </a:bodyPr>
          <a:lstStyle/>
          <a:p>
            <a:pPr algn="ctr">
              <a:spcAft>
                <a:spcPts val="900"/>
              </a:spcAft>
            </a:pPr>
            <a:r>
              <a:rPr sz="2000" b="1" i="0">
                <a:solidFill>
                  <a:srgbClr val="1C1B19"/>
                </a:solidFill>
                <a:latin typeface="Source Serif 4"/>
              </a:rPr>
              <a:t>Louder next time</a:t>
            </a:r>
          </a:p>
        </p:txBody>
      </p:sp>
      <p:sp>
        <p:nvSpPr>
          <p:cNvPr id="20" name="TextBox 19"/>
          <p:cNvSpPr txBox="1"/>
          <p:nvPr/>
        </p:nvSpPr>
        <p:spPr>
          <a:xfrm>
            <a:off x="822960" y="4160520"/>
            <a:ext cx="10515600" cy="457200"/>
          </a:xfrm>
          <a:prstGeom prst="rect">
            <a:avLst/>
          </a:prstGeom>
          <a:noFill/>
        </p:spPr>
        <p:txBody>
          <a:bodyPr wrap="square" anchor="t" lIns="0" rIns="0" tIns="0" bIns="0">
            <a:spAutoFit/>
          </a:bodyPr>
          <a:lstStyle/>
          <a:p>
            <a:pPr algn="ctr">
              <a:spcAft>
                <a:spcPts val="810"/>
              </a:spcAft>
            </a:pPr>
            <a:r>
              <a:rPr sz="1800" b="1" i="0">
                <a:solidFill>
                  <a:srgbClr val="F47B20"/>
                </a:solidFill>
                <a:latin typeface="Inter Tight"/>
              </a:rPr>
              <a:t>↺  and around again</a:t>
            </a:r>
          </a:p>
        </p:txBody>
      </p:sp>
      <p:sp>
        <p:nvSpPr>
          <p:cNvPr id="21" name="TextBox 20"/>
          <p:cNvSpPr txBox="1"/>
          <p:nvPr/>
        </p:nvSpPr>
        <p:spPr>
          <a:xfrm>
            <a:off x="822960" y="4846320"/>
            <a:ext cx="10515600" cy="1188720"/>
          </a:xfrm>
          <a:prstGeom prst="rect">
            <a:avLst/>
          </a:prstGeom>
          <a:noFill/>
        </p:spPr>
        <p:txBody>
          <a:bodyPr wrap="square" anchor="t" lIns="0" rIns="0" tIns="0" bIns="0">
            <a:spAutoFit/>
          </a:bodyPr>
          <a:lstStyle/>
          <a:p>
            <a:pPr algn="ctr">
              <a:spcAft>
                <a:spcPts val="900"/>
              </a:spcAft>
            </a:pPr>
            <a:r>
              <a:rPr sz="2000" b="0" i="1">
                <a:solidFill>
                  <a:srgbClr val="5D5A54"/>
                </a:solidFill>
                <a:latin typeface="Source Serif 4"/>
              </a:rPr>
              <a:t>Leaving feels great for a minute. Your brain files it as proof.</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PANIC</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463040"/>
            <a:ext cx="10515600" cy="3291840"/>
          </a:xfrm>
          <a:prstGeom prst="rect">
            <a:avLst/>
          </a:prstGeom>
          <a:noFill/>
        </p:spPr>
        <p:txBody>
          <a:bodyPr wrap="square" anchor="ctr" lIns="0" rIns="0" tIns="0" bIns="0">
            <a:spAutoFit/>
          </a:bodyPr>
          <a:lstStyle/>
          <a:p>
            <a:pPr algn="l">
              <a:spcAft>
                <a:spcPts val="2070"/>
              </a:spcAft>
            </a:pPr>
            <a:r>
              <a:rPr sz="4600" b="1" i="0">
                <a:solidFill>
                  <a:srgbClr val="1C1B19"/>
                </a:solidFill>
                <a:latin typeface="Source Serif 4"/>
              </a:rPr>
              <a:t>A panic attack is the alarm with no fire.</a:t>
            </a:r>
          </a:p>
        </p:txBody>
      </p:sp>
      <p:sp>
        <p:nvSpPr>
          <p:cNvPr id="6" name="TextBox 5"/>
          <p:cNvSpPr txBox="1"/>
          <p:nvPr/>
        </p:nvSpPr>
        <p:spPr>
          <a:xfrm>
            <a:off x="822960" y="4846320"/>
            <a:ext cx="10515600" cy="1097280"/>
          </a:xfrm>
          <a:prstGeom prst="rect">
            <a:avLst/>
          </a:prstGeom>
          <a:noFill/>
        </p:spPr>
        <p:txBody>
          <a:bodyPr wrap="square" anchor="t" lIns="0" rIns="0" tIns="0" bIns="0">
            <a:spAutoFit/>
          </a:bodyPr>
          <a:lstStyle/>
          <a:p>
            <a:pPr algn="l">
              <a:spcAft>
                <a:spcPts val="990"/>
              </a:spcAft>
            </a:pPr>
            <a:r>
              <a:rPr sz="2200" b="0" i="1">
                <a:solidFill>
                  <a:srgbClr val="5D5A54"/>
                </a:solidFill>
                <a:latin typeface="Source Serif 4"/>
              </a:rPr>
              <a:t>It peaks within minutes and passes. Breathe out longer: in for 4, out for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CORE SKILL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Run the experiment</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Name the prediction.</a:t>
            </a:r>
          </a:p>
          <a:p>
            <a:pPr algn="l">
              <a:spcAft>
                <a:spcPts val="945"/>
              </a:spcAft>
            </a:pPr>
            <a:r>
              <a:rPr sz="1600" b="0" i="0">
                <a:solidFill>
                  <a:srgbClr val="5D5A54"/>
                </a:solidFill>
                <a:latin typeface="Source Serif 4"/>
              </a:rPr>
              <a:t>"If I call, I'll freeze and sound stupid."</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Rate it.</a:t>
            </a:r>
          </a:p>
          <a:p>
            <a:pPr algn="l">
              <a:spcAft>
                <a:spcPts val="945"/>
              </a:spcAft>
            </a:pPr>
            <a:r>
              <a:rPr sz="1600" b="0" i="0">
                <a:solidFill>
                  <a:srgbClr val="5D5A54"/>
                </a:solidFill>
                <a:latin typeface="Source Serif 4"/>
              </a:rPr>
              <a:t>How sure are you, 0 to 100%?</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Drop the safety moves.</a:t>
            </a:r>
          </a:p>
          <a:p>
            <a:pPr algn="l">
              <a:spcAft>
                <a:spcPts val="945"/>
              </a:spcAft>
            </a:pPr>
            <a:r>
              <a:rPr sz="1600" b="0" i="0">
                <a:solidFill>
                  <a:srgbClr val="5D5A54"/>
                </a:solidFill>
                <a:latin typeface="Source Serif 4"/>
              </a:rPr>
              <a:t>The script, the excuse, the friend who talks for you.</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Compare.</a:t>
            </a:r>
          </a:p>
          <a:p>
            <a:pPr algn="l">
              <a:spcAft>
                <a:spcPts val="945"/>
              </a:spcAft>
            </a:pPr>
            <a:r>
              <a:rPr sz="1600" b="0" i="0">
                <a:solidFill>
                  <a:srgbClr val="5D5A54"/>
                </a:solidFill>
                <a:latin typeface="Source Serif 4"/>
              </a:rPr>
              <a:t>What happened? How close was the forecast?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TOAST OR FIRE?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Real danger, false alarm, or somewhere in between?</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JALEN</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Tryouts for the school play are Saturday. His hands shake every time he thinks about it, and he's drafting a text to drop out.</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SOFIA</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At a sleepover, a friend is passed out and her breathing sounds strange. Someone says, "Let her sleep it off."</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DEV</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His new friends haven't answered his message in three hours. He's reread it twenty times and is writing an apology.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BUILD A LADDER</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Rectangle 4"/>
          <p:cNvSpPr/>
          <p:nvPr/>
        </p:nvSpPr>
        <p:spPr>
          <a:xfrm>
            <a:off x="822960" y="1371600"/>
            <a:ext cx="73152" cy="356616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1371600"/>
            <a:ext cx="10058400" cy="3566160"/>
          </a:xfrm>
          <a:prstGeom prst="rect">
            <a:avLst/>
          </a:prstGeom>
          <a:noFill/>
        </p:spPr>
        <p:txBody>
          <a:bodyPr wrap="square" anchor="ctr" lIns="0" rIns="0" tIns="0" bIns="0">
            <a:spAutoFit/>
          </a:bodyPr>
          <a:lstStyle/>
          <a:p>
            <a:pPr algn="l">
              <a:spcAft>
                <a:spcPts val="1800"/>
              </a:spcAft>
            </a:pPr>
            <a:r>
              <a:rPr sz="4000" b="0" i="1">
                <a:solidFill>
                  <a:srgbClr val="1C1B19"/>
                </a:solidFill>
                <a:latin typeface="Source Serif 4"/>
              </a:rPr>
              <a:t>One thing you avoid. Four steps, easy to hard.</a:t>
            </a:r>
          </a:p>
        </p:txBody>
      </p:sp>
      <p:sp>
        <p:nvSpPr>
          <p:cNvPr id="7" name="TextBox 6"/>
          <p:cNvSpPr txBox="1"/>
          <p:nvPr/>
        </p:nvSpPr>
        <p:spPr>
          <a:xfrm>
            <a:off x="1188720" y="5120640"/>
            <a:ext cx="10058400" cy="914400"/>
          </a:xfrm>
          <a:prstGeom prst="rect">
            <a:avLst/>
          </a:prstGeom>
          <a:noFill/>
        </p:spPr>
        <p:txBody>
          <a:bodyPr wrap="square" anchor="t" lIns="0" rIns="0" tIns="0" bIns="0">
            <a:spAutoFit/>
          </a:bodyPr>
          <a:lstStyle/>
          <a:p>
            <a:pPr algn="l">
              <a:spcAft>
                <a:spcPts val="810"/>
              </a:spcAft>
            </a:pPr>
            <a:r>
              <a:rPr sz="1800" b="0" i="0">
                <a:solidFill>
                  <a:srgbClr val="5D5A54"/>
                </a:solidFill>
                <a:latin typeface="Inter Tight"/>
              </a:rPr>
              <a:t>Private. Write a prediction next to step 1. Nobody shares.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Exit card</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What could you say to a friend whose alarm is going off for burnt toast?</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ON THE BVR DINER MENU</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https://rmwtoolkit.github.io/bcds-toolkit/the-false-alarm-high-school.html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The False Alarm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9th grade advisory, health class,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explain how avoidance teaches anxiety to ring louder, describe a panic attack as an alarm with no fire that peaks and passes, and run one small experiment that tests an anxious prediction. Nobody is asked to name their own fears.</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one per student</a:t>
            </a:r>
          </a:p>
          <a:p>
            <a:pPr algn="l">
              <a:spcAft>
                <a:spcPts val="675"/>
              </a:spcAft>
            </a:pPr>
            <a:r>
              <a:rPr sz="1500" b="0" i="0">
                <a:solidFill>
                  <a:srgbClr val="1C1B19"/>
                </a:solidFill>
                <a:latin typeface="Source Serif 4"/>
              </a:rPr>
              <a:t>Three corner signs: Real danger, False alarm, Somewhere in between</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5 min   </a:t>
            </a:r>
            <a:r>
              <a:rPr sz="1400" b="0" i="0">
                <a:solidFill>
                  <a:srgbClr val="1C1B19"/>
                </a:solidFill>
                <a:latin typeface="Source Serif 4"/>
              </a:rPr>
              <a:t>Myth or fact (stand up, sit down)</a:t>
            </a:r>
          </a:p>
          <a:p>
            <a:pPr algn="l">
              <a:spcAft>
                <a:spcPts val="630"/>
              </a:spcAft>
            </a:pPr>
            <a:r>
              <a:rPr sz="1300" b="1" i="0">
                <a:solidFill>
                  <a:srgbClr val="F47B20"/>
                </a:solidFill>
                <a:latin typeface="Inter Tight"/>
              </a:rPr>
              <a:t>8 min   </a:t>
            </a:r>
            <a:r>
              <a:rPr sz="1400" b="0" i="0">
                <a:solidFill>
                  <a:srgbClr val="1C1B19"/>
                </a:solidFill>
                <a:latin typeface="Source Serif 4"/>
              </a:rPr>
              <a:t>The avoidance loop</a:t>
            </a:r>
          </a:p>
          <a:p>
            <a:pPr algn="l">
              <a:spcAft>
                <a:spcPts val="630"/>
              </a:spcAft>
            </a:pPr>
            <a:r>
              <a:rPr sz="1300" b="1" i="0">
                <a:solidFill>
                  <a:srgbClr val="F47B20"/>
                </a:solidFill>
                <a:latin typeface="Inter Tight"/>
              </a:rPr>
              <a:t>7 min   </a:t>
            </a:r>
            <a:r>
              <a:rPr sz="1400" b="0" i="0">
                <a:solidFill>
                  <a:srgbClr val="1C1B19"/>
                </a:solidFill>
                <a:latin typeface="Source Serif 4"/>
              </a:rPr>
              <a:t>Panic: the alarm with no fire</a:t>
            </a:r>
          </a:p>
          <a:p>
            <a:pPr algn="l">
              <a:spcAft>
                <a:spcPts val="630"/>
              </a:spcAft>
            </a:pPr>
            <a:r>
              <a:rPr sz="1300" b="1" i="0">
                <a:solidFill>
                  <a:srgbClr val="F47B20"/>
                </a:solidFill>
                <a:latin typeface="Inter Tight"/>
              </a:rPr>
              <a:t>5 min   </a:t>
            </a:r>
            <a:r>
              <a:rPr sz="1400" b="0" i="0">
                <a:solidFill>
                  <a:srgbClr val="1C1B19"/>
                </a:solidFill>
                <a:latin typeface="Source Serif 4"/>
              </a:rPr>
              <a:t>Run the experiment</a:t>
            </a:r>
          </a:p>
          <a:p>
            <a:pPr algn="l">
              <a:spcAft>
                <a:spcPts val="630"/>
              </a:spcAft>
            </a:pPr>
            <a:r>
              <a:rPr sz="1300" b="1" i="0">
                <a:solidFill>
                  <a:srgbClr val="F47B20"/>
                </a:solidFill>
                <a:latin typeface="Inter Tight"/>
              </a:rPr>
              <a:t>10 min   </a:t>
            </a:r>
            <a:r>
              <a:rPr sz="1400" b="0" i="0">
                <a:solidFill>
                  <a:srgbClr val="1C1B19"/>
                </a:solidFill>
                <a:latin typeface="Source Serif 4"/>
              </a:rPr>
              <a:t>Toast or fire? (vote with your feet)</a:t>
            </a:r>
          </a:p>
          <a:p>
            <a:pPr algn="l">
              <a:spcAft>
                <a:spcPts val="630"/>
              </a:spcAft>
            </a:pPr>
            <a:r>
              <a:rPr sz="1300" b="1" i="0">
                <a:solidFill>
                  <a:srgbClr val="F47B20"/>
                </a:solidFill>
                <a:latin typeface="Inter Tight"/>
              </a:rPr>
              <a:t>7 min   </a:t>
            </a:r>
            <a:r>
              <a:rPr sz="1400" b="0" i="0">
                <a:solidFill>
                  <a:srgbClr val="1C1B19"/>
                </a:solidFill>
                <a:latin typeface="Source Serif 4"/>
              </a:rPr>
              <a:t>Build a ladder (private)</a:t>
            </a:r>
          </a:p>
          <a:p>
            <a:pPr algn="l">
              <a:spcAft>
                <a:spcPts val="630"/>
              </a:spcAft>
            </a:pPr>
            <a:r>
              <a:rPr sz="1300" b="1" i="0">
                <a:solidFill>
                  <a:srgbClr val="F47B20"/>
                </a:solidFill>
                <a:latin typeface="Inter Tight"/>
              </a:rPr>
              <a:t>3 min   </a:t>
            </a:r>
            <a:r>
              <a:rPr sz="1400" b="0" i="0">
                <a:solidFill>
                  <a:srgbClr val="1C1B19"/>
                </a:solidFill>
                <a:latin typeface="Source Serif 4"/>
              </a:rPr>
              <a:t>Exit card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Myth or fact (5), the avoidance loop (5), toast or fire with two of the stories (7), exit card (3). Share the take-home link so students get the ladder and the rest.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Assume someone in the room has panic attacks.</a:t>
            </a:r>
          </a:p>
          <a:p>
            <a:pPr algn="l">
              <a:spcAft>
                <a:spcPts val="585"/>
              </a:spcAft>
            </a:pPr>
            <a:r>
              <a:rPr sz="1300" b="0" i="0">
                <a:solidFill>
                  <a:srgbClr val="1C1B19"/>
                </a:solidFill>
                <a:latin typeface="Source Serif 4"/>
              </a:rPr>
              <a:t>About 1 in 3 teens meets criteria for an anxiety disorder by 18. Never ask students to name their own fears or share a ladder. If someone volunteers, keep it brief and thank them. Say at the start and the end that a counselor is available afterward.</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panics during class.</a:t>
            </a:r>
          </a:p>
          <a:p>
            <a:pPr algn="l">
              <a:spcAft>
                <a:spcPts val="585"/>
              </a:spcAft>
            </a:pPr>
            <a:r>
              <a:rPr sz="1300" b="0" i="0">
                <a:solidFill>
                  <a:srgbClr val="1C1B19"/>
                </a:solidFill>
                <a:latin typeface="Source Serif 4"/>
              </a:rPr>
              <a:t>Stay calm and quiet, and keep the room's attention off them. Offer a choice: step into the hall with you or another adult, or stay put. Speak slowly. Breathe with them, in for 4, out for 6. Say it will peak and pass in a few minutes. Don't crowd them, touch them without asking, or tell them to calm down. Afterward, let them rejoin without comment.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When to bring in the nurse.</a:t>
            </a:r>
          </a:p>
          <a:p>
            <a:pPr algn="l">
              <a:spcAft>
                <a:spcPts val="585"/>
              </a:spcAft>
            </a:pPr>
            <a:r>
              <a:rPr sz="1300" b="0" i="0">
                <a:solidFill>
                  <a:srgbClr val="1C1B19"/>
                </a:solidFill>
                <a:latin typeface="Source Serif 4"/>
              </a:rPr>
              <a:t>Send them to the nurse, with an escort, if it's the first time you've seen it, if they mention chest pain, fainting, or a health condition like asthma or diabetes, or if you aren't sure it's panic. The nurse can rule out a medical cause. Call 911 if a student passes out, can't breathe, or seems confused.</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When to bring in a counselor.</a:t>
            </a:r>
          </a:p>
          <a:p>
            <a:pPr algn="l">
              <a:spcAft>
                <a:spcPts val="585"/>
              </a:spcAft>
            </a:pPr>
            <a:r>
              <a:rPr sz="1300" b="0" i="0">
                <a:solidFill>
                  <a:srgbClr val="1C1B19"/>
                </a:solidFill>
                <a:latin typeface="Source Serif 4"/>
              </a:rPr>
              <a:t>Tell a counselor the same day after any panic episode in class. Also refer if a student is missing classes, practices or friends because of anxiety, is using vapes, weed, alcohol or pills to cope, or says they feel hopeless. Disclosures go to a counselor. No screening questions in class.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Exposure is the student's choice.</a:t>
            </a:r>
          </a:p>
          <a:p>
            <a:pPr algn="l">
              <a:spcAft>
                <a:spcPts val="585"/>
              </a:spcAft>
            </a:pPr>
            <a:r>
              <a:rPr sz="1300" b="0" i="0">
                <a:solidFill>
                  <a:srgbClr val="1C1B19"/>
                </a:solidFill>
                <a:latin typeface="Source Serif 4"/>
              </a:rPr>
              <a:t>This lesson teaches the idea. Don't push anyone into a feared situation to practice, and don't cold-call an anxious student to prove a point. Bigger fears belong with a counselor or therapist. Existing accommodations stay in place.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Burnt toast is the target. Real danger still counts.</a:t>
            </a:r>
          </a:p>
          <a:p>
            <a:pPr algn="l">
              <a:spcAft>
                <a:spcPts val="585"/>
              </a:spcAft>
            </a:pPr>
            <a:r>
              <a:rPr sz="1300" b="0" i="0">
                <a:solidFill>
                  <a:srgbClr val="1C1B19"/>
                </a:solidFill>
                <a:latin typeface="Source Serif 4"/>
              </a:rPr>
              <a:t>Some fears are accurate. Bullying, an unsafe home, or a friend in medical trouble needs a real response. If the voting surfaces something like that, take it seriously and follow up with a counselor.</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Not every family calls it anxiety.</a:t>
            </a:r>
          </a:p>
          <a:p>
            <a:pPr algn="l">
              <a:spcAft>
                <a:spcPts val="585"/>
              </a:spcAft>
            </a:pPr>
            <a:r>
              <a:rPr sz="1300" b="0" i="0">
                <a:solidFill>
                  <a:srgbClr val="1C1B19"/>
                </a:solidFill>
                <a:latin typeface="Source Serif 4"/>
              </a:rPr>
              <a:t>Some say stress, nerves, or overthinking. In some homes it shows up as stomachaches or headaches and gets treated as a body problem. Some lean on faith, family or community. Any of those can sit alongside these tools. Ask what words students' own families use, privately.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Some fears are realistic.</a:t>
            </a:r>
          </a:p>
          <a:p>
            <a:pPr algn="l">
              <a:spcAft>
                <a:spcPts val="585"/>
              </a:spcAft>
            </a:pPr>
            <a:r>
              <a:rPr sz="1300" b="0" i="0">
                <a:solidFill>
                  <a:srgbClr val="1C1B19"/>
                </a:solidFill>
                <a:latin typeface="Source Serif 4"/>
              </a:rPr>
              <a:t>Students who face racism, worry about a family member's immigration status, or have been targeted for who they are may carry fears that match real risk. Don't label those false alarms. Keep the burnt-toast examples to everyday things like calls, tryouts and group chats.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 and being seen.</a:t>
            </a:r>
          </a:p>
          <a:p>
            <a:pPr algn="l">
              <a:spcAft>
                <a:spcPts val="585"/>
              </a:spcAft>
            </a:pPr>
            <a:r>
              <a:rPr sz="1300" b="0" i="0">
                <a:solidFill>
                  <a:srgbClr val="1C1B19"/>
                </a:solidFill>
                <a:latin typeface="Source Serif 4"/>
              </a:rPr>
              <a:t>Social anxiety can be tied to whether a student is out, and to whom. Never use coming out as an exposure example. For any student who needs support beyond school hours, The Trevor Project (1-866-488-7386 or text START to 678-678) sits alongside 988.</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Neurodivergent and disabled students.</a:t>
            </a:r>
          </a:p>
          <a:p>
            <a:pPr algn="l">
              <a:spcAft>
                <a:spcPts val="585"/>
              </a:spcAft>
            </a:pPr>
            <a:r>
              <a:rPr sz="1300" b="0" i="0">
                <a:solidFill>
                  <a:srgbClr val="1C1B19"/>
                </a:solidFill>
                <a:latin typeface="Source Serif 4"/>
              </a:rPr>
              <a:t>Autistic students and students with sensory or processing differences may avoid noise, crowds or eye contact for reasons that aren't anxiety. Don't treat eye contact, speaking up, or sitting still as signs of being okay. Accommodations aren't avoidance.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"Coaching, not rescue" works with any adult.</a:t>
            </a:r>
          </a:p>
          <a:p>
            <a:pPr algn="l">
              <a:spcAft>
                <a:spcPts val="585"/>
              </a:spcAft>
            </a:pPr>
            <a:r>
              <a:rPr sz="1300" b="0" i="0">
                <a:solidFill>
                  <a:srgbClr val="1C1B19"/>
                </a:solidFill>
                <a:latin typeface="Source Serif 4"/>
              </a:rPr>
              <a:t>The parent research applies to whoever raises the student: one parent, two, a grandparent, foster or kinship caregivers, an older sibling. Say "the adults in your life." Some students have no adult at home to coach them; a counselor or coach can fill that role.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Language, money and phone calls.</a:t>
            </a:r>
          </a:p>
          <a:p>
            <a:pPr algn="l">
              <a:spcAft>
                <a:spcPts val="585"/>
              </a:spcAft>
            </a:pPr>
            <a:r>
              <a:rPr sz="1300" b="0" i="0">
                <a:solidFill>
                  <a:srgbClr val="1C1B19"/>
                </a:solidFill>
                <a:latin typeface="Source Serif 4"/>
              </a:rPr>
              <a:t>Some students already make calls for their family, sometimes in a second language. That counts as hard work they've done. Help is free at school: a counselor and the nurse. Outside school, community clinics offer sliding-scale care and interpreters.</a:t>
            </a:r>
          </a:p>
          <a:p>
            <a:pPr algn="l">
              <a:spcAft>
                <a:spcPts val="585"/>
              </a:spcAft>
            </a:pPr>
            <a:r>
              <a:rPr sz="1300" b="0" i="0">
                <a:solidFill>
                  <a:srgbClr val="1C1B19"/>
                </a:solidFill>
                <a:latin typeface="Source Serif 4"/>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national survey of more than 10,000 U.S. teens, about 1 in 3 met criteria for an anxiety disorder at some point by age 18.</a:t>
            </a:r>
          </a:p>
          <a:p>
            <a:pPr algn="l">
              <a:spcAft>
                <a:spcPts val="585"/>
              </a:spcAft>
            </a:pPr>
            <a:r>
              <a:rPr sz="1050" b="0" i="0">
                <a:solidFill>
                  <a:srgbClr val="5D5A54"/>
                </a:solidFill>
                <a:latin typeface="Inter Tight"/>
              </a:rPr>
              <a:t>Merikangas et al., Journal of the American Academy of Child &amp; Adolescent Psychiatry, 2010</a:t>
            </a:r>
          </a:p>
          <a:p>
            <a:pPr algn="l">
              <a:spcAft>
                <a:spcPts val="585"/>
              </a:spcAft>
            </a:pPr>
            <a:r>
              <a:rPr sz="1300" b="0" i="0">
                <a:solidFill>
                  <a:srgbClr val="1C1B19"/>
                </a:solidFill>
                <a:latin typeface="Source Serif 4"/>
              </a:rPr>
              <a:t>Exposure works mainly through expectation violation: you predict something bad, it doesn't happen, and the brain stores a new memory that competes with the fear. Feeling calm isn't required.</a:t>
            </a:r>
          </a:p>
          <a:p>
            <a:pPr algn="l">
              <a:spcAft>
                <a:spcPts val="585"/>
              </a:spcAft>
            </a:pPr>
            <a:r>
              <a:rPr sz="1050" b="0" i="0">
                <a:solidFill>
                  <a:srgbClr val="5D5A54"/>
                </a:solidFill>
                <a:latin typeface="Inter Tight"/>
              </a:rPr>
              <a:t>Craske et al., Behaviour Research and Therapy, 2014 (UCLA)</a:t>
            </a:r>
          </a:p>
          <a:p>
            <a:pPr algn="l">
              <a:spcAft>
                <a:spcPts val="585"/>
              </a:spcAft>
            </a:pPr>
            <a:r>
              <a:rPr sz="1300" b="0" i="0">
                <a:solidFill>
                  <a:srgbClr val="1C1B19"/>
                </a:solidFill>
                <a:latin typeface="Source Serif 4"/>
              </a:rPr>
              <a:t>In a trial with kids ages 7 to 14, coaching parents to stop accommodating anxiety, while staying warm and supportive, worked as well as therapy with the child directly.</a:t>
            </a:r>
          </a:p>
          <a:p>
            <a:pPr algn="l">
              <a:spcAft>
                <a:spcPts val="585"/>
              </a:spcAft>
            </a:pPr>
            <a:r>
              <a:rPr sz="1050" b="0" i="0">
                <a:solidFill>
                  <a:srgbClr val="5D5A54"/>
                </a:solidFill>
                <a:latin typeface="Inter Tight"/>
              </a:rPr>
              <a:t>Lebowitz et al., 2020</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In a major U.S. trial with ages 7 to 17, about 60% improved with 12 weeks of CBT, 55% with sertraline, and 81% with both, compared with 24% on placebo.</a:t>
            </a:r>
          </a:p>
          <a:p>
            <a:pPr algn="l">
              <a:spcAft>
                <a:spcPts val="585"/>
              </a:spcAft>
            </a:pPr>
            <a:r>
              <a:rPr sz="1050" b="0" i="0">
                <a:solidFill>
                  <a:srgbClr val="5D5A54"/>
                </a:solidFill>
                <a:latin typeface="Inter Tight"/>
              </a:rPr>
              <a:t>Walkup et al., New England Journal of Medicine, 2008</a:t>
            </a:r>
          </a:p>
          <a:p>
            <a:pPr algn="l">
              <a:spcAft>
                <a:spcPts val="585"/>
              </a:spcAft>
            </a:pPr>
            <a:r>
              <a:rPr sz="1300" b="0" i="0">
                <a:solidFill>
                  <a:srgbClr val="1C1B19"/>
                </a:solidFill>
                <a:latin typeface="Source Serif 4"/>
              </a:rPr>
              <a:t>People who said "I am excited" before karaoke, public speaking, or a math test did better than people who tried to calm down.</a:t>
            </a:r>
          </a:p>
          <a:p>
            <a:pPr algn="l">
              <a:spcAft>
                <a:spcPts val="585"/>
              </a:spcAft>
            </a:pPr>
            <a:r>
              <a:rPr sz="1050" b="0" i="0">
                <a:solidFill>
                  <a:srgbClr val="5D5A54"/>
                </a:solidFill>
                <a:latin typeface="Inter Tight"/>
              </a:rPr>
              <a:t>Brooks, Journal of Experimental Psychology: General, 2014</a:t>
            </a:r>
          </a:p>
          <a:p>
            <a:pPr algn="l">
              <a:spcAft>
                <a:spcPts val="585"/>
              </a:spcAft>
            </a:pPr>
            <a:r>
              <a:rPr sz="1300" b="0" i="0">
                <a:solidFill>
                  <a:srgbClr val="1C1B19"/>
                </a:solidFill>
                <a:latin typeface="Source Serif 4"/>
              </a:rPr>
              <a:t>A panic attack is a surge of intense fear that peaks within minutes: pounding heart, short breath, dizziness, shaking, a sense of doom. Anyone who has never had symptoms like chest pain checked should see a doctor once.</a:t>
            </a:r>
          </a:p>
          <a:p>
            <a:pPr algn="l">
              <a:spcAft>
                <a:spcPts val="585"/>
              </a:spcAft>
            </a:pPr>
            <a:r>
              <a:rPr sz="1050" b="0" i="0">
                <a:solidFill>
                  <a:srgbClr val="5D5A54"/>
                </a:solidFill>
                <a:latin typeface="Inter Tight"/>
              </a:rPr>
              <a:t>Clinical description from the student lesson (no single study)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