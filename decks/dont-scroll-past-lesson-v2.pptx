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page is hidden and skipped when you present. The full plan, care notes and research are on the hidden pages at the end of the deck, if you want them.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MINUTES. Set the room: "Today is about respect, stepping in, and saying no. Some of this is personal for people. Nobody will be asked about their own life, and if you need to step out, you can." Hand out two cards each. One is for the next slide; the other is for any question you'd rather not ask out loud, any time today.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MINUTES. One minute to write, no names. Collect, shuffle, and read eight or ten out loud. Sort them on the board into two columns as you go: things people did for them, and things they did for themselves. Most cards are small and quiet: someone listened, asked, kept a secret, took a no. That's the point. Respect is mostly verbs.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MINUTES. Point to the board: your cards already said most of this. Ask: "Which of these is hardest at 10:40 on a school night with your phone in your hand?" Take two answers. You'll come back to "talking about people as if they could hear you" and "not sharing what isn't yours" in the scenarios.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MINUTES. Take the vote and don't give the answer yet. Most hands go up. Ask one or two students what they'd do first. This is a real experiment from 1968, run by two psychologists, Bibb Latané and John Darley.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MINUTES. The two calm people worked for the researchers. The study ran six minutes; by the end, some students were waving smoke away from their faces and still writing. Asked later, they said they figured it was steam or something from the air conditioning. Nobody wanted to be the one who overreacted. Ask: "Where have you seen a room, or a group chat, say it's fine when it wasn't?" That's the second corner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MINUTES. Students walk to the corner that fits them, no explaining needed. Give each corner one minute to come up with a way around their reason, then each reports in a sentence. Likely answers: someone else will ("pretend nobody else is there"), everyone looks calm ("they're probably freezing too"), look dumb ("a question is never dumb: 'you okay?'"). Then the online version: in a group chat of 43, the crowd is the chat, and scrolling past is the new standing by. In Darley and Latané's 1968 study, 85% of students who thought they were the only one hearing a seizure went for help. With four others listening, 31% did.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MINUTES. This is the turn in the lesson. The bystander effect is real for each person in a crowd, but in real life somebody usually moves, and once one person does, others join. The second person matters too: backing up the first one is stepping in. The Kentucky study followed 26 high schools for years; the schools that trained students to step in saw less sexual violence.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MINUTES. Lightning round: read each moment, students hold up one, two or three fingers. (1) A friend is getting roasted and looks like they're about to cry. (2) Someone is pushing a drink on a kid who keeps saying no. (3) A classmate posts a mean edit of a teacher. (4) Your cousin's boyfriend is yelling at her in the parking lot. There's no wrong number. Ask one student per round why they picked theirs. Point out that distract and delegate often work better than direct, and they're safer when the person causing trouble is older, bigger, or popular. Direct isn't the brave option and the others the backup.</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 MINUTES. Groups of three or four, one card each (repeat cards in a big class). Each group answers two questions: what makes it hard to act, and one move from the three Ds. Two minutes to report out. The Screenshot: don't forward or react, "delete this" in the chat or a DM to whoever posted, report it, tell an adult; tomorrow, Maya needs someone to sit with her and say it's not her fault. Forwarding a nude of anyone under 18 can be a crime, even between teens, and Take It Down helps remove it. Upstairs: Ellie can't consent to anything this drunk. Distract ("Ellie, your sister's calling, come with me") and stay with her, or delegate (her friends, the host, an adult). "Probably fine" is the corner from earlier. Just Talk: who's affected even if she didn't hear? Marcus laughed because the cost of not laughing felt higher. One low-key line works: "Nah, that's weird," or just not laughing. Checking on her later is a move too.</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 MINUTES. Riley first, as a whole class. Is Riley being unfair? No. "I'm not ready" is a full answer, and guilt is how pressure sounds when it's polite. Then pairs, out loud: one partner says "I'm not ready," the other answers respectfully. Offer lines if they're stuck: "Okay. Thanks for telling me." "No rush. I like you either way." Then switch. It'll feel awkward; that's practice. Ethan: why is it harder for him to say he's hurt? (Everyone told him he won.) How is it like Maya's story? (Same thing, different reaction.) Say clearly: what happened to Ethan isn't lucky and isn't his fault. Take It Down works for him too, and a counselor can help without making it a big public thing.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MINUTES. Collect every card, including blanks, so nobody stands out. Answer questions next class. Close with: if something happened to you, it's not your fault, and a counselor can help. RAINN is free and confidential any time at 1-800-656-4673, and Take It Down (takeitdown.ncmec.org) helps remove images taken when someone was under 18. Share the student page link. If your students get Consent, Clearly or Speaking Up later, those pick up where this one leaves off: the four checks for consent, and the five gates between seeing something and doing something.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want more: this page and the next three are hidden and skipped when you present.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Before you start</a:t>
            </a:r>
          </a:p>
        </p:txBody>
      </p:sp>
      <p:sp>
        <p:nvSpPr>
          <p:cNvPr id="4" name="TextBox 3"/>
          <p:cNvSpPr txBox="1"/>
          <p:nvPr/>
        </p:nvSpPr>
        <p:spPr>
          <a:xfrm>
            <a:off x="548640" y="685800"/>
            <a:ext cx="10972800" cy="73152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Don't Scroll Past</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Upper School  ·  45 minutes (20-minute advisory version below)  ·  9th grade health class or advisory</a:t>
            </a:r>
          </a:p>
        </p:txBody>
      </p:sp>
      <p:sp>
        <p:nvSpPr>
          <p:cNvPr id="6" name="TextBox 5"/>
          <p:cNvSpPr txBox="1"/>
          <p:nvPr/>
        </p:nvSpPr>
        <p:spPr>
          <a:xfrm>
            <a:off x="548640" y="2011680"/>
            <a:ext cx="11064240" cy="4206240"/>
          </a:xfrm>
          <a:prstGeom prst="rect">
            <a:avLst/>
          </a:prstGeom>
          <a:noFill/>
        </p:spPr>
        <p:txBody>
          <a:bodyPr wrap="square" anchor="t" lIns="0" rIns="0" tIns="0" bIns="0">
            <a:spAutoFit/>
          </a:bodyPr>
          <a:lstStyle/>
          <a:p>
            <a:pPr algn="l">
              <a:spcAft>
                <a:spcPts val="810"/>
              </a:spcAft>
            </a:pPr>
            <a:r>
              <a:rPr sz="1200" b="1" i="0">
                <a:solidFill>
                  <a:srgbClr val="0B2D5B"/>
                </a:solidFill>
                <a:latin typeface="Inter Tight"/>
              </a:rPr>
              <a:t>BEFORE YOU START</a:t>
            </a:r>
          </a:p>
          <a:p>
            <a:pPr algn="l">
              <a:spcAft>
                <a:spcPts val="810"/>
              </a:spcAft>
            </a:pPr>
            <a:r>
              <a:rPr sz="1800" b="0" i="0">
                <a:solidFill>
                  <a:srgbClr val="1C1B19"/>
                </a:solidFill>
                <a:latin typeface="Source Serif 4"/>
              </a:rPr>
              <a:t>Students learn what respect looks like in action, why people freeze when others are watching, three ways to step in, and that "I'm not ready" is a full answer. Label three corners before class, say at the start that nobody shares their own story, and if a student tells you something happened to them, thank them, don't promise secrecy, and walk them to a counselor that day.</a:t>
            </a:r>
          </a:p>
          <a:p>
            <a:pPr algn="l">
              <a:spcAft>
                <a:spcPts val="810"/>
              </a:spcAft>
            </a:pPr>
            <a:r>
              <a:rPr sz="1800" b="0" i="0">
                <a:solidFill>
                  <a:srgbClr val="1C1B19"/>
                </a:solidFill>
                <a:latin typeface="Source Serif 4"/>
              </a:rPr>
              <a:t/>
            </a:r>
          </a:p>
          <a:p>
            <a:pPr algn="l">
              <a:spcAft>
                <a:spcPts val="810"/>
              </a:spcAft>
            </a:pPr>
            <a:r>
              <a:rPr sz="1200" b="1" i="0">
                <a:solidFill>
                  <a:srgbClr val="0B2D5B"/>
                </a:solidFill>
                <a:latin typeface="Inter Tight"/>
              </a:rPr>
              <a:t>EVERY STUDENT IN THE ROOM</a:t>
            </a:r>
          </a:p>
          <a:p>
            <a:pPr algn="l">
              <a:spcAft>
                <a:spcPts val="810"/>
              </a:spcAft>
            </a:pPr>
            <a:r>
              <a:rPr sz="1800" b="0" i="0">
                <a:solidFill>
                  <a:srgbClr val="1C1B19"/>
                </a:solidFill>
                <a:latin typeface="Source Serif 4"/>
              </a:rPr>
              <a:t>What stepping in looks like depends on who you are: speaking up to an older student, or with police nearby, costs some students more than others, so treat distract and delegate as full answers, not the backup plan.</a:t>
            </a:r>
          </a:p>
          <a:p>
            <a:pPr algn="l">
              <a:spcAft>
                <a:spcPts val="810"/>
              </a:spcAft>
            </a:pPr>
            <a:r>
              <a:rPr sz="1800" b="0" i="0">
                <a:solidFill>
                  <a:srgbClr val="1C1B19"/>
                </a:solidFill>
                <a:latin typeface="Source Serif 4"/>
              </a:rPr>
              <a:t/>
            </a:r>
          </a:p>
          <a:p>
            <a:pPr algn="l">
              <a:spcAft>
                <a:spcPts val="810"/>
              </a:spcAft>
            </a:pPr>
            <a:r>
              <a:rPr sz="1200" b="1" i="0">
                <a:solidFill>
                  <a:srgbClr val="0B2D5B"/>
                </a:solidFill>
                <a:latin typeface="Inter Tight"/>
              </a:rPr>
              <a:t>SHORT ON TIME (20-MINUTE ADVISORY)</a:t>
            </a:r>
          </a:p>
          <a:p>
            <a:pPr algn="l">
              <a:spcAft>
                <a:spcPts val="810"/>
              </a:spcAft>
            </a:pPr>
            <a:r>
              <a:rPr sz="1800" b="0" i="0">
                <a:solidFill>
                  <a:srgbClr val="1C1B19"/>
                </a:solidFill>
                <a:latin typeface="Source Serif 4"/>
              </a:rPr>
              <a:t>Set the room (2), smoke in the room (4), three ways in lightning round (4), The Screenshot and "Come On" as a whole class (8), exit card (2). Share the student page for the rest.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2D5B"/>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DON'T SCROLL PAST</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2011680"/>
            <a:ext cx="10515600" cy="1463040"/>
          </a:xfrm>
          <a:prstGeom prst="rect">
            <a:avLst/>
          </a:prstGeom>
          <a:noFill/>
        </p:spPr>
        <p:txBody>
          <a:bodyPr wrap="square" anchor="b" lIns="0" rIns="0" tIns="0" bIns="0">
            <a:spAutoFit/>
          </a:bodyPr>
          <a:lstStyle/>
          <a:p>
            <a:pPr algn="l">
              <a:spcAft>
                <a:spcPts val="2700"/>
              </a:spcAft>
            </a:pPr>
            <a:r>
              <a:rPr sz="6000" b="1" i="0">
                <a:solidFill>
                  <a:srgbClr val="FFFFFF"/>
                </a:solidFill>
                <a:latin typeface="Source Serif 4"/>
              </a:rPr>
              <a:t>Don't Scroll Past</a:t>
            </a:r>
          </a:p>
        </p:txBody>
      </p:sp>
      <p:sp>
        <p:nvSpPr>
          <p:cNvPr id="6" name="TextBox 5"/>
          <p:cNvSpPr txBox="1"/>
          <p:nvPr/>
        </p:nvSpPr>
        <p:spPr>
          <a:xfrm>
            <a:off x="822960" y="3611880"/>
            <a:ext cx="10515600" cy="914400"/>
          </a:xfrm>
          <a:prstGeom prst="rect">
            <a:avLst/>
          </a:prstGeom>
          <a:noFill/>
        </p:spPr>
        <p:txBody>
          <a:bodyPr wrap="square" anchor="t" lIns="0" rIns="0" tIns="0" bIns="0">
            <a:spAutoFit/>
          </a:bodyPr>
          <a:lstStyle/>
          <a:p>
            <a:pPr algn="l">
              <a:spcAft>
                <a:spcPts val="1080"/>
              </a:spcAft>
            </a:pPr>
            <a:r>
              <a:rPr sz="2400" b="0" i="1">
                <a:solidFill>
                  <a:srgbClr val="E8E4DA"/>
                </a:solidFill>
                <a:latin typeface="Source Serif 4"/>
              </a:rPr>
              <a:t>Stepping in for someone else, and standing up for yourself.</a:t>
            </a:r>
          </a:p>
        </p:txBody>
      </p:sp>
      <p:sp>
        <p:nvSpPr>
          <p:cNvPr id="7" name="TextBox 6"/>
          <p:cNvSpPr txBox="1"/>
          <p:nvPr/>
        </p:nvSpPr>
        <p:spPr>
          <a:xfrm>
            <a:off x="822960" y="6035040"/>
            <a:ext cx="7315200" cy="365760"/>
          </a:xfrm>
          <a:prstGeom prst="rect">
            <a:avLst/>
          </a:prstGeom>
          <a:noFill/>
        </p:spPr>
        <p:txBody>
          <a:bodyPr wrap="square" anchor="t" lIns="0" rIns="0" tIns="0" bIns="0">
            <a:spAutoFit/>
          </a:bodyPr>
          <a:lstStyle/>
          <a:p>
            <a:pPr algn="l">
              <a:spcAft>
                <a:spcPts val="585"/>
              </a:spcAft>
            </a:pPr>
            <a:r>
              <a:rPr sz="1300" b="0" i="0">
                <a:solidFill>
                  <a:srgbClr val="E8E4DA"/>
                </a:solidFill>
                <a:latin typeface="Inter Tight"/>
              </a:rPr>
              <a:t>Beaver Upper School · Counseling</a:t>
            </a:r>
          </a:p>
        </p:txBody>
      </p:sp>
      <p:sp>
        <p:nvSpPr>
          <p:cNvPr id="8" name="TextBox 7"/>
          <p:cNvSpPr txBox="1"/>
          <p:nvPr/>
        </p:nvSpPr>
        <p:spPr>
          <a:xfrm>
            <a:off x="6766560" y="5897880"/>
            <a:ext cx="4846320" cy="640080"/>
          </a:xfrm>
          <a:prstGeom prst="rect">
            <a:avLst/>
          </a:prstGeom>
          <a:noFill/>
        </p:spPr>
        <p:txBody>
          <a:bodyPr wrap="square" anchor="t" lIns="0" rIns="0" tIns="0" bIns="0">
            <a:spAutoFit/>
          </a:bodyPr>
          <a:lstStyle/>
          <a:p>
            <a:pPr algn="r">
              <a:spcAft>
                <a:spcPts val="495"/>
              </a:spcAft>
            </a:pPr>
            <a:r>
              <a:rPr sz="1100" b="0" i="0">
                <a:solidFill>
                  <a:srgbClr val="E8E4DA"/>
                </a:solidFill>
                <a:latin typeface="Inter Tight"/>
              </a:rPr>
              <a:t>Written by Dr. Rick Wilson, with AI-assisted drafting. Every lesson is reviewed and edited by Dr. Wilson.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ON A CARD</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Rectangle 4"/>
          <p:cNvSpPr/>
          <p:nvPr/>
        </p:nvSpPr>
        <p:spPr>
          <a:xfrm>
            <a:off x="822960" y="1371600"/>
            <a:ext cx="73152" cy="3566160"/>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88720" y="1371600"/>
            <a:ext cx="10058400" cy="3566160"/>
          </a:xfrm>
          <a:prstGeom prst="rect">
            <a:avLst/>
          </a:prstGeom>
          <a:noFill/>
        </p:spPr>
        <p:txBody>
          <a:bodyPr wrap="square" anchor="ctr" lIns="0" rIns="0" tIns="0" bIns="0">
            <a:spAutoFit/>
          </a:bodyPr>
          <a:lstStyle/>
          <a:p>
            <a:pPr algn="l">
              <a:spcAft>
                <a:spcPts val="1800"/>
              </a:spcAft>
            </a:pPr>
            <a:r>
              <a:rPr sz="4000" b="0" i="1">
                <a:solidFill>
                  <a:srgbClr val="1C1B19"/>
                </a:solidFill>
                <a:latin typeface="Source Serif 4"/>
              </a:rPr>
              <a:t>Think of a time you felt respected. What did the person actually do?</a:t>
            </a:r>
          </a:p>
        </p:txBody>
      </p:sp>
      <p:sp>
        <p:nvSpPr>
          <p:cNvPr id="7" name="TextBox 6"/>
          <p:cNvSpPr txBox="1"/>
          <p:nvPr/>
        </p:nvSpPr>
        <p:spPr>
          <a:xfrm>
            <a:off x="1188720" y="5120640"/>
            <a:ext cx="10058400" cy="914400"/>
          </a:xfrm>
          <a:prstGeom prst="rect">
            <a:avLst/>
          </a:prstGeom>
          <a:noFill/>
        </p:spPr>
        <p:txBody>
          <a:bodyPr wrap="square" anchor="t" lIns="0" rIns="0" tIns="0" bIns="0">
            <a:spAutoFit/>
          </a:bodyPr>
          <a:lstStyle/>
          <a:p>
            <a:pPr algn="l">
              <a:spcAft>
                <a:spcPts val="810"/>
              </a:spcAft>
            </a:pPr>
            <a:r>
              <a:rPr sz="1800" b="0" i="0">
                <a:solidFill>
                  <a:srgbClr val="5D5A54"/>
                </a:solidFill>
                <a:latin typeface="Inter Tight"/>
              </a:rPr>
              <a:t>A verb, not a feeling. "Waited." "Asked." "Didn't tell anyone."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RESPECT GOES BOTH WAYS</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91440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The hard part is acting on it when everyone else is quiet.</a:t>
            </a:r>
          </a:p>
        </p:txBody>
      </p:sp>
      <p:sp>
        <p:nvSpPr>
          <p:cNvPr id="6" name="Rectangle 5"/>
          <p:cNvSpPr/>
          <p:nvPr/>
        </p:nvSpPr>
        <p:spPr>
          <a:xfrm>
            <a:off x="822960" y="2103120"/>
            <a:ext cx="5120640" cy="393192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2286000"/>
            <a:ext cx="4572000" cy="45720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RESPECT FOR YOURSELF</a:t>
            </a:r>
          </a:p>
        </p:txBody>
      </p:sp>
      <p:sp>
        <p:nvSpPr>
          <p:cNvPr id="8" name="TextBox 7"/>
          <p:cNvSpPr txBox="1"/>
          <p:nvPr/>
        </p:nvSpPr>
        <p:spPr>
          <a:xfrm>
            <a:off x="1097280" y="2788920"/>
            <a:ext cx="4572000" cy="31089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Knowing what you want, and don't, before the moment</a:t>
            </a:r>
          </a:p>
          <a:p>
            <a:pPr algn="l">
              <a:spcAft>
                <a:spcPts val="855"/>
              </a:spcAft>
            </a:pPr>
            <a:r>
              <a:rPr sz="1900" b="0" i="0">
                <a:solidFill>
                  <a:srgbClr val="1C1B19"/>
                </a:solidFill>
                <a:latin typeface="Source Serif 4"/>
              </a:rPr>
              <a:t>Saying no without apologizing</a:t>
            </a:r>
          </a:p>
          <a:p>
            <a:pPr algn="l">
              <a:spcAft>
                <a:spcPts val="855"/>
              </a:spcAft>
            </a:pPr>
            <a:r>
              <a:rPr sz="1900" b="0" i="0">
                <a:solidFill>
                  <a:srgbClr val="1C1B19"/>
                </a:solidFill>
                <a:latin typeface="Source Serif 4"/>
              </a:rPr>
              <a:t>Not trading your values to fit in</a:t>
            </a:r>
          </a:p>
          <a:p>
            <a:pPr algn="l">
              <a:spcAft>
                <a:spcPts val="855"/>
              </a:spcAft>
            </a:pPr>
            <a:r>
              <a:rPr sz="1900" b="0" i="0">
                <a:solidFill>
                  <a:srgbClr val="1C1B19"/>
                </a:solidFill>
                <a:latin typeface="Source Serif 4"/>
              </a:rPr>
              <a:t>Asking for help when something feels wrong</a:t>
            </a:r>
          </a:p>
        </p:txBody>
      </p:sp>
      <p:sp>
        <p:nvSpPr>
          <p:cNvPr id="9" name="Rectangle 8"/>
          <p:cNvSpPr/>
          <p:nvPr/>
        </p:nvSpPr>
        <p:spPr>
          <a:xfrm>
            <a:off x="6309360" y="2103120"/>
            <a:ext cx="5120640" cy="393192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0" y="2286000"/>
            <a:ext cx="4572000" cy="45720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RESPECT FOR OTHERS</a:t>
            </a:r>
          </a:p>
        </p:txBody>
      </p:sp>
      <p:sp>
        <p:nvSpPr>
          <p:cNvPr id="11" name="TextBox 10"/>
          <p:cNvSpPr txBox="1"/>
          <p:nvPr/>
        </p:nvSpPr>
        <p:spPr>
          <a:xfrm>
            <a:off x="6583680" y="2788920"/>
            <a:ext cx="4572000" cy="31089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Treating "no" as a full answer</a:t>
            </a:r>
          </a:p>
          <a:p>
            <a:pPr algn="l">
              <a:spcAft>
                <a:spcPts val="855"/>
              </a:spcAft>
            </a:pPr>
            <a:r>
              <a:rPr sz="1900" b="0" i="0">
                <a:solidFill>
                  <a:srgbClr val="1C1B19"/>
                </a:solidFill>
                <a:latin typeface="Source Serif 4"/>
              </a:rPr>
              <a:t>Talking about people as if they could hear you</a:t>
            </a:r>
          </a:p>
          <a:p>
            <a:pPr algn="l">
              <a:spcAft>
                <a:spcPts val="855"/>
              </a:spcAft>
            </a:pPr>
            <a:r>
              <a:rPr sz="1900" b="0" i="0">
                <a:solidFill>
                  <a:srgbClr val="1C1B19"/>
                </a:solidFill>
                <a:latin typeface="Source Serif 4"/>
              </a:rPr>
              <a:t>Not sharing what isn't yours to share</a:t>
            </a:r>
          </a:p>
          <a:p>
            <a:pPr algn="l">
              <a:spcAft>
                <a:spcPts val="855"/>
              </a:spcAft>
            </a:pPr>
            <a:r>
              <a:rPr sz="1900" b="0" i="0">
                <a:solidFill>
                  <a:srgbClr val="1C1B19"/>
                </a:solidFill>
                <a:latin typeface="Source Serif 4"/>
              </a:rPr>
              <a:t>Stepping in when someone can't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WHAT WOULD YOU DO?</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Rectangle 4"/>
          <p:cNvSpPr/>
          <p:nvPr/>
        </p:nvSpPr>
        <p:spPr>
          <a:xfrm>
            <a:off x="822960" y="1371600"/>
            <a:ext cx="73152" cy="3566160"/>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88720" y="1371600"/>
            <a:ext cx="10058400" cy="3566160"/>
          </a:xfrm>
          <a:prstGeom prst="rect">
            <a:avLst/>
          </a:prstGeom>
          <a:noFill/>
        </p:spPr>
        <p:txBody>
          <a:bodyPr wrap="square" anchor="ctr" lIns="0" rIns="0" tIns="0" bIns="0">
            <a:spAutoFit/>
          </a:bodyPr>
          <a:lstStyle/>
          <a:p>
            <a:pPr algn="l">
              <a:spcAft>
                <a:spcPts val="1800"/>
              </a:spcAft>
            </a:pPr>
            <a:r>
              <a:rPr sz="4000" b="0" i="1">
                <a:solidFill>
                  <a:srgbClr val="1C1B19"/>
                </a:solidFill>
                <a:latin typeface="Source Serif 4"/>
              </a:rPr>
              <a:t>You're filling out a form. Smoke starts coming in through a vent. Two other people keep writing like nothing's happening.</a:t>
            </a:r>
          </a:p>
        </p:txBody>
      </p:sp>
      <p:sp>
        <p:nvSpPr>
          <p:cNvPr id="7" name="TextBox 6"/>
          <p:cNvSpPr txBox="1"/>
          <p:nvPr/>
        </p:nvSpPr>
        <p:spPr>
          <a:xfrm>
            <a:off x="1188720" y="5120640"/>
            <a:ext cx="10058400" cy="914400"/>
          </a:xfrm>
          <a:prstGeom prst="rect">
            <a:avLst/>
          </a:prstGeom>
          <a:noFill/>
        </p:spPr>
        <p:txBody>
          <a:bodyPr wrap="square" anchor="t" lIns="0" rIns="0" tIns="0" bIns="0">
            <a:spAutoFit/>
          </a:bodyPr>
          <a:lstStyle/>
          <a:p>
            <a:pPr algn="l">
              <a:spcAft>
                <a:spcPts val="810"/>
              </a:spcAft>
            </a:pPr>
            <a:r>
              <a:rPr sz="1800" b="0" i="0">
                <a:solidFill>
                  <a:srgbClr val="5D5A54"/>
                </a:solidFill>
                <a:latin typeface="Inter Tight"/>
              </a:rPr>
              <a:t>Hands up if you'd get up and tell someone.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WHAT REALLY HAPPENED</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463040"/>
            <a:ext cx="10515600" cy="3291840"/>
          </a:xfrm>
          <a:prstGeom prst="rect">
            <a:avLst/>
          </a:prstGeom>
          <a:noFill/>
        </p:spPr>
        <p:txBody>
          <a:bodyPr wrap="square" anchor="ctr" lIns="0" rIns="0" tIns="0" bIns="0">
            <a:spAutoFit/>
          </a:bodyPr>
          <a:lstStyle/>
          <a:p>
            <a:pPr algn="l">
              <a:spcAft>
                <a:spcPts val="2070"/>
              </a:spcAft>
            </a:pPr>
            <a:r>
              <a:rPr sz="4600" b="1" i="0">
                <a:solidFill>
                  <a:srgbClr val="1C1B19"/>
                </a:solidFill>
                <a:latin typeface="Source Serif 4"/>
              </a:rPr>
              <a:t>Alone, 75% reported the smoke. Next to two calm people, 10% did.</a:t>
            </a:r>
          </a:p>
        </p:txBody>
      </p:sp>
      <p:sp>
        <p:nvSpPr>
          <p:cNvPr id="6" name="TextBox 5"/>
          <p:cNvSpPr txBox="1"/>
          <p:nvPr/>
        </p:nvSpPr>
        <p:spPr>
          <a:xfrm>
            <a:off x="822960" y="4846320"/>
            <a:ext cx="10515600" cy="1097280"/>
          </a:xfrm>
          <a:prstGeom prst="rect">
            <a:avLst/>
          </a:prstGeom>
          <a:noFill/>
        </p:spPr>
        <p:txBody>
          <a:bodyPr wrap="square" anchor="t" lIns="0" rIns="0" tIns="0" bIns="0">
            <a:spAutoFit/>
          </a:bodyPr>
          <a:lstStyle/>
          <a:p>
            <a:pPr algn="l">
              <a:spcAft>
                <a:spcPts val="990"/>
              </a:spcAft>
            </a:pPr>
            <a:r>
              <a:rPr sz="2200" b="0" i="1">
                <a:solidFill>
                  <a:srgbClr val="5D5A54"/>
                </a:solidFill>
                <a:latin typeface="Source Serif 4"/>
              </a:rPr>
              <a:t>They weren't cold. They read the room, and the room said it's fine.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PICK A CORNER</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109728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Which one gets you most?</a:t>
            </a:r>
          </a:p>
        </p:txBody>
      </p:sp>
      <p:sp>
        <p:nvSpPr>
          <p:cNvPr id="6" name="TextBox 5"/>
          <p:cNvSpPr txBox="1"/>
          <p:nvPr/>
        </p:nvSpPr>
        <p:spPr>
          <a:xfrm>
            <a:off x="822960" y="2194560"/>
            <a:ext cx="548640" cy="105156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1</a:t>
            </a:r>
          </a:p>
        </p:txBody>
      </p:sp>
      <p:sp>
        <p:nvSpPr>
          <p:cNvPr id="7" name="TextBox 6"/>
          <p:cNvSpPr txBox="1"/>
          <p:nvPr/>
        </p:nvSpPr>
        <p:spPr>
          <a:xfrm>
            <a:off x="1463040" y="2231136"/>
            <a:ext cx="9875520" cy="105156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"Someone else will handle it."</a:t>
            </a:r>
          </a:p>
          <a:p>
            <a:pPr algn="l">
              <a:spcAft>
                <a:spcPts val="945"/>
              </a:spcAft>
            </a:pPr>
            <a:r>
              <a:rPr sz="1600" b="0" i="0">
                <a:solidFill>
                  <a:srgbClr val="5D5A54"/>
                </a:solidFill>
                <a:latin typeface="Source Serif 4"/>
              </a:rPr>
              <a:t>The more people who see it, the easier it is to wait.</a:t>
            </a:r>
          </a:p>
        </p:txBody>
      </p:sp>
      <p:sp>
        <p:nvSpPr>
          <p:cNvPr id="8" name="TextBox 7"/>
          <p:cNvSpPr txBox="1"/>
          <p:nvPr/>
        </p:nvSpPr>
        <p:spPr>
          <a:xfrm>
            <a:off x="822960" y="3246120"/>
            <a:ext cx="548640" cy="105156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2</a:t>
            </a:r>
          </a:p>
        </p:txBody>
      </p:sp>
      <p:sp>
        <p:nvSpPr>
          <p:cNvPr id="9" name="TextBox 8"/>
          <p:cNvSpPr txBox="1"/>
          <p:nvPr/>
        </p:nvSpPr>
        <p:spPr>
          <a:xfrm>
            <a:off x="1463040" y="3282696"/>
            <a:ext cx="9875520" cy="105156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"Everyone looks calm, so it's fine."</a:t>
            </a:r>
          </a:p>
          <a:p>
            <a:pPr algn="l">
              <a:spcAft>
                <a:spcPts val="945"/>
              </a:spcAft>
            </a:pPr>
            <a:r>
              <a:rPr sz="1600" b="0" i="0">
                <a:solidFill>
                  <a:srgbClr val="5D5A54"/>
                </a:solidFill>
                <a:latin typeface="Source Serif 4"/>
              </a:rPr>
              <a:t>Everyone else is reading the room too.</a:t>
            </a:r>
          </a:p>
        </p:txBody>
      </p:sp>
      <p:sp>
        <p:nvSpPr>
          <p:cNvPr id="10" name="TextBox 9"/>
          <p:cNvSpPr txBox="1"/>
          <p:nvPr/>
        </p:nvSpPr>
        <p:spPr>
          <a:xfrm>
            <a:off x="822960" y="4297679"/>
            <a:ext cx="548640" cy="105156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3</a:t>
            </a:r>
          </a:p>
        </p:txBody>
      </p:sp>
      <p:sp>
        <p:nvSpPr>
          <p:cNvPr id="11" name="TextBox 10"/>
          <p:cNvSpPr txBox="1"/>
          <p:nvPr/>
        </p:nvSpPr>
        <p:spPr>
          <a:xfrm>
            <a:off x="1463040" y="4334255"/>
            <a:ext cx="9875520" cy="105156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"What if I'm wrong and look dumb?"</a:t>
            </a:r>
          </a:p>
          <a:p>
            <a:pPr algn="l">
              <a:spcAft>
                <a:spcPts val="945"/>
              </a:spcAft>
            </a:pPr>
            <a:r>
              <a:rPr sz="1600" b="0" i="0">
                <a:solidFill>
                  <a:srgbClr val="5D5A54"/>
                </a:solidFill>
                <a:latin typeface="Source Serif 4"/>
              </a:rPr>
              <a:t>Ninth grade runs on not looking dumb.</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THE GOOD NEWS</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914400"/>
            <a:ext cx="10515600" cy="365760"/>
          </a:xfrm>
          <a:prstGeom prst="rect">
            <a:avLst/>
          </a:prstGeom>
          <a:noFill/>
        </p:spPr>
        <p:txBody>
          <a:bodyPr wrap="square" anchor="t" lIns="0" rIns="0" tIns="0" bIns="0">
            <a:spAutoFit/>
          </a:bodyPr>
          <a:lstStyle/>
          <a:p>
            <a:pPr algn="l">
              <a:spcAft>
                <a:spcPts val="630"/>
              </a:spcAft>
            </a:pPr>
            <a:r>
              <a:rPr sz="1400" b="1" i="0">
                <a:solidFill>
                  <a:srgbClr val="0B2D5B"/>
                </a:solidFill>
                <a:latin typeface="Inter Tight"/>
              </a:rPr>
              <a:t>Philpot et al., 2020  ·  Fischer et al., 2011  ·  Coker et al., 2017</a:t>
            </a:r>
          </a:p>
        </p:txBody>
      </p:sp>
      <p:sp>
        <p:nvSpPr>
          <p:cNvPr id="6" name="TextBox 5"/>
          <p:cNvSpPr txBox="1"/>
          <p:nvPr/>
        </p:nvSpPr>
        <p:spPr>
          <a:xfrm>
            <a:off x="822960" y="1325880"/>
            <a:ext cx="10515600" cy="1097280"/>
          </a:xfrm>
          <a:prstGeom prst="rect">
            <a:avLst/>
          </a:prstGeom>
          <a:noFill/>
        </p:spPr>
        <p:txBody>
          <a:bodyPr wrap="square" anchor="t" lIns="0" rIns="0" tIns="0" bIns="0">
            <a:spAutoFit/>
          </a:bodyPr>
          <a:lstStyle/>
          <a:p>
            <a:pPr algn="l">
              <a:spcAft>
                <a:spcPts val="1440"/>
              </a:spcAft>
            </a:pPr>
            <a:r>
              <a:rPr sz="3200" b="1" i="0">
                <a:solidFill>
                  <a:srgbClr val="1C1B19"/>
                </a:solidFill>
                <a:latin typeface="Source Serif 4"/>
              </a:rPr>
              <a:t>Someone usually does step in.</a:t>
            </a:r>
          </a:p>
        </p:txBody>
      </p:sp>
      <p:sp>
        <p:nvSpPr>
          <p:cNvPr id="7" name="TextBox 6"/>
          <p:cNvSpPr txBox="1"/>
          <p:nvPr/>
        </p:nvSpPr>
        <p:spPr>
          <a:xfrm>
            <a:off x="822960" y="2514600"/>
            <a:ext cx="10515600" cy="21945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  In 219 real fights caught on camera, someone helped in 9 of 10.</a:t>
            </a:r>
          </a:p>
          <a:p>
            <a:pPr algn="l">
              <a:spcAft>
                <a:spcPts val="855"/>
              </a:spcAft>
            </a:pPr>
            <a:r>
              <a:rPr sz="1900" b="0" i="0">
                <a:solidFill>
                  <a:srgbClr val="1C1B19"/>
                </a:solidFill>
                <a:latin typeface="Source Serif 4"/>
              </a:rPr>
              <a:t>•  More people watching made help more likely, not less.</a:t>
            </a:r>
          </a:p>
          <a:p>
            <a:pPr algn="l">
              <a:spcAft>
                <a:spcPts val="855"/>
              </a:spcAft>
            </a:pPr>
            <a:r>
              <a:rPr sz="1900" b="0" i="0">
                <a:solidFill>
                  <a:srgbClr val="1C1B19"/>
                </a:solidFill>
                <a:latin typeface="Source Serif 4"/>
              </a:rPr>
              <a:t>•  Friends who notice together act more than strangers do.</a:t>
            </a:r>
          </a:p>
          <a:p>
            <a:pPr algn="l">
              <a:spcAft>
                <a:spcPts val="855"/>
              </a:spcAft>
            </a:pPr>
            <a:r>
              <a:rPr sz="1900" b="0" i="0">
                <a:solidFill>
                  <a:srgbClr val="1C1B19"/>
                </a:solidFill>
                <a:latin typeface="Source Serif 4"/>
              </a:rPr>
              <a:t>•  Schools that trained students to step in had less sexual violence later.</a:t>
            </a:r>
          </a:p>
        </p:txBody>
      </p:sp>
      <p:sp>
        <p:nvSpPr>
          <p:cNvPr id="8" name="Rectangle 7"/>
          <p:cNvSpPr/>
          <p:nvPr/>
        </p:nvSpPr>
        <p:spPr>
          <a:xfrm>
            <a:off x="822960" y="4892040"/>
            <a:ext cx="73152" cy="1097280"/>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4892040"/>
            <a:ext cx="10241280" cy="1188720"/>
          </a:xfrm>
          <a:prstGeom prst="rect">
            <a:avLst/>
          </a:prstGeom>
          <a:noFill/>
        </p:spPr>
        <p:txBody>
          <a:bodyPr wrap="square" anchor="t" lIns="0" rIns="0" tIns="0" bIns="0">
            <a:spAutoFit/>
          </a:bodyPr>
          <a:lstStyle/>
          <a:p>
            <a:pPr algn="l">
              <a:spcAft>
                <a:spcPts val="855"/>
              </a:spcAft>
            </a:pPr>
            <a:r>
              <a:rPr sz="1200" b="1" i="0">
                <a:solidFill>
                  <a:srgbClr val="F47B20"/>
                </a:solidFill>
                <a:latin typeface="Inter Tight"/>
              </a:rPr>
              <a:t>IN CLASS</a:t>
            </a:r>
          </a:p>
          <a:p>
            <a:pPr algn="l">
              <a:spcAft>
                <a:spcPts val="855"/>
              </a:spcAft>
            </a:pPr>
            <a:r>
              <a:rPr sz="1900" b="0" i="0">
                <a:solidFill>
                  <a:srgbClr val="1C1B19"/>
                </a:solidFill>
                <a:latin typeface="Source Serif 4"/>
              </a:rPr>
              <a:t>Each person waits. Then one person goes, and others follow. Be the first one, or the second.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THREE WAYS IN</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109728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You don't have to be a hero. Pick the one that fits.</a:t>
            </a:r>
          </a:p>
        </p:txBody>
      </p:sp>
      <p:sp>
        <p:nvSpPr>
          <p:cNvPr id="6" name="TextBox 5"/>
          <p:cNvSpPr txBox="1"/>
          <p:nvPr/>
        </p:nvSpPr>
        <p:spPr>
          <a:xfrm>
            <a:off x="822960" y="2194560"/>
            <a:ext cx="548640" cy="105156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1</a:t>
            </a:r>
          </a:p>
        </p:txBody>
      </p:sp>
      <p:sp>
        <p:nvSpPr>
          <p:cNvPr id="7" name="TextBox 6"/>
          <p:cNvSpPr txBox="1"/>
          <p:nvPr/>
        </p:nvSpPr>
        <p:spPr>
          <a:xfrm>
            <a:off x="1463040" y="2231136"/>
            <a:ext cx="9875520" cy="105156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Direct.</a:t>
            </a:r>
          </a:p>
          <a:p>
            <a:pPr algn="l">
              <a:spcAft>
                <a:spcPts val="945"/>
              </a:spcAft>
            </a:pPr>
            <a:r>
              <a:rPr sz="1600" b="0" i="0">
                <a:solidFill>
                  <a:srgbClr val="5D5A54"/>
                </a:solidFill>
                <a:latin typeface="Source Serif 4"/>
              </a:rPr>
              <a:t>Say something short. "Not cool. Delete that." "Hey, you okay?"</a:t>
            </a:r>
          </a:p>
        </p:txBody>
      </p:sp>
      <p:sp>
        <p:nvSpPr>
          <p:cNvPr id="8" name="TextBox 7"/>
          <p:cNvSpPr txBox="1"/>
          <p:nvPr/>
        </p:nvSpPr>
        <p:spPr>
          <a:xfrm>
            <a:off x="822960" y="3246120"/>
            <a:ext cx="548640" cy="105156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2</a:t>
            </a:r>
          </a:p>
        </p:txBody>
      </p:sp>
      <p:sp>
        <p:nvSpPr>
          <p:cNvPr id="9" name="TextBox 8"/>
          <p:cNvSpPr txBox="1"/>
          <p:nvPr/>
        </p:nvSpPr>
        <p:spPr>
          <a:xfrm>
            <a:off x="1463040" y="3282696"/>
            <a:ext cx="9875520" cy="105156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Distract.</a:t>
            </a:r>
          </a:p>
          <a:p>
            <a:pPr algn="l">
              <a:spcAft>
                <a:spcPts val="945"/>
              </a:spcAft>
            </a:pPr>
            <a:r>
              <a:rPr sz="1600" b="0" i="0">
                <a:solidFill>
                  <a:srgbClr val="5D5A54"/>
                </a:solidFill>
                <a:latin typeface="Source Serif 4"/>
              </a:rPr>
              <a:t>Interrupt the moment. "Your ride's here." Spill something. Change the subject.</a:t>
            </a:r>
          </a:p>
        </p:txBody>
      </p:sp>
      <p:sp>
        <p:nvSpPr>
          <p:cNvPr id="10" name="TextBox 9"/>
          <p:cNvSpPr txBox="1"/>
          <p:nvPr/>
        </p:nvSpPr>
        <p:spPr>
          <a:xfrm>
            <a:off x="822960" y="4297679"/>
            <a:ext cx="548640" cy="105156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3</a:t>
            </a:r>
          </a:p>
        </p:txBody>
      </p:sp>
      <p:sp>
        <p:nvSpPr>
          <p:cNvPr id="11" name="TextBox 10"/>
          <p:cNvSpPr txBox="1"/>
          <p:nvPr/>
        </p:nvSpPr>
        <p:spPr>
          <a:xfrm>
            <a:off x="1463040" y="4334255"/>
            <a:ext cx="9875520" cy="105156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Delegate.</a:t>
            </a:r>
          </a:p>
          <a:p>
            <a:pPr algn="l">
              <a:spcAft>
                <a:spcPts val="945"/>
              </a:spcAft>
            </a:pPr>
            <a:r>
              <a:rPr sz="1600" b="0" i="0">
                <a:solidFill>
                  <a:srgbClr val="5D5A54"/>
                </a:solidFill>
                <a:latin typeface="Source Serif 4"/>
              </a:rPr>
              <a:t>Get backup. A friend, a parent, a coach, a counselor, the host.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WHEN YOU SEE IT</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91440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What makes it hard? What's one move?</a:t>
            </a:r>
          </a:p>
        </p:txBody>
      </p:sp>
      <p:sp>
        <p:nvSpPr>
          <p:cNvPr id="6" name="Rectangle 5"/>
          <p:cNvSpPr/>
          <p:nvPr/>
        </p:nvSpPr>
        <p:spPr>
          <a:xfrm>
            <a:off x="822960" y="2103120"/>
            <a:ext cx="332232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2286000"/>
            <a:ext cx="286512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THE SCREENSHOT</a:t>
            </a:r>
          </a:p>
        </p:txBody>
      </p:sp>
      <p:sp>
        <p:nvSpPr>
          <p:cNvPr id="8" name="TextBox 7"/>
          <p:cNvSpPr txBox="1"/>
          <p:nvPr/>
        </p:nvSpPr>
        <p:spPr>
          <a:xfrm>
            <a:off x="1051560" y="2743200"/>
            <a:ext cx="286512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10:40 p.m. The 9th grade group chat (43 people) lights up with a screenshot of a private photo Maya sent her ex. Laughing emojis. "lmao who else has seen this." Jordan's thumb hovers.</a:t>
            </a:r>
          </a:p>
        </p:txBody>
      </p:sp>
      <p:sp>
        <p:nvSpPr>
          <p:cNvPr id="9" name="Rectangle 8"/>
          <p:cNvSpPr/>
          <p:nvPr/>
        </p:nvSpPr>
        <p:spPr>
          <a:xfrm>
            <a:off x="4419600" y="2103120"/>
            <a:ext cx="332232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48200" y="2286000"/>
            <a:ext cx="286512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UPSTAIRS</a:t>
            </a:r>
          </a:p>
        </p:txBody>
      </p:sp>
      <p:sp>
        <p:nvSpPr>
          <p:cNvPr id="11" name="TextBox 10"/>
          <p:cNvSpPr txBox="1"/>
          <p:nvPr/>
        </p:nvSpPr>
        <p:spPr>
          <a:xfrm>
            <a:off x="4648200" y="2743200"/>
            <a:ext cx="286512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At a party, Ellie from Sam's soccer team can barely stand. An older guy has his arm around her, steering her toward the stairs: "I'll take care of her." People glance, then look away.</a:t>
            </a:r>
          </a:p>
        </p:txBody>
      </p:sp>
      <p:sp>
        <p:nvSpPr>
          <p:cNvPr id="12" name="Rectangle 11"/>
          <p:cNvSpPr/>
          <p:nvPr/>
        </p:nvSpPr>
        <p:spPr>
          <a:xfrm>
            <a:off x="8016239" y="2103120"/>
            <a:ext cx="332232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44839" y="2286000"/>
            <a:ext cx="286512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JUST TALK</a:t>
            </a:r>
          </a:p>
        </p:txBody>
      </p:sp>
      <p:sp>
        <p:nvSpPr>
          <p:cNvPr id="14" name="TextBox 13"/>
          <p:cNvSpPr txBox="1"/>
          <p:nvPr/>
        </p:nvSpPr>
        <p:spPr>
          <a:xfrm>
            <a:off x="8244839" y="2743200"/>
            <a:ext cx="286512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At lunch, Marcus's friends start ranking girls in the grade by looks, and it gets crude fast. Marcus laughs along. Then one of the girls sits down nearby. She might have heard.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WHEN IT'S YOU</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91440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Respect for yourself counts the same.</a:t>
            </a:r>
          </a:p>
        </p:txBody>
      </p:sp>
      <p:sp>
        <p:nvSpPr>
          <p:cNvPr id="6" name="Rectangle 5"/>
          <p:cNvSpPr/>
          <p:nvPr/>
        </p:nvSpPr>
        <p:spPr>
          <a:xfrm>
            <a:off x="822960" y="2103120"/>
            <a:ext cx="512064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2286000"/>
            <a:ext cx="466344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"COME ON"</a:t>
            </a:r>
          </a:p>
        </p:txBody>
      </p:sp>
      <p:sp>
        <p:nvSpPr>
          <p:cNvPr id="8" name="TextBox 7"/>
          <p:cNvSpPr txBox="1"/>
          <p:nvPr/>
        </p:nvSpPr>
        <p:spPr>
          <a:xfrm>
            <a:off x="1051560" y="2743200"/>
            <a:ext cx="466344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Alex and Riley have dated two months. Alex wants to go further. Riley says, "I'm not ready." Alex goes quiet: "Seriously? Everyone does this. I thought you actually liked me." Riley starts to feel guilty.</a:t>
            </a:r>
          </a:p>
        </p:txBody>
      </p:sp>
      <p:sp>
        <p:nvSpPr>
          <p:cNvPr id="9" name="Rectangle 8"/>
          <p:cNvSpPr/>
          <p:nvPr/>
        </p:nvSpPr>
        <p:spPr>
          <a:xfrm>
            <a:off x="6217920" y="2103120"/>
            <a:ext cx="512064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2286000"/>
            <a:ext cx="466344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LUCKY</a:t>
            </a:r>
          </a:p>
        </p:txBody>
      </p:sp>
      <p:sp>
        <p:nvSpPr>
          <p:cNvPr id="11" name="TextBox 10"/>
          <p:cNvSpPr txBox="1"/>
          <p:nvPr/>
        </p:nvSpPr>
        <p:spPr>
          <a:xfrm>
            <a:off x="6446520" y="2743200"/>
            <a:ext cx="466344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Ethan sends a girl he's been messaging a more revealing photo after she keeps asking. Next day, guys at school have seen it. "Lucky, bro." Ethan laughs along and feels sick.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BEFORE YOU GO</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188720"/>
            <a:ext cx="10515600" cy="91440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Respect others. Respect yourself. Don't scroll past.</a:t>
            </a:r>
          </a:p>
        </p:txBody>
      </p:sp>
      <p:sp>
        <p:nvSpPr>
          <p:cNvPr id="6" name="TextBox 5"/>
          <p:cNvSpPr txBox="1"/>
          <p:nvPr/>
        </p:nvSpPr>
        <p:spPr>
          <a:xfrm>
            <a:off x="822960" y="2286000"/>
            <a:ext cx="10515600" cy="1463040"/>
          </a:xfrm>
          <a:prstGeom prst="rect">
            <a:avLst/>
          </a:prstGeom>
          <a:noFill/>
        </p:spPr>
        <p:txBody>
          <a:bodyPr wrap="square" anchor="t" lIns="0" rIns="0" tIns="0" bIns="0">
            <a:spAutoFit/>
          </a:bodyPr>
          <a:lstStyle/>
          <a:p>
            <a:pPr algn="l">
              <a:spcAft>
                <a:spcPts val="1080"/>
              </a:spcAft>
            </a:pPr>
            <a:r>
              <a:rPr sz="2400" b="0" i="0">
                <a:solidFill>
                  <a:srgbClr val="1C1B19"/>
                </a:solidFill>
                <a:latin typeface="Source Serif 4"/>
              </a:rPr>
              <a:t>On your second card: one move you'd make now that you wouldn't have this morning. Or a question.</a:t>
            </a:r>
          </a:p>
        </p:txBody>
      </p:sp>
      <p:sp>
        <p:nvSpPr>
          <p:cNvPr id="7" name="Rectangle 6"/>
          <p:cNvSpPr/>
          <p:nvPr/>
        </p:nvSpPr>
        <p:spPr>
          <a:xfrm>
            <a:off x="822960" y="4023360"/>
            <a:ext cx="10515600" cy="1371600"/>
          </a:xfrm>
          <a:prstGeom prst="rect">
            <a:avLst/>
          </a:prstGeom>
          <a:solidFill>
            <a:srgbClr val="FFFFFF"/>
          </a:solidFill>
          <a:ln w="15875">
            <a:solidFill>
              <a:srgbClr val="1C1B1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4206240"/>
            <a:ext cx="10058400" cy="365760"/>
          </a:xfrm>
          <a:prstGeom prst="rect">
            <a:avLst/>
          </a:prstGeom>
          <a:noFill/>
        </p:spPr>
        <p:txBody>
          <a:bodyPr wrap="square" anchor="t" lIns="0" rIns="0" tIns="0" bIns="0">
            <a:spAutoFit/>
          </a:bodyPr>
          <a:lstStyle/>
          <a:p>
            <a:pPr algn="l">
              <a:spcAft>
                <a:spcPts val="540"/>
              </a:spcAft>
            </a:pPr>
            <a:r>
              <a:rPr sz="1200" b="1" i="0">
                <a:solidFill>
                  <a:srgbClr val="0B2D5B"/>
                </a:solidFill>
                <a:latin typeface="Inter Tight"/>
              </a:rPr>
              <a:t>STUDENT PAGE</a:t>
            </a:r>
          </a:p>
        </p:txBody>
      </p:sp>
      <p:sp>
        <p:nvSpPr>
          <p:cNvPr id="9" name="TextBox 8"/>
          <p:cNvSpPr txBox="1"/>
          <p:nvPr/>
        </p:nvSpPr>
        <p:spPr>
          <a:xfrm>
            <a:off x="1097280" y="4617720"/>
            <a:ext cx="10058400" cy="640080"/>
          </a:xfrm>
          <a:prstGeom prst="rect">
            <a:avLst/>
          </a:prstGeom>
          <a:noFill/>
        </p:spPr>
        <p:txBody>
          <a:bodyPr wrap="square" anchor="t" lIns="0" rIns="0" tIns="0" bIns="0">
            <a:spAutoFit/>
          </a:bodyPr>
          <a:lstStyle/>
          <a:p>
            <a:pPr algn="l">
              <a:spcAft>
                <a:spcPts val="900"/>
              </a:spcAft>
            </a:pPr>
            <a:r>
              <a:rPr sz="2000" b="0" i="0">
                <a:solidFill>
                  <a:srgbClr val="1C1B19"/>
                </a:solidFill>
                <a:latin typeface="Inter Tight"/>
              </a:rPr>
              <a:t>https://rmwtoolkit.github.io/bcds-toolkit/dont-scroll-past-high-school.html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Lesson plan</a:t>
            </a:r>
          </a:p>
        </p:txBody>
      </p:sp>
      <p:sp>
        <p:nvSpPr>
          <p:cNvPr id="4" name="TextBox 3"/>
          <p:cNvSpPr txBox="1"/>
          <p:nvPr/>
        </p:nvSpPr>
        <p:spPr>
          <a:xfrm>
            <a:off x="548640" y="685800"/>
            <a:ext cx="10972800" cy="73152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Don't Scroll Past</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Upper School  ·  45 minutes (20-minute advisory version below)  ·  9th grade health class or advisory</a:t>
            </a:r>
          </a:p>
        </p:txBody>
      </p:sp>
      <p:sp>
        <p:nvSpPr>
          <p:cNvPr id="6" name="TextBox 5"/>
          <p:cNvSpPr txBox="1"/>
          <p:nvPr/>
        </p:nvSpPr>
        <p:spPr>
          <a:xfrm>
            <a:off x="548640" y="1828800"/>
            <a:ext cx="5120640" cy="4389120"/>
          </a:xfrm>
          <a:prstGeom prst="rect">
            <a:avLst/>
          </a:prstGeom>
          <a:noFill/>
        </p:spPr>
        <p:txBody>
          <a:bodyPr wrap="square" anchor="t" lIns="0" rIns="0" tIns="0" bIns="0">
            <a:spAutoFit/>
          </a:bodyPr>
          <a:lstStyle/>
          <a:p>
            <a:pPr algn="l">
              <a:spcAft>
                <a:spcPts val="675"/>
              </a:spcAft>
            </a:pPr>
            <a:r>
              <a:rPr sz="1100" b="1" i="0">
                <a:solidFill>
                  <a:srgbClr val="0B2D5B"/>
                </a:solidFill>
                <a:latin typeface="Inter Tight"/>
              </a:rPr>
              <a:t>GOAL</a:t>
            </a:r>
          </a:p>
          <a:p>
            <a:pPr algn="l">
              <a:spcAft>
                <a:spcPts val="675"/>
              </a:spcAft>
            </a:pPr>
            <a:r>
              <a:rPr sz="1500" b="0" i="0">
                <a:solidFill>
                  <a:srgbClr val="1C1B19"/>
                </a:solidFill>
                <a:latin typeface="Source Serif 4"/>
              </a:rPr>
              <a:t>Students can say what respect looks like in action, for themselves and for other people; explain why people freeze when others are watching, and why someone usually does step in; pick one of three ways to step in (direct, distract, delegate) that fits them; and hold or respect a "not ready" without guilt.</a:t>
            </a:r>
          </a:p>
          <a:p>
            <a:pPr algn="l">
              <a:spcAft>
                <a:spcPts val="675"/>
              </a:spcAft>
            </a:pPr>
            <a:r>
              <a:rPr sz="1500" b="0" i="0">
                <a:solidFill>
                  <a:srgbClr val="1C1B19"/>
                </a:solidFill>
                <a:latin typeface="Source Serif 4"/>
              </a:rPr>
              <a:t/>
            </a:r>
          </a:p>
          <a:p>
            <a:pPr algn="l">
              <a:spcAft>
                <a:spcPts val="675"/>
              </a:spcAft>
            </a:pPr>
            <a:r>
              <a:rPr sz="1100" b="1" i="0">
                <a:solidFill>
                  <a:srgbClr val="0B2D5B"/>
                </a:solidFill>
                <a:latin typeface="Inter Tight"/>
              </a:rPr>
              <a:t>MATERIALS</a:t>
            </a:r>
          </a:p>
          <a:p>
            <a:pPr algn="l">
              <a:spcAft>
                <a:spcPts val="675"/>
              </a:spcAft>
            </a:pPr>
            <a:r>
              <a:rPr sz="1500" b="0" i="0">
                <a:solidFill>
                  <a:srgbClr val="1C1B19"/>
                </a:solidFill>
                <a:latin typeface="Source Serif 4"/>
              </a:rPr>
              <a:t>Index cards or sticky notes (two per student)</a:t>
            </a:r>
          </a:p>
          <a:p>
            <a:pPr algn="l">
              <a:spcAft>
                <a:spcPts val="675"/>
              </a:spcAft>
            </a:pPr>
            <a:r>
              <a:rPr sz="1500" b="0" i="0">
                <a:solidFill>
                  <a:srgbClr val="1C1B19"/>
                </a:solidFill>
                <a:latin typeface="Source Serif 4"/>
              </a:rPr>
              <a:t>Three corners of the room labeled: "Someone else will", "Everyone looks calm", "What if I'm wrong?"</a:t>
            </a:r>
          </a:p>
          <a:p>
            <a:pPr algn="l">
              <a:spcAft>
                <a:spcPts val="675"/>
              </a:spcAft>
            </a:pPr>
            <a:r>
              <a:rPr sz="1500" b="0" i="0">
                <a:solidFill>
                  <a:srgbClr val="1C1B19"/>
                </a:solidFill>
                <a:latin typeface="Source Serif 4"/>
              </a:rPr>
              <a:t>The student page link (last slide) to share after class</a:t>
            </a:r>
          </a:p>
        </p:txBody>
      </p:sp>
      <p:sp>
        <p:nvSpPr>
          <p:cNvPr id="7" name="TextBox 6"/>
          <p:cNvSpPr txBox="1"/>
          <p:nvPr/>
        </p:nvSpPr>
        <p:spPr>
          <a:xfrm>
            <a:off x="6126480" y="1828800"/>
            <a:ext cx="5486400" cy="4389120"/>
          </a:xfrm>
          <a:prstGeom prst="rect">
            <a:avLst/>
          </a:prstGeom>
          <a:noFill/>
        </p:spPr>
        <p:txBody>
          <a:bodyPr wrap="square" anchor="t" lIns="0" rIns="0" tIns="0" bIns="0">
            <a:spAutoFit/>
          </a:bodyPr>
          <a:lstStyle/>
          <a:p>
            <a:pPr algn="l">
              <a:spcAft>
                <a:spcPts val="630"/>
              </a:spcAft>
            </a:pPr>
            <a:r>
              <a:rPr sz="1100" b="1" i="0">
                <a:solidFill>
                  <a:srgbClr val="0B2D5B"/>
                </a:solidFill>
                <a:latin typeface="Inter Tight"/>
              </a:rPr>
              <a:t>FLOW</a:t>
            </a:r>
          </a:p>
          <a:p>
            <a:pPr algn="l">
              <a:spcAft>
                <a:spcPts val="630"/>
              </a:spcAft>
            </a:pPr>
            <a:r>
              <a:rPr sz="1300" b="1" i="0">
                <a:solidFill>
                  <a:srgbClr val="F47B20"/>
                </a:solidFill>
                <a:latin typeface="Inter Tight"/>
              </a:rPr>
              <a:t>3 min   </a:t>
            </a:r>
            <a:r>
              <a:rPr sz="1400" b="0" i="0">
                <a:solidFill>
                  <a:srgbClr val="1C1B19"/>
                </a:solidFill>
                <a:latin typeface="Source Serif 4"/>
              </a:rPr>
              <a:t>Set the room</a:t>
            </a:r>
          </a:p>
          <a:p>
            <a:pPr algn="l">
              <a:spcAft>
                <a:spcPts val="630"/>
              </a:spcAft>
            </a:pPr>
            <a:r>
              <a:rPr sz="1300" b="1" i="0">
                <a:solidFill>
                  <a:srgbClr val="F47B20"/>
                </a:solidFill>
                <a:latin typeface="Inter Tight"/>
              </a:rPr>
              <a:t>5 min   </a:t>
            </a:r>
            <a:r>
              <a:rPr sz="1400" b="0" i="0">
                <a:solidFill>
                  <a:srgbClr val="1C1B19"/>
                </a:solidFill>
                <a:latin typeface="Source Serif 4"/>
              </a:rPr>
              <a:t>What did they actually do? (cards)</a:t>
            </a:r>
          </a:p>
          <a:p>
            <a:pPr algn="l">
              <a:spcAft>
                <a:spcPts val="630"/>
              </a:spcAft>
            </a:pPr>
            <a:r>
              <a:rPr sz="1300" b="1" i="0">
                <a:solidFill>
                  <a:srgbClr val="F47B20"/>
                </a:solidFill>
                <a:latin typeface="Inter Tight"/>
              </a:rPr>
              <a:t>3 min   </a:t>
            </a:r>
            <a:r>
              <a:rPr sz="1400" b="0" i="0">
                <a:solidFill>
                  <a:srgbClr val="1C1B19"/>
                </a:solidFill>
                <a:latin typeface="Source Serif 4"/>
              </a:rPr>
              <a:t>Respect goes both ways</a:t>
            </a:r>
          </a:p>
          <a:p>
            <a:pPr algn="l">
              <a:spcAft>
                <a:spcPts val="630"/>
              </a:spcAft>
            </a:pPr>
            <a:r>
              <a:rPr sz="1300" b="1" i="0">
                <a:solidFill>
                  <a:srgbClr val="F47B20"/>
                </a:solidFill>
                <a:latin typeface="Inter Tight"/>
              </a:rPr>
              <a:t>4 min   </a:t>
            </a:r>
            <a:r>
              <a:rPr sz="1400" b="0" i="0">
                <a:solidFill>
                  <a:srgbClr val="1C1B19"/>
                </a:solidFill>
                <a:latin typeface="Source Serif 4"/>
              </a:rPr>
              <a:t>Smoke in the room (vote, then reveal)</a:t>
            </a:r>
          </a:p>
          <a:p>
            <a:pPr algn="l">
              <a:spcAft>
                <a:spcPts val="630"/>
              </a:spcAft>
            </a:pPr>
            <a:r>
              <a:rPr sz="1300" b="1" i="0">
                <a:solidFill>
                  <a:srgbClr val="F47B20"/>
                </a:solidFill>
                <a:latin typeface="Inter Tight"/>
              </a:rPr>
              <a:t>5 min   </a:t>
            </a:r>
            <a:r>
              <a:rPr sz="1400" b="0" i="0">
                <a:solidFill>
                  <a:srgbClr val="1C1B19"/>
                </a:solidFill>
                <a:latin typeface="Source Serif 4"/>
              </a:rPr>
              <a:t>Why we freeze (pick a corner)</a:t>
            </a:r>
          </a:p>
          <a:p>
            <a:pPr algn="l">
              <a:spcAft>
                <a:spcPts val="630"/>
              </a:spcAft>
            </a:pPr>
            <a:r>
              <a:rPr sz="1300" b="1" i="0">
                <a:solidFill>
                  <a:srgbClr val="F47B20"/>
                </a:solidFill>
                <a:latin typeface="Inter Tight"/>
              </a:rPr>
              <a:t>3 min   </a:t>
            </a:r>
            <a:r>
              <a:rPr sz="1400" b="0" i="0">
                <a:solidFill>
                  <a:srgbClr val="1C1B19"/>
                </a:solidFill>
                <a:latin typeface="Source Serif 4"/>
              </a:rPr>
              <a:t>Someone usually does</a:t>
            </a:r>
          </a:p>
          <a:p>
            <a:pPr algn="l">
              <a:spcAft>
                <a:spcPts val="630"/>
              </a:spcAft>
            </a:pPr>
            <a:r>
              <a:rPr sz="1300" b="1" i="0">
                <a:solidFill>
                  <a:srgbClr val="F47B20"/>
                </a:solidFill>
                <a:latin typeface="Inter Tight"/>
              </a:rPr>
              <a:t>4 min   </a:t>
            </a:r>
            <a:r>
              <a:rPr sz="1400" b="0" i="0">
                <a:solidFill>
                  <a:srgbClr val="1C1B19"/>
                </a:solidFill>
                <a:latin typeface="Source Serif 4"/>
              </a:rPr>
              <a:t>Three ways in: lightning round</a:t>
            </a:r>
          </a:p>
          <a:p>
            <a:pPr algn="l">
              <a:spcAft>
                <a:spcPts val="630"/>
              </a:spcAft>
            </a:pPr>
            <a:r>
              <a:rPr sz="1300" b="1" i="0">
                <a:solidFill>
                  <a:srgbClr val="F47B20"/>
                </a:solidFill>
                <a:latin typeface="Inter Tight"/>
              </a:rPr>
              <a:t>10 min   </a:t>
            </a:r>
            <a:r>
              <a:rPr sz="1400" b="0" i="0">
                <a:solidFill>
                  <a:srgbClr val="1C1B19"/>
                </a:solidFill>
                <a:latin typeface="Source Serif 4"/>
              </a:rPr>
              <a:t>When you see it (small groups)</a:t>
            </a:r>
          </a:p>
          <a:p>
            <a:pPr algn="l">
              <a:spcAft>
                <a:spcPts val="630"/>
              </a:spcAft>
            </a:pPr>
            <a:r>
              <a:rPr sz="1300" b="1" i="0">
                <a:solidFill>
                  <a:srgbClr val="F47B20"/>
                </a:solidFill>
                <a:latin typeface="Inter Tight"/>
              </a:rPr>
              <a:t>6 min   </a:t>
            </a:r>
            <a:r>
              <a:rPr sz="1400" b="0" i="0">
                <a:solidFill>
                  <a:srgbClr val="1C1B19"/>
                </a:solidFill>
                <a:latin typeface="Source Serif 4"/>
              </a:rPr>
              <a:t>When it's you (say it out loud)</a:t>
            </a:r>
          </a:p>
          <a:p>
            <a:pPr algn="l">
              <a:spcAft>
                <a:spcPts val="630"/>
              </a:spcAft>
            </a:pPr>
            <a:r>
              <a:rPr sz="1300" b="1" i="0">
                <a:solidFill>
                  <a:srgbClr val="F47B20"/>
                </a:solidFill>
                <a:latin typeface="Inter Tight"/>
              </a:rPr>
              <a:t>2 min   </a:t>
            </a:r>
            <a:r>
              <a:rPr sz="1400" b="0" i="0">
                <a:solidFill>
                  <a:srgbClr val="1C1B19"/>
                </a:solidFill>
                <a:latin typeface="Source Serif 4"/>
              </a:rPr>
              <a:t>Exit card and student page</a:t>
            </a:r>
          </a:p>
          <a:p>
            <a:pPr algn="l">
              <a:spcAft>
                <a:spcPts val="630"/>
              </a:spcAft>
            </a:pPr>
            <a:r>
              <a:rPr sz="1400" b="0" i="0">
                <a:solidFill>
                  <a:srgbClr val="1C1B19"/>
                </a:solidFill>
                <a:latin typeface="Source Serif 4"/>
              </a:rPr>
              <a:t/>
            </a:r>
          </a:p>
          <a:p>
            <a:pPr algn="l">
              <a:spcAft>
                <a:spcPts val="630"/>
              </a:spcAft>
            </a:pPr>
            <a:r>
              <a:rPr sz="1100" b="1" i="0">
                <a:solidFill>
                  <a:srgbClr val="0B2D5B"/>
                </a:solidFill>
                <a:latin typeface="Inter Tight"/>
              </a:rPr>
              <a:t>SHORT ON TIME (20-MINUTE ADVISORY)</a:t>
            </a:r>
          </a:p>
          <a:p>
            <a:pPr algn="l">
              <a:spcAft>
                <a:spcPts val="630"/>
              </a:spcAft>
            </a:pPr>
            <a:r>
              <a:rPr sz="1400" b="0" i="0">
                <a:solidFill>
                  <a:srgbClr val="1C1B19"/>
                </a:solidFill>
                <a:latin typeface="Source Serif 4"/>
              </a:rPr>
              <a:t>Set the room (2), smoke in the room (4), three ways in lightning round (4), The Screenshot and "Come On" as a whole class (8), exit card (2). Share the student page for the rest.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Before you teach</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Before you teach</a:t>
            </a:r>
          </a:p>
        </p:txBody>
      </p:sp>
      <p:sp>
        <p:nvSpPr>
          <p:cNvPr id="5" name="TextBox 4"/>
          <p:cNvSpPr txBox="1"/>
          <p:nvPr/>
        </p:nvSpPr>
        <p:spPr>
          <a:xfrm>
            <a:off x="548640" y="1463040"/>
            <a:ext cx="5394960" cy="493776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Assume someone in the room has lived this.</a:t>
            </a:r>
          </a:p>
          <a:p>
            <a:pPr algn="l">
              <a:spcAft>
                <a:spcPts val="585"/>
              </a:spcAft>
            </a:pPr>
            <a:r>
              <a:rPr sz="1300" b="0" i="0">
                <a:solidFill>
                  <a:srgbClr val="1C1B19"/>
                </a:solidFill>
                <a:latin typeface="Source Serif 4"/>
              </a:rPr>
              <a:t>A screenshot passed around, a night at a party, a partner who sulked until they got a yes. Say at the start that nobody will be asked about their own life, anyone can step out, and every example stays with the characters.</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Say "not your fault" out loud.</a:t>
            </a:r>
          </a:p>
          <a:p>
            <a:pPr algn="l">
              <a:spcAft>
                <a:spcPts val="585"/>
              </a:spcAft>
            </a:pPr>
            <a:r>
              <a:rPr sz="1300" b="0" i="0">
                <a:solidFill>
                  <a:srgbClr val="1C1B19"/>
                </a:solidFill>
                <a:latin typeface="Source Serif 4"/>
              </a:rPr>
              <a:t>When you get to Ellie, Maya, Riley and Ethan, say it plainly: what someone drank, sent or said earlier never makes it their fault. Someone in the room may need to hear it from an adult.</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Bystanders who froze are in the room too.</a:t>
            </a:r>
          </a:p>
          <a:p>
            <a:pPr algn="l">
              <a:spcAft>
                <a:spcPts val="585"/>
              </a:spcAft>
            </a:pPr>
            <a:r>
              <a:rPr sz="1300" b="0" i="0">
                <a:solidFill>
                  <a:srgbClr val="1C1B19"/>
                </a:solidFill>
                <a:latin typeface="Source Serif 4"/>
              </a:rPr>
              <a:t>Some students have watched something and done nothing, and still carry it. Name it once: "Almost everyone has frozen. A late check-in still counts." Then keep moving.</a:t>
            </a:r>
          </a:p>
          <a:p>
            <a:pPr algn="l">
              <a:spcAft>
                <a:spcPts val="585"/>
              </a:spcAft>
            </a:pPr>
            <a:r>
              <a:rPr sz="1300" b="0" i="0">
                <a:solidFill>
                  <a:srgbClr val="1C1B19"/>
                </a:solidFill>
                <a:latin typeface="Source Serif 4"/>
              </a:rPr>
              <a:t/>
            </a:r>
          </a:p>
        </p:txBody>
      </p:sp>
      <p:sp>
        <p:nvSpPr>
          <p:cNvPr id="6" name="TextBox 5"/>
          <p:cNvSpPr txBox="1"/>
          <p:nvPr/>
        </p:nvSpPr>
        <p:spPr>
          <a:xfrm>
            <a:off x="6217920" y="1463040"/>
            <a:ext cx="5394960" cy="493776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If a student tells you something.</a:t>
            </a:r>
          </a:p>
          <a:p>
            <a:pPr algn="l">
              <a:spcAft>
                <a:spcPts val="585"/>
              </a:spcAft>
            </a:pPr>
            <a:r>
              <a:rPr sz="1300" b="0" i="0">
                <a:solidFill>
                  <a:srgbClr val="1C1B19"/>
                </a:solidFill>
                <a:latin typeface="Source Serif 4"/>
              </a:rPr>
              <a:t>Thank them, stay calm, and don't promise to keep it secret. Walk them to a counselor that day. Counselors can explain up front what they'd have to share and with whom.</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Keep "Just Talk" about the behavior.</a:t>
            </a:r>
          </a:p>
          <a:p>
            <a:pPr algn="l">
              <a:spcAft>
                <a:spcPts val="585"/>
              </a:spcAft>
            </a:pPr>
            <a:r>
              <a:rPr sz="1300" b="0" i="0">
                <a:solidFill>
                  <a:srgbClr val="1C1B19"/>
                </a:solidFill>
                <a:latin typeface="Source Serif 4"/>
              </a:rPr>
              <a:t>If a student defends ranking as a joke, answer with what it does to the person who overhears it, not with a judgment about the student. Then move on.</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Use anonymous cards for the hard questions.</a:t>
            </a:r>
          </a:p>
          <a:p>
            <a:pPr algn="l">
              <a:spcAft>
                <a:spcPts val="585"/>
              </a:spcAft>
            </a:pPr>
            <a:r>
              <a:rPr sz="1300" b="0" i="0">
                <a:solidFill>
                  <a:srgbClr val="1C1B19"/>
                </a:solidFill>
                <a:latin typeface="Source Serif 4"/>
              </a:rPr>
              <a:t>Ninth graders will ask more on a card than out loud. Read cards before answering, and skip any that name a real person.</a:t>
            </a:r>
          </a:p>
          <a:p>
            <a:pPr algn="l">
              <a:spcAft>
                <a:spcPts val="585"/>
              </a:spcAft>
            </a:pPr>
            <a:r>
              <a:rPr sz="1300" b="0" i="0">
                <a:solidFill>
                  <a:srgbClr val="1C1B19"/>
                </a:solidFill>
                <a:latin typeface="Source Serif 4"/>
              </a:rPr>
              <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Every student in the room</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Every student in the room</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Culture, family, identity, ability and money: what to keep in mind for this topic.</a:t>
            </a:r>
          </a:p>
        </p:txBody>
      </p:sp>
      <p:sp>
        <p:nvSpPr>
          <p:cNvPr id="6" name="TextBox 5"/>
          <p:cNvSpPr txBox="1"/>
          <p:nvPr/>
        </p:nvSpPr>
        <p:spPr>
          <a:xfrm>
            <a:off x="548640" y="1828800"/>
            <a:ext cx="5394960" cy="457200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Stepping in isn't the same for everyone.</a:t>
            </a:r>
          </a:p>
          <a:p>
            <a:pPr algn="l">
              <a:spcAft>
                <a:spcPts val="585"/>
              </a:spcAft>
            </a:pPr>
            <a:r>
              <a:rPr sz="1300" b="0" i="0">
                <a:solidFill>
                  <a:srgbClr val="1C1B19"/>
                </a:solidFill>
                <a:latin typeface="Source Serif 4"/>
              </a:rPr>
              <a:t>In some families, correcting an older student or an adult in public is disrespectful. Some students fear what calling police could mean for them or their family. Distract and delegate count as much as direct. Say so.</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Every gender.</a:t>
            </a:r>
          </a:p>
          <a:p>
            <a:pPr algn="l">
              <a:spcAft>
                <a:spcPts val="585"/>
              </a:spcAft>
            </a:pPr>
            <a:r>
              <a:rPr sz="1300" b="0" i="0">
                <a:solidFill>
                  <a:srgbClr val="1C1B19"/>
                </a:solidFill>
                <a:latin typeface="Source Serif 4"/>
              </a:rPr>
              <a:t>Boys and nonbinary students are pressured, photographed and assaulted too, and are less likely to tell. Ethan's story is there on purpose. Riley's gender isn't named; leave it that way.</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LGBTQ+ students.</a:t>
            </a:r>
          </a:p>
          <a:p>
            <a:pPr algn="l">
              <a:spcAft>
                <a:spcPts val="585"/>
              </a:spcAft>
            </a:pPr>
            <a:r>
              <a:rPr sz="1300" b="0" i="0">
                <a:solidFill>
                  <a:srgbClr val="1C1B19"/>
                </a:solidFill>
                <a:latin typeface="Source Serif 4"/>
              </a:rPr>
              <a:t>Outing someone, or threatening to, is a form of pressure and a respect violation. If you add examples, include same-gender couples.</a:t>
            </a:r>
          </a:p>
          <a:p>
            <a:pPr algn="l">
              <a:spcAft>
                <a:spcPts val="585"/>
              </a:spcAft>
            </a:pPr>
            <a:r>
              <a:rPr sz="1300" b="0" i="0">
                <a:solidFill>
                  <a:srgbClr val="1C1B19"/>
                </a:solidFill>
                <a:latin typeface="Source Serif 4"/>
              </a:rPr>
              <a:t/>
            </a:r>
          </a:p>
        </p:txBody>
      </p:sp>
      <p:sp>
        <p:nvSpPr>
          <p:cNvPr id="7" name="TextBox 6"/>
          <p:cNvSpPr txBox="1"/>
          <p:nvPr/>
        </p:nvSpPr>
        <p:spPr>
          <a:xfrm>
            <a:off x="6217920" y="1828800"/>
            <a:ext cx="5394960" cy="457200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Faith and family values.</a:t>
            </a:r>
          </a:p>
          <a:p>
            <a:pPr algn="l">
              <a:spcAft>
                <a:spcPts val="585"/>
              </a:spcAft>
            </a:pPr>
            <a:r>
              <a:rPr sz="1300" b="0" i="0">
                <a:solidFill>
                  <a:srgbClr val="1C1B19"/>
                </a:solidFill>
                <a:latin typeface="Source Serif 4"/>
              </a:rPr>
              <a:t>Some students come from families or faiths where dating isn't allowed yet. Respect, saying no and not sharing photos apply to everyone, dating or not. Never assume students are sexually active.</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Disability and neurodivergence.</a:t>
            </a:r>
          </a:p>
          <a:p>
            <a:pPr algn="l">
              <a:spcAft>
                <a:spcPts val="585"/>
              </a:spcAft>
            </a:pPr>
            <a:r>
              <a:rPr sz="1300" b="0" i="0">
                <a:solidFill>
                  <a:srgbClr val="1C1B19"/>
                </a:solidFill>
                <a:latin typeface="Source Serif 4"/>
              </a:rPr>
              <a:t>Students who read social cues differently may miss when a joke has turned cruel, or may be the target of one. Concrete lines to say help everyone. A disability doesn't take away anyone's right to say yes or no.</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Who they tell first.</a:t>
            </a:r>
          </a:p>
          <a:p>
            <a:pPr algn="l">
              <a:spcAft>
                <a:spcPts val="585"/>
              </a:spcAft>
            </a:pPr>
            <a:r>
              <a:rPr sz="1300" b="0" i="0">
                <a:solidFill>
                  <a:srgbClr val="1C1B19"/>
                </a:solidFill>
                <a:latin typeface="Source Serif 4"/>
              </a:rPr>
              <a:t>Depending on family and culture, a student might tell a friend, sibling, cousin, coach, faith leader or counselor first. Any first person counts.</a:t>
            </a:r>
          </a:p>
          <a:p>
            <a:pPr algn="l">
              <a:spcAft>
                <a:spcPts val="585"/>
              </a:spcAft>
            </a:pPr>
            <a:r>
              <a:rPr sz="1300" b="0" i="0">
                <a:solidFill>
                  <a:srgbClr val="1C1B19"/>
                </a:solidFill>
                <a:latin typeface="Source Serif 4"/>
              </a:rPr>
              <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Background</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What the research says</a:t>
            </a:r>
          </a:p>
        </p:txBody>
      </p:sp>
      <p:sp>
        <p:nvSpPr>
          <p:cNvPr id="5" name="TextBox 4"/>
          <p:cNvSpPr txBox="1"/>
          <p:nvPr/>
        </p:nvSpPr>
        <p:spPr>
          <a:xfrm>
            <a:off x="548640" y="1463040"/>
            <a:ext cx="5394960" cy="4937760"/>
          </a:xfrm>
          <a:prstGeom prst="rect">
            <a:avLst/>
          </a:prstGeom>
          <a:noFill/>
        </p:spPr>
        <p:txBody>
          <a:bodyPr wrap="square" anchor="t" lIns="0" rIns="0" tIns="0" bIns="0">
            <a:spAutoFit/>
          </a:bodyPr>
          <a:lstStyle/>
          <a:p>
            <a:pPr algn="l">
              <a:spcAft>
                <a:spcPts val="585"/>
              </a:spcAft>
            </a:pPr>
            <a:r>
              <a:rPr sz="1300" b="0" i="0">
                <a:solidFill>
                  <a:srgbClr val="1C1B19"/>
                </a:solidFill>
                <a:latin typeface="Source Serif 4"/>
              </a:rPr>
              <a:t>When smoke poured into a room, 75% of students sitting alone reported it. With two people who calmly ignored it, 10% did.</a:t>
            </a:r>
          </a:p>
          <a:p>
            <a:pPr algn="l">
              <a:spcAft>
                <a:spcPts val="585"/>
              </a:spcAft>
            </a:pPr>
            <a:r>
              <a:rPr sz="1050" b="0" i="0">
                <a:solidFill>
                  <a:srgbClr val="5D5A54"/>
                </a:solidFill>
                <a:latin typeface="Inter Tight"/>
              </a:rPr>
              <a:t>Latané and Darley, Journal of Personality and Social Psychology, 1968</a:t>
            </a:r>
          </a:p>
          <a:p>
            <a:pPr algn="l">
              <a:spcAft>
                <a:spcPts val="585"/>
              </a:spcAft>
            </a:pPr>
            <a:r>
              <a:rPr sz="1300" b="0" i="0">
                <a:solidFill>
                  <a:srgbClr val="1C1B19"/>
                </a:solidFill>
                <a:latin typeface="Source Serif 4"/>
              </a:rPr>
              <a:t>When students thought they were the only one who heard someone having a seizure, 85% went for help. When they thought four others heard it too, 31% did.</a:t>
            </a:r>
          </a:p>
          <a:p>
            <a:pPr algn="l">
              <a:spcAft>
                <a:spcPts val="585"/>
              </a:spcAft>
            </a:pPr>
            <a:r>
              <a:rPr sz="1050" b="0" i="0">
                <a:solidFill>
                  <a:srgbClr val="5D5A54"/>
                </a:solidFill>
                <a:latin typeface="Inter Tight"/>
              </a:rPr>
              <a:t>Darley and Latané, Journal of Personality and Social Psychology, 1968</a:t>
            </a:r>
          </a:p>
          <a:p>
            <a:pPr algn="l">
              <a:spcAft>
                <a:spcPts val="585"/>
              </a:spcAft>
            </a:pPr>
            <a:r>
              <a:rPr sz="1300" b="0" i="0">
                <a:solidFill>
                  <a:srgbClr val="1C1B19"/>
                </a:solidFill>
                <a:latin typeface="Source Serif 4"/>
              </a:rPr>
              <a:t>A review of more than 7,700 people found the bystander effect is weaker when the danger is obvious, and weaker among people who know each other.</a:t>
            </a:r>
          </a:p>
          <a:p>
            <a:pPr algn="l">
              <a:spcAft>
                <a:spcPts val="585"/>
              </a:spcAft>
            </a:pPr>
            <a:r>
              <a:rPr sz="1050" b="0" i="0">
                <a:solidFill>
                  <a:srgbClr val="5D5A54"/>
                </a:solidFill>
                <a:latin typeface="Inter Tight"/>
              </a:rPr>
              <a:t>Fischer et al., Psychological Bulletin, 2011</a:t>
            </a:r>
          </a:p>
        </p:txBody>
      </p:sp>
      <p:sp>
        <p:nvSpPr>
          <p:cNvPr id="6" name="TextBox 5"/>
          <p:cNvSpPr txBox="1"/>
          <p:nvPr/>
        </p:nvSpPr>
        <p:spPr>
          <a:xfrm>
            <a:off x="6217920" y="1463040"/>
            <a:ext cx="5394960" cy="4937760"/>
          </a:xfrm>
          <a:prstGeom prst="rect">
            <a:avLst/>
          </a:prstGeom>
          <a:noFill/>
        </p:spPr>
        <p:txBody>
          <a:bodyPr wrap="square" anchor="t" lIns="0" rIns="0" tIns="0" bIns="0">
            <a:spAutoFit/>
          </a:bodyPr>
          <a:lstStyle/>
          <a:p>
            <a:pPr algn="l">
              <a:spcAft>
                <a:spcPts val="585"/>
              </a:spcAft>
            </a:pPr>
            <a:r>
              <a:rPr sz="1300" b="0" i="0">
                <a:solidFill>
                  <a:srgbClr val="1C1B19"/>
                </a:solidFill>
                <a:latin typeface="Source Serif 4"/>
              </a:rPr>
              <a:t>In security footage of 219 real public fights in three countries, at least one bystander helped in 9 of 10, and more bystanders made it more likely someone would.</a:t>
            </a:r>
          </a:p>
          <a:p>
            <a:pPr algn="l">
              <a:spcAft>
                <a:spcPts val="585"/>
              </a:spcAft>
            </a:pPr>
            <a:r>
              <a:rPr sz="1050" b="0" i="0">
                <a:solidFill>
                  <a:srgbClr val="5D5A54"/>
                </a:solidFill>
                <a:latin typeface="Inter Tight"/>
              </a:rPr>
              <a:t>Philpot et al., American Psychologist, 2020</a:t>
            </a:r>
          </a:p>
          <a:p>
            <a:pPr algn="l">
              <a:spcAft>
                <a:spcPts val="585"/>
              </a:spcAft>
            </a:pPr>
            <a:r>
              <a:rPr sz="1300" b="0" i="0">
                <a:solidFill>
                  <a:srgbClr val="1C1B19"/>
                </a:solidFill>
                <a:latin typeface="Source Serif 4"/>
              </a:rPr>
              <a:t>Across 26 Kentucky high schools, schools that trained students to step in had less sexual violence in the years that followed.</a:t>
            </a:r>
          </a:p>
          <a:p>
            <a:pPr algn="l">
              <a:spcAft>
                <a:spcPts val="585"/>
              </a:spcAft>
            </a:pPr>
            <a:r>
              <a:rPr sz="1050" b="0" i="0">
                <a:solidFill>
                  <a:srgbClr val="5D5A54"/>
                </a:solidFill>
                <a:latin typeface="Inter Tight"/>
              </a:rPr>
              <a:t>Coker et al., American Journal of Preventive Medicine, 2017</a:t>
            </a:r>
          </a:p>
          <a:p>
            <a:pPr algn="l">
              <a:spcAft>
                <a:spcPts val="585"/>
              </a:spcAft>
            </a:pPr>
            <a:r>
              <a:rPr sz="1300" b="0" i="0">
                <a:solidFill>
                  <a:srgbClr val="1C1B19"/>
                </a:solidFill>
                <a:latin typeface="Source Serif 4"/>
              </a:rPr>
              <a:t>Across 39 studies of more than 110,000 teens, about 12% had forwarded a sext without permission, and 8% had their own forwarded.</a:t>
            </a:r>
          </a:p>
          <a:p>
            <a:pPr algn="l">
              <a:spcAft>
                <a:spcPts val="585"/>
              </a:spcAft>
            </a:pPr>
            <a:r>
              <a:rPr sz="1050" b="0" i="0">
                <a:solidFill>
                  <a:srgbClr val="5D5A54"/>
                </a:solidFill>
                <a:latin typeface="Inter Tight"/>
              </a:rPr>
              <a:t>Madigan et al., JAMA Pediatrics, 2018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