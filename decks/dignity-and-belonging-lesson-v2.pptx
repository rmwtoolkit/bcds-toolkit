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Something like: "Today is about what makes a place feel like you belong there, and the small things that build that or break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Go first. Write the reasons on the board as students share: people know my name, I don't have to explain myself, they notice when I'm gone, I can mess up. These become the definition of belonging for the rest of the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Ask: "Can you treat someone with dignity even if you don't respect what they did?" Let students wrestle with it. Land here: you can disagree, be angry, even keep your distance, and still not humiliate, ignore or dehumanize someone. This idea is central to Cobb and Krownapple's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Ask: "When have you had to fit in instead of belong?" Keep it private or general. Connect it to the board list from the opening: none of those reasons required changing who you 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Read each and have students vote with a thumb up (builds) or down (breaks). Add a few of their own to the board columns. Point out that most of these take seconds, and that the person on the receiving end usually remembers them much longer than the person who did them. If a joke example seems to land on a real student, move on and check in privately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if you have time, or fold into the closing. The Walton and Cohen study taught students that worrying about belonging is normal and gets better. The effects lasted three years. Say: "Which means the small moments on the last slide aren't small."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Ideas: learn someone's name and say it right, save a seat, add someone to a plan, check in after someone gets laughed at. Share the student page link. Mention that if they don't feel they belong anywhere, or someone is targeting them for who they are, a counselor is a good person to talk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Dignity and Belonging</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tell the difference between dignity (worth everyone has) and respect (earned), and between belonging and fitting in; recognize small moments that build or break belonging; and choose one way to widen the circle this week. Nobody is asked to share a time they were left out or excluded someone.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A board or chart paper with two columns: Builds belonging and Breaks it</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A place you belong: what makes it that way?</a:t>
            </a:r>
          </a:p>
          <a:p>
            <a:pPr algn="l">
              <a:spcAft>
                <a:spcPts val="630"/>
              </a:spcAft>
            </a:pPr>
            <a:r>
              <a:rPr sz="1300" b="1" i="0">
                <a:solidFill>
                  <a:srgbClr val="F47B20"/>
                </a:solidFill>
                <a:latin typeface="Inter Tight"/>
              </a:rPr>
              <a:t>4 min   </a:t>
            </a:r>
            <a:r>
              <a:rPr sz="1400" b="0" i="0">
                <a:solidFill>
                  <a:srgbClr val="1C1B19"/>
                </a:solidFill>
                <a:latin typeface="Source Serif 4"/>
              </a:rPr>
              <a:t>Dignity and respect: what's the difference?</a:t>
            </a:r>
          </a:p>
          <a:p>
            <a:pPr algn="l">
              <a:spcAft>
                <a:spcPts val="630"/>
              </a:spcAft>
            </a:pPr>
            <a:r>
              <a:rPr sz="1300" b="1" i="0">
                <a:solidFill>
                  <a:srgbClr val="F47B20"/>
                </a:solidFill>
                <a:latin typeface="Inter Tight"/>
              </a:rPr>
              <a:t>4 min   </a:t>
            </a:r>
            <a:r>
              <a:rPr sz="1400" b="0" i="0">
                <a:solidFill>
                  <a:srgbClr val="1C1B19"/>
                </a:solidFill>
                <a:latin typeface="Source Serif 4"/>
              </a:rPr>
              <a:t>Belonging versus fitting in</a:t>
            </a:r>
          </a:p>
          <a:p>
            <a:pPr algn="l">
              <a:spcAft>
                <a:spcPts val="630"/>
              </a:spcAft>
            </a:pPr>
            <a:r>
              <a:rPr sz="1300" b="1" i="0">
                <a:solidFill>
                  <a:srgbClr val="F47B20"/>
                </a:solidFill>
                <a:latin typeface="Inter Tight"/>
              </a:rPr>
              <a:t>6 min   </a:t>
            </a:r>
            <a:r>
              <a:rPr sz="1400" b="0" i="0">
                <a:solidFill>
                  <a:srgbClr val="1C1B19"/>
                </a:solidFill>
                <a:latin typeface="Source Serif 4"/>
              </a:rPr>
              <a:t>Small moments: builds it or breaks it? (sort)</a:t>
            </a:r>
          </a:p>
          <a:p>
            <a:pPr algn="l">
              <a:spcAft>
                <a:spcPts val="630"/>
              </a:spcAft>
            </a:pPr>
            <a:r>
              <a:rPr sz="1300" b="1" i="0">
                <a:solidFill>
                  <a:srgbClr val="F47B20"/>
                </a:solidFill>
                <a:latin typeface="Inter Tight"/>
              </a:rPr>
              <a:t>3 min   </a:t>
            </a:r>
            <a:r>
              <a:rPr sz="1400" b="0" i="0">
                <a:solidFill>
                  <a:srgbClr val="1C1B19"/>
                </a:solidFill>
                <a:latin typeface="Source Serif 4"/>
              </a:rPr>
              <a:t>One way to widen the circle, privately,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Dignity versus respect (3), belonging versus fitting in (3), pick one way to widen the circle this week (3), share the link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This is about everyone in the room, including you.</a:t>
            </a:r>
          </a:p>
          <a:p>
            <a:pPr algn="l">
              <a:spcAft>
                <a:spcPts val="585"/>
              </a:spcAft>
            </a:pPr>
            <a:r>
              <a:rPr sz="1300" b="0" i="0">
                <a:solidFill>
                  <a:srgbClr val="1C1B19"/>
                </a:solidFill>
                <a:latin typeface="Source Serif 4"/>
              </a:rPr>
              <a:t>Dignity applies to the students who are hard to like, too. Model it in how you run the conversation: names said right, every answer taken seriously, no sarcasm.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ask for stories of exclusion.</a:t>
            </a:r>
          </a:p>
          <a:p>
            <a:pPr algn="l">
              <a:spcAft>
                <a:spcPts val="585"/>
              </a:spcAft>
            </a:pPr>
            <a:r>
              <a:rPr sz="1300" b="0" i="0">
                <a:solidFill>
                  <a:srgbClr val="1C1B19"/>
                </a:solidFill>
                <a:latin typeface="Source Serif 4"/>
              </a:rPr>
              <a:t>Being left out is painful, and retelling it in front of the people who did it can make it worse. Keep examples invented. Students can think of their own privately.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Dignity isn't agreement.</a:t>
            </a:r>
          </a:p>
          <a:p>
            <a:pPr algn="l">
              <a:spcAft>
                <a:spcPts val="585"/>
              </a:spcAft>
            </a:pPr>
            <a:r>
              <a:rPr sz="1300" b="0" i="0">
                <a:solidFill>
                  <a:srgbClr val="1C1B19"/>
                </a:solidFill>
                <a:latin typeface="Source Serif 4"/>
              </a:rPr>
              <a:t>Some students will push back: "So I have to respect everyone?" Good question. The answer is the heart of the lesson: you don't have to respect what someone does, and you still treat them as a person with worth.</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Watch for targeting in the room.</a:t>
            </a:r>
          </a:p>
          <a:p>
            <a:pPr algn="l">
              <a:spcAft>
                <a:spcPts val="585"/>
              </a:spcAft>
            </a:pPr>
            <a:r>
              <a:rPr sz="1300" b="0" i="0">
                <a:solidFill>
                  <a:srgbClr val="1C1B19"/>
                </a:solidFill>
                <a:latin typeface="Source Serif 4"/>
              </a:rPr>
              <a:t>If a student laughs or looks at a classmate during the "breaks it" examples, the lesson may be landing on something real. Move on calmly, then check in privately and let a counselor know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 the adults' part too.</a:t>
            </a:r>
          </a:p>
          <a:p>
            <a:pPr algn="l">
              <a:spcAft>
                <a:spcPts val="585"/>
              </a:spcAft>
            </a:pPr>
            <a:r>
              <a:rPr sz="1300" b="0" i="0">
                <a:solidFill>
                  <a:srgbClr val="1C1B19"/>
                </a:solidFill>
                <a:latin typeface="Source Serif 4"/>
              </a:rPr>
              <a:t>Belonging at school isn't only students' job. Adults set much of the culture. It's fine to say, "We're working on this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Where this comes from.</a:t>
            </a:r>
          </a:p>
          <a:p>
            <a:pPr algn="l">
              <a:spcAft>
                <a:spcPts val="585"/>
              </a:spcAft>
            </a:pPr>
            <a:r>
              <a:rPr sz="1300" b="0" i="0">
                <a:solidFill>
                  <a:srgbClr val="1C1B19"/>
                </a:solidFill>
                <a:latin typeface="Source Serif 4"/>
              </a:rPr>
              <a:t>Floyd Cobb and John Krownapple's Belonging Through a Culture of Dignity argues that equity work rests on recognizing everyone's inherent worth. Donna Hicks's elements of dignity give the everyday moves on the student page.</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already belongs?</a:t>
            </a:r>
          </a:p>
          <a:p>
            <a:pPr algn="l">
              <a:spcAft>
                <a:spcPts val="585"/>
              </a:spcAft>
            </a:pPr>
            <a:r>
              <a:rPr sz="1300" b="0" i="0">
                <a:solidFill>
                  <a:srgbClr val="1C1B19"/>
                </a:solidFill>
                <a:latin typeface="Source Serif 4"/>
              </a:rPr>
              <a:t>Students who match the school's majority culture may not notice belonging, because they've always had it. Students of color, students new to the school, LGBTQ+ students, students with disabilities and students on financial aid often notice it every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Names.</a:t>
            </a:r>
          </a:p>
          <a:p>
            <a:pPr algn="l">
              <a:spcAft>
                <a:spcPts val="585"/>
              </a:spcAft>
            </a:pPr>
            <a:r>
              <a:rPr sz="1300" b="0" i="0">
                <a:solidFill>
                  <a:srgbClr val="1C1B19"/>
                </a:solidFill>
                <a:latin typeface="Source Serif 4"/>
              </a:rPr>
              <a:t>Mispronouncing or shortening a name, especially a non-Anglo one, is one of the most common dignity hits in schools. Ask, practice, and get it right.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a:t>
            </a:r>
          </a:p>
          <a:p>
            <a:pPr algn="l">
              <a:spcAft>
                <a:spcPts val="585"/>
              </a:spcAft>
            </a:pPr>
            <a:r>
              <a:rPr sz="1300" b="0" i="0">
                <a:solidFill>
                  <a:srgbClr val="1C1B19"/>
                </a:solidFill>
                <a:latin typeface="Source Serif 4"/>
              </a:rPr>
              <a:t>Inclusion often costs money at school: trips, gear, eating out, the right clothes. Students may be left out for reasons they can't fix. Keep examples free.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values.</a:t>
            </a:r>
          </a:p>
          <a:p>
            <a:pPr algn="l">
              <a:spcAft>
                <a:spcPts val="585"/>
              </a:spcAft>
            </a:pPr>
            <a:r>
              <a:rPr sz="1300" b="0" i="0">
                <a:solidFill>
                  <a:srgbClr val="1C1B19"/>
                </a:solidFill>
                <a:latin typeface="Source Serif 4"/>
              </a:rPr>
              <a:t>Some students hold beliefs others disagree with, strongly. Dignity applies across those lines too. You can disagree with a belief and still treat a person with dignity.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 and neurodivergence.</a:t>
            </a:r>
          </a:p>
          <a:p>
            <a:pPr algn="l">
              <a:spcAft>
                <a:spcPts val="585"/>
              </a:spcAft>
            </a:pPr>
            <a:r>
              <a:rPr sz="1300" b="0" i="0">
                <a:solidFill>
                  <a:srgbClr val="1C1B19"/>
                </a:solidFill>
                <a:latin typeface="Source Serif 4"/>
              </a:rPr>
              <a:t>Students who process social cues differently may be left out without anyone meaning harm. "Widen the circle" includes them.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Culture shapes how belonging looks.</a:t>
            </a:r>
          </a:p>
          <a:p>
            <a:pPr algn="l">
              <a:spcAft>
                <a:spcPts val="585"/>
              </a:spcAft>
            </a:pPr>
            <a:r>
              <a:rPr sz="1300" b="0" i="0">
                <a:solidFill>
                  <a:srgbClr val="1C1B19"/>
                </a:solidFill>
                <a:latin typeface="Source Serif 4"/>
              </a:rPr>
              <a:t>In some families, belonging is about family and community first, and school belonging matters less. Respect that; the lesson is about how we treat people, not ranking where students belong.</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Cobb and Krownapple argue that belonging, built through a culture of dignity (the inherent worth of every person), is the foundation of equity work in schools, and that dignity differs from respect, which is earned.</a:t>
            </a:r>
          </a:p>
          <a:p>
            <a:pPr algn="l">
              <a:spcAft>
                <a:spcPts val="585"/>
              </a:spcAft>
            </a:pPr>
            <a:r>
              <a:rPr sz="1050" b="0" i="0">
                <a:solidFill>
                  <a:srgbClr val="5D5A54"/>
                </a:solidFill>
                <a:latin typeface="Inter Tight"/>
              </a:rPr>
              <a:t>Cobb &amp; Krownapple, Belonging Through a Culture of Dignity, 2019</a:t>
            </a:r>
          </a:p>
          <a:p>
            <a:pPr algn="l">
              <a:spcAft>
                <a:spcPts val="585"/>
              </a:spcAft>
            </a:pPr>
            <a:r>
              <a:rPr sz="1300" b="0" i="0">
                <a:solidFill>
                  <a:srgbClr val="1C1B19"/>
                </a:solidFill>
                <a:latin typeface="Source Serif 4"/>
              </a:rPr>
              <a:t>Hicks describes ten essential elements of dignity, including acceptance of identity, inclusion, fairness, benefit of the doubt and accountability, drawn from her work in international conflict resolution.</a:t>
            </a:r>
          </a:p>
          <a:p>
            <a:pPr algn="l">
              <a:spcAft>
                <a:spcPts val="585"/>
              </a:spcAft>
            </a:pPr>
            <a:r>
              <a:rPr sz="1050" b="0" i="0">
                <a:solidFill>
                  <a:srgbClr val="5D5A54"/>
                </a:solidFill>
                <a:latin typeface="Inter Tight"/>
              </a:rPr>
              <a:t>Hicks, Dignity, Yale University Press, 2011</a:t>
            </a:r>
          </a:p>
          <a:p>
            <a:pPr algn="l">
              <a:spcAft>
                <a:spcPts val="585"/>
              </a:spcAft>
            </a:pPr>
            <a:r>
              <a:rPr sz="1300" b="0" i="0">
                <a:solidFill>
                  <a:srgbClr val="1C1B19"/>
                </a:solidFill>
                <a:latin typeface="Source Serif 4"/>
              </a:rPr>
              <a:t>First-year college students who spent about an hour learning that worries about belonging are common and fade with time showed lasting benefits: over three years, the intervention halved the achievement gap for Black students and improved their self-reported health.</a:t>
            </a:r>
          </a:p>
          <a:p>
            <a:pPr algn="l">
              <a:spcAft>
                <a:spcPts val="585"/>
              </a:spcAft>
            </a:pPr>
            <a:r>
              <a:rPr sz="1050" b="0" i="0">
                <a:solidFill>
                  <a:srgbClr val="5D5A54"/>
                </a:solidFill>
                <a:latin typeface="Inter Tight"/>
              </a:rPr>
              <a:t>Walton &amp; Cohen, Science, 2011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 meta-analysis of 51 studies found that teacher support and students' own positive traits were the strongest predictors of school belonging.</a:t>
            </a:r>
          </a:p>
          <a:p>
            <a:pPr algn="l">
              <a:spcAft>
                <a:spcPts val="585"/>
              </a:spcAft>
            </a:pPr>
            <a:r>
              <a:rPr sz="1050" b="0" i="0">
                <a:solidFill>
                  <a:srgbClr val="5D5A54"/>
                </a:solidFill>
                <a:latin typeface="Inter Tight"/>
              </a:rPr>
              <a:t>Allen et al., Educational Psychology Review, 2018</a:t>
            </a:r>
          </a:p>
          <a:p>
            <a:pPr algn="l">
              <a:spcAft>
                <a:spcPts val="585"/>
              </a:spcAft>
            </a:pPr>
            <a:r>
              <a:rPr sz="1300" b="0" i="0">
                <a:solidFill>
                  <a:srgbClr val="1C1B19"/>
                </a:solidFill>
                <a:latin typeface="Source Serif 4"/>
              </a:rPr>
              <a:t>The need to belong is a fundamental human motivation; lacking belonging is linked to a wide range of harms to health and well-being.</a:t>
            </a:r>
          </a:p>
          <a:p>
            <a:pPr algn="l">
              <a:spcAft>
                <a:spcPts val="585"/>
              </a:spcAft>
            </a:pPr>
            <a:r>
              <a:rPr sz="1050" b="0" i="0">
                <a:solidFill>
                  <a:srgbClr val="5D5A54"/>
                </a:solidFill>
                <a:latin typeface="Inter Tight"/>
              </a:rPr>
              <a:t>Baumeister &amp; Leary, Psychological Bulletin, 1995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DIGNITY AND BELONGING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Dignity and Belonging</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Everyone walks in with worth they didn't have to earn.</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place where you feel like you belong. What makes it that way?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 team, a family table, a group chat, a job, a corner of the library. Share the why, not the where.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WORDS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Dignity and respect aren't the same.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DIGNITY</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Everyone has it</a:t>
            </a:r>
          </a:p>
          <a:p>
            <a:pPr algn="l">
              <a:spcAft>
                <a:spcPts val="855"/>
              </a:spcAft>
            </a:pPr>
            <a:r>
              <a:rPr sz="1900" b="0" i="0">
                <a:solidFill>
                  <a:srgbClr val="1C1B19"/>
                </a:solidFill>
                <a:latin typeface="Source Serif 4"/>
              </a:rPr>
              <a:t>You don't earn it</a:t>
            </a:r>
          </a:p>
          <a:p>
            <a:pPr algn="l">
              <a:spcAft>
                <a:spcPts val="855"/>
              </a:spcAft>
            </a:pPr>
            <a:r>
              <a:rPr sz="1900" b="0" i="0">
                <a:solidFill>
                  <a:srgbClr val="1C1B19"/>
                </a:solidFill>
                <a:latin typeface="Source Serif 4"/>
              </a:rPr>
              <a:t>Nobody can take it away</a:t>
            </a:r>
          </a:p>
          <a:p>
            <a:pPr algn="l">
              <a:spcAft>
                <a:spcPts val="855"/>
              </a:spcAft>
            </a:pPr>
            <a:r>
              <a:rPr sz="1900" b="0" i="0">
                <a:solidFill>
                  <a:srgbClr val="1C1B19"/>
                </a:solidFill>
                <a:latin typeface="Source Serif 4"/>
              </a:rPr>
              <a:t>"You matter because you're a person"</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RESPECT</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Earned by what you do</a:t>
            </a:r>
          </a:p>
          <a:p>
            <a:pPr algn="l">
              <a:spcAft>
                <a:spcPts val="855"/>
              </a:spcAft>
            </a:pPr>
            <a:r>
              <a:rPr sz="1900" b="0" i="0">
                <a:solidFill>
                  <a:srgbClr val="1C1B19"/>
                </a:solidFill>
                <a:latin typeface="Source Serif 4"/>
              </a:rPr>
              <a:t>Can grow or shrink</a:t>
            </a:r>
          </a:p>
          <a:p>
            <a:pPr algn="l">
              <a:spcAft>
                <a:spcPts val="855"/>
              </a:spcAft>
            </a:pPr>
            <a:r>
              <a:rPr sz="1900" b="0" i="0">
                <a:solidFill>
                  <a:srgbClr val="1C1B19"/>
                </a:solidFill>
                <a:latin typeface="Source Serif 4"/>
              </a:rPr>
              <a:t>You choose who gets it</a:t>
            </a:r>
          </a:p>
          <a:p>
            <a:pPr algn="l">
              <a:spcAft>
                <a:spcPts val="855"/>
              </a:spcAft>
            </a:pPr>
            <a:r>
              <a:rPr sz="1900" b="0" i="0">
                <a:solidFill>
                  <a:srgbClr val="1C1B19"/>
                </a:solidFill>
                <a:latin typeface="Source Serif 4"/>
              </a:rPr>
              <a:t>"I respect how you handled that"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FITTING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Fitting in: changing yourself so they'll accept you. Belonging: being accepted as you are.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Eighth graders told researcher Brené Brown: belonging is being somewhere you want to be, where they want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SMALL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Builds it or breaks it?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name said right, or mangled and laughed off</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Saving a seat, or a back turned</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"Want to join?", or a group chat nobody mentions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joke about someone's identity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got that wrong. I'm sorry."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MATTERS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Walton &amp; Cohen, 2011  ·  Allen et al., 2018</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Belonging changes how students do.</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One hour on belonging for first-year college students.</a:t>
            </a:r>
          </a:p>
          <a:p>
            <a:pPr algn="l">
              <a:spcAft>
                <a:spcPts val="855"/>
              </a:spcAft>
            </a:pPr>
            <a:r>
              <a:rPr sz="1900" b="0" i="0">
                <a:solidFill>
                  <a:srgbClr val="1C1B19"/>
                </a:solidFill>
                <a:latin typeface="Source Serif 4"/>
              </a:rPr>
              <a:t>•  Three years later: higher grades for Black students, and better health.</a:t>
            </a:r>
          </a:p>
          <a:p>
            <a:pPr algn="l">
              <a:spcAft>
                <a:spcPts val="855"/>
              </a:spcAft>
            </a:pPr>
            <a:r>
              <a:rPr sz="1900" b="0" i="0">
                <a:solidFill>
                  <a:srgbClr val="1C1B19"/>
                </a:solidFill>
                <a:latin typeface="Source Serif 4"/>
              </a:rPr>
              <a:t>•  The achievement gap was cut in half.</a:t>
            </a:r>
          </a:p>
          <a:p>
            <a:pPr algn="l">
              <a:spcAft>
                <a:spcPts val="855"/>
              </a:spcAft>
            </a:pPr>
            <a:r>
              <a:rPr sz="1900" b="0" i="0">
                <a:solidFill>
                  <a:srgbClr val="1C1B19"/>
                </a:solidFill>
                <a:latin typeface="Source Serif 4"/>
              </a:rPr>
              <a:t>•  Teacher support is one of the biggest builders of belonging.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Belonging isn't extra. It's part of how people learn.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Widen the circle once this week.</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One person, one time. Write it on your card and keep it.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https://rmwtoolkit.github.io/bcds-toolkit/dignity-and-belonging-high-school.html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