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"We'll talk about research and about Jordan, a made-up student. Nobody needs to share anything about their own family." State plainly what you would and wouldn't have to report.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Ask about "kids in this spot," not "you." Expect: deciding whether to get in the car, knowing which bills are late, getting siblings fed, scanning a parent in recovery for signs of a slip, guilt about wanting to leave. Say: "The three Cs still hold. Today goes further."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That's why an essay at 11 p.m. after a fight can feel impossible. Shonkoff and colleagues call severe, long-lasting, unbuffered stress toxic stress, and name the buffer: steady, supportive relationships with adults. That's what the rest of today is about.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Ask: "Which of these surprised you?" Many expect "I'll turn out like them." Werner followed children in Kauai from birth: most had no serious problems by 18, and the ones who did well into adulthood had leaned on extended family, neighbors and school. Heritability (about 50%) is a real reason to be careful with alcohol and drugs, and not destiny.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 rules protect the secret and leave kids alone with it. The roles are ways of coping, and they can become a box. In many families and cultures teens helping run the household is normal and a source of pride; psychologists call it parentification when it's constant, when nobody looks after you in return, or when it costs sleep, school or friends. Relapse is common in recovery, as in other long-term illnesses, and never yours to catch.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Questions: What might Jordan be feeling and afraid of? If Jordan tells a friend, what would help them hear, and what should the friend skip? Jordan asks for secrecy: when should the friend tell an adult anyway? Ideas: exhausted, embarrassed, protective of their mom, scared of what happens if anyone finds out. Helpful: "Thanks for telling me." "That sounds like a lot." Skip "Just tell her to stop." If Jordan is unsafe or talks about self-harm, telling an adult is the caring 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On their card, privately: an adult at school, someone in family or community, where they'd go if they had to leave fast, and two backup ride numbers. Overdose basics: can't be woken or breathing slowly means 911, roll them on their side, Narcan if opioids could be involved (over the counter since 2023). Alateen and NACoA are for teens affected by someone else's use. Share the student page link, and invite anyone to check in with you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Someone at Home Drinks or Uses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how unpredictability keeps the stress system switched on, that most kids in this spot do okay with support, and six moves including a ride rule and overdose basics. Bring index cards; the group talks about Jordan and research, never about their own families.</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roles slide, say that teens helping run a household is normal and a source of pride in many families and cultures; the concern is when it costs sleep, school or friends.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SOMEONE AT HOME DRINKS OR USES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When Someone at Home Drinks or Uses</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growing up around addiction does, and doesn't, decide.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Didn't cause it. Can't cure it. Can't control it.</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What's something kids in this spot handle that most people never see?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STRESS SYSTEM THAT NEVER STANDS DOWN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Unpredictability is its own stress.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Amygdala</a:t>
            </a:r>
          </a:p>
          <a:p>
            <a:pPr algn="l">
              <a:spcAft>
                <a:spcPts val="945"/>
              </a:spcAft>
            </a:pPr>
            <a:r>
              <a:rPr sz="1600" b="0" i="0">
                <a:solidFill>
                  <a:srgbClr val="5D5A54"/>
                </a:solidFill>
                <a:latin typeface="Source Serif 4"/>
              </a:rPr>
              <a:t>Learns the warning signs: a tone, a car door, a kind of quiet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Hypothalamus and pituitary</a:t>
            </a:r>
          </a:p>
          <a:p>
            <a:pPr algn="l">
              <a:spcAft>
                <a:spcPts val="945"/>
              </a:spcAft>
            </a:pPr>
            <a:r>
              <a:rPr sz="1600" b="0" i="0">
                <a:solidFill>
                  <a:srgbClr val="5D5A54"/>
                </a:solidFill>
                <a:latin typeface="Source Serif 4"/>
              </a:rPr>
              <a:t>Start the hormone chain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Adrenal glands</a:t>
            </a:r>
          </a:p>
          <a:p>
            <a:pPr algn="l">
              <a:spcAft>
                <a:spcPts val="945"/>
              </a:spcAft>
            </a:pPr>
            <a:r>
              <a:rPr sz="1600" b="0" i="0">
                <a:solidFill>
                  <a:srgbClr val="5D5A54"/>
                </a:solidFill>
                <a:latin typeface="Source Serif 4"/>
              </a:rPr>
              <a:t>Cortisol: useful for an hour, exhausting for months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Hippocampus and prefrontal cortex</a:t>
            </a:r>
          </a:p>
          <a:p>
            <a:pPr algn="l">
              <a:spcAft>
                <a:spcPts val="945"/>
              </a:spcAft>
            </a:pPr>
            <a:r>
              <a:rPr sz="1600" b="0" i="0">
                <a:solidFill>
                  <a:srgbClr val="5D5A54"/>
                </a:solidFill>
                <a:latin typeface="Source Serif 4"/>
              </a:rPr>
              <a:t>"You're safe now" and focus get weaker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McCabe et al., 2025  ·  Verhulst et al., 2015  ·  Werner, 1986 and 2004</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The risk is real. The outcome isn't fixed.</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About 1 in 4 US kids live with a parent with a substance use disorder.</a:t>
            </a:r>
          </a:p>
          <a:p>
            <a:pPr algn="l">
              <a:spcAft>
                <a:spcPts val="855"/>
              </a:spcAft>
            </a:pPr>
            <a:r>
              <a:rPr sz="1900" b="0" i="0">
                <a:solidFill>
                  <a:srgbClr val="1C1B19"/>
                </a:solidFill>
                <a:latin typeface="Source Serif 4"/>
              </a:rPr>
              <a:t>•  Genes are about half the story. The other half includes what you do.</a:t>
            </a:r>
          </a:p>
          <a:p>
            <a:pPr algn="l">
              <a:spcAft>
                <a:spcPts val="855"/>
              </a:spcAft>
            </a:pPr>
            <a:r>
              <a:rPr sz="1900" b="0" i="0">
                <a:solidFill>
                  <a:srgbClr val="1C1B19"/>
                </a:solidFill>
                <a:latin typeface="Source Serif 4"/>
              </a:rPr>
              <a:t>•  In a study from birth, most kids of parents with alcoholism did okay by 18.</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The kids who did well had more people in their corner.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IT'S SO CONFUSING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Love, anger, loyalty, relief. All at once.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UNSPOKEN RULES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Don't talk</a:t>
            </a:r>
          </a:p>
          <a:p>
            <a:pPr algn="l">
              <a:spcAft>
                <a:spcPts val="855"/>
              </a:spcAft>
            </a:pPr>
            <a:r>
              <a:rPr sz="1900" b="0" i="0">
                <a:solidFill>
                  <a:srgbClr val="1C1B19"/>
                </a:solidFill>
                <a:latin typeface="Source Serif 4"/>
              </a:rPr>
              <a:t>Don't trust</a:t>
            </a:r>
          </a:p>
          <a:p>
            <a:pPr algn="l">
              <a:spcAft>
                <a:spcPts val="855"/>
              </a:spcAft>
            </a:pPr>
            <a:r>
              <a:rPr sz="1900" b="0" i="0">
                <a:solidFill>
                  <a:srgbClr val="1C1B19"/>
                </a:solidFill>
                <a:latin typeface="Source Serif 4"/>
              </a:rPr>
              <a:t>Don't feel</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ROLES YOU MIGHT RECOGNIZE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 one with perfect grades</a:t>
            </a:r>
          </a:p>
          <a:p>
            <a:pPr algn="l">
              <a:spcAft>
                <a:spcPts val="855"/>
              </a:spcAft>
            </a:pPr>
            <a:r>
              <a:rPr sz="1900" b="0" i="0">
                <a:solidFill>
                  <a:srgbClr val="1C1B19"/>
                </a:solidFill>
                <a:latin typeface="Source Serif 4"/>
              </a:rPr>
              <a:t>The caretaker</a:t>
            </a:r>
          </a:p>
          <a:p>
            <a:pPr algn="l">
              <a:spcAft>
                <a:spcPts val="855"/>
              </a:spcAft>
            </a:pPr>
            <a:r>
              <a:rPr sz="1900" b="0" i="0">
                <a:solidFill>
                  <a:srgbClr val="1C1B19"/>
                </a:solidFill>
                <a:latin typeface="Source Serif 4"/>
              </a:rPr>
              <a:t>The one who cracks jokes</a:t>
            </a:r>
          </a:p>
          <a:p>
            <a:pPr algn="l">
              <a:spcAft>
                <a:spcPts val="855"/>
              </a:spcAft>
            </a:pPr>
            <a:r>
              <a:rPr sz="1900" b="0" i="0">
                <a:solidFill>
                  <a:srgbClr val="1C1B19"/>
                </a:solidFill>
                <a:latin typeface="Source Serif 4"/>
              </a:rPr>
              <a:t>The one who needs nothing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FOR THE GROUP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help Jordan?</a:t>
            </a:r>
          </a:p>
        </p:txBody>
      </p:sp>
      <p:sp>
        <p:nvSpPr>
          <p:cNvPr id="6" name="Rectangle 5"/>
          <p:cNvSpPr/>
          <p:nvPr/>
        </p:nvSpPr>
        <p:spPr>
          <a:xfrm>
            <a:off x="822960" y="2103120"/>
            <a:ext cx="1051560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1005840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JORDAN, A JUNIOR</a:t>
            </a:r>
          </a:p>
        </p:txBody>
      </p:sp>
      <p:sp>
        <p:nvSpPr>
          <p:cNvPr id="8" name="TextBox 7"/>
          <p:cNvSpPr txBox="1"/>
          <p:nvPr/>
        </p:nvSpPr>
        <p:spPr>
          <a:xfrm>
            <a:off x="1051560" y="2743200"/>
            <a:ext cx="1005840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Skips lunch to finish homework, works most nights, hasn't had anyone over since freshman year. Snaps when a friend jokes about it. Jordan's mom drinks most nights, and Jordan covers for her with the school.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SUPPORT ON YOUR OWN TERMS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Six moves, in your own order</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One adult  ·  a ride rule  ·  overdose basics  ·  people who get it  ·  guard what's yours  ·  watch your own use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https://rmwtoolkit.github.io/bcds-toolkit/when-someone-at-home-drinks-or-uses-high-school.html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Someone at Home Drinks or Uses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what living with unpredictability does to the stress system, that risk is real and the outcome isn't fixed, the roles and unspoken rules families fall into, and six moves for support on their own terms. Nobody is asked about their own family.</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Pens</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You've been handling more than most people know</a:t>
            </a:r>
          </a:p>
          <a:p>
            <a:pPr algn="l">
              <a:spcAft>
                <a:spcPts val="630"/>
              </a:spcAft>
            </a:pPr>
            <a:r>
              <a:rPr sz="1300" b="1" i="0">
                <a:solidFill>
                  <a:srgbClr val="F47B20"/>
                </a:solidFill>
                <a:latin typeface="Inter Tight"/>
              </a:rPr>
              <a:t>4 min   </a:t>
            </a:r>
            <a:r>
              <a:rPr sz="1400" b="0" i="0">
                <a:solidFill>
                  <a:srgbClr val="1C1B19"/>
                </a:solidFill>
                <a:latin typeface="Source Serif 4"/>
              </a:rPr>
              <a:t>A stress system that never stands down</a:t>
            </a:r>
          </a:p>
          <a:p>
            <a:pPr algn="l">
              <a:spcAft>
                <a:spcPts val="630"/>
              </a:spcAft>
            </a:pPr>
            <a:r>
              <a:rPr sz="1300" b="1" i="0">
                <a:solidFill>
                  <a:srgbClr val="F47B20"/>
                </a:solidFill>
                <a:latin typeface="Inter Tight"/>
              </a:rPr>
              <a:t>5 min   </a:t>
            </a:r>
            <a:r>
              <a:rPr sz="1400" b="0" i="0">
                <a:solidFill>
                  <a:srgbClr val="1C1B19"/>
                </a:solidFill>
                <a:latin typeface="Source Serif 4"/>
              </a:rPr>
              <a:t>The risk is real. The outcome isn't fixed.</a:t>
            </a:r>
          </a:p>
          <a:p>
            <a:pPr algn="l">
              <a:spcAft>
                <a:spcPts val="630"/>
              </a:spcAft>
            </a:pPr>
            <a:r>
              <a:rPr sz="1300" b="1" i="0">
                <a:solidFill>
                  <a:srgbClr val="F47B20"/>
                </a:solidFill>
                <a:latin typeface="Inter Tight"/>
              </a:rPr>
              <a:t>4 min   </a:t>
            </a:r>
            <a:r>
              <a:rPr sz="1400" b="0" i="0">
                <a:solidFill>
                  <a:srgbClr val="1C1B19"/>
                </a:solidFill>
                <a:latin typeface="Source Serif 4"/>
              </a:rPr>
              <a:t>Roles and unspoken rules</a:t>
            </a:r>
          </a:p>
          <a:p>
            <a:pPr algn="l">
              <a:spcAft>
                <a:spcPts val="630"/>
              </a:spcAft>
            </a:pPr>
            <a:r>
              <a:rPr sz="1300" b="1" i="0">
                <a:solidFill>
                  <a:srgbClr val="F47B20"/>
                </a:solidFill>
                <a:latin typeface="Inter Tight"/>
              </a:rPr>
              <a:t>5 min   </a:t>
            </a:r>
            <a:r>
              <a:rPr sz="1400" b="0" i="0">
                <a:solidFill>
                  <a:srgbClr val="1C1B19"/>
                </a:solidFill>
                <a:latin typeface="Source Serif 4"/>
              </a:rPr>
              <a:t>What would help Jordan?</a:t>
            </a:r>
          </a:p>
          <a:p>
            <a:pPr algn="l">
              <a:spcAft>
                <a:spcPts val="630"/>
              </a:spcAft>
            </a:pPr>
            <a:r>
              <a:rPr sz="1300" b="1" i="0">
                <a:solidFill>
                  <a:srgbClr val="F47B20"/>
                </a:solidFill>
                <a:latin typeface="Inter Tight"/>
              </a:rPr>
              <a:t>4 min   </a:t>
            </a:r>
            <a:r>
              <a:rPr sz="1400" b="0" i="0">
                <a:solidFill>
                  <a:srgbClr val="1C1B19"/>
                </a:solidFill>
                <a:latin typeface="Source Serif 4"/>
              </a:rPr>
              <a:t>Six moves, and your support map</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ONE ON ONE (ABOUT 15 MINUTES)</a:t>
            </a:r>
          </a:p>
          <a:p>
            <a:pPr algn="l">
              <a:spcAft>
                <a:spcPts val="630"/>
              </a:spcAft>
            </a:pPr>
            <a:r>
              <a:rPr sz="1400" b="0" i="0">
                <a:solidFill>
                  <a:srgbClr val="1C1B19"/>
                </a:solidFill>
                <a:latin typeface="Source Serif 4"/>
              </a:rPr>
              <a:t>One on one: let the student set the pace on what's happening at home (4). Safety first: rides, overdose basics, whether they're cared for (3). The research that the outcome isn't fixed (3). Their support map and one protected thing (5). Be clear early about what you'd have to share and with whom.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Group composition.</a:t>
            </a:r>
          </a:p>
          <a:p>
            <a:pPr algn="l">
              <a:spcAft>
                <a:spcPts val="585"/>
              </a:spcAft>
            </a:pPr>
            <a:r>
              <a:rPr sz="1300" b="0" i="0">
                <a:solidFill>
                  <a:srgbClr val="1C1B19"/>
                </a:solidFill>
                <a:latin typeface="Source Serif 4"/>
              </a:rPr>
              <a:t>A group of students who share this experience can be powerful, and it can also out someone. Talk with each student individually before placing them, and let them choose.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Say your reporting rules first.</a:t>
            </a:r>
          </a:p>
          <a:p>
            <a:pPr algn="l">
              <a:spcAft>
                <a:spcPts val="585"/>
              </a:spcAft>
            </a:pPr>
            <a:r>
              <a:rPr sz="1300" b="0" i="0">
                <a:solidFill>
                  <a:srgbClr val="1C1B19"/>
                </a:solidFill>
                <a:latin typeface="Source Serif 4"/>
              </a:rPr>
              <a:t>Telling you that a parent drinks isn't the same as a report; the question is whether the student is safe and cared for. Say that clearly, and invite "If I tell you something, what would you have to share?"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about Jordan.</a:t>
            </a:r>
          </a:p>
          <a:p>
            <a:pPr algn="l">
              <a:spcAft>
                <a:spcPts val="585"/>
              </a:spcAft>
            </a:pPr>
            <a:r>
              <a:rPr sz="1300" b="0" i="0">
                <a:solidFill>
                  <a:srgbClr val="1C1B19"/>
                </a:solidFill>
                <a:latin typeface="Source Serif 4"/>
              </a:rPr>
              <a:t>Even in a group of students who know why they're there, keep the discussion on Jordan and the research. Personal detail belongs in individual time.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Recovery and relapse.</a:t>
            </a:r>
          </a:p>
          <a:p>
            <a:pPr algn="l">
              <a:spcAft>
                <a:spcPts val="585"/>
              </a:spcAft>
            </a:pPr>
            <a:r>
              <a:rPr sz="1300" b="0" i="0">
                <a:solidFill>
                  <a:srgbClr val="1C1B19"/>
                </a:solidFill>
                <a:latin typeface="Source Serif 4"/>
              </a:rPr>
              <a:t>Some students have a parent in recovery and live scanning for signs of a slip. Name relapse as common in recovery, and never theirs to catch or prevent.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Their own use.</a:t>
            </a:r>
          </a:p>
          <a:p>
            <a:pPr algn="l">
              <a:spcAft>
                <a:spcPts val="585"/>
              </a:spcAft>
            </a:pPr>
            <a:r>
              <a:rPr sz="1300" b="0" i="0">
                <a:solidFill>
                  <a:srgbClr val="1C1B19"/>
                </a:solidFill>
                <a:latin typeface="Source Serif 4"/>
              </a:rPr>
              <a:t>With family history, the step from coping to pattern is shorter. Invite students to say it if they notice it, framed as strength, not confession.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Practical safety.</a:t>
            </a:r>
          </a:p>
          <a:p>
            <a:pPr algn="l">
              <a:spcAft>
                <a:spcPts val="585"/>
              </a:spcAft>
            </a:pPr>
            <a:r>
              <a:rPr sz="1300" b="0" i="0">
                <a:solidFill>
                  <a:srgbClr val="1C1B19"/>
                </a:solidFill>
                <a:latin typeface="Source Serif 4"/>
              </a:rPr>
              <a:t>The ride rule and overdose basics are concrete and often new. Make sure every student leaves with two backup ride numbers.</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Helping at home is cultural.</a:t>
            </a:r>
          </a:p>
          <a:p>
            <a:pPr algn="l">
              <a:spcAft>
                <a:spcPts val="585"/>
              </a:spcAft>
            </a:pPr>
            <a:r>
              <a:rPr sz="1300" b="0" i="0">
                <a:solidFill>
                  <a:srgbClr val="1C1B19"/>
                </a:solidFill>
                <a:latin typeface="Source Serif 4"/>
              </a:rPr>
              <a:t>In many families teens caring for siblings or running the household is normal and valued. Present parentification as a line about cost, not a judgment about any family's way of doing things.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Distrust of agencies.</a:t>
            </a:r>
          </a:p>
          <a:p>
            <a:pPr algn="l">
              <a:spcAft>
                <a:spcPts val="585"/>
              </a:spcAft>
            </a:pPr>
            <a:r>
              <a:rPr sz="1300" b="0" i="0">
                <a:solidFill>
                  <a:srgbClr val="1C1B19"/>
                </a:solidFill>
                <a:latin typeface="Source Serif 4"/>
              </a:rPr>
              <a:t>Some families have immigration worries or past bad experiences with systems. Those concerns make sense; name that a student can decide how much to share and when.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structure.</a:t>
            </a:r>
          </a:p>
          <a:p>
            <a:pPr algn="l">
              <a:spcAft>
                <a:spcPts val="585"/>
              </a:spcAft>
            </a:pPr>
            <a:r>
              <a:rPr sz="1300" b="0" i="0">
                <a:solidFill>
                  <a:srgbClr val="1C1B19"/>
                </a:solidFill>
                <a:latin typeface="Source Serif 4"/>
              </a:rPr>
              <a:t>The person using may be a parent, a stepparent, a grandparent, an older sibling or a partner of a parent. Keep language open to every household.</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communities.</a:t>
            </a:r>
          </a:p>
          <a:p>
            <a:pPr algn="l">
              <a:spcAft>
                <a:spcPts val="585"/>
              </a:spcAft>
            </a:pPr>
            <a:r>
              <a:rPr sz="1300" b="0" i="0">
                <a:solidFill>
                  <a:srgbClr val="1C1B19"/>
                </a:solidFill>
                <a:latin typeface="Source Serif 4"/>
              </a:rPr>
              <a:t>For some students a faith leader or congregation is the first adult and the steadiest support. Include them on the support map.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work.</a:t>
            </a:r>
          </a:p>
          <a:p>
            <a:pPr algn="l">
              <a:spcAft>
                <a:spcPts val="585"/>
              </a:spcAft>
            </a:pPr>
            <a:r>
              <a:rPr sz="1300" b="0" i="0">
                <a:solidFill>
                  <a:srgbClr val="1C1B19"/>
                </a:solidFill>
                <a:latin typeface="Source Serif 4"/>
              </a:rPr>
              <a:t>Some students work to cover gaps at home or are managing bills. Mention that counselors can help with college applications and aid forms when a parent can't.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Stigma differs.</a:t>
            </a:r>
          </a:p>
          <a:p>
            <a:pPr algn="l">
              <a:spcAft>
                <a:spcPts val="585"/>
              </a:spcAft>
            </a:pPr>
            <a:r>
              <a:rPr sz="1300" b="0" i="0">
                <a:solidFill>
                  <a:srgbClr val="1C1B19"/>
                </a:solidFill>
                <a:latin typeface="Source Serif 4"/>
              </a:rPr>
              <a:t>In some families addiction is spoken of openly; in others it's deeply shameful. Let students use whatever words they're comfortable with.</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About 19 million US kids, roughly 1 in 4, live with a parent who has a substance use disorder; alcohol is the most common.</a:t>
            </a:r>
          </a:p>
          <a:p>
            <a:pPr algn="l">
              <a:spcAft>
                <a:spcPts val="585"/>
              </a:spcAft>
            </a:pPr>
            <a:r>
              <a:rPr sz="1050" b="0" i="0">
                <a:solidFill>
                  <a:srgbClr val="5D5A54"/>
                </a:solidFill>
                <a:latin typeface="Inter Tight"/>
              </a:rPr>
              <a:t>McCabe et al., JAMA Pediatrics, 2025</a:t>
            </a:r>
          </a:p>
          <a:p>
            <a:pPr algn="l">
              <a:spcAft>
                <a:spcPts val="585"/>
              </a:spcAft>
            </a:pPr>
            <a:r>
              <a:rPr sz="1300" b="0" i="0">
                <a:solidFill>
                  <a:srgbClr val="1C1B19"/>
                </a:solidFill>
                <a:latin typeface="Source Serif 4"/>
              </a:rPr>
              <a:t>Stress that's severe, long-lasting and not buffered by support is called toxic stress. Steady, supportive relationships with adults buffer it best.</a:t>
            </a:r>
          </a:p>
          <a:p>
            <a:pPr algn="l">
              <a:spcAft>
                <a:spcPts val="585"/>
              </a:spcAft>
            </a:pPr>
            <a:r>
              <a:rPr sz="1050" b="0" i="0">
                <a:solidFill>
                  <a:srgbClr val="5D5A54"/>
                </a:solidFill>
                <a:latin typeface="Inter Tight"/>
              </a:rPr>
              <a:t>Shonkoff, Garner et al., Pediatrics, 2012</a:t>
            </a:r>
          </a:p>
          <a:p>
            <a:pPr algn="l">
              <a:spcAft>
                <a:spcPts val="585"/>
              </a:spcAft>
            </a:pPr>
            <a:r>
              <a:rPr sz="1300" b="0" i="0">
                <a:solidFill>
                  <a:srgbClr val="1C1B19"/>
                </a:solidFill>
                <a:latin typeface="Source Serif 4"/>
              </a:rPr>
              <a:t>Pooling twin and adoption studies, alcohol use disorder is about 50% heritable; the rest comes from environment, stress and experience.</a:t>
            </a:r>
          </a:p>
          <a:p>
            <a:pPr algn="l">
              <a:spcAft>
                <a:spcPts val="585"/>
              </a:spcAft>
            </a:pPr>
            <a:r>
              <a:rPr sz="1050" b="0" i="0">
                <a:solidFill>
                  <a:srgbClr val="5D5A54"/>
                </a:solidFill>
                <a:latin typeface="Inter Tight"/>
              </a:rPr>
              <a:t>Verhulst, Neale and Kendler, Psychological Medicine, 2015</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Following children of parents with alcoholism in Kauai from birth, most had not developed serious problems by 18. Those who did well into adulthood had leaned on more sources of support: extended family, neighbors and school.</a:t>
            </a:r>
          </a:p>
          <a:p>
            <a:pPr algn="l">
              <a:spcAft>
                <a:spcPts val="585"/>
              </a:spcAft>
            </a:pPr>
            <a:r>
              <a:rPr sz="1050" b="0" i="0">
                <a:solidFill>
                  <a:srgbClr val="5D5A54"/>
                </a:solidFill>
                <a:latin typeface="Inter Tight"/>
              </a:rPr>
              <a:t>Werner, Journal of Studies on Alcohol, 1986  ·  Werner and Johnson, Substance Use &amp; Misuse, 2004</a:t>
            </a:r>
          </a:p>
          <a:p>
            <a:pPr algn="l">
              <a:spcAft>
                <a:spcPts val="585"/>
              </a:spcAft>
            </a:pPr>
            <a:r>
              <a:rPr sz="1300" b="0" i="0">
                <a:solidFill>
                  <a:srgbClr val="1C1B19"/>
                </a:solidFill>
                <a:latin typeface="Source Serif 4"/>
              </a:rPr>
              <a:t>Naloxone (Narcan) has been sold without a prescription since 2023.</a:t>
            </a:r>
          </a:p>
          <a:p>
            <a:pPr algn="l">
              <a:spcAft>
                <a:spcPts val="585"/>
              </a:spcAft>
            </a:pPr>
            <a:r>
              <a:rPr sz="1050" b="0" i="0">
                <a:solidFill>
                  <a:srgbClr val="5D5A54"/>
                </a:solidFill>
                <a:latin typeface="Inter Tight"/>
              </a:rPr>
              <a:t>US Food and Drug Administration,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