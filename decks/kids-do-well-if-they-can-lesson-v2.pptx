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and the next three are hidden. They stay in the deck for you and are skipped when you present.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both presenters and why you're here: teachers have asked what to do about the same student, the same behavior, again and again. Something like: "Most of your students respond to what you already do. Today is about the few who don't."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Private writing, then a few volunteers share what they thought was going on (not who). Expect: doesn't care, wants attention, testing me, lazy, rough home. Don't correct anyone. Say: "Every one of those is a guess about why. Today we'll add one more guess to the list."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This is Ross Greene's line. Most school discipline runs on the first column, and it works for most students. A student who keeps doing the same thing despite consequences is telling you the first column isn't working for them. Go back to the cards: which column was your guess in? No sharing needed. Be clear that expectations stay; what changes is how you help a student meet them.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MINUTES. Ollendick 2016: 134 kids ages 7 to 14 with ODD; Collaborative and Proactive Solutions matched parent management training, the long-standing standard. Okonofua, Paunesku and Walton 2016: middle school math teachers read about why students misbehave and how relationships help, then wrote how they'd keep them; suspensions fell from 9.6% to 4.8% over the year. Okonofua and Eberhardt 2015: the second incident is where bias does the most damage, because it's where we decide a student is a troublemaker. Say this plainly and without blame. It's why slowing down at the second incident matters.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MINUTES. Learning support leads this one. Greene calls these lagging skills. The other half is the unsolved problem: the specific expectation the student has trouble meeting, said without judgment. "Has trouble starting the essay in English" is an unsolved problem. "Is defiant" isn't; it's a label. Have teachers rewrite their card as one skill and one specific problem. Many of these skills are already named in learning plans; check there first.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A flooded student can't problem solve, and neither can a flooded adult. The goal in the moment is calm, not a lesson. Naming the feeling helps: in Lieberman's studies, putting feelings into words lowered the brain's alarm. Keep the audience small; a student who's lost face in front of peers will fight to get it back. If anyone is unsafe, safety comes first and you call for help.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MINUTES. Greene calls this Plan B: the empathy step, defining adult concerns, and the invitation. Do it when everyone is calm, ideally before the problem comes up again. The first step takes longest; most students have never been asked. The solution has to work for both of you, and the first one often won't stick, so plan to come back. Pairs practice with the problem from their card. Switch.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Open with Zoe Chance (Influence Is Your Superpower): teaching her graduate classes changed when she started thinking of herself as being in the hospitality business, making students feel welcome. The research backs the idea. Cook 2018 was a randomized trial in middle school classrooms: a greeting by name, a quick positive word, and a reminder of what to start on. Roorda's review of 99 studies ties warm relationships to engagement and achievement. Be honest about 2x10: it's a widely used practice with little formal testing of its own; it rests on the relationship research. It costs twenty minutes over two weeks.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One card per group: what to do in the moment, the likely lagging skill, and how the talk later opens. Eli: low voice, "Rough grade. We'll look at it together after class." Likely skill: handling frustration. Ava: may be shifting gears or holding a thought; a posted plan and a one-on-one restate can help. Noor: getting started, or something heavier. Open with "I've noticed the essays have been hard to start. What's up?" If she seems low, walk her to a counselor that day. Ask: "What would the family hear about this, and how?"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Invite, don't assign. Point to the faculty quick reference on this slide. Bring in the counseling team and learning support when behavior is escalating, safety is at risk, a student seems low for weeks, or you learn about something hard at home. You don't have to sort it out alone.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Session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Kids Do Well If They Can</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Faculty professional development  ·  45 minutes (30-minute version below)  ·  Led by counseling and learning support  ·  Middle and Upper School, any subject</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Teachers leave with a second lens for the student whose behavior keeps repeating (a skill that isn't there yet, rather than a will that's missing), five moves for the heated moment, three steps for the talk afterward, and one two-minute habit that heads off trouble before it starts.</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Index cards, one per teacher</a:t>
            </a:r>
          </a:p>
          <a:p>
            <a:pPr algn="l">
              <a:spcAft>
                <a:spcPts val="675"/>
              </a:spcAft>
            </a:pPr>
            <a:r>
              <a:rPr sz="1500" b="0" i="0">
                <a:solidFill>
                  <a:srgbClr val="1C1B19"/>
                </a:solidFill>
                <a:latin typeface="Source Serif 4"/>
              </a:rPr>
              <a:t>The faculty quick reference (last slide), printed or linked</a:t>
            </a:r>
          </a:p>
          <a:p>
            <a:pPr algn="l">
              <a:spcAft>
                <a:spcPts val="675"/>
              </a:spcAft>
            </a:pPr>
            <a:r>
              <a:rPr sz="1500" b="0" i="0">
                <a:solidFill>
                  <a:srgbClr val="1C1B19"/>
                </a:solidFill>
                <a:latin typeface="Source Serif 4"/>
              </a:rPr>
              <a:t>Board space for two columns: want to / can</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5 min   </a:t>
            </a:r>
            <a:r>
              <a:rPr sz="1400" b="0" i="0">
                <a:solidFill>
                  <a:srgbClr val="1C1B19"/>
                </a:solidFill>
                <a:latin typeface="Source Serif 4"/>
              </a:rPr>
              <a:t>Opening: a student whose behavior wore you down (private cards)</a:t>
            </a:r>
          </a:p>
          <a:p>
            <a:pPr algn="l">
              <a:spcAft>
                <a:spcPts val="630"/>
              </a:spcAft>
            </a:pPr>
            <a:r>
              <a:rPr sz="1300" b="1" i="0">
                <a:solidFill>
                  <a:srgbClr val="F47B20"/>
                </a:solidFill>
                <a:latin typeface="Inter Tight"/>
              </a:rPr>
              <a:t>5 min   </a:t>
            </a:r>
            <a:r>
              <a:rPr sz="1400" b="0" i="0">
                <a:solidFill>
                  <a:srgbClr val="1C1B19"/>
                </a:solidFill>
                <a:latin typeface="Source Serif 4"/>
              </a:rPr>
              <a:t>Two lenses: want to, or can?</a:t>
            </a:r>
          </a:p>
          <a:p>
            <a:pPr algn="l">
              <a:spcAft>
                <a:spcPts val="630"/>
              </a:spcAft>
            </a:pPr>
            <a:r>
              <a:rPr sz="1300" b="1" i="0">
                <a:solidFill>
                  <a:srgbClr val="F47B20"/>
                </a:solidFill>
                <a:latin typeface="Inter Tight"/>
              </a:rPr>
              <a:t>6 min   </a:t>
            </a:r>
            <a:r>
              <a:rPr sz="1400" b="0" i="0">
                <a:solidFill>
                  <a:srgbClr val="1C1B19"/>
                </a:solidFill>
                <a:latin typeface="Source Serif 4"/>
              </a:rPr>
              <a:t>The research on understanding first</a:t>
            </a:r>
          </a:p>
          <a:p>
            <a:pPr algn="l">
              <a:spcAft>
                <a:spcPts val="630"/>
              </a:spcAft>
            </a:pPr>
            <a:r>
              <a:rPr sz="1300" b="1" i="0">
                <a:solidFill>
                  <a:srgbClr val="F47B20"/>
                </a:solidFill>
                <a:latin typeface="Inter Tight"/>
              </a:rPr>
              <a:t>6 min   </a:t>
            </a:r>
            <a:r>
              <a:rPr sz="1400" b="0" i="0">
                <a:solidFill>
                  <a:srgbClr val="1C1B19"/>
                </a:solidFill>
                <a:latin typeface="Source Serif 4"/>
              </a:rPr>
              <a:t>What's getting in the way: skills and problems</a:t>
            </a:r>
          </a:p>
          <a:p>
            <a:pPr algn="l">
              <a:spcAft>
                <a:spcPts val="630"/>
              </a:spcAft>
            </a:pPr>
            <a:r>
              <a:rPr sz="1300" b="1" i="0">
                <a:solidFill>
                  <a:srgbClr val="F47B20"/>
                </a:solidFill>
                <a:latin typeface="Inter Tight"/>
              </a:rPr>
              <a:t>5 min   </a:t>
            </a:r>
            <a:r>
              <a:rPr sz="1400" b="0" i="0">
                <a:solidFill>
                  <a:srgbClr val="1C1B19"/>
                </a:solidFill>
                <a:latin typeface="Source Serif 4"/>
              </a:rPr>
              <a:t>In the moment: calm first, talk later</a:t>
            </a:r>
          </a:p>
          <a:p>
            <a:pPr algn="l">
              <a:spcAft>
                <a:spcPts val="630"/>
              </a:spcAft>
            </a:pPr>
            <a:r>
              <a:rPr sz="1300" b="1" i="0">
                <a:solidFill>
                  <a:srgbClr val="F47B20"/>
                </a:solidFill>
                <a:latin typeface="Inter Tight"/>
              </a:rPr>
              <a:t>6 min   </a:t>
            </a:r>
            <a:r>
              <a:rPr sz="1400" b="0" i="0">
                <a:solidFill>
                  <a:srgbClr val="1C1B19"/>
                </a:solidFill>
                <a:latin typeface="Source Serif 4"/>
              </a:rPr>
              <a:t>Talk later: three steps (practice in pairs)</a:t>
            </a:r>
          </a:p>
          <a:p>
            <a:pPr algn="l">
              <a:spcAft>
                <a:spcPts val="630"/>
              </a:spcAft>
            </a:pPr>
            <a:r>
              <a:rPr sz="1300" b="1" i="0">
                <a:solidFill>
                  <a:srgbClr val="F47B20"/>
                </a:solidFill>
                <a:latin typeface="Inter Tight"/>
              </a:rPr>
              <a:t>4 min   </a:t>
            </a:r>
            <a:r>
              <a:rPr sz="1400" b="0" i="0">
                <a:solidFill>
                  <a:srgbClr val="1C1B19"/>
                </a:solidFill>
                <a:latin typeface="Source Serif 4"/>
              </a:rPr>
              <a:t>The first two minutes</a:t>
            </a:r>
          </a:p>
          <a:p>
            <a:pPr algn="l">
              <a:spcAft>
                <a:spcPts val="630"/>
              </a:spcAft>
            </a:pPr>
            <a:r>
              <a:rPr sz="1300" b="1" i="0">
                <a:solidFill>
                  <a:srgbClr val="F47B20"/>
                </a:solidFill>
                <a:latin typeface="Inter Tight"/>
              </a:rPr>
              <a:t>5 min   </a:t>
            </a:r>
            <a:r>
              <a:rPr sz="1400" b="0" i="0">
                <a:solidFill>
                  <a:srgbClr val="1C1B19"/>
                </a:solidFill>
                <a:latin typeface="Source Serif 4"/>
              </a:rPr>
              <a:t>Three students (small groups)</a:t>
            </a:r>
          </a:p>
          <a:p>
            <a:pPr algn="l">
              <a:spcAft>
                <a:spcPts val="630"/>
              </a:spcAft>
            </a:pPr>
            <a:r>
              <a:rPr sz="1300" b="1" i="0">
                <a:solidFill>
                  <a:srgbClr val="F47B20"/>
                </a:solidFill>
                <a:latin typeface="Inter Tight"/>
              </a:rPr>
              <a:t>3 min   </a:t>
            </a:r>
            <a:r>
              <a:rPr sz="1400" b="0" i="0">
                <a:solidFill>
                  <a:srgbClr val="1C1B19"/>
                </a:solidFill>
                <a:latin typeface="Source Serif 4"/>
              </a:rPr>
              <a:t>One student, two weeks</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(20-MINUTE ADVISORY)</a:t>
            </a:r>
          </a:p>
          <a:p>
            <a:pPr algn="l">
              <a:spcAft>
                <a:spcPts val="630"/>
              </a:spcAft>
            </a:pPr>
            <a:r>
              <a:rPr sz="1400" b="0" i="0">
                <a:solidFill>
                  <a:srgbClr val="1C1B19"/>
                </a:solidFill>
                <a:latin typeface="Source Serif 4"/>
              </a:rPr>
              <a:t>Thirty minutes: the opening card (3), two lenses (4), the research (4), what's getting in the way (4), in the moment (4), talk later with one pair practice (5), the first two minutes (3), one student, two weeks (3). Share the faculty quick reference afterward.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present</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present</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Two presenters, one voice.</a:t>
            </a:r>
          </a:p>
          <a:p>
            <a:pPr algn="l">
              <a:spcAft>
                <a:spcPts val="585"/>
              </a:spcAft>
            </a:pPr>
            <a:r>
              <a:rPr sz="1300" b="0" i="0">
                <a:solidFill>
                  <a:srgbClr val="1C1B19"/>
                </a:solidFill>
                <a:latin typeface="Source Serif 4"/>
              </a:rPr>
              <a:t>A natural split: the counselor or psychologist presents the two lenses, the research and the heated moment; learning support presents the lagging skills, the talk-later steps and how they fit with learning plans.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Nobody here is doing it wrong.</a:t>
            </a:r>
          </a:p>
          <a:p>
            <a:pPr algn="l">
              <a:spcAft>
                <a:spcPts val="585"/>
              </a:spcAft>
            </a:pPr>
            <a:r>
              <a:rPr sz="1300" b="0" i="0">
                <a:solidFill>
                  <a:srgbClr val="1C1B19"/>
                </a:solidFill>
                <a:latin typeface="Source Serif 4"/>
              </a:rPr>
              <a:t>Clear limits and consequences help most students, and every teacher in the room uses them. Say so. This talk is for the few students those tools haven't reached.</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Expectations stay.</a:t>
            </a:r>
          </a:p>
          <a:p>
            <a:pPr algn="l">
              <a:spcAft>
                <a:spcPts val="585"/>
              </a:spcAft>
            </a:pPr>
            <a:r>
              <a:rPr sz="1300" b="0" i="0">
                <a:solidFill>
                  <a:srgbClr val="1C1B19"/>
                </a:solidFill>
                <a:latin typeface="Source Serif 4"/>
              </a:rPr>
              <a:t>Kids do well if they can doesn't mean anything goes. The expectation stays; what changes is how you help a student meet it. Safety always comes first.</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Be clear about learning plans.</a:t>
            </a:r>
          </a:p>
          <a:p>
            <a:pPr algn="l">
              <a:spcAft>
                <a:spcPts val="585"/>
              </a:spcAft>
            </a:pPr>
            <a:r>
              <a:rPr sz="1300" b="0" i="0">
                <a:solidFill>
                  <a:srgbClr val="1C1B19"/>
                </a:solidFill>
                <a:latin typeface="Source Serif 4"/>
              </a:rPr>
              <a:t>Accommodations written into a student's learning plan stay exactly as written. Many lagging skills are already named there, so check it first.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Ross Greene, in his words.</a:t>
            </a:r>
          </a:p>
          <a:p>
            <a:pPr algn="l">
              <a:spcAft>
                <a:spcPts val="585"/>
              </a:spcAft>
            </a:pPr>
            <a:r>
              <a:rPr sz="1300" b="0" i="0">
                <a:solidFill>
                  <a:srgbClr val="1C1B19"/>
                </a:solidFill>
                <a:latin typeface="Source Serif 4"/>
              </a:rPr>
              <a:t>Present Collaborative and Proactive Solutions as his model and "kids do well if they can" as his line. His nonprofit, Lives in the Balance, has free tools for teachers who want more.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Teachers get worn down too.</a:t>
            </a:r>
          </a:p>
          <a:p>
            <a:pPr algn="l">
              <a:spcAft>
                <a:spcPts val="585"/>
              </a:spcAft>
            </a:pPr>
            <a:r>
              <a:rPr sz="1300" b="0" i="0">
                <a:solidFill>
                  <a:srgbClr val="1C1B19"/>
                </a:solidFill>
                <a:latin typeface="Source Serif 4"/>
              </a:rPr>
              <a:t>A student who pushes every day takes a toll. Name that early and warmly. Nobody does their best problem solving while they're flooded, adults included.</a:t>
            </a:r>
          </a:p>
          <a:p>
            <a:pPr algn="l">
              <a:spcAft>
                <a:spcPts val="585"/>
              </a:spcAft>
            </a:pPr>
            <a:r>
              <a:rPr sz="1300" b="0" i="0">
                <a:solidFill>
                  <a:srgbClr val="1C1B19"/>
                </a:solidFill>
                <a:latin typeface="Source Serif 4"/>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Who gets read as defiant.</a:t>
            </a:r>
          </a:p>
          <a:p>
            <a:pPr algn="l">
              <a:spcAft>
                <a:spcPts val="585"/>
              </a:spcAft>
            </a:pPr>
            <a:r>
              <a:rPr sz="1300" b="0" i="0">
                <a:solidFill>
                  <a:srgbClr val="1C1B19"/>
                </a:solidFill>
                <a:latin typeface="Source Serif 4"/>
              </a:rPr>
              <a:t>Teachers read a second misbehavior as a pattern faster when the student is Black, and Black students are suspended at higher rates. Slow down at the second incident and ask what's getting in the way.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Culture and respect.</a:t>
            </a:r>
          </a:p>
          <a:p>
            <a:pPr algn="l">
              <a:spcAft>
                <a:spcPts val="585"/>
              </a:spcAft>
            </a:pPr>
            <a:r>
              <a:rPr sz="1300" b="0" i="0">
                <a:solidFill>
                  <a:srgbClr val="1C1B19"/>
                </a:solidFill>
                <a:latin typeface="Source Serif 4"/>
              </a:rPr>
              <a:t>Eye contact, volume, interrupting and arguing back mean different things in different homes. What reads as disrespect may be normal, even respectful, where a student comes from. Ask before you label it.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Neurodivergent students.</a:t>
            </a:r>
          </a:p>
          <a:p>
            <a:pPr algn="l">
              <a:spcAft>
                <a:spcPts val="585"/>
              </a:spcAft>
            </a:pPr>
            <a:r>
              <a:rPr sz="1300" b="0" i="0">
                <a:solidFill>
                  <a:srgbClr val="1C1B19"/>
                </a:solidFill>
                <a:latin typeface="Source Serif 4"/>
              </a:rPr>
              <a:t>For students with ADHD, autism or a language disorder, the lagging skill is often part of the diagnosis. Check the learning plan and talk with learning support before you treat it as a choice.</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What's happening at home.</a:t>
            </a:r>
          </a:p>
          <a:p>
            <a:pPr algn="l">
              <a:spcAft>
                <a:spcPts val="585"/>
              </a:spcAft>
            </a:pPr>
            <a:r>
              <a:rPr sz="1300" b="0" i="0">
                <a:solidFill>
                  <a:srgbClr val="1C1B19"/>
                </a:solidFill>
                <a:latin typeface="Source Serif 4"/>
              </a:rPr>
              <a:t>Hunger, no sleep, a family crisis, housing or immigration worries can all show up as behavior. Ask privately, and bring what you learn to the counseling team.</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Language.</a:t>
            </a:r>
          </a:p>
          <a:p>
            <a:pPr algn="l">
              <a:spcAft>
                <a:spcPts val="585"/>
              </a:spcAft>
            </a:pPr>
            <a:r>
              <a:rPr sz="1300" b="0" i="0">
                <a:solidFill>
                  <a:srgbClr val="1C1B19"/>
                </a:solidFill>
                <a:latin typeface="Source Serif 4"/>
              </a:rPr>
              <a:t>A student learning English may act out when they're lost and can't say so. Check whether they understood the directions before you treat it as defiance.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Students being targeted.</a:t>
            </a:r>
          </a:p>
          <a:p>
            <a:pPr algn="l">
              <a:spcAft>
                <a:spcPts val="585"/>
              </a:spcAft>
            </a:pPr>
            <a:r>
              <a:rPr sz="1300" b="0" i="0">
                <a:solidFill>
                  <a:srgbClr val="1C1B19"/>
                </a:solidFill>
                <a:latin typeface="Source Serif 4"/>
              </a:rPr>
              <a:t>An outburst can be a response to teasing you didn't see, including about race, sexuality or gender identity. Ask what happened right before.</a:t>
            </a:r>
          </a:p>
          <a:p>
            <a:pPr algn="l">
              <a:spcAft>
                <a:spcPts val="585"/>
              </a:spcAft>
            </a:pPr>
            <a:r>
              <a:rPr sz="1300" b="0" i="0">
                <a:solidFill>
                  <a:srgbClr val="1C1B19"/>
                </a:solidFill>
                <a:latin typeface="Source Serif 4"/>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Ross Greene's model holds that kids do well if they can: challenging behavior shows up when the demands on a student outpace their skills. Adults find the lagging skills and unsolved problems, then solve the problems with the student.</a:t>
            </a:r>
          </a:p>
          <a:p>
            <a:pPr algn="l">
              <a:spcAft>
                <a:spcPts val="585"/>
              </a:spcAft>
            </a:pPr>
            <a:r>
              <a:rPr sz="1050" b="0" i="0">
                <a:solidFill>
                  <a:srgbClr val="5D5A54"/>
                </a:solidFill>
                <a:latin typeface="Inter Tight"/>
              </a:rPr>
              <a:t>Greene, Lost at School, 2008 (revised 2014); Greene, The Explosive Child</a:t>
            </a:r>
          </a:p>
          <a:p>
            <a:pPr algn="l">
              <a:spcAft>
                <a:spcPts val="585"/>
              </a:spcAft>
            </a:pPr>
            <a:r>
              <a:rPr sz="1300" b="0" i="0">
                <a:solidFill>
                  <a:srgbClr val="1C1B19"/>
                </a:solidFill>
                <a:latin typeface="Source Serif 4"/>
              </a:rPr>
              <a:t>In a trial with 134 children ages 7 to 14 with oppositional defiant disorder, Collaborative and Proactive Solutions and parent management training both did better than a waitlist, with similar results.</a:t>
            </a:r>
          </a:p>
          <a:p>
            <a:pPr algn="l">
              <a:spcAft>
                <a:spcPts val="585"/>
              </a:spcAft>
            </a:pPr>
            <a:r>
              <a:rPr sz="1050" b="0" i="0">
                <a:solidFill>
                  <a:srgbClr val="5D5A54"/>
                </a:solidFill>
                <a:latin typeface="Inter Tight"/>
              </a:rPr>
              <a:t>Ollendick et al., Journal of Clinical Child and Adolescent Psychology, 2016</a:t>
            </a:r>
          </a:p>
          <a:p>
            <a:pPr algn="l">
              <a:spcAft>
                <a:spcPts val="585"/>
              </a:spcAft>
            </a:pPr>
            <a:r>
              <a:rPr sz="1300" b="0" i="0">
                <a:solidFill>
                  <a:srgbClr val="1C1B19"/>
                </a:solidFill>
                <a:latin typeface="Source Serif 4"/>
              </a:rPr>
              <a:t>In five middle schools, math teachers who did a short online exercise on empathic discipline (understanding the student's side and keeping the relationship) cut their students' suspension rate in half over the year, from 9.6% to 4.8%.</a:t>
            </a:r>
          </a:p>
          <a:p>
            <a:pPr algn="l">
              <a:spcAft>
                <a:spcPts val="585"/>
              </a:spcAft>
            </a:pPr>
            <a:r>
              <a:rPr sz="1050" b="0" i="0">
                <a:solidFill>
                  <a:srgbClr val="5D5A54"/>
                </a:solidFill>
                <a:latin typeface="Inter Tight"/>
              </a:rPr>
              <a:t>Okonofua, Paunesku and Walton, PNAS, 2016</a:t>
            </a:r>
          </a:p>
          <a:p>
            <a:pPr algn="l">
              <a:spcAft>
                <a:spcPts val="585"/>
              </a:spcAft>
            </a:pPr>
            <a:r>
              <a:rPr sz="1300" b="0" i="0">
                <a:solidFill>
                  <a:srgbClr val="1C1B19"/>
                </a:solidFill>
                <a:latin typeface="Source Serif 4"/>
              </a:rPr>
              <a:t>Teachers who read about a student's second misbehavior were more troubled, and more likely to see the student as a troublemaker, when the student had a stereotypically Black name.</a:t>
            </a:r>
          </a:p>
          <a:p>
            <a:pPr algn="l">
              <a:spcAft>
                <a:spcPts val="585"/>
              </a:spcAft>
            </a:pPr>
            <a:r>
              <a:rPr sz="1050" b="0" i="0">
                <a:solidFill>
                  <a:srgbClr val="5D5A54"/>
                </a:solidFill>
                <a:latin typeface="Inter Tight"/>
              </a:rPr>
              <a:t>Okonofua and Eberhardt, Psychological Science, 2015</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Putting feelings into words lowered activity in the amygdala, the brain's alarm, when people looked at emotional images.</a:t>
            </a:r>
          </a:p>
          <a:p>
            <a:pPr algn="l">
              <a:spcAft>
                <a:spcPts val="585"/>
              </a:spcAft>
            </a:pPr>
            <a:r>
              <a:rPr sz="1050" b="0" i="0">
                <a:solidFill>
                  <a:srgbClr val="5D5A54"/>
                </a:solidFill>
                <a:latin typeface="Inter Tight"/>
              </a:rPr>
              <a:t>Lieberman et al., Psychological Science, 2007</a:t>
            </a:r>
          </a:p>
          <a:p>
            <a:pPr algn="l">
              <a:spcAft>
                <a:spcPts val="585"/>
              </a:spcAft>
            </a:pPr>
            <a:r>
              <a:rPr sz="1300" b="0" i="0">
                <a:solidFill>
                  <a:srgbClr val="1C1B19"/>
                </a:solidFill>
                <a:latin typeface="Source Serif 4"/>
              </a:rPr>
              <a:t>In a randomized trial in middle school classrooms, greeting each student at the door raised academic engaged time by about 20 percent, roughly 12 more minutes on task per class hour, and lowered disruptive behavior.</a:t>
            </a:r>
          </a:p>
          <a:p>
            <a:pPr algn="l">
              <a:spcAft>
                <a:spcPts val="585"/>
              </a:spcAft>
            </a:pPr>
            <a:r>
              <a:rPr sz="1050" b="0" i="0">
                <a:solidFill>
                  <a:srgbClr val="5D5A54"/>
                </a:solidFill>
                <a:latin typeface="Inter Tight"/>
              </a:rPr>
              <a:t>Cook et al., Journal of Positive Behavior Interventions, 2018</a:t>
            </a:r>
          </a:p>
          <a:p>
            <a:pPr algn="l">
              <a:spcAft>
                <a:spcPts val="585"/>
              </a:spcAft>
            </a:pPr>
            <a:r>
              <a:rPr sz="1300" b="0" i="0">
                <a:solidFill>
                  <a:srgbClr val="1C1B19"/>
                </a:solidFill>
                <a:latin typeface="Source Serif 4"/>
              </a:rPr>
              <a:t>Across 99 studies, warm teacher-student relationships went with higher engagement and achievement, and conflict-filled ones with lower.</a:t>
            </a:r>
          </a:p>
          <a:p>
            <a:pPr algn="l">
              <a:spcAft>
                <a:spcPts val="585"/>
              </a:spcAft>
            </a:pPr>
            <a:r>
              <a:rPr sz="1050" b="0" i="0">
                <a:solidFill>
                  <a:srgbClr val="5D5A54"/>
                </a:solidFill>
                <a:latin typeface="Inter Tight"/>
              </a:rPr>
              <a:t>Roorda et al., Review of Educational Research, 2011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KIDS DO WELL IF THEY CAN</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2011680"/>
            <a:ext cx="10515600" cy="1463040"/>
          </a:xfrm>
          <a:prstGeom prst="rect">
            <a:avLst/>
          </a:prstGeom>
          <a:noFill/>
        </p:spPr>
        <p:txBody>
          <a:bodyPr wrap="square" anchor="b" lIns="0" rIns="0" tIns="0" bIns="0">
            <a:spAutoFit/>
          </a:bodyPr>
          <a:lstStyle/>
          <a:p>
            <a:pPr algn="l">
              <a:spcAft>
                <a:spcPts val="2700"/>
              </a:spcAft>
            </a:pPr>
            <a:r>
              <a:rPr sz="6000" b="1" i="0">
                <a:solidFill>
                  <a:srgbClr val="FFFFFF"/>
                </a:solidFill>
                <a:latin typeface="Source Serif 4"/>
              </a:rPr>
              <a:t>Kids Do Well If They Can</a:t>
            </a:r>
          </a:p>
        </p:txBody>
      </p:sp>
      <p:sp>
        <p:nvSpPr>
          <p:cNvPr id="6" name="TextBox 5"/>
          <p:cNvSpPr txBox="1"/>
          <p:nvPr/>
        </p:nvSpPr>
        <p:spPr>
          <a:xfrm>
            <a:off x="822960" y="361188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When behavior is a signal: what's getting in the way, what to do in the moment, and the talk after.</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 Faculty professional development</a:t>
            </a:r>
          </a:p>
        </p:txBody>
      </p:sp>
      <p:sp>
        <p:nvSpPr>
          <p:cNvPr id="8" name="TextBox 7"/>
          <p:cNvSpPr txBox="1"/>
          <p:nvPr/>
        </p:nvSpPr>
        <p:spPr>
          <a:xfrm>
            <a:off x="6766560" y="5897880"/>
            <a:ext cx="4846320" cy="640080"/>
          </a:xfrm>
          <a:prstGeom prst="rect">
            <a:avLst/>
          </a:prstGeom>
          <a:noFill/>
        </p:spPr>
        <p:txBody>
          <a:bodyPr wrap="square" anchor="t" lIns="0" rIns="0" tIns="0" bIns="0">
            <a:spAutoFit/>
          </a:bodyPr>
          <a:lstStyle/>
          <a:p>
            <a:pPr algn="r">
              <a:spcAft>
                <a:spcPts val="495"/>
              </a:spcAft>
            </a:pPr>
            <a:r>
              <a:rPr sz="1100" b="0" i="0">
                <a:solidFill>
                  <a:srgbClr val="E8E4DA"/>
                </a:solidFill>
                <a:latin typeface="Inter Tight"/>
              </a:rPr>
              <a:t>Rick drafted this talk with help from AI, then reviewed and edited every slide.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TO START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Think of a student whose behavior wore you down this year. What did you think was going on?</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One card, no names. Keep it; we'll come back to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TWO LENSES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Want to, or can?</a:t>
            </a:r>
          </a:p>
        </p:txBody>
      </p:sp>
      <p:sp>
        <p:nvSpPr>
          <p:cNvPr id="6" name="Rectangle 5"/>
          <p:cNvSpPr/>
          <p:nvPr/>
        </p:nvSpPr>
        <p:spPr>
          <a:xfrm>
            <a:off x="8229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KIDS DO WELL IF THEY WANT TO</a:t>
            </a:r>
          </a:p>
        </p:txBody>
      </p:sp>
      <p:sp>
        <p:nvSpPr>
          <p:cNvPr id="8" name="TextBox 7"/>
          <p:cNvSpPr txBox="1"/>
          <p:nvPr/>
        </p:nvSpPr>
        <p:spPr>
          <a:xfrm>
            <a:off x="10972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Behavior means motivation</a:t>
            </a:r>
          </a:p>
          <a:p>
            <a:pPr algn="l">
              <a:spcAft>
                <a:spcPts val="855"/>
              </a:spcAft>
            </a:pPr>
            <a:r>
              <a:rPr sz="1900" b="0" i="0">
                <a:solidFill>
                  <a:srgbClr val="1C1B19"/>
                </a:solidFill>
                <a:latin typeface="Source Serif 4"/>
              </a:rPr>
              <a:t>The fix: rewards, consequences, more pressure</a:t>
            </a:r>
          </a:p>
          <a:p>
            <a:pPr algn="l">
              <a:spcAft>
                <a:spcPts val="855"/>
              </a:spcAft>
            </a:pPr>
            <a:r>
              <a:rPr sz="1900" b="0" i="0">
                <a:solidFill>
                  <a:srgbClr val="1C1B19"/>
                </a:solidFill>
                <a:latin typeface="Source Serif 4"/>
              </a:rPr>
              <a:t>The question: how do I get them to?</a:t>
            </a:r>
          </a:p>
          <a:p>
            <a:pPr algn="l">
              <a:spcAft>
                <a:spcPts val="855"/>
              </a:spcAft>
            </a:pPr>
            <a:r>
              <a:rPr sz="1900" b="0" i="0">
                <a:solidFill>
                  <a:srgbClr val="1C1B19"/>
                </a:solidFill>
                <a:latin typeface="Source Serif 4"/>
              </a:rPr>
              <a:t>Works well for kids who have the skills</a:t>
            </a:r>
          </a:p>
        </p:txBody>
      </p:sp>
      <p:sp>
        <p:nvSpPr>
          <p:cNvPr id="9" name="Rectangle 8"/>
          <p:cNvSpPr/>
          <p:nvPr/>
        </p:nvSpPr>
        <p:spPr>
          <a:xfrm>
            <a:off x="6309360" y="2103120"/>
            <a:ext cx="5120640" cy="393192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286000"/>
            <a:ext cx="4572000" cy="45720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KIDS DO WELL IF THEY CAN</a:t>
            </a:r>
          </a:p>
        </p:txBody>
      </p:sp>
      <p:sp>
        <p:nvSpPr>
          <p:cNvPr id="11" name="TextBox 10"/>
          <p:cNvSpPr txBox="1"/>
          <p:nvPr/>
        </p:nvSpPr>
        <p:spPr>
          <a:xfrm>
            <a:off x="6583680" y="2788920"/>
            <a:ext cx="4572000" cy="31089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Behavior means a skill that isn't there yet</a:t>
            </a:r>
          </a:p>
          <a:p>
            <a:pPr algn="l">
              <a:spcAft>
                <a:spcPts val="855"/>
              </a:spcAft>
            </a:pPr>
            <a:r>
              <a:rPr sz="1900" b="0" i="0">
                <a:solidFill>
                  <a:srgbClr val="1C1B19"/>
                </a:solidFill>
                <a:latin typeface="Source Serif 4"/>
              </a:rPr>
              <a:t>The fix: solve the problem with them</a:t>
            </a:r>
          </a:p>
          <a:p>
            <a:pPr algn="l">
              <a:spcAft>
                <a:spcPts val="855"/>
              </a:spcAft>
            </a:pPr>
            <a:r>
              <a:rPr sz="1900" b="0" i="0">
                <a:solidFill>
                  <a:srgbClr val="1C1B19"/>
                </a:solidFill>
                <a:latin typeface="Source Serif 4"/>
              </a:rPr>
              <a:t>The question: what's getting in the way?</a:t>
            </a:r>
          </a:p>
          <a:p>
            <a:pPr algn="l">
              <a:spcAft>
                <a:spcPts val="855"/>
              </a:spcAft>
            </a:pPr>
            <a:r>
              <a:rPr sz="1900" b="0" i="0">
                <a:solidFill>
                  <a:srgbClr val="1C1B19"/>
                </a:solidFill>
                <a:latin typeface="Source Serif 4"/>
              </a:rPr>
              <a:t>Reaches kids rewards haven't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RESEARCH</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914400"/>
            <a:ext cx="10515600" cy="365760"/>
          </a:xfrm>
          <a:prstGeom prst="rect">
            <a:avLst/>
          </a:prstGeom>
          <a:noFill/>
        </p:spPr>
        <p:txBody>
          <a:bodyPr wrap="square" anchor="t" lIns="0" rIns="0" tIns="0" bIns="0">
            <a:spAutoFit/>
          </a:bodyPr>
          <a:lstStyle/>
          <a:p>
            <a:pPr algn="l">
              <a:spcAft>
                <a:spcPts val="630"/>
              </a:spcAft>
            </a:pPr>
            <a:r>
              <a:rPr sz="1400" b="1" i="0">
                <a:solidFill>
                  <a:srgbClr val="0B2D5B"/>
                </a:solidFill>
                <a:latin typeface="Inter Tight"/>
              </a:rPr>
              <a:t>Greene, 2008  ·  Ollendick et al., 2016  ·  Okonofua et al., 2016  ·  Okonofua and Eberhardt, 2015</a:t>
            </a:r>
          </a:p>
        </p:txBody>
      </p:sp>
      <p:sp>
        <p:nvSpPr>
          <p:cNvPr id="6" name="TextBox 5"/>
          <p:cNvSpPr txBox="1"/>
          <p:nvPr/>
        </p:nvSpPr>
        <p:spPr>
          <a:xfrm>
            <a:off x="822960" y="1325880"/>
            <a:ext cx="10515600" cy="1097280"/>
          </a:xfrm>
          <a:prstGeom prst="rect">
            <a:avLst/>
          </a:prstGeom>
          <a:noFill/>
        </p:spPr>
        <p:txBody>
          <a:bodyPr wrap="square" anchor="t" lIns="0" rIns="0" tIns="0" bIns="0">
            <a:spAutoFit/>
          </a:bodyPr>
          <a:lstStyle/>
          <a:p>
            <a:pPr algn="l">
              <a:spcAft>
                <a:spcPts val="1440"/>
              </a:spcAft>
            </a:pPr>
            <a:r>
              <a:rPr sz="3200" b="1" i="0">
                <a:solidFill>
                  <a:srgbClr val="1C1B19"/>
                </a:solidFill>
                <a:latin typeface="Source Serif 4"/>
              </a:rPr>
              <a:t>Understanding first changes outcomes.</a:t>
            </a:r>
          </a:p>
        </p:txBody>
      </p:sp>
      <p:sp>
        <p:nvSpPr>
          <p:cNvPr id="7" name="TextBox 6"/>
          <p:cNvSpPr txBox="1"/>
          <p:nvPr/>
        </p:nvSpPr>
        <p:spPr>
          <a:xfrm>
            <a:off x="822960" y="2514600"/>
            <a:ext cx="10515600" cy="21945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  Greene's method worked as well as standard parent training for kids with oppositional defiant disorder.</a:t>
            </a:r>
          </a:p>
          <a:p>
            <a:pPr algn="l">
              <a:spcAft>
                <a:spcPts val="855"/>
              </a:spcAft>
            </a:pPr>
            <a:r>
              <a:rPr sz="1900" b="0" i="0">
                <a:solidFill>
                  <a:srgbClr val="1C1B19"/>
                </a:solidFill>
                <a:latin typeface="Source Serif 4"/>
              </a:rPr>
              <a:t>•  A short exercise on empathic discipline cut teachers' suspension rates in half.</a:t>
            </a:r>
          </a:p>
          <a:p>
            <a:pPr algn="l">
              <a:spcAft>
                <a:spcPts val="855"/>
              </a:spcAft>
            </a:pPr>
            <a:r>
              <a:rPr sz="1900" b="0" i="0">
                <a:solidFill>
                  <a:srgbClr val="1C1B19"/>
                </a:solidFill>
                <a:latin typeface="Source Serif 4"/>
              </a:rPr>
              <a:t>•  Teachers saw a pattern sooner after a second incident when the student had a Black-sounding name.</a:t>
            </a:r>
          </a:p>
        </p:txBody>
      </p:sp>
      <p:sp>
        <p:nvSpPr>
          <p:cNvPr id="8" name="Rectangle 7"/>
          <p:cNvSpPr/>
          <p:nvPr/>
        </p:nvSpPr>
        <p:spPr>
          <a:xfrm>
            <a:off x="822960" y="4892040"/>
            <a:ext cx="73152" cy="109728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892040"/>
            <a:ext cx="10241280" cy="1188720"/>
          </a:xfrm>
          <a:prstGeom prst="rect">
            <a:avLst/>
          </a:prstGeom>
          <a:noFill/>
        </p:spPr>
        <p:txBody>
          <a:bodyPr wrap="square" anchor="t" lIns="0" rIns="0" tIns="0" bIns="0">
            <a:spAutoFit/>
          </a:bodyPr>
          <a:lstStyle/>
          <a:p>
            <a:pPr algn="l">
              <a:spcAft>
                <a:spcPts val="855"/>
              </a:spcAft>
            </a:pPr>
            <a:r>
              <a:rPr sz="1200" b="1" i="0">
                <a:solidFill>
                  <a:srgbClr val="F47B20"/>
                </a:solidFill>
                <a:latin typeface="Inter Tight"/>
              </a:rPr>
              <a:t>IN CLASS</a:t>
            </a:r>
          </a:p>
          <a:p>
            <a:pPr algn="l">
              <a:spcAft>
                <a:spcPts val="855"/>
              </a:spcAft>
            </a:pPr>
            <a:r>
              <a:rPr sz="1900" b="0" i="0">
                <a:solidFill>
                  <a:srgbClr val="1C1B19"/>
                </a:solidFill>
                <a:latin typeface="Source Serif 4"/>
              </a:rPr>
              <a:t>When a behavior keeps repeating, get curious before you get stricter.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WHAT'S GETTING IN THE WAY</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Look for the skill, then the problem</a:t>
            </a:r>
          </a:p>
        </p:txBody>
      </p:sp>
      <p:sp>
        <p:nvSpPr>
          <p:cNvPr id="6" name="TextBox 5"/>
          <p:cNvSpPr txBox="1"/>
          <p:nvPr/>
        </p:nvSpPr>
        <p:spPr>
          <a:xfrm>
            <a:off x="822960" y="205740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7" name="TextBox 6"/>
          <p:cNvSpPr txBox="1"/>
          <p:nvPr/>
        </p:nvSpPr>
        <p:spPr>
          <a:xfrm>
            <a:off x="1463040" y="209397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Shifting gears</a:t>
            </a:r>
          </a:p>
          <a:p>
            <a:pPr algn="l">
              <a:spcAft>
                <a:spcPts val="945"/>
              </a:spcAft>
            </a:pPr>
            <a:r>
              <a:rPr sz="1600" b="0" i="0">
                <a:solidFill>
                  <a:srgbClr val="5D5A54"/>
                </a:solidFill>
                <a:latin typeface="Source Serif 4"/>
              </a:rPr>
              <a:t>Lunch to math, talking to quiet work</a:t>
            </a:r>
          </a:p>
        </p:txBody>
      </p:sp>
      <p:sp>
        <p:nvSpPr>
          <p:cNvPr id="8" name="TextBox 7"/>
          <p:cNvSpPr txBox="1"/>
          <p:nvPr/>
        </p:nvSpPr>
        <p:spPr>
          <a:xfrm>
            <a:off x="822960" y="272796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9" name="TextBox 8"/>
          <p:cNvSpPr txBox="1"/>
          <p:nvPr/>
        </p:nvSpPr>
        <p:spPr>
          <a:xfrm>
            <a:off x="1463040" y="276453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Handling frustration</a:t>
            </a:r>
          </a:p>
          <a:p>
            <a:pPr algn="l">
              <a:spcAft>
                <a:spcPts val="945"/>
              </a:spcAft>
            </a:pPr>
            <a:r>
              <a:rPr sz="1600" b="0" i="0">
                <a:solidFill>
                  <a:srgbClr val="5D5A54"/>
                </a:solidFill>
                <a:latin typeface="Source Serif 4"/>
              </a:rPr>
              <a:t>Staying with it after the first wrong answer</a:t>
            </a:r>
          </a:p>
        </p:txBody>
      </p:sp>
      <p:sp>
        <p:nvSpPr>
          <p:cNvPr id="10" name="TextBox 9"/>
          <p:cNvSpPr txBox="1"/>
          <p:nvPr/>
        </p:nvSpPr>
        <p:spPr>
          <a:xfrm>
            <a:off x="822960" y="339852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1" name="TextBox 10"/>
          <p:cNvSpPr txBox="1"/>
          <p:nvPr/>
        </p:nvSpPr>
        <p:spPr>
          <a:xfrm>
            <a:off x="1463040" y="343509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Getting started</a:t>
            </a:r>
          </a:p>
          <a:p>
            <a:pPr algn="l">
              <a:spcAft>
                <a:spcPts val="945"/>
              </a:spcAft>
            </a:pPr>
            <a:r>
              <a:rPr sz="1600" b="0" i="0">
                <a:solidFill>
                  <a:srgbClr val="5D5A54"/>
                </a:solidFill>
                <a:latin typeface="Source Serif 4"/>
              </a:rPr>
              <a:t>Turning a big assignment into a first step</a:t>
            </a:r>
          </a:p>
        </p:txBody>
      </p:sp>
      <p:sp>
        <p:nvSpPr>
          <p:cNvPr id="12" name="TextBox 11"/>
          <p:cNvSpPr txBox="1"/>
          <p:nvPr/>
        </p:nvSpPr>
        <p:spPr>
          <a:xfrm>
            <a:off x="822960" y="406908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3" name="TextBox 12"/>
          <p:cNvSpPr txBox="1"/>
          <p:nvPr/>
        </p:nvSpPr>
        <p:spPr>
          <a:xfrm>
            <a:off x="1463040" y="410565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Reading the room</a:t>
            </a:r>
          </a:p>
          <a:p>
            <a:pPr algn="l">
              <a:spcAft>
                <a:spcPts val="945"/>
              </a:spcAft>
            </a:pPr>
            <a:r>
              <a:rPr sz="1600" b="0" i="0">
                <a:solidFill>
                  <a:srgbClr val="5D5A54"/>
                </a:solidFill>
                <a:latin typeface="Source Serif 4"/>
              </a:rPr>
              <a:t>Knowing when the joke has gone too far</a:t>
            </a:r>
          </a:p>
        </p:txBody>
      </p:sp>
      <p:sp>
        <p:nvSpPr>
          <p:cNvPr id="14" name="TextBox 13"/>
          <p:cNvSpPr txBox="1"/>
          <p:nvPr/>
        </p:nvSpPr>
        <p:spPr>
          <a:xfrm>
            <a:off x="822960" y="473964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5" name="TextBox 14"/>
          <p:cNvSpPr txBox="1"/>
          <p:nvPr/>
        </p:nvSpPr>
        <p:spPr>
          <a:xfrm>
            <a:off x="1463040" y="477621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Putting feelings into words</a:t>
            </a:r>
          </a:p>
          <a:p>
            <a:pPr algn="l">
              <a:spcAft>
                <a:spcPts val="945"/>
              </a:spcAft>
            </a:pPr>
            <a:r>
              <a:rPr sz="1600" b="0" i="0">
                <a:solidFill>
                  <a:srgbClr val="5D5A54"/>
                </a:solidFill>
                <a:latin typeface="Source Serif 4"/>
              </a:rPr>
              <a:t>"I'm lost" instead of shoving the book</a:t>
            </a:r>
          </a:p>
        </p:txBody>
      </p:sp>
      <p:sp>
        <p:nvSpPr>
          <p:cNvPr id="16" name="TextBox 15"/>
          <p:cNvSpPr txBox="1"/>
          <p:nvPr/>
        </p:nvSpPr>
        <p:spPr>
          <a:xfrm>
            <a:off x="822960" y="5410200"/>
            <a:ext cx="548640" cy="670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a:t>
            </a:r>
          </a:p>
        </p:txBody>
      </p:sp>
      <p:sp>
        <p:nvSpPr>
          <p:cNvPr id="17" name="TextBox 16"/>
          <p:cNvSpPr txBox="1"/>
          <p:nvPr/>
        </p:nvSpPr>
        <p:spPr>
          <a:xfrm>
            <a:off x="1463040" y="5446776"/>
            <a:ext cx="9875520" cy="670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Waiting</a:t>
            </a:r>
          </a:p>
          <a:p>
            <a:pPr algn="l">
              <a:spcAft>
                <a:spcPts val="945"/>
              </a:spcAft>
            </a:pPr>
            <a:r>
              <a:rPr sz="1600" b="0" i="0">
                <a:solidFill>
                  <a:srgbClr val="5D5A54"/>
                </a:solidFill>
                <a:latin typeface="Source Serif 4"/>
              </a:rPr>
              <a:t>Holding a thought, a turn, a question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IN THE MOMENT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Calm first. Talk later.</a:t>
            </a:r>
          </a:p>
        </p:txBody>
      </p:sp>
      <p:sp>
        <p:nvSpPr>
          <p:cNvPr id="6" name="TextBox 5"/>
          <p:cNvSpPr txBox="1"/>
          <p:nvPr/>
        </p:nvSpPr>
        <p:spPr>
          <a:xfrm>
            <a:off x="822960" y="2057400"/>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093976"/>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Lower your voice</a:t>
            </a:r>
          </a:p>
          <a:p>
            <a:pPr algn="l">
              <a:spcAft>
                <a:spcPts val="945"/>
              </a:spcAft>
            </a:pPr>
            <a:r>
              <a:rPr sz="1600" b="0" i="0">
                <a:solidFill>
                  <a:srgbClr val="5D5A54"/>
                </a:solidFill>
                <a:latin typeface="Source Serif 4"/>
              </a:rPr>
              <a:t>Slower and quieter than theirs</a:t>
            </a:r>
          </a:p>
        </p:txBody>
      </p:sp>
      <p:sp>
        <p:nvSpPr>
          <p:cNvPr id="8" name="TextBox 7"/>
          <p:cNvSpPr txBox="1"/>
          <p:nvPr/>
        </p:nvSpPr>
        <p:spPr>
          <a:xfrm>
            <a:off x="822960" y="2862072"/>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2898648"/>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Use fewer words</a:t>
            </a:r>
          </a:p>
          <a:p>
            <a:pPr algn="l">
              <a:spcAft>
                <a:spcPts val="945"/>
              </a:spcAft>
            </a:pPr>
            <a:r>
              <a:rPr sz="1600" b="0" i="0">
                <a:solidFill>
                  <a:srgbClr val="5D5A54"/>
                </a:solidFill>
                <a:latin typeface="Source Serif 4"/>
              </a:rPr>
              <a:t>One short sentence, no lecture</a:t>
            </a:r>
          </a:p>
        </p:txBody>
      </p:sp>
      <p:sp>
        <p:nvSpPr>
          <p:cNvPr id="10" name="TextBox 9"/>
          <p:cNvSpPr txBox="1"/>
          <p:nvPr/>
        </p:nvSpPr>
        <p:spPr>
          <a:xfrm>
            <a:off x="822960" y="3666744"/>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3703320"/>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Name what you see</a:t>
            </a:r>
          </a:p>
          <a:p>
            <a:pPr algn="l">
              <a:spcAft>
                <a:spcPts val="945"/>
              </a:spcAft>
            </a:pPr>
            <a:r>
              <a:rPr sz="1600" b="0" i="0">
                <a:solidFill>
                  <a:srgbClr val="5D5A54"/>
                </a:solidFill>
                <a:latin typeface="Source Serif 4"/>
              </a:rPr>
              <a:t>"You look really frustrated."</a:t>
            </a:r>
          </a:p>
        </p:txBody>
      </p:sp>
      <p:sp>
        <p:nvSpPr>
          <p:cNvPr id="12" name="TextBox 11"/>
          <p:cNvSpPr txBox="1"/>
          <p:nvPr/>
        </p:nvSpPr>
        <p:spPr>
          <a:xfrm>
            <a:off x="822960" y="4471416"/>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4507992"/>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Give space and time</a:t>
            </a:r>
          </a:p>
          <a:p>
            <a:pPr algn="l">
              <a:spcAft>
                <a:spcPts val="945"/>
              </a:spcAft>
            </a:pPr>
            <a:r>
              <a:rPr sz="1600" b="0" i="0">
                <a:solidFill>
                  <a:srgbClr val="5D5A54"/>
                </a:solidFill>
                <a:latin typeface="Source Serif 4"/>
              </a:rPr>
              <a:t>Step back. Offer a minute or the hall.</a:t>
            </a:r>
          </a:p>
        </p:txBody>
      </p:sp>
      <p:sp>
        <p:nvSpPr>
          <p:cNvPr id="14" name="TextBox 13"/>
          <p:cNvSpPr txBox="1"/>
          <p:nvPr/>
        </p:nvSpPr>
        <p:spPr>
          <a:xfrm>
            <a:off x="822960" y="5276088"/>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5</a:t>
            </a:r>
          </a:p>
        </p:txBody>
      </p:sp>
      <p:sp>
        <p:nvSpPr>
          <p:cNvPr id="15" name="TextBox 14"/>
          <p:cNvSpPr txBox="1"/>
          <p:nvPr/>
        </p:nvSpPr>
        <p:spPr>
          <a:xfrm>
            <a:off x="1463040" y="5312664"/>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Leave a way back</a:t>
            </a:r>
          </a:p>
          <a:p>
            <a:pPr algn="l">
              <a:spcAft>
                <a:spcPts val="945"/>
              </a:spcAft>
            </a:pPr>
            <a:r>
              <a:rPr sz="1600" b="0" i="0">
                <a:solidFill>
                  <a:srgbClr val="5D5A54"/>
                </a:solidFill>
                <a:latin typeface="Source Serif 4"/>
              </a:rPr>
              <a:t>"We'll sort it out later."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TALK LATER</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Three steps to solve it together</a:t>
            </a:r>
          </a:p>
        </p:txBody>
      </p:sp>
      <p:sp>
        <p:nvSpPr>
          <p:cNvPr id="6" name="TextBox 5"/>
          <p:cNvSpPr txBox="1"/>
          <p:nvPr/>
        </p:nvSpPr>
        <p:spPr>
          <a:xfrm>
            <a:off x="822960" y="2194560"/>
            <a:ext cx="548640" cy="1051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51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Understand</a:t>
            </a:r>
          </a:p>
          <a:p>
            <a:pPr algn="l">
              <a:spcAft>
                <a:spcPts val="945"/>
              </a:spcAft>
            </a:pPr>
            <a:r>
              <a:rPr sz="1600" b="0" i="0">
                <a:solidFill>
                  <a:srgbClr val="5D5A54"/>
                </a:solidFill>
                <a:latin typeface="Source Serif 4"/>
              </a:rPr>
              <a:t>"I've noticed starting the writing has been hard. What's up?" Then listen and keep asking.</a:t>
            </a:r>
          </a:p>
        </p:txBody>
      </p:sp>
      <p:sp>
        <p:nvSpPr>
          <p:cNvPr id="8" name="TextBox 7"/>
          <p:cNvSpPr txBox="1"/>
          <p:nvPr/>
        </p:nvSpPr>
        <p:spPr>
          <a:xfrm>
            <a:off x="822960" y="3246120"/>
            <a:ext cx="548640" cy="1051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82696"/>
            <a:ext cx="9875520" cy="1051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Share your concern</a:t>
            </a:r>
          </a:p>
          <a:p>
            <a:pPr algn="l">
              <a:spcAft>
                <a:spcPts val="945"/>
              </a:spcAft>
            </a:pPr>
            <a:r>
              <a:rPr sz="1600" b="0" i="0">
                <a:solidFill>
                  <a:srgbClr val="5D5A54"/>
                </a:solidFill>
                <a:latin typeface="Source Serif 4"/>
              </a:rPr>
              <a:t>"My worry is you're falling behind, and the class gets pulled off track."</a:t>
            </a:r>
          </a:p>
        </p:txBody>
      </p:sp>
      <p:sp>
        <p:nvSpPr>
          <p:cNvPr id="10" name="TextBox 9"/>
          <p:cNvSpPr txBox="1"/>
          <p:nvPr/>
        </p:nvSpPr>
        <p:spPr>
          <a:xfrm>
            <a:off x="822960" y="4297679"/>
            <a:ext cx="548640" cy="105156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334255"/>
            <a:ext cx="9875520" cy="105156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Invite a solution</a:t>
            </a:r>
          </a:p>
          <a:p>
            <a:pPr algn="l">
              <a:spcAft>
                <a:spcPts val="945"/>
              </a:spcAft>
            </a:pPr>
            <a:r>
              <a:rPr sz="1600" b="0" i="0">
                <a:solidFill>
                  <a:srgbClr val="5D5A54"/>
                </a:solidFill>
                <a:latin typeface="Source Serif 4"/>
              </a:rPr>
              <a:t>"I wonder if there's a way to fix this that works for both of us."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FIRST TWO MINUTES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914400"/>
            <a:ext cx="10515600" cy="365760"/>
          </a:xfrm>
          <a:prstGeom prst="rect">
            <a:avLst/>
          </a:prstGeom>
          <a:noFill/>
        </p:spPr>
        <p:txBody>
          <a:bodyPr wrap="square" anchor="t" lIns="0" rIns="0" tIns="0" bIns="0">
            <a:spAutoFit/>
          </a:bodyPr>
          <a:lstStyle/>
          <a:p>
            <a:pPr algn="l">
              <a:spcAft>
                <a:spcPts val="630"/>
              </a:spcAft>
            </a:pPr>
            <a:r>
              <a:rPr sz="1400" b="1" i="0">
                <a:solidFill>
                  <a:srgbClr val="0B2D5B"/>
                </a:solidFill>
                <a:latin typeface="Inter Tight"/>
              </a:rPr>
              <a:t>Chance, 2022  ·  Cook et al., 2018  ·  Roorda et al., 2011</a:t>
            </a:r>
          </a:p>
        </p:txBody>
      </p:sp>
      <p:sp>
        <p:nvSpPr>
          <p:cNvPr id="6" name="TextBox 5"/>
          <p:cNvSpPr txBox="1"/>
          <p:nvPr/>
        </p:nvSpPr>
        <p:spPr>
          <a:xfrm>
            <a:off x="822960" y="1325880"/>
            <a:ext cx="10515600" cy="1097280"/>
          </a:xfrm>
          <a:prstGeom prst="rect">
            <a:avLst/>
          </a:prstGeom>
          <a:noFill/>
        </p:spPr>
        <p:txBody>
          <a:bodyPr wrap="square" anchor="t" lIns="0" rIns="0" tIns="0" bIns="0">
            <a:spAutoFit/>
          </a:bodyPr>
          <a:lstStyle/>
          <a:p>
            <a:pPr algn="l">
              <a:spcAft>
                <a:spcPts val="1440"/>
              </a:spcAft>
            </a:pPr>
            <a:r>
              <a:rPr sz="3200" b="1" i="0">
                <a:solidFill>
                  <a:srgbClr val="1C1B19"/>
                </a:solidFill>
                <a:latin typeface="Source Serif 4"/>
              </a:rPr>
              <a:t>You're in the hospitality business.</a:t>
            </a:r>
          </a:p>
        </p:txBody>
      </p:sp>
      <p:sp>
        <p:nvSpPr>
          <p:cNvPr id="7" name="TextBox 6"/>
          <p:cNvSpPr txBox="1"/>
          <p:nvPr/>
        </p:nvSpPr>
        <p:spPr>
          <a:xfrm>
            <a:off x="822960" y="2514600"/>
            <a:ext cx="10515600" cy="21945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  Greeting each student at the door added about 12 minutes on task per class hour.</a:t>
            </a:r>
          </a:p>
          <a:p>
            <a:pPr algn="l">
              <a:spcAft>
                <a:spcPts val="855"/>
              </a:spcAft>
            </a:pPr>
            <a:r>
              <a:rPr sz="1900" b="0" i="0">
                <a:solidFill>
                  <a:srgbClr val="1C1B19"/>
                </a:solidFill>
                <a:latin typeface="Source Serif 4"/>
              </a:rPr>
              <a:t>•  Disruptive behavior dropped too, and teachers found it easy to keep up.</a:t>
            </a:r>
          </a:p>
          <a:p>
            <a:pPr algn="l">
              <a:spcAft>
                <a:spcPts val="855"/>
              </a:spcAft>
            </a:pPr>
            <a:r>
              <a:rPr sz="1900" b="0" i="0">
                <a:solidFill>
                  <a:srgbClr val="1C1B19"/>
                </a:solidFill>
                <a:latin typeface="Source Serif 4"/>
              </a:rPr>
              <a:t>•  2x10: two minutes a day, ten days in a row, with one hard-to-reach student, about anything but school.</a:t>
            </a:r>
          </a:p>
        </p:txBody>
      </p:sp>
      <p:sp>
        <p:nvSpPr>
          <p:cNvPr id="8" name="Rectangle 7"/>
          <p:cNvSpPr/>
          <p:nvPr/>
        </p:nvSpPr>
        <p:spPr>
          <a:xfrm>
            <a:off x="822960" y="4892040"/>
            <a:ext cx="73152" cy="109728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892040"/>
            <a:ext cx="10241280" cy="1188720"/>
          </a:xfrm>
          <a:prstGeom prst="rect">
            <a:avLst/>
          </a:prstGeom>
          <a:noFill/>
        </p:spPr>
        <p:txBody>
          <a:bodyPr wrap="square" anchor="t" lIns="0" rIns="0" tIns="0" bIns="0">
            <a:spAutoFit/>
          </a:bodyPr>
          <a:lstStyle/>
          <a:p>
            <a:pPr algn="l">
              <a:spcAft>
                <a:spcPts val="855"/>
              </a:spcAft>
            </a:pPr>
            <a:r>
              <a:rPr sz="1200" b="1" i="0">
                <a:solidFill>
                  <a:srgbClr val="F47B20"/>
                </a:solidFill>
                <a:latin typeface="Inter Tight"/>
              </a:rPr>
              <a:t>IN CLASS</a:t>
            </a:r>
          </a:p>
          <a:p>
            <a:pPr algn="l">
              <a:spcAft>
                <a:spcPts val="855"/>
              </a:spcAft>
            </a:pPr>
            <a:r>
              <a:rPr sz="1900" b="0" i="0">
                <a:solidFill>
                  <a:srgbClr val="1C1B19"/>
                </a:solidFill>
                <a:latin typeface="Source Serif 4"/>
              </a:rPr>
              <a:t>Pick one student. Two minutes a day for two weeks. Notice what changes.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TRY IT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What would you do first?</a:t>
            </a:r>
          </a:p>
        </p:txBody>
      </p:sp>
      <p:sp>
        <p:nvSpPr>
          <p:cNvPr id="6" name="Rectangle 5"/>
          <p:cNvSpPr/>
          <p:nvPr/>
        </p:nvSpPr>
        <p:spPr>
          <a:xfrm>
            <a:off x="82296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ELI, 9TH GRADE MATH</a:t>
            </a:r>
          </a:p>
        </p:txBody>
      </p:sp>
      <p:sp>
        <p:nvSpPr>
          <p:cNvPr id="8" name="TextBox 7"/>
          <p:cNvSpPr txBox="1"/>
          <p:nvPr/>
        </p:nvSpPr>
        <p:spPr>
          <a:xfrm>
            <a:off x="105156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Shoves his notebook off the desk when you hand back a quiz. "This class is stupid."</a:t>
            </a:r>
          </a:p>
        </p:txBody>
      </p:sp>
      <p:sp>
        <p:nvSpPr>
          <p:cNvPr id="9" name="Rectangle 8"/>
          <p:cNvSpPr/>
          <p:nvPr/>
        </p:nvSpPr>
        <p:spPr>
          <a:xfrm>
            <a:off x="441960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820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AVA, 7TH GRADE SCIENCE</a:t>
            </a:r>
          </a:p>
        </p:txBody>
      </p:sp>
      <p:sp>
        <p:nvSpPr>
          <p:cNvPr id="11" name="TextBox 10"/>
          <p:cNvSpPr txBox="1"/>
          <p:nvPr/>
        </p:nvSpPr>
        <p:spPr>
          <a:xfrm>
            <a:off x="464820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Talks over you every time you give directions, then asks what she's supposed to do.</a:t>
            </a:r>
          </a:p>
        </p:txBody>
      </p:sp>
      <p:sp>
        <p:nvSpPr>
          <p:cNvPr id="12" name="Rectangle 11"/>
          <p:cNvSpPr/>
          <p:nvPr/>
        </p:nvSpPr>
        <p:spPr>
          <a:xfrm>
            <a:off x="8016239"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4839"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NOOR, 11TH GRADE ENGLISH</a:t>
            </a:r>
          </a:p>
        </p:txBody>
      </p:sp>
      <p:sp>
        <p:nvSpPr>
          <p:cNvPr id="14" name="TextBox 13"/>
          <p:cNvSpPr txBox="1"/>
          <p:nvPr/>
        </p:nvSpPr>
        <p:spPr>
          <a:xfrm>
            <a:off x="8244839"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Hasn't turned in an essay in three weeks. Puts her head down when you mention 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One student, two weeks</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On the back of your card: one student's initials, the first two-minute conversation, and one skill you'll watch for.</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FACULTY QUICK REFERENCE</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https://rmwtoolkit.github.io/bcds-toolkit/kids-do-well-if-they-can-faculty-card.html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