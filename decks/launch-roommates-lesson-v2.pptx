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FIRST 3 MINUTES. Something like: "Some of you will share a room with someone you've only met online. Some of you won't have a roommate at all, and these skills still work with siblings, coworkers and teammates."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Random assignment makes these natural experiments, which is why economists love them. Ask: "Why would a roommate change your grades?" Students usually get there: sleep, noise, habits, who you go out with.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Read each one, then ask students to stand when you say their default. Most stand for avoiding or accommodating. Say: "Each one fits some situations. Avoiding is fine for a one-time annoyance. For anything that repeats, it stores up resentment until it comes out sideways." Private question, not a share-out: "How did your family handle disagreements? Which style did you learn?" Families teach different rules; nobody's is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Gottman's newlywed study: how the first three minutes of a disagreement went predicted divorce six years later; opening with criticism of the person did worse. Different relationship, same lesson. Give them two minutes to write a first sentence for one: the partner who's slept over four nights this week, the food and charger, or the pregame before your exam. Ask two or three volunteers to read theirs. Push gently on any that start with "You always."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Half the groups take each card. Rosa and Hannah: both are avoiding; both are assuming. A collaborating version: "I love that your family is so close. The volume at 10 is hard because I'm trying to sleep by 10:30. Could we figure something out?" Rosa can open it too: "Are my calls bothering you? I'd rather know." Kwame and Luke: this is a safety situation, not a roommate problem. Kwame can ask directly: "Are you thinking about hurting yourself?" and tell the RA today. If Luke says anything about not wanting to live, Kwame calls 988 or campus safety right away. Telling isn't betrayal.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Share the student page link; it has the roommate agreement idea and the moves that help. Close with: "If a roommate ever talks about not wanting to live, you feel unsafe in your room, or someone can't be woken, that's an RA, campus safety or 911 call, not a roommate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Living With a Stranger</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find their default conflict style, write a soft, specific first sentence for a roommate problem, and learn when a roommate problem becomes a safety call. Bring index cards, and take the Kwame card slowly: it's about a roommate who may be suicidal.</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On the Rosa and Hannah card, say plainly that neither the nightly family call nor the quiet bedtime is wrong; families teach different rules about noise, privacy and speaking 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LIVING WITH A STRANGER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Living With a Stranger</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How to have the talk before the talk has you.</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Sacerdote, 2001  ·  Kremer and Levy, 2008  ·  Erb et al., 2014</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Your roommate rubs off on you.</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At Dartmouth, students' grades moved with their random roommates' grades.</a:t>
            </a:r>
          </a:p>
          <a:p>
            <a:pPr algn="l">
              <a:spcAft>
                <a:spcPts val="855"/>
              </a:spcAft>
            </a:pPr>
            <a:r>
              <a:rPr sz="1900" b="0" i="0">
                <a:solidFill>
                  <a:srgbClr val="1C1B19"/>
                </a:solidFill>
                <a:latin typeface="Source Serif 4"/>
              </a:rPr>
              <a:t>•  Men with a heavy-drinking roommate ended up about a quarter point lower in GPA.</a:t>
            </a:r>
          </a:p>
          <a:p>
            <a:pPr algn="l">
              <a:spcAft>
                <a:spcPts val="855"/>
              </a:spcAft>
            </a:pPr>
            <a:r>
              <a:rPr sz="1900" b="0" i="0">
                <a:solidFill>
                  <a:srgbClr val="1C1B19"/>
                </a:solidFill>
                <a:latin typeface="Source Serif 4"/>
              </a:rPr>
              <a:t>•  A good roommate relationship goes with better adjustment and mental health.</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You don't need a best friend. The room is worth some effort.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FIVE WAYS PEOPLE HANDLE CONFLICT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Which one is your default?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Competing</a:t>
            </a:r>
          </a:p>
          <a:p>
            <a:pPr algn="l">
              <a:spcAft>
                <a:spcPts val="945"/>
              </a:spcAft>
            </a:pPr>
            <a:r>
              <a:rPr sz="1600" b="0" i="0">
                <a:solidFill>
                  <a:srgbClr val="5D5A54"/>
                </a:solidFill>
                <a:latin typeface="Source Serif 4"/>
              </a:rPr>
              <a:t>"Lights off at 11. That's it."</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Collaborating</a:t>
            </a:r>
          </a:p>
          <a:p>
            <a:pPr algn="l">
              <a:spcAft>
                <a:spcPts val="945"/>
              </a:spcAft>
            </a:pPr>
            <a:r>
              <a:rPr sz="1600" b="0" i="0">
                <a:solidFill>
                  <a:srgbClr val="5D5A54"/>
                </a:solidFill>
                <a:latin typeface="Source Serif 4"/>
              </a:rPr>
              <a:t>"Desk lamp after midnight, and I get a sleep mask?"</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Compromising</a:t>
            </a:r>
          </a:p>
          <a:p>
            <a:pPr algn="l">
              <a:spcAft>
                <a:spcPts val="945"/>
              </a:spcAft>
            </a:pPr>
            <a:r>
              <a:rPr sz="1600" b="0" i="0">
                <a:solidFill>
                  <a:srgbClr val="5D5A54"/>
                </a:solidFill>
                <a:latin typeface="Source Serif 4"/>
              </a:rPr>
              <a:t>"Guests until midnight on weeknights."</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Avoiding</a:t>
            </a:r>
          </a:p>
          <a:p>
            <a:pPr algn="l">
              <a:spcAft>
                <a:spcPts val="945"/>
              </a:spcAft>
            </a:pPr>
            <a:r>
              <a:rPr sz="1600" b="0" i="0">
                <a:solidFill>
                  <a:srgbClr val="5D5A54"/>
                </a:solidFill>
                <a:latin typeface="Source Serif 4"/>
              </a:rPr>
              <a:t>Earbuds in, say nothing.</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Accommodating</a:t>
            </a:r>
          </a:p>
          <a:p>
            <a:pPr algn="l">
              <a:spcAft>
                <a:spcPts val="945"/>
              </a:spcAft>
            </a:pPr>
            <a:r>
              <a:rPr sz="1600" b="0" i="0">
                <a:solidFill>
                  <a:srgbClr val="5D5A54"/>
                </a:solidFill>
                <a:latin typeface="Source Serif 4"/>
              </a:rPr>
              <a:t>"No, it's fine, have them 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FIRST SENTENCE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Start soft and specific.</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Notice</a:t>
            </a:r>
          </a:p>
          <a:p>
            <a:pPr algn="l">
              <a:spcAft>
                <a:spcPts val="945"/>
              </a:spcAft>
            </a:pPr>
            <a:r>
              <a:rPr sz="1600" b="0" i="0">
                <a:solidFill>
                  <a:srgbClr val="5D5A54"/>
                </a:solidFill>
                <a:latin typeface="Source Serif 4"/>
              </a:rPr>
              <a:t>"When the lights are on after 1 a.m...."</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Effect</a:t>
            </a:r>
          </a:p>
          <a:p>
            <a:pPr algn="l">
              <a:spcAft>
                <a:spcPts val="945"/>
              </a:spcAft>
            </a:pPr>
            <a:r>
              <a:rPr sz="1600" b="0" i="0">
                <a:solidFill>
                  <a:srgbClr val="5D5A54"/>
                </a:solidFill>
                <a:latin typeface="Source Serif 4"/>
              </a:rPr>
              <a:t>"...I can't fall asleep, and I have an 8 a.m."</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a:t>
            </a:r>
          </a:p>
          <a:p>
            <a:pPr algn="l">
              <a:spcAft>
                <a:spcPts val="945"/>
              </a:spcAft>
            </a:pPr>
            <a:r>
              <a:rPr sz="1600" b="0" i="0">
                <a:solidFill>
                  <a:srgbClr val="5D5A54"/>
                </a:solidFill>
                <a:latin typeface="Source Serif 4"/>
              </a:rPr>
              <a:t>"Could we try 12:30 on weeknights, with a desk lamp?"</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Your turn</a:t>
            </a:r>
          </a:p>
          <a:p>
            <a:pPr algn="l">
              <a:spcAft>
                <a:spcPts val="945"/>
              </a:spcAft>
            </a:pPr>
            <a:r>
              <a:rPr sz="1600" b="0" i="0">
                <a:solidFill>
                  <a:srgbClr val="5D5A54"/>
                </a:solidFill>
                <a:latin typeface="Source Serif 4"/>
              </a:rPr>
              <a:t>On your card, write a first sentence for one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ROOMS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do?</a:t>
            </a:r>
          </a:p>
        </p:txBody>
      </p:sp>
      <p:sp>
        <p:nvSpPr>
          <p:cNvPr id="6" name="Rectangle 5"/>
          <p:cNvSpPr/>
          <p:nvPr/>
        </p:nvSpPr>
        <p:spPr>
          <a:xfrm>
            <a:off x="82296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ROSA AND HANNAH</a:t>
            </a:r>
          </a:p>
        </p:txBody>
      </p:sp>
      <p:sp>
        <p:nvSpPr>
          <p:cNvPr id="8" name="TextBox 7"/>
          <p:cNvSpPr txBox="1"/>
          <p:nvPr/>
        </p:nvSpPr>
        <p:spPr>
          <a:xfrm>
            <a:off x="105156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Rosa calls home every night on speaker at 10, in Spanish, with her grandmother and little brothers. Hannah goes to bed at 10:30 and has started sighing and putting her headphones on hard. Rosa thinks Hannah doesn't like her.</a:t>
            </a:r>
          </a:p>
        </p:txBody>
      </p:sp>
      <p:sp>
        <p:nvSpPr>
          <p:cNvPr id="9" name="Rectangle 8"/>
          <p:cNvSpPr/>
          <p:nvPr/>
        </p:nvSpPr>
        <p:spPr>
          <a:xfrm>
            <a:off x="621792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KWAME AND LUKE</a:t>
            </a:r>
          </a:p>
        </p:txBody>
      </p:sp>
      <p:sp>
        <p:nvSpPr>
          <p:cNvPr id="11" name="TextBox 10"/>
          <p:cNvSpPr txBox="1"/>
          <p:nvPr/>
        </p:nvSpPr>
        <p:spPr>
          <a:xfrm>
            <a:off x="644652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Luke hasn't left the room in five days, isn't showering, and stopped going to class. Kwame overheard him on the phone saying he "doesn't see the point." Telling the RA feels like going behind his 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Sleep, guests, stuff, quiet, values</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You don't have to agree on the big five. You do have to know.</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https://rmwtoolkit.github.io/bcds-toolkit/launch-roommates-high-school.html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Living With a Stranger</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learn why the roommate relationship matters, recognize their own default conflict style and where it came from, practice a soft, specific opening line (notice, effect, ask), and know when a roommate problem is really a safety problem.</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The five conflict styles on the board or slide</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Your roommate rubs off on you (research)</a:t>
            </a:r>
          </a:p>
          <a:p>
            <a:pPr algn="l">
              <a:spcAft>
                <a:spcPts val="630"/>
              </a:spcAft>
            </a:pPr>
            <a:r>
              <a:rPr sz="1300" b="1" i="0">
                <a:solidFill>
                  <a:srgbClr val="F47B20"/>
                </a:solidFill>
                <a:latin typeface="Inter Tight"/>
              </a:rPr>
              <a:t>4 min   </a:t>
            </a:r>
            <a:r>
              <a:rPr sz="1400" b="0" i="0">
                <a:solidFill>
                  <a:srgbClr val="1C1B19"/>
                </a:solidFill>
                <a:latin typeface="Source Serif 4"/>
              </a:rPr>
              <a:t>Five conflict styles: stand by your default</a:t>
            </a:r>
          </a:p>
          <a:p>
            <a:pPr algn="l">
              <a:spcAft>
                <a:spcPts val="630"/>
              </a:spcAft>
            </a:pPr>
            <a:r>
              <a:rPr sz="1300" b="1" i="0">
                <a:solidFill>
                  <a:srgbClr val="F47B20"/>
                </a:solidFill>
                <a:latin typeface="Inter Tight"/>
              </a:rPr>
              <a:t>5 min   </a:t>
            </a:r>
            <a:r>
              <a:rPr sz="1400" b="0" i="0">
                <a:solidFill>
                  <a:srgbClr val="1C1B19"/>
                </a:solidFill>
                <a:latin typeface="Source Serif 4"/>
              </a:rPr>
              <a:t>Notice, effect, ask: write your first sentence</a:t>
            </a:r>
          </a:p>
          <a:p>
            <a:pPr algn="l">
              <a:spcAft>
                <a:spcPts val="630"/>
              </a:spcAft>
            </a:pPr>
            <a:r>
              <a:rPr sz="1300" b="1" i="0">
                <a:solidFill>
                  <a:srgbClr val="F47B20"/>
                </a:solidFill>
                <a:latin typeface="Inter Tight"/>
              </a:rPr>
              <a:t>6 min   </a:t>
            </a:r>
            <a:r>
              <a:rPr sz="1400" b="0" i="0">
                <a:solidFill>
                  <a:srgbClr val="1C1B19"/>
                </a:solidFill>
                <a:latin typeface="Source Serif 4"/>
              </a:rPr>
              <a:t>Two rooms: Rosa and Hannah, Kwame and Luke</a:t>
            </a:r>
          </a:p>
          <a:p>
            <a:pPr algn="l">
              <a:spcAft>
                <a:spcPts val="630"/>
              </a:spcAft>
            </a:pPr>
            <a:r>
              <a:rPr sz="1300" b="1" i="0">
                <a:solidFill>
                  <a:srgbClr val="F47B20"/>
                </a:solidFill>
                <a:latin typeface="Inter Tight"/>
              </a:rPr>
              <a:t>2 min   </a:t>
            </a:r>
            <a:r>
              <a:rPr sz="1400" b="0" i="0">
                <a:solidFill>
                  <a:srgbClr val="1C1B19"/>
                </a:solidFill>
                <a:latin typeface="Source Serif 4"/>
              </a:rPr>
              <a:t>The big five,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VERSION)</a:t>
            </a:r>
          </a:p>
          <a:p>
            <a:pPr algn="l">
              <a:spcAft>
                <a:spcPts val="630"/>
              </a:spcAft>
            </a:pPr>
            <a:r>
              <a:rPr sz="1400" b="0" i="0">
                <a:solidFill>
                  <a:srgbClr val="1C1B19"/>
                </a:solidFill>
                <a:latin typeface="Source Serif 4"/>
              </a:rPr>
              <a:t>Five conflict styles (3), notice, effect, ask (4), Kwame and Luke only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Steer away from who's right.</a:t>
            </a:r>
          </a:p>
          <a:p>
            <a:pPr algn="l">
              <a:spcAft>
                <a:spcPts val="585"/>
              </a:spcAft>
            </a:pPr>
            <a:r>
              <a:rPr sz="1300" b="0" i="0">
                <a:solidFill>
                  <a:srgbClr val="1C1B19"/>
                </a:solidFill>
                <a:latin typeface="Source Serif 4"/>
              </a:rPr>
              <a:t>In the Rosa and Hannah story, both habits are reasonable. If the room starts judging Rosa's family or Hannah's quiet, bring it back to the question: what would a collaborating version sound like?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Kwame's story is about suicide risk.</a:t>
            </a:r>
          </a:p>
          <a:p>
            <a:pPr algn="l">
              <a:spcAft>
                <a:spcPts val="585"/>
              </a:spcAft>
            </a:pPr>
            <a:r>
              <a:rPr sz="1300" b="0" i="0">
                <a:solidFill>
                  <a:srgbClr val="1C1B19"/>
                </a:solidFill>
                <a:latin typeface="Source Serif 4"/>
              </a:rPr>
              <a:t>Read it slowly. Say clearly that a roommate who "doesn't see the point" is a safety situation, that telling an RA is the right call, and that asking directly about suicide doesn't put the idea in anyone's head.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students won't have a roommate.</a:t>
            </a:r>
          </a:p>
          <a:p>
            <a:pPr algn="l">
              <a:spcAft>
                <a:spcPts val="585"/>
              </a:spcAft>
            </a:pPr>
            <a:r>
              <a:rPr sz="1300" b="0" i="0">
                <a:solidFill>
                  <a:srgbClr val="1C1B19"/>
                </a:solidFill>
                <a:latin typeface="Source Serif 4"/>
              </a:rPr>
              <a:t>Commuters, students living at home, gap-year students and students headed to work or the military are in the room too. The conflict skills work with siblings, coworkers and teammates. Say so.</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Don't ask about home.</a:t>
            </a:r>
          </a:p>
          <a:p>
            <a:pPr algn="l">
              <a:spcAft>
                <a:spcPts val="585"/>
              </a:spcAft>
            </a:pPr>
            <a:r>
              <a:rPr sz="1300" b="0" i="0">
                <a:solidFill>
                  <a:srgbClr val="1C1B19"/>
                </a:solidFill>
                <a:latin typeface="Source Serif 4"/>
              </a:rPr>
              <a:t>"How did your family handle disagreements?" is a private reflection, not a share-out. Some homes handled conflict with yelling, silence or worse.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Identity isn't a conflict style.</a:t>
            </a:r>
          </a:p>
          <a:p>
            <a:pPr algn="l">
              <a:spcAft>
                <a:spcPts val="585"/>
              </a:spcAft>
            </a:pPr>
            <a:r>
              <a:rPr sz="1300" b="0" i="0">
                <a:solidFill>
                  <a:srgbClr val="1C1B19"/>
                </a:solidFill>
                <a:latin typeface="Source Serif 4"/>
              </a:rPr>
              <a:t>If a student raises a roommate's race, religion, sexuality, gender identity or disability as a "problem," be clear: slurs and mocking aren't a style difference, and colleges have bias reporting for that.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After the lesson.</a:t>
            </a:r>
          </a:p>
          <a:p>
            <a:pPr algn="l">
              <a:spcAft>
                <a:spcPts val="585"/>
              </a:spcAft>
            </a:pPr>
            <a:r>
              <a:rPr sz="1300" b="0" i="0">
                <a:solidFill>
                  <a:srgbClr val="1C1B19"/>
                </a:solidFill>
                <a:latin typeface="Source Serif 4"/>
              </a:rPr>
              <a:t>If a student tells you they're worried about a friend or about themselves, follow up one on one that day.</a:t>
            </a:r>
          </a:p>
          <a:p>
            <a:pPr algn="l">
              <a:spcAft>
                <a:spcPts val="585"/>
              </a:spcAft>
            </a:pPr>
            <a:r>
              <a:rPr sz="1300" b="0" i="0">
                <a:solidFill>
                  <a:srgbClr val="1C1B19"/>
                </a:solidFill>
                <a:latin typeface="Source Serif 4"/>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House rules travel.</a:t>
            </a:r>
          </a:p>
          <a:p>
            <a:pPr algn="l">
              <a:spcAft>
                <a:spcPts val="585"/>
              </a:spcAft>
            </a:pPr>
            <a:r>
              <a:rPr sz="1300" b="0" i="0">
                <a:solidFill>
                  <a:srgbClr val="1C1B19"/>
                </a:solidFill>
                <a:latin typeface="Source Serif 4"/>
              </a:rPr>
              <a:t>In some families you say what bothers you and it's over in five minutes; in others a direct complaint is rude, and people hint or go through someone else. Present both as learned rules, never as better and worse.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and values in a shared room.</a:t>
            </a:r>
          </a:p>
          <a:p>
            <a:pPr algn="l">
              <a:spcAft>
                <a:spcPts val="585"/>
              </a:spcAft>
            </a:pPr>
            <a:r>
              <a:rPr sz="1300" b="0" i="0">
                <a:solidFill>
                  <a:srgbClr val="1C1B19"/>
                </a:solidFill>
                <a:latin typeface="Source Serif 4"/>
              </a:rPr>
              <a:t>One roommate may pray five times a day, another may never have been religious; one may drink and the other not. Name values as one of the big five to discuss, not a reason to avoid each other.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Shared rooms aren't new to everyone.</a:t>
            </a:r>
          </a:p>
          <a:p>
            <a:pPr algn="l">
              <a:spcAft>
                <a:spcPts val="585"/>
              </a:spcAft>
            </a:pPr>
            <a:r>
              <a:rPr sz="1300" b="0" i="0">
                <a:solidFill>
                  <a:srgbClr val="1C1B19"/>
                </a:solidFill>
                <a:latin typeface="Source Serif 4"/>
              </a:rPr>
              <a:t>Some students have always shared a room with siblings; others have never shared. Neither is the default.</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Race and difference.</a:t>
            </a:r>
          </a:p>
          <a:p>
            <a:pPr algn="l">
              <a:spcAft>
                <a:spcPts val="585"/>
              </a:spcAft>
            </a:pPr>
            <a:r>
              <a:rPr sz="1300" b="0" i="0">
                <a:solidFill>
                  <a:srgbClr val="1C1B19"/>
                </a:solidFill>
                <a:latin typeface="Source Serif 4"/>
              </a:rPr>
              <a:t>The Shook and Fazio study shows white students with a Black roommate reported less satisfaction early on, and less anxiety and better attitudes by the end of the term. Present it as a reason to give a roommate who's different from you time, never as a comment on any student.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Some students worry about how a roommate will react to who they are. Housing offices and RAs can help with roommate matching and room changes. Say that out loud.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 and neurodivergence.</a:t>
            </a:r>
          </a:p>
          <a:p>
            <a:pPr algn="l">
              <a:spcAft>
                <a:spcPts val="585"/>
              </a:spcAft>
            </a:pPr>
            <a:r>
              <a:rPr sz="1300" b="0" i="0">
                <a:solidFill>
                  <a:srgbClr val="1C1B19"/>
                </a:solidFill>
                <a:latin typeface="Source Serif 4"/>
              </a:rPr>
              <a:t>Sensory needs, medical equipment, sleep schedules and medication can all be part of a roommate agreement. Disability services can help with housing accommodations.</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Dartmouth assigns first-year roommates at random. Students' grades moved with their roommates' grades, and roommates influenced whether each other joined fraternities.</a:t>
            </a:r>
          </a:p>
          <a:p>
            <a:pPr algn="l">
              <a:spcAft>
                <a:spcPts val="585"/>
              </a:spcAft>
            </a:pPr>
            <a:r>
              <a:rPr sz="1050" b="0" i="0">
                <a:solidFill>
                  <a:srgbClr val="5D5A54"/>
                </a:solidFill>
                <a:latin typeface="Inter Tight"/>
              </a:rPr>
              <a:t>Sacerdote, Quarterly Journal of Economics, 2001</a:t>
            </a:r>
          </a:p>
          <a:p>
            <a:pPr algn="l">
              <a:spcAft>
                <a:spcPts val="585"/>
              </a:spcAft>
            </a:pPr>
            <a:r>
              <a:rPr sz="1300" b="0" i="0">
                <a:solidFill>
                  <a:srgbClr val="1C1B19"/>
                </a:solidFill>
                <a:latin typeface="Source Serif 4"/>
              </a:rPr>
              <a:t>At another school with random assignment, men placed with a roommate who drank often before college ended up with GPAs about a quarter point lower. Women's grades weren't affected.</a:t>
            </a:r>
          </a:p>
          <a:p>
            <a:pPr algn="l">
              <a:spcAft>
                <a:spcPts val="585"/>
              </a:spcAft>
            </a:pPr>
            <a:r>
              <a:rPr sz="1050" b="0" i="0">
                <a:solidFill>
                  <a:srgbClr val="5D5A54"/>
                </a:solidFill>
                <a:latin typeface="Inter Tight"/>
              </a:rPr>
              <a:t>Kremer and Levy, Journal of Economic Perspectives, 2008</a:t>
            </a:r>
          </a:p>
          <a:p>
            <a:pPr algn="l">
              <a:spcAft>
                <a:spcPts val="585"/>
              </a:spcAft>
            </a:pPr>
            <a:r>
              <a:rPr sz="1300" b="0" i="0">
                <a:solidFill>
                  <a:srgbClr val="1C1B19"/>
                </a:solidFill>
                <a:latin typeface="Source Serif 4"/>
              </a:rPr>
              <a:t>A review ties the quality of the roommate relationship to adjustment to college and to mental health.</a:t>
            </a:r>
          </a:p>
          <a:p>
            <a:pPr algn="l">
              <a:spcAft>
                <a:spcPts val="585"/>
              </a:spcAft>
            </a:pPr>
            <a:r>
              <a:rPr sz="1050" b="0" i="0">
                <a:solidFill>
                  <a:srgbClr val="5D5A54"/>
                </a:solidFill>
                <a:latin typeface="Inter Tight"/>
              </a:rPr>
              <a:t>Erb, Renshaw, Short and Pollard, Journal of Student Affairs Research and Practice, 2014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Among randomly assigned first-years, white students living with a Black roommate reported less satisfaction early on, and by the end of the term their anxiety about interacting across race had dropped and their attitudes had improved.</a:t>
            </a:r>
          </a:p>
          <a:p>
            <a:pPr algn="l">
              <a:spcAft>
                <a:spcPts val="585"/>
              </a:spcAft>
            </a:pPr>
            <a:r>
              <a:rPr sz="1050" b="0" i="0">
                <a:solidFill>
                  <a:srgbClr val="5D5A54"/>
                </a:solidFill>
                <a:latin typeface="Inter Tight"/>
              </a:rPr>
              <a:t>Shook and Fazio, Psychological Science, 2008</a:t>
            </a:r>
          </a:p>
          <a:p>
            <a:pPr algn="l">
              <a:spcAft>
                <a:spcPts val="585"/>
              </a:spcAft>
            </a:pPr>
            <a:r>
              <a:rPr sz="1300" b="0" i="0">
                <a:solidFill>
                  <a:srgbClr val="1C1B19"/>
                </a:solidFill>
                <a:latin typeface="Source Serif 4"/>
              </a:rPr>
              <a:t>In 124 newlywed couples, how the first three minutes of a disagreement went predicted which couples would divorce over six years. Opening with criticism of the person, instead of a specific complaint, did worse.</a:t>
            </a:r>
          </a:p>
          <a:p>
            <a:pPr algn="l">
              <a:spcAft>
                <a:spcPts val="585"/>
              </a:spcAft>
            </a:pPr>
            <a:r>
              <a:rPr sz="1050" b="0" i="0">
                <a:solidFill>
                  <a:srgbClr val="5D5A54"/>
                </a:solidFill>
                <a:latin typeface="Inter Tight"/>
              </a:rPr>
              <a:t>Carrère and Gottman, Family Process, 1999</a:t>
            </a:r>
          </a:p>
          <a:p>
            <a:pPr algn="l">
              <a:spcAft>
                <a:spcPts val="585"/>
              </a:spcAft>
            </a:pPr>
            <a:r>
              <a:rPr sz="1300" b="0" i="0">
                <a:solidFill>
                  <a:srgbClr val="1C1B19"/>
                </a:solidFill>
                <a:latin typeface="Source Serif 4"/>
              </a:rPr>
              <a:t>The Thomas-Kilmann model maps five conflict styles (competing, collaborating, compromising, avoiding, accommodating). Each fits some situations; most people have a default.</a:t>
            </a:r>
          </a:p>
          <a:p>
            <a:pPr algn="l">
              <a:spcAft>
                <a:spcPts val="585"/>
              </a:spcAft>
            </a:pPr>
            <a:r>
              <a:rPr sz="1050" b="0" i="0">
                <a:solidFill>
                  <a:srgbClr val="5D5A54"/>
                </a:solidFill>
                <a:latin typeface="Inter Tight"/>
              </a:rPr>
              <a:t>Thomas and Kilmann, 1974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