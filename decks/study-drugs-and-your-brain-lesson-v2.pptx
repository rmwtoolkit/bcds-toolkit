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care line before anything else: "Some of you take ADHD medication your doctor prescribed. That's treatment, and it's yours. Today is about borrowed pills."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Read each one; everyone votes at once. Answers: 1, meh: familiar words feel like knowledge, and self-testing works much better. 2, hurts, or meh at best: you feel sharper, scores barely move, sleep drops, and it's illegal. 3, helps a lot: retrieval practice and spacing are two of the best-studied methods there are. 4, hurts: you walk in having stored less. Ask: "Why do the habits that feel productive so often lose to the ones that don't?"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Adderall (amphetamine) and Ritalin or Concerta (methylphenidate) raise dopamine and norepinephrine. The striatum makes work feel worth doing, which is real even when the studying isn't any better. The prefrontal cortex holds goals and blocks distractions. Norepinephrine is why people feel wired and why heart rate climbs. Ask: "If a pill makes boring work feel interesting, how would you know whether you actually learned more?"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Draw an upside-down U on the board: focus on the vertical, dopamine on the horizontal. Mark a dot low on the left for a brain with ADHD and a dot near the top for a brain without. The right dose moves the first dot up. For the second, more pushes it down the far side. This is a model from brain research (Cools and D'Esposito, 2011), not a measurement of any one person. It's also why prescribed medication works for the person it was prescribed 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Go point by point. The 2013 study was double-blind: nobody knew who got the pill. The 2023 study used a hard planning puzzle; many who did best on placebo fell below average on a stimulant. The 2008 study followed 1,253 college students; the pill tends to be a patch on a bigger problem. Last point: lifetime nonmedical use fell from about 10% in 2005 to under 5% in 2023. "Everyone's doing it during finals" is wrong. Add the costs: sleep (a pill that keeps you up till 3am works against the test), heart and nerves, the crash, and the law (giving away even one pill counts as distribution). Then the fake pill risk: counterfeits pressed to look like Adderall have contained meth or fentanyl.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One card per group, then report back. Nadia: say no, sleep by midnight, do 20 minutes of practice problems before school. Sleep stores what she already studied. Theo: "Not happening. Want to do a practice section together?" Other lines that work: "They're counted." "It's dosed for me, not you." If the pressure keeps up, a counselor can help without making him the story. Jae: ask a counselor or doctor about an evaluation. ADHD starts in childhood and shows up in more than one setting. A pill working doesn't diagnose anything, since stimulants make most people feel more focused. Families see ADHD differently; a counselor can help him raise it at home.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Pair-share: "Which one of these would be easiest to try before your next test?" Cite the 2006 study: students who practiced recalling a passage remembered more a week later than students who reread it, though rereading made them more confident.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anonymously. Share the take-home link on the slide. It has the brain circuit, the research, lines for students with prescriptions, the ADHD questions, the emergency signs, and who to talk to, including 988 if school stress feels hopeless.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Study Drugs and Your Brain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why a borrowed stimulant feels like it works, why scores mostly don't move, and which study habits do raise them. Say early that prescribed ADHD medication is legitimate treatment, and if a student says they're buying pills or being pressured to sell theirs, connect them with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Students with ADHD prescriptions are in the room, and families see ADHD and medication very differently; keep the line on borrowed pills, never on the students who take their own.</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Helps, hurts, or meh (4), the upside-down U (4), the research (6), exit card (3), with the take-home link for the rest. Run this one before finals if you can.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STUDY DRUGS AND YOUR BRAIN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Study Drugs and Your Brain</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Why a borrowed pill feels like it's working, and what actually raises scores.</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HELPS, HURTS, OR MEH?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Vote with fingers: 1 helps, 2 hurts, 3 meh.</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Rereading your notes three times</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Taking a friend's Adderall</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Practice tests spread over a week</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 all-nighter before the 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IT WORKS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circuit stimulants push on</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DOPAMINE</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Starts in the VTA</a:t>
            </a:r>
          </a:p>
          <a:p>
            <a:pPr algn="l">
              <a:spcAft>
                <a:spcPts val="855"/>
              </a:spcAft>
            </a:pPr>
            <a:r>
              <a:rPr sz="1900" b="0" i="0">
                <a:solidFill>
                  <a:srgbClr val="1C1B19"/>
                </a:solidFill>
                <a:latin typeface="Source Serif 4"/>
              </a:rPr>
              <a:t>Goes to the striatum: dull work feels interesting</a:t>
            </a:r>
          </a:p>
          <a:p>
            <a:pPr algn="l">
              <a:spcAft>
                <a:spcPts val="855"/>
              </a:spcAft>
            </a:pPr>
            <a:r>
              <a:rPr sz="1900" b="0" i="0">
                <a:solidFill>
                  <a:srgbClr val="1C1B19"/>
                </a:solidFill>
                <a:latin typeface="Source Serif 4"/>
              </a:rPr>
              <a:t>And the prefrontal cortex: holds the plan</a:t>
            </a:r>
          </a:p>
          <a:p>
            <a:pPr algn="l">
              <a:spcAft>
                <a:spcPts val="855"/>
              </a:spcAft>
            </a:pPr>
            <a:r>
              <a:rPr sz="1900" b="0" i="0">
                <a:solidFill>
                  <a:srgbClr val="1C1B19"/>
                </a:solidFill>
                <a:latin typeface="Source Serif 4"/>
              </a:rPr>
              <a:t>That's the "I could study for hours" feeling</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NOREPINEPHRINE</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Starts in the locus coeruleus</a:t>
            </a:r>
          </a:p>
          <a:p>
            <a:pPr algn="l">
              <a:spcAft>
                <a:spcPts val="855"/>
              </a:spcAft>
            </a:pPr>
            <a:r>
              <a:rPr sz="1900" b="0" i="0">
                <a:solidFill>
                  <a:srgbClr val="1C1B19"/>
                </a:solidFill>
                <a:latin typeface="Source Serif 4"/>
              </a:rPr>
              <a:t>You feel wired and alert</a:t>
            </a:r>
          </a:p>
          <a:p>
            <a:pPr algn="l">
              <a:spcAft>
                <a:spcPts val="855"/>
              </a:spcAft>
            </a:pPr>
            <a:r>
              <a:rPr sz="1900" b="0" i="0">
                <a:solidFill>
                  <a:srgbClr val="1C1B19"/>
                </a:solidFill>
                <a:latin typeface="Source Serif 4"/>
              </a:rPr>
              <a:t>It acts on your body too</a:t>
            </a:r>
          </a:p>
          <a:p>
            <a:pPr algn="l">
              <a:spcAft>
                <a:spcPts val="855"/>
              </a:spcAft>
            </a:pPr>
            <a:r>
              <a:rPr sz="1900" b="0" i="0">
                <a:solidFill>
                  <a:srgbClr val="1C1B19"/>
                </a:solidFill>
                <a:latin typeface="Source Serif 4"/>
              </a:rPr>
              <a:t>Heart rate and blood pressure climb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MORE ISN'T BETTER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Focus works best in the middle.</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An ADHD brain often starts low, and the right dose moves it up. A brain without ADHD usually starts near the top. Extra pushes it over the hump.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Ilieva et al., 2013  ·  Bowman et al., 2023  ·  Arria et al., 2008  ·  McCabe et al., 2025</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Feels smarter. Scores the same, or worse.</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On Adderall, healthy adults scored no better on 13 tests, but thought they did.</a:t>
            </a:r>
          </a:p>
          <a:p>
            <a:pPr algn="l">
              <a:spcAft>
                <a:spcPts val="855"/>
              </a:spcAft>
            </a:pPr>
            <a:r>
              <a:rPr sz="1900" b="0" i="0">
                <a:solidFill>
                  <a:srgbClr val="1C1B19"/>
                </a:solidFill>
                <a:latin typeface="Source Serif 4"/>
              </a:rPr>
              <a:t>•  On stimulants, people worked longer and gave worse answers.</a:t>
            </a:r>
          </a:p>
          <a:p>
            <a:pPr algn="l">
              <a:spcAft>
                <a:spcPts val="855"/>
              </a:spcAft>
            </a:pPr>
            <a:r>
              <a:rPr sz="1900" b="0" i="0">
                <a:solidFill>
                  <a:srgbClr val="1C1B19"/>
                </a:solidFill>
                <a:latin typeface="Source Serif 4"/>
              </a:rPr>
              <a:t>•  First-years using them had lower GPAs by year's end.</a:t>
            </a:r>
          </a:p>
          <a:p>
            <a:pPr algn="l">
              <a:spcAft>
                <a:spcPts val="855"/>
              </a:spcAft>
            </a:pPr>
            <a:r>
              <a:rPr sz="1900" b="0" i="0">
                <a:solidFill>
                  <a:srgbClr val="1C1B19"/>
                </a:solidFill>
                <a:latin typeface="Source Serif 4"/>
              </a:rPr>
              <a:t>•  Fewer than 1 in 20 teens have ever tried one without a prescription.</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The feeling comes from the drug. The score comes from you.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SITUATIONS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your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NADIA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11pm. A friend texts: "I have an extra Vyvanse. Want it for the chem test tomorrow?" She hasn't finished the review.</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THEO</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Has a prescription. A teammate offers him $20 for five pills before the SAT.</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JAE</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Since middle school he's lost assignments, left projects unfinished and zoned out in class. His grades swing a lot.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REAL PERFORMANCE STACK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Four things that raise scores, no side effects</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Quiz yourself.</a:t>
            </a:r>
          </a:p>
          <a:p>
            <a:pPr algn="l">
              <a:spcAft>
                <a:spcPts val="945"/>
              </a:spcAft>
            </a:pPr>
            <a:r>
              <a:rPr sz="1600" b="0" i="0">
                <a:solidFill>
                  <a:srgbClr val="5D5A54"/>
                </a:solidFill>
                <a:latin typeface="Source Serif 4"/>
              </a:rPr>
              <a:t>Recall beats rereading, even though rereading feels better.</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Spread it out.</a:t>
            </a:r>
          </a:p>
          <a:p>
            <a:pPr algn="l">
              <a:spcAft>
                <a:spcPts val="945"/>
              </a:spcAft>
            </a:pPr>
            <a:r>
              <a:rPr sz="1600" b="0" i="0">
                <a:solidFill>
                  <a:srgbClr val="5D5A54"/>
                </a:solidFill>
                <a:latin typeface="Source Serif 4"/>
              </a:rPr>
              <a:t>Short sessions across a week beat one cram.</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Protect sleep.</a:t>
            </a:r>
          </a:p>
          <a:p>
            <a:pPr algn="l">
              <a:spcAft>
                <a:spcPts val="945"/>
              </a:spcAft>
            </a:pPr>
            <a:r>
              <a:rPr sz="1600" b="0" i="0">
                <a:solidFill>
                  <a:srgbClr val="5D5A54"/>
                </a:solidFill>
                <a:latin typeface="Source Serif 4"/>
              </a:rPr>
              <a:t>That's when memories get locked in.</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Ask early.</a:t>
            </a:r>
          </a:p>
          <a:p>
            <a:pPr algn="l">
              <a:spcAft>
                <a:spcPts val="945"/>
              </a:spcAft>
            </a:pPr>
            <a:r>
              <a:rPr sz="1600" b="0" i="0">
                <a:solidFill>
                  <a:srgbClr val="5D5A54"/>
                </a:solidFill>
                <a:latin typeface="Source Serif 4"/>
              </a:rPr>
              <a:t>Extensions and extra help are easier a week 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A friend says Adderall is the only way they'll survive finals. What do you say?</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https://rmwtoolkit.github.io/bcds-toolkit/study-drugs-and-your-brain-high-school.html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Study Drugs and Your Brain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a borrowed stimulant feels like it's working, what the research shows about actual scores, and which study habits really do raise them. Students with ADHD prescriptions should leave feeling respected, never suspected.</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exit card</a:t>
            </a:r>
          </a:p>
          <a:p>
            <a:pPr algn="l">
              <a:spcAft>
                <a:spcPts val="675"/>
              </a:spcAft>
            </a:pPr>
            <a:r>
              <a:rPr sz="1500" b="0" i="0">
                <a:solidFill>
                  <a:srgbClr val="1C1B19"/>
                </a:solidFill>
                <a:latin typeface="Source Serif 4"/>
              </a:rPr>
              <a:t>Board space to draw the upside-down U</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Helps, hurts, or meh? (finger vote)</a:t>
            </a:r>
          </a:p>
          <a:p>
            <a:pPr algn="l">
              <a:spcAft>
                <a:spcPts val="630"/>
              </a:spcAft>
            </a:pPr>
            <a:r>
              <a:rPr sz="1300" b="1" i="0">
                <a:solidFill>
                  <a:srgbClr val="F47B20"/>
                </a:solidFill>
                <a:latin typeface="Inter Tight"/>
              </a:rPr>
              <a:t>8 min   </a:t>
            </a:r>
            <a:r>
              <a:rPr sz="1400" b="0" i="0">
                <a:solidFill>
                  <a:srgbClr val="1C1B19"/>
                </a:solidFill>
                <a:latin typeface="Source Serif 4"/>
              </a:rPr>
              <a:t>The circuit stimulants push on</a:t>
            </a:r>
          </a:p>
          <a:p>
            <a:pPr algn="l">
              <a:spcAft>
                <a:spcPts val="630"/>
              </a:spcAft>
            </a:pPr>
            <a:r>
              <a:rPr sz="1300" b="1" i="0">
                <a:solidFill>
                  <a:srgbClr val="F47B20"/>
                </a:solidFill>
                <a:latin typeface="Inter Tight"/>
              </a:rPr>
              <a:t>5 min   </a:t>
            </a:r>
            <a:r>
              <a:rPr sz="1400" b="0" i="0">
                <a:solidFill>
                  <a:srgbClr val="1C1B19"/>
                </a:solidFill>
                <a:latin typeface="Source Serif 4"/>
              </a:rPr>
              <a:t>Why more isn't better (the upside-down U)</a:t>
            </a:r>
          </a:p>
          <a:p>
            <a:pPr algn="l">
              <a:spcAft>
                <a:spcPts val="630"/>
              </a:spcAft>
            </a:pPr>
            <a:r>
              <a:rPr sz="1300" b="1" i="0">
                <a:solidFill>
                  <a:srgbClr val="F47B20"/>
                </a:solidFill>
                <a:latin typeface="Inter Tight"/>
              </a:rPr>
              <a:t>7 min   </a:t>
            </a:r>
            <a:r>
              <a:rPr sz="1400" b="0" i="0">
                <a:solidFill>
                  <a:srgbClr val="1C1B19"/>
                </a:solidFill>
                <a:latin typeface="Source Serif 4"/>
              </a:rPr>
              <a:t>The research: feels smarter, scores the same</a:t>
            </a:r>
          </a:p>
          <a:p>
            <a:pPr algn="l">
              <a:spcAft>
                <a:spcPts val="630"/>
              </a:spcAft>
            </a:pPr>
            <a:r>
              <a:rPr sz="1300" b="1" i="0">
                <a:solidFill>
                  <a:srgbClr val="F47B20"/>
                </a:solidFill>
                <a:latin typeface="Inter Tight"/>
              </a:rPr>
              <a:t>10 min   </a:t>
            </a:r>
            <a:r>
              <a:rPr sz="1400" b="0" i="0">
                <a:solidFill>
                  <a:srgbClr val="1C1B19"/>
                </a:solidFill>
                <a:latin typeface="Source Serif 4"/>
              </a:rPr>
              <a:t>Three situations (small groups)</a:t>
            </a:r>
          </a:p>
          <a:p>
            <a:pPr algn="l">
              <a:spcAft>
                <a:spcPts val="630"/>
              </a:spcAft>
            </a:pPr>
            <a:r>
              <a:rPr sz="1300" b="1" i="0">
                <a:solidFill>
                  <a:srgbClr val="F47B20"/>
                </a:solidFill>
                <a:latin typeface="Inter Tight"/>
              </a:rPr>
              <a:t>5 min   </a:t>
            </a:r>
            <a:r>
              <a:rPr sz="1400" b="0" i="0">
                <a:solidFill>
                  <a:srgbClr val="1C1B19"/>
                </a:solidFill>
                <a:latin typeface="Source Serif 4"/>
              </a:rPr>
              <a:t>What actually raises scores</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Helps, hurts, or meh (4), the upside-down U (4), the research (6), exit card (3), with the take-home link for the rest. Run this one before finals if you can.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Protect students who take their own medication.</a:t>
            </a:r>
          </a:p>
          <a:p>
            <a:pPr algn="l">
              <a:spcAft>
                <a:spcPts val="585"/>
              </a:spcAft>
            </a:pPr>
            <a:r>
              <a:rPr sz="1300" b="0" i="0">
                <a:solidFill>
                  <a:srgbClr val="1C1B19"/>
                </a:solidFill>
                <a:latin typeface="Source Serif 4"/>
              </a:rPr>
              <a:t>Say early and plainly: prescribed medication for ADHD is legitimate treatment, at the dose a doctor set. Nobody owes the class a reason for taking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ask who has a prescription.</a:t>
            </a:r>
          </a:p>
          <a:p>
            <a:pPr algn="l">
              <a:spcAft>
                <a:spcPts val="585"/>
              </a:spcAft>
            </a:pPr>
            <a:r>
              <a:rPr sz="1300" b="0" i="0">
                <a:solidFill>
                  <a:srgbClr val="1C1B19"/>
                </a:solidFill>
                <a:latin typeface="Source Serif 4"/>
              </a:rPr>
              <a:t>Not by show of hands, not by glance. Pressure on students with prescriptions to share or sell is part of what this lesson is trying to ease.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Expect pushback on "it doesn't work."</a:t>
            </a:r>
          </a:p>
          <a:p>
            <a:pPr algn="l">
              <a:spcAft>
                <a:spcPts val="585"/>
              </a:spcAft>
            </a:pPr>
            <a:r>
              <a:rPr sz="1300" b="0" i="0">
                <a:solidFill>
                  <a:srgbClr val="1C1B19"/>
                </a:solidFill>
                <a:latin typeface="Source Serif 4"/>
              </a:rPr>
              <a:t>Students will say it helped them. Agree that the focus feeling is real. The research question is whether scores moved, and in blinded studies they mostly didn't.</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Name the pressure.</a:t>
            </a:r>
          </a:p>
          <a:p>
            <a:pPr algn="l">
              <a:spcAft>
                <a:spcPts val="585"/>
              </a:spcAft>
            </a:pPr>
            <a:r>
              <a:rPr sz="1300" b="0" i="0">
                <a:solidFill>
                  <a:srgbClr val="1C1B19"/>
                </a:solidFill>
                <a:latin typeface="Source Serif 4"/>
              </a:rPr>
              <a:t>Heavy course loads, jobs and short sleep are real. Treat the shortcut as an understandable idea that doesn't deliver, and spend time on what does.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is being pressured or is buying.</a:t>
            </a:r>
          </a:p>
          <a:p>
            <a:pPr algn="l">
              <a:spcAft>
                <a:spcPts val="585"/>
              </a:spcAft>
            </a:pPr>
            <a:r>
              <a:rPr sz="1300" b="0" i="0">
                <a:solidFill>
                  <a:srgbClr val="1C1B19"/>
                </a:solidFill>
                <a:latin typeface="Source Serif 4"/>
              </a:rPr>
              <a:t>Thank them and connect them with a counselor that day. A counselor can help without making them the story.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the emergency signs.</a:t>
            </a:r>
          </a:p>
          <a:p>
            <a:pPr algn="l">
              <a:spcAft>
                <a:spcPts val="585"/>
              </a:spcAft>
            </a:pPr>
            <a:r>
              <a:rPr sz="1300" b="0" i="0">
                <a:solidFill>
                  <a:srgbClr val="1C1B19"/>
                </a:solidFill>
                <a:latin typeface="Source Serif 4"/>
              </a:rPr>
              <a:t>Chest pain, a pounding heart that won't slow, fainting, seizure, very high temperature, or extreme panic after a stimulant: 911. A pill that didn't come from a pharmacy plus someone very sleepy or hard to wake could be fentanyl: 911 and naloxone.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ADHD is a real diagnosis.</a:t>
            </a:r>
          </a:p>
          <a:p>
            <a:pPr algn="l">
              <a:spcAft>
                <a:spcPts val="585"/>
              </a:spcAft>
            </a:pPr>
            <a:r>
              <a:rPr sz="1300" b="0" i="0">
                <a:solidFill>
                  <a:srgbClr val="1C1B19"/>
                </a:solidFill>
                <a:latin typeface="Source Serif 4"/>
              </a:rPr>
              <a:t>Neurodivergent students hear plenty of doubt about their meds. Keep every line about borrowed pills. An evaluation finds the actual reason and the right support, which might be medication, accommodations, coaching or a mix.</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Families see ADHD differently.</a:t>
            </a:r>
          </a:p>
          <a:p>
            <a:pPr algn="l">
              <a:spcAft>
                <a:spcPts val="585"/>
              </a:spcAft>
            </a:pPr>
            <a:r>
              <a:rPr sz="1300" b="0" i="0">
                <a:solidFill>
                  <a:srgbClr val="1C1B19"/>
                </a:solidFill>
                <a:latin typeface="Source Serif 4"/>
              </a:rPr>
              <a:t>Some see a medical question, some a matter of effort or faith, some worry about labels. A counselor can help a student raise an evaluation at home in a way that fits their family.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Access to evaluation.</a:t>
            </a:r>
          </a:p>
          <a:p>
            <a:pPr algn="l">
              <a:spcAft>
                <a:spcPts val="585"/>
              </a:spcAft>
            </a:pPr>
            <a:r>
              <a:rPr sz="1300" b="0" i="0">
                <a:solidFill>
                  <a:srgbClr val="1C1B19"/>
                </a:solidFill>
                <a:latin typeface="Source Serif 4"/>
              </a:rPr>
              <a:t>Testing can be expensive and slow. Students whose families can't easily pay may see borrowing as the only option. Mention that the counselor can help with free or school-based routes.</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Pressure looks different.</a:t>
            </a:r>
          </a:p>
          <a:p>
            <a:pPr algn="l">
              <a:spcAft>
                <a:spcPts val="585"/>
              </a:spcAft>
            </a:pPr>
            <a:r>
              <a:rPr sz="1300" b="0" i="0">
                <a:solidFill>
                  <a:srgbClr val="1C1B19"/>
                </a:solidFill>
                <a:latin typeface="Source Serif 4"/>
              </a:rPr>
              <a:t>Some students carry heavy course loads because a family's sacrifices ride on their grades; some work weekends to help at home. Name both as real reasons for stress.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Learning support.</a:t>
            </a:r>
          </a:p>
          <a:p>
            <a:pPr algn="l">
              <a:spcAft>
                <a:spcPts val="585"/>
              </a:spcAft>
            </a:pPr>
            <a:r>
              <a:rPr sz="1300" b="0" i="0">
                <a:solidFill>
                  <a:srgbClr val="1C1B19"/>
                </a:solidFill>
                <a:latin typeface="Source Serif 4"/>
              </a:rPr>
              <a:t>Students with a learning plan may feel singled out. Present "ask early" for extra help as something every student can do.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Mixed names and situations.</a:t>
            </a:r>
          </a:p>
          <a:p>
            <a:pPr algn="l">
              <a:spcAft>
                <a:spcPts val="585"/>
              </a:spcAft>
            </a:pPr>
            <a:r>
              <a:rPr sz="1300" b="0" i="0">
                <a:solidFill>
                  <a:srgbClr val="1C1B19"/>
                </a:solidFill>
                <a:latin typeface="Source Serif 4"/>
              </a:rPr>
              <a:t>Use the scenario names as written. Avoid implying that any group of students is more likely to misuse pills.</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Dopamine's effect on working memory and control follows an upside-down U: too little or too much and the prefrontal cortex works worse.</a:t>
            </a:r>
          </a:p>
          <a:p>
            <a:pPr algn="l">
              <a:spcAft>
                <a:spcPts val="585"/>
              </a:spcAft>
            </a:pPr>
            <a:r>
              <a:rPr sz="1050" b="0" i="0">
                <a:solidFill>
                  <a:srgbClr val="5D5A54"/>
                </a:solidFill>
                <a:latin typeface="Inter Tight"/>
              </a:rPr>
              <a:t>Cools and D'Esposito, Biological Psychiatry, 2011</a:t>
            </a:r>
          </a:p>
          <a:p>
            <a:pPr algn="l">
              <a:spcAft>
                <a:spcPts val="585"/>
              </a:spcAft>
            </a:pPr>
            <a:r>
              <a:rPr sz="1300" b="0" i="0">
                <a:solidFill>
                  <a:srgbClr val="1C1B19"/>
                </a:solidFill>
                <a:latin typeface="Source Serif 4"/>
              </a:rPr>
              <a:t>In a double-blind study, healthy young adults on Adderall didn't improve overall on 13 tests of memory, reasoning and creativity, but believed they had done better.</a:t>
            </a:r>
          </a:p>
          <a:p>
            <a:pPr algn="l">
              <a:spcAft>
                <a:spcPts val="585"/>
              </a:spcAft>
            </a:pPr>
            <a:r>
              <a:rPr sz="1050" b="0" i="0">
                <a:solidFill>
                  <a:srgbClr val="5D5A54"/>
                </a:solidFill>
                <a:latin typeface="Inter Tight"/>
              </a:rPr>
              <a:t>Ilieva, Boland and Farah, Neuropharmacology, 2013</a:t>
            </a:r>
          </a:p>
          <a:p>
            <a:pPr algn="l">
              <a:spcAft>
                <a:spcPts val="585"/>
              </a:spcAft>
            </a:pPr>
            <a:r>
              <a:rPr sz="1300" b="0" i="0">
                <a:solidFill>
                  <a:srgbClr val="1C1B19"/>
                </a:solidFill>
                <a:latin typeface="Source Serif 4"/>
              </a:rPr>
              <a:t>40 adults without ADHD worked longer and made more moves on a hard planning puzzle after stimulants, and the quality of their answers dropped.</a:t>
            </a:r>
          </a:p>
          <a:p>
            <a:pPr algn="l">
              <a:spcAft>
                <a:spcPts val="585"/>
              </a:spcAft>
            </a:pPr>
            <a:r>
              <a:rPr sz="1050" b="0" i="0">
                <a:solidFill>
                  <a:srgbClr val="5D5A54"/>
                </a:solidFill>
                <a:latin typeface="Inter Tight"/>
              </a:rPr>
              <a:t>Bowman et al., Science Advances, 2023</a:t>
            </a:r>
          </a:p>
          <a:p>
            <a:pPr algn="l">
              <a:spcAft>
                <a:spcPts val="585"/>
              </a:spcAft>
            </a:pPr>
            <a:r>
              <a:rPr sz="1300" b="0" i="0">
                <a:solidFill>
                  <a:srgbClr val="1C1B19"/>
                </a:solidFill>
                <a:latin typeface="Source Serif 4"/>
              </a:rPr>
              <a:t>Among 1,253 college first-years, students using stimulants without a prescription skipped more classes, studied less and had lower GPAs by year's end.</a:t>
            </a:r>
          </a:p>
          <a:p>
            <a:pPr algn="l">
              <a:spcAft>
                <a:spcPts val="585"/>
              </a:spcAft>
            </a:pPr>
            <a:r>
              <a:rPr sz="1050" b="0" i="0">
                <a:solidFill>
                  <a:srgbClr val="5D5A54"/>
                </a:solidFill>
                <a:latin typeface="Inter Tight"/>
              </a:rPr>
              <a:t>Arria et al., Journal of Drug Issues, 2008</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Lifetime nonmedical stimulant use among 8th, 10th and 12th graders fell from about 10% in 2005 to under 5% in 2023.</a:t>
            </a:r>
          </a:p>
          <a:p>
            <a:pPr algn="l">
              <a:spcAft>
                <a:spcPts val="585"/>
              </a:spcAft>
            </a:pPr>
            <a:r>
              <a:rPr sz="1050" b="0" i="0">
                <a:solidFill>
                  <a:srgbClr val="5D5A54"/>
                </a:solidFill>
                <a:latin typeface="Inter Tight"/>
              </a:rPr>
              <a:t>McCabe et al., JAMA, 2025</a:t>
            </a:r>
          </a:p>
          <a:p>
            <a:pPr algn="l">
              <a:spcAft>
                <a:spcPts val="585"/>
              </a:spcAft>
            </a:pPr>
            <a:r>
              <a:rPr sz="1300" b="0" i="0">
                <a:solidFill>
                  <a:srgbClr val="1C1B19"/>
                </a:solidFill>
                <a:latin typeface="Source Serif 4"/>
              </a:rPr>
              <a:t>Students who practiced recalling a passage remembered more a week later than students who reread it, even though rereading made them more confident.</a:t>
            </a:r>
          </a:p>
          <a:p>
            <a:pPr algn="l">
              <a:spcAft>
                <a:spcPts val="585"/>
              </a:spcAft>
            </a:pPr>
            <a:r>
              <a:rPr sz="1050" b="0" i="0">
                <a:solidFill>
                  <a:srgbClr val="5D5A54"/>
                </a:solidFill>
                <a:latin typeface="Inter Tight"/>
              </a:rPr>
              <a:t>Roediger and Karpicke, Psychological Science, 2006</a:t>
            </a:r>
          </a:p>
          <a:p>
            <a:pPr algn="l">
              <a:spcAft>
                <a:spcPts val="585"/>
              </a:spcAft>
            </a:pPr>
            <a:r>
              <a:rPr sz="1300" b="0" i="0">
                <a:solidFill>
                  <a:srgbClr val="1C1B19"/>
                </a:solidFill>
                <a:latin typeface="Source Serif 4"/>
              </a:rPr>
              <a:t>Counterfeit pills pressed to look like Adderall increasingly contain methamphetamine or fentanyl and are often sold through social media.</a:t>
            </a:r>
          </a:p>
          <a:p>
            <a:pPr algn="l">
              <a:spcAft>
                <a:spcPts val="585"/>
              </a:spcAft>
            </a:pPr>
            <a:r>
              <a:rPr sz="1050" b="0" i="0">
                <a:solidFill>
                  <a:srgbClr val="5D5A54"/>
                </a:solidFill>
                <a:latin typeface="Inter Tight"/>
              </a:rPr>
              <a:t>U.S. Drug Enforcement Administration, 2021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