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4 MINUTES. Keep it light. Something like: "Today is about the stuff you'd look up even if nobody graded it, and why it's worth protecting."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Go around the circle; anyone can pass. Go first yourself with something real and a little odd. Expect: sports stats, a video game's lore, a recipe, a conspiracy theory (treat it kindly, then ask what made it interesting), how something works. If a lot of students say "nothing", that's useful too: ask when they last had time to wonder about anything.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Before showing the slide, have students write one thing they did this week on a card and place it under Grind or Curiosity on the board. Then reveal. Point out that most weeks have both, and grind isn't bad: it gets work done. The question is whether there's any room left for the right column. If a student says their whole week is grind, take it seriously and quietly check in afterward.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sort, if time allows. Researcher Denise Pope called this "doing school": managing points and activities instead of learning. Students at high-pressure schools report more anxiety and burnout. Don't name schools or students. Ask: "Where in this loop could you break it, even a little?" (Keeping one thing you love; one unscheduled hour; one question you follow.)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 Gruber study: people rated how curious they were about trivia questions; when curious, they remembered answers better a day later, and also remembered unrelated faces shown during the wait. Brain scans showed the reward circuit lighting up with the memory center. Dahl and colleagues argue that the teen drive toward novelty is a feature for learning, not just a risk. Ask: "What's a class where you've felt curious this year? What made it happen?"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Talk about the first two in pairs, then share briefly. Don't knock Jordan; lots of students end up there for understandable reasons. Point out that depth and real interest give you stories, and that many admissions deans have said they value this (Turning the Tide report). Keep the third card private. Never ask students about their own college lists.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Students write one small thing on their second card and keep it: a question to look up, a teacher to ask "why", a small new thing to try, an hour of nothing. Share the student page link. Mention that if school pressure feels constant, or they can't remember the last time they did something just for fun, a counselor is a good person to talk 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Stay Curious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the difference between grinding for a grade and learning because they want to know, and pick one small way to feed their curiosity this week. Bring sticky notes, share one thing you got curious about lately, and don't ask about GPAs or college lists.</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Curiosity doesn't need money, and for some families grades are how sacrifice gets honored, so don't set curiosity against family; gaming lore, cars and a faith question all count.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STAY CURIOUS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Stay Curious</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The grind gets you points. Curiosity gets you something to say.</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RABBIT HOLES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What's the last thing you looked up just because you wanted to know?</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word or a few. Pass is fine.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SORT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Grind or curiosity?</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GRIND</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Studying only what's on the test</a:t>
            </a:r>
          </a:p>
          <a:p>
            <a:pPr algn="l">
              <a:spcAft>
                <a:spcPts val="855"/>
              </a:spcAft>
            </a:pPr>
            <a:r>
              <a:rPr sz="1900" b="0" i="0">
                <a:solidFill>
                  <a:srgbClr val="1C1B19"/>
                </a:solidFill>
                <a:latin typeface="Source Serif 4"/>
              </a:rPr>
              <a:t>Joining a club for the résumé</a:t>
            </a:r>
          </a:p>
          <a:p>
            <a:pPr algn="l">
              <a:spcAft>
                <a:spcPts val="855"/>
              </a:spcAft>
            </a:pPr>
            <a:r>
              <a:rPr sz="1900" b="0" i="0">
                <a:solidFill>
                  <a:srgbClr val="1C1B19"/>
                </a:solidFill>
                <a:latin typeface="Source Serif 4"/>
              </a:rPr>
              <a:t>Asking "will this be graded?"</a:t>
            </a:r>
          </a:p>
          <a:p>
            <a:pPr algn="l">
              <a:spcAft>
                <a:spcPts val="855"/>
              </a:spcAft>
            </a:pPr>
            <a:r>
              <a:rPr sz="1900" b="0" i="0">
                <a:solidFill>
                  <a:srgbClr val="1C1B19"/>
                </a:solidFill>
                <a:latin typeface="Source Serif 4"/>
              </a:rPr>
              <a:t>Picking the easy A</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CURIOSITY</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Asking "why does that work?"</a:t>
            </a:r>
          </a:p>
          <a:p>
            <a:pPr algn="l">
              <a:spcAft>
                <a:spcPts val="855"/>
              </a:spcAft>
            </a:pPr>
            <a:r>
              <a:rPr sz="1900" b="0" i="0">
                <a:solidFill>
                  <a:srgbClr val="1C1B19"/>
                </a:solidFill>
                <a:latin typeface="Source Serif 4"/>
              </a:rPr>
              <a:t>Reading past the assignment</a:t>
            </a:r>
          </a:p>
          <a:p>
            <a:pPr algn="l">
              <a:spcAft>
                <a:spcPts val="855"/>
              </a:spcAft>
            </a:pPr>
            <a:r>
              <a:rPr sz="1900" b="0" i="0">
                <a:solidFill>
                  <a:srgbClr val="1C1B19"/>
                </a:solidFill>
                <a:latin typeface="Source Serif 4"/>
              </a:rPr>
              <a:t>Sticking with a hobby for years</a:t>
            </a:r>
          </a:p>
          <a:p>
            <a:pPr algn="l">
              <a:spcAft>
                <a:spcPts val="855"/>
              </a:spcAft>
            </a:pPr>
            <a:r>
              <a:rPr sz="1900" b="0" i="0">
                <a:solidFill>
                  <a:srgbClr val="1C1B19"/>
                </a:solidFill>
                <a:latin typeface="Source Serif 4"/>
              </a:rPr>
              <a:t>Trying something you might be bad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IT SQUEEZES OUT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grind loop</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Chase the grade</a:t>
            </a:r>
          </a:p>
        </p:txBody>
      </p:sp>
      <p:cxnSp>
        <p:nvCxnSpPr>
          <p:cNvPr id="8" name="Connector 7"/>
          <p:cNvCxnSpPr/>
          <p:nvPr/>
        </p:nvCxnSpPr>
        <p:spPr>
          <a:xfrm>
            <a:off x="275234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70332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Drop what you love</a:t>
            </a:r>
          </a:p>
        </p:txBody>
      </p:sp>
      <p:cxnSp>
        <p:nvCxnSpPr>
          <p:cNvPr id="11" name="Connector 10"/>
          <p:cNvCxnSpPr/>
          <p:nvPr/>
        </p:nvCxnSpPr>
        <p:spPr>
          <a:xfrm>
            <a:off x="563270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Less energy</a:t>
            </a:r>
          </a:p>
        </p:txBody>
      </p:sp>
      <p:cxnSp>
        <p:nvCxnSpPr>
          <p:cNvPr id="14" name="Connector 13"/>
          <p:cNvCxnSpPr/>
          <p:nvPr/>
        </p:nvCxnSpPr>
        <p:spPr>
          <a:xfrm>
            <a:off x="851306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Grind harder</a:t>
            </a:r>
          </a:p>
        </p:txBody>
      </p:sp>
      <p:sp>
        <p:nvSpPr>
          <p:cNvPr id="17" name="TextBox 16"/>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18" name="TextBox 17"/>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It works for a while. Then it runs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BRAIN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Gruber et al., 2014  ·  von Stumm et al., 2011  ·  Dahl et al., 2018</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Curious brains remember more.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Curious about a question? You remember the answer better.</a:t>
            </a:r>
          </a:p>
          <a:p>
            <a:pPr algn="l">
              <a:spcAft>
                <a:spcPts val="855"/>
              </a:spcAft>
            </a:pPr>
            <a:r>
              <a:rPr sz="1900" b="0" i="0">
                <a:solidFill>
                  <a:srgbClr val="1C1B19"/>
                </a:solidFill>
                <a:latin typeface="Source Serif 4"/>
              </a:rPr>
              <a:t>•  You even remember unrelated things you saw while curious.</a:t>
            </a:r>
          </a:p>
          <a:p>
            <a:pPr algn="l">
              <a:spcAft>
                <a:spcPts val="855"/>
              </a:spcAft>
            </a:pPr>
            <a:r>
              <a:rPr sz="1900" b="0" i="0">
                <a:solidFill>
                  <a:srgbClr val="1C1B19"/>
                </a:solidFill>
                <a:latin typeface="Source Serif 4"/>
              </a:rPr>
              <a:t>•  Curiosity predicts grades about as well as working hard does.</a:t>
            </a:r>
          </a:p>
          <a:p>
            <a:pPr algn="l">
              <a:spcAft>
                <a:spcPts val="855"/>
              </a:spcAft>
            </a:pPr>
            <a:r>
              <a:rPr sz="1900" b="0" i="0">
                <a:solidFill>
                  <a:srgbClr val="1C1B19"/>
                </a:solidFill>
                <a:latin typeface="Source Serif 4"/>
              </a:rPr>
              <a:t>•  Teen brains are extra tuned to new things. That's a learning window.</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Curiosity helps grades, too. Protecting it isn't a luxury.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SOMETHING TO SAY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Two seniors. Who has more to say?</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JORDAN</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Eleven activities, officer in four. Hasn't kept any longer than a year. Asked about a favorite, Jordan pauses.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Two activities. Has spent three years restoring old bikes with her uncle and now fixes them for kids in her building.</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YOU</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What's one thing you'd want to still be doing in two years, even if no one ever saw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Feed one question this week.</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Pick one from the student page. Keep it to yourself.</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https://rmwtoolkit.github.io/bcds-toolkit/stay-curious-high-school.html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Stay Curious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name the difference between grinding for a grade and learning because they want to know, explain why curiosity matters for memory and for having something real to say, and pick one small way to feed their curiosity this week. Nobody is asked to share grades, college plans, or how much pressure they're under at home.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Sticky notes or index cards, two per student</a:t>
            </a:r>
          </a:p>
          <a:p>
            <a:pPr algn="l">
              <a:spcAft>
                <a:spcPts val="675"/>
              </a:spcAft>
            </a:pPr>
            <a:r>
              <a:rPr sz="1500" b="0" i="0">
                <a:solidFill>
                  <a:srgbClr val="1C1B19"/>
                </a:solidFill>
                <a:latin typeface="Source Serif 4"/>
              </a:rPr>
              <a:t>A board or chart paper with two columns: Grind and Curiosity</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4 min   </a:t>
            </a:r>
            <a:r>
              <a:rPr sz="1400" b="0" i="0">
                <a:solidFill>
                  <a:srgbClr val="1C1B19"/>
                </a:solidFill>
                <a:latin typeface="Source Serif 4"/>
              </a:rPr>
              <a:t>Rabbit holes: what did you last look up just because?</a:t>
            </a:r>
          </a:p>
          <a:p>
            <a:pPr algn="l">
              <a:spcAft>
                <a:spcPts val="630"/>
              </a:spcAft>
            </a:pPr>
            <a:r>
              <a:rPr sz="1300" b="1" i="0">
                <a:solidFill>
                  <a:srgbClr val="F47B20"/>
                </a:solidFill>
                <a:latin typeface="Inter Tight"/>
              </a:rPr>
              <a:t>5 min   </a:t>
            </a:r>
            <a:r>
              <a:rPr sz="1400" b="0" i="0">
                <a:solidFill>
                  <a:srgbClr val="1C1B19"/>
                </a:solidFill>
                <a:latin typeface="Source Serif 4"/>
              </a:rPr>
              <a:t>Grind or curiosity? (sort the cards)</a:t>
            </a:r>
          </a:p>
          <a:p>
            <a:pPr algn="l">
              <a:spcAft>
                <a:spcPts val="630"/>
              </a:spcAft>
            </a:pPr>
            <a:r>
              <a:rPr sz="1300" b="1" i="0">
                <a:solidFill>
                  <a:srgbClr val="F47B20"/>
                </a:solidFill>
                <a:latin typeface="Inter Tight"/>
              </a:rPr>
              <a:t>4 min   </a:t>
            </a:r>
            <a:r>
              <a:rPr sz="1400" b="0" i="0">
                <a:solidFill>
                  <a:srgbClr val="1C1B19"/>
                </a:solidFill>
                <a:latin typeface="Source Serif 4"/>
              </a:rPr>
              <a:t>Why curiosity matters: memory and the teen brain</a:t>
            </a:r>
          </a:p>
          <a:p>
            <a:pPr algn="l">
              <a:spcAft>
                <a:spcPts val="630"/>
              </a:spcAft>
            </a:pPr>
            <a:r>
              <a:rPr sz="1300" b="1" i="0">
                <a:solidFill>
                  <a:srgbClr val="F47B20"/>
                </a:solidFill>
                <a:latin typeface="Inter Tight"/>
              </a:rPr>
              <a:t>4 min   </a:t>
            </a:r>
            <a:r>
              <a:rPr sz="1400" b="0" i="0">
                <a:solidFill>
                  <a:srgbClr val="1C1B19"/>
                </a:solidFill>
                <a:latin typeface="Source Serif 4"/>
              </a:rPr>
              <a:t>Something to say: two seniors</a:t>
            </a:r>
          </a:p>
          <a:p>
            <a:pPr algn="l">
              <a:spcAft>
                <a:spcPts val="630"/>
              </a:spcAft>
            </a:pPr>
            <a:r>
              <a:rPr sz="1300" b="1" i="0">
                <a:solidFill>
                  <a:srgbClr val="F47B20"/>
                </a:solidFill>
                <a:latin typeface="Inter Tight"/>
              </a:rPr>
              <a:t>3 min   </a:t>
            </a:r>
            <a:r>
              <a:rPr sz="1400" b="0" i="0">
                <a:solidFill>
                  <a:srgbClr val="1C1B19"/>
                </a:solidFill>
                <a:latin typeface="Source Serif 4"/>
              </a:rPr>
              <a:t>Pick one, privately, and the student page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Rabbit holes go-around (3), the grind loop slide (3), pick one small way to feed curiosity this week (3), share the link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Grades still matter, and that's okay to say.</a:t>
            </a:r>
          </a:p>
          <a:p>
            <a:pPr algn="l">
              <a:spcAft>
                <a:spcPts val="585"/>
              </a:spcAft>
            </a:pPr>
            <a:r>
              <a:rPr sz="1300" b="0" i="0">
                <a:solidFill>
                  <a:srgbClr val="1C1B19"/>
                </a:solidFill>
                <a:latin typeface="Source Serif 4"/>
              </a:rPr>
              <a:t>This lesson isn't anti-grades or anti-college. Students who need scholarships, or whose families have sacrificed for their education, can feel judged by "stop grinding" talk. Frame it as making room for both.</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ask about college lists or GPAs.</a:t>
            </a:r>
          </a:p>
          <a:p>
            <a:pPr algn="l">
              <a:spcAft>
                <a:spcPts val="585"/>
              </a:spcAft>
            </a:pPr>
            <a:r>
              <a:rPr sz="1300" b="0" i="0">
                <a:solidFill>
                  <a:srgbClr val="1C1B19"/>
                </a:solidFill>
                <a:latin typeface="Source Serif 4"/>
              </a:rPr>
              <a:t>Comparing in a small circle is exactly the pressure this lesson is about. Keep examples general and invented.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students who are running on empty.</a:t>
            </a:r>
          </a:p>
          <a:p>
            <a:pPr algn="l">
              <a:spcAft>
                <a:spcPts val="585"/>
              </a:spcAft>
            </a:pPr>
            <a:r>
              <a:rPr sz="1300" b="0" i="0">
                <a:solidFill>
                  <a:srgbClr val="1C1B19"/>
                </a:solidFill>
                <a:latin typeface="Source Serif 4"/>
              </a:rPr>
              <a:t>Some students describe a schedule with no slack at all, little sleep, or feeling numb about things they used to enjoy. That's worth a quiet check-in after advisory and a same-day note to a counselor if it sounds serious. Disclosures go to a counselor. No screening questions in the group.</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Curiosity can look different.</a:t>
            </a:r>
          </a:p>
          <a:p>
            <a:pPr algn="l">
              <a:spcAft>
                <a:spcPts val="585"/>
              </a:spcAft>
            </a:pPr>
            <a:r>
              <a:rPr sz="1300" b="0" i="0">
                <a:solidFill>
                  <a:srgbClr val="1C1B19"/>
                </a:solidFill>
                <a:latin typeface="Source Serif 4"/>
              </a:rPr>
              <a:t>For some students it's gaming lore, sneakers, cooking, a sport's stats, car repair, a faith question, or a younger sibling's homework. Treat all of it as real curiosity. The point is wanting to know, not the topic.</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 honest about admissions.</a:t>
            </a:r>
          </a:p>
          <a:p>
            <a:pPr algn="l">
              <a:spcAft>
                <a:spcPts val="585"/>
              </a:spcAft>
            </a:pPr>
            <a:r>
              <a:rPr sz="1300" b="0" i="0">
                <a:solidFill>
                  <a:srgbClr val="1C1B19"/>
                </a:solidFill>
                <a:latin typeface="Source Serif 4"/>
              </a:rPr>
              <a:t>Say what the evidence supports: many admissions deans endorsed the Turning the Tide report asking for depth and genuine interest over long lists. Don't promise that curiosity gets anyone into a particular school.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Model it.</a:t>
            </a:r>
          </a:p>
          <a:p>
            <a:pPr algn="l">
              <a:spcAft>
                <a:spcPts val="585"/>
              </a:spcAft>
            </a:pPr>
            <a:r>
              <a:rPr sz="1300" b="0" i="0">
                <a:solidFill>
                  <a:srgbClr val="1C1B19"/>
                </a:solidFill>
                <a:latin typeface="Source Serif 4"/>
              </a:rPr>
              <a:t>Share one thing you got curious about recently, outside your subject. Students take the permission more seriously when an adult goes first.</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Money and time aren't equal.</a:t>
            </a:r>
          </a:p>
          <a:p>
            <a:pPr algn="l">
              <a:spcAft>
                <a:spcPts val="585"/>
              </a:spcAft>
            </a:pPr>
            <a:r>
              <a:rPr sz="1300" b="0" i="0">
                <a:solidFill>
                  <a:srgbClr val="1C1B19"/>
                </a:solidFill>
                <a:latin typeface="Source Serif 4"/>
              </a:rPr>
              <a:t>Some students work after school, care for siblings, or can't afford camps and lessons. Curiosity doesn't need money: a library card, a question list, a free online course, a conversation with a grandparent. Keep every suggestion free.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expectations vary.</a:t>
            </a:r>
          </a:p>
          <a:p>
            <a:pPr algn="l">
              <a:spcAft>
                <a:spcPts val="585"/>
              </a:spcAft>
            </a:pPr>
            <a:r>
              <a:rPr sz="1300" b="0" i="0">
                <a:solidFill>
                  <a:srgbClr val="1C1B19"/>
                </a:solidFill>
                <a:latin typeface="Source Serif 4"/>
              </a:rPr>
              <a:t>In some families, academic achievement is how love and sacrifice get honored. Don't set curiosity against family. Say students can carry both, and that a counselor can help with a family conversation if they want 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family has one path.</a:t>
            </a:r>
          </a:p>
          <a:p>
            <a:pPr algn="l">
              <a:spcAft>
                <a:spcPts val="585"/>
              </a:spcAft>
            </a:pPr>
            <a:r>
              <a:rPr sz="1300" b="0" i="0">
                <a:solidFill>
                  <a:srgbClr val="1C1B19"/>
                </a:solidFill>
                <a:latin typeface="Source Serif 4"/>
              </a:rPr>
              <a:t>Some students are headed to college, some to work, the military, a trade, or a family business. Curiosity matters for all of them. Avoid making college the only finish line in your examples.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Students with ADHD often have intense, deep interests that school treats as distractions. Name those interests as curiosity. Students with a learning plan may already spend extra hours on schoolwork; protecting free time matters even more for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Identity and belonging.</a:t>
            </a:r>
          </a:p>
          <a:p>
            <a:pPr algn="l">
              <a:spcAft>
                <a:spcPts val="585"/>
              </a:spcAft>
            </a:pPr>
            <a:r>
              <a:rPr sz="1300" b="0" i="0">
                <a:solidFill>
                  <a:srgbClr val="1C1B19"/>
                </a:solidFill>
                <a:latin typeface="Source Serif 4"/>
              </a:rPr>
              <a:t>Students of color, LGBTQ+ students, and students new to the country may follow curiosity about their own history, language or community. Treat that as real intellectual curiosity, not a side interest.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a:t>
            </a:r>
          </a:p>
          <a:p>
            <a:pPr algn="l">
              <a:spcAft>
                <a:spcPts val="585"/>
              </a:spcAft>
            </a:pPr>
            <a:r>
              <a:rPr sz="1300" b="0" i="0">
                <a:solidFill>
                  <a:srgbClr val="1C1B19"/>
                </a:solidFill>
                <a:latin typeface="Source Serif 4"/>
              </a:rPr>
              <a:t>English learners may be curious about plenty and quiet in English. Let them write their rabbit-hole card in any language, or draw it.</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When people were curious about a trivia question, they remembered the answer better, and also remembered unrelated faces shown while they were curious. Brain scans showed the reward and memory systems working together.</a:t>
            </a:r>
          </a:p>
          <a:p>
            <a:pPr algn="l">
              <a:spcAft>
                <a:spcPts val="585"/>
              </a:spcAft>
            </a:pPr>
            <a:r>
              <a:rPr sz="1050" b="0" i="0">
                <a:solidFill>
                  <a:srgbClr val="5D5A54"/>
                </a:solidFill>
                <a:latin typeface="Inter Tight"/>
              </a:rPr>
              <a:t>Gruber, Gelman &amp; Ranganath, Neuron, 2014</a:t>
            </a:r>
          </a:p>
          <a:p>
            <a:pPr algn="l">
              <a:spcAft>
                <a:spcPts val="585"/>
              </a:spcAft>
            </a:pPr>
            <a:r>
              <a:rPr sz="1300" b="0" i="0">
                <a:solidFill>
                  <a:srgbClr val="1C1B19"/>
                </a:solidFill>
                <a:latin typeface="Source Serif 4"/>
              </a:rPr>
              <a:t>In a meta-analysis, intellectual curiosity predicted academic performance about as strongly as conscientiousness, on top of intelligence.</a:t>
            </a:r>
          </a:p>
          <a:p>
            <a:pPr algn="l">
              <a:spcAft>
                <a:spcPts val="585"/>
              </a:spcAft>
            </a:pPr>
            <a:r>
              <a:rPr sz="1050" b="0" i="0">
                <a:solidFill>
                  <a:srgbClr val="5D5A54"/>
                </a:solidFill>
                <a:latin typeface="Inter Tight"/>
              </a:rPr>
              <a:t>von Stumm, Hell &amp; Chamorro-Premuzic, Perspectives on Psychological Science, 2011</a:t>
            </a:r>
          </a:p>
          <a:p>
            <a:pPr algn="l">
              <a:spcAft>
                <a:spcPts val="585"/>
              </a:spcAft>
            </a:pPr>
            <a:r>
              <a:rPr sz="1300" b="0" i="0">
                <a:solidFill>
                  <a:srgbClr val="1C1B19"/>
                </a:solidFill>
                <a:latin typeface="Source Serif 4"/>
              </a:rPr>
              <a:t>Adolescence is a period of heightened sensitivity to novelty and reward and flexible goal pursuit, which researchers describe as an opportunity for learning and exploration.</a:t>
            </a:r>
          </a:p>
          <a:p>
            <a:pPr algn="l">
              <a:spcAft>
                <a:spcPts val="585"/>
              </a:spcAft>
            </a:pPr>
            <a:r>
              <a:rPr sz="1050" b="0" i="0">
                <a:solidFill>
                  <a:srgbClr val="5D5A54"/>
                </a:solidFill>
                <a:latin typeface="Inter Tight"/>
              </a:rPr>
              <a:t>Crone &amp; Dahl, Nature Reviews Neuroscience, 2012; Dahl et al., Nature, 2018</a:t>
            </a:r>
          </a:p>
          <a:p>
            <a:pPr algn="l">
              <a:spcAft>
                <a:spcPts val="585"/>
              </a:spcAft>
            </a:pPr>
            <a:r>
              <a:rPr sz="1300" b="0" i="0">
                <a:solidFill>
                  <a:srgbClr val="1C1B19"/>
                </a:solidFill>
                <a:latin typeface="Source Serif 4"/>
              </a:rPr>
              <a:t>Students at high-pressure schools often describe "doing school": managing grades and activities in ways that crowd out engagement and learning.</a:t>
            </a:r>
          </a:p>
          <a:p>
            <a:pPr algn="l">
              <a:spcAft>
                <a:spcPts val="585"/>
              </a:spcAft>
            </a:pPr>
            <a:r>
              <a:rPr sz="1050" b="0" i="0">
                <a:solidFill>
                  <a:srgbClr val="5D5A54"/>
                </a:solidFill>
                <a:latin typeface="Inter Tight"/>
              </a:rPr>
              <a:t>Pope, "Doing School", Yale University Press, 2001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Students at high-achieving schools have been identified as an at-risk group, with higher rates of anxiety, depression and substance use than national norms, linked partly to achievement pressure.</a:t>
            </a:r>
          </a:p>
          <a:p>
            <a:pPr algn="l">
              <a:spcAft>
                <a:spcPts val="585"/>
              </a:spcAft>
            </a:pPr>
            <a:r>
              <a:rPr sz="1050" b="0" i="0">
                <a:solidFill>
                  <a:srgbClr val="5D5A54"/>
                </a:solidFill>
                <a:latin typeface="Inter Tight"/>
              </a:rPr>
              <a:t>Luthar, Kumar &amp; Zillmer, American Psychologist, 2020</a:t>
            </a:r>
          </a:p>
          <a:p>
            <a:pPr algn="l">
              <a:spcAft>
                <a:spcPts val="585"/>
              </a:spcAft>
            </a:pPr>
            <a:r>
              <a:rPr sz="1300" b="0" i="0">
                <a:solidFill>
                  <a:srgbClr val="1C1B19"/>
                </a:solidFill>
                <a:latin typeface="Source Serif 4"/>
              </a:rPr>
              <a:t>A report endorsed by dozens of college admissions deans urged admissions to value meaningful, sustained engagement over long activity lists.</a:t>
            </a:r>
          </a:p>
          <a:p>
            <a:pPr algn="l">
              <a:spcAft>
                <a:spcPts val="585"/>
              </a:spcAft>
            </a:pPr>
            <a:r>
              <a:rPr sz="1050" b="0" i="0">
                <a:solidFill>
                  <a:srgbClr val="5D5A54"/>
                </a:solidFill>
                <a:latin typeface="Inter Tight"/>
              </a:rPr>
              <a:t>Making Caring Common, Harvard Graduate School of Education, Turning the Tide, 2016</a:t>
            </a:r>
          </a:p>
          <a:p>
            <a:pPr algn="l">
              <a:spcAft>
                <a:spcPts val="585"/>
              </a:spcAft>
            </a:pPr>
            <a:r>
              <a:rPr sz="1300" b="0" i="0">
                <a:solidFill>
                  <a:srgbClr val="1C1B19"/>
                </a:solidFill>
                <a:latin typeface="Source Serif 4"/>
              </a:rPr>
              <a:t>Teens build initiative most in voluntary activities they care about, where they are focused and motivated at the same time.</a:t>
            </a:r>
          </a:p>
          <a:p>
            <a:pPr algn="l">
              <a:spcAft>
                <a:spcPts val="585"/>
              </a:spcAft>
            </a:pPr>
            <a:r>
              <a:rPr sz="1050" b="0" i="0">
                <a:solidFill>
                  <a:srgbClr val="5D5A54"/>
                </a:solidFill>
                <a:latin typeface="Inter Tight"/>
              </a:rPr>
              <a:t>Larson, American Psychologist,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