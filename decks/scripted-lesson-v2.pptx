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Set the room: "Today is about porn. Nobody's going to share what they watch or haven't watched. If you've never seen any, that's fine. If you have, you're not gross or broken. Most people didn't plan the first time." Hand out index cards for anonymous questions any time during class. Let the nervous laughter pass.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From a 2022 national survey of 1,358 teens. Boys were more likely than girls to watch on purpose (52% vs. 36%). Say about the right column: none of these make you a bad person; they make you a person with a phone. That's also why it can turn into a habit.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Walk through the comparison. Wrestling: real athletes, real strength, some real bruises, but scripted, with the two wrestlers working together so nobody gets hurt. Porn: real bodies, but a performance with a director, retakes, lighting, editing, and sometimes medication. Performers act thrilled whatever they feel. Then list what got cut from the tape: talking first, asking, checking in, nerves, laughing, condoms and birth control, stopping when someone's not into it, how they treat each other the next day. Ask: "Where does the wrestling comparison break down?" (Fans know wrestling is fake; plenty of viewers try porn moves at home.)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Researchers call them sexual scripts: the playbook in your head for what happens and who does what. People build scripts from whatever they see most. Only 33% of teens who'd seen porn had ever seen anyone ask for consent. Then choking: about 1 in 5 adult women said a partner had choked them during sex. Say it plainly and twice: pressure on the neck can cut off blood to the brain within seconds, and there's no safe way to do it. Also name the stereotypes: porn typecasts Black, Latino and Asian people, women, gay and trans people, and bodies of every kind. If anyone has felt reduced to one, it says nothing true about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Students move to a corner; ask one or two from different corners why. Nobody shares anything personal. Then the research. 1: No. Only 27% of teens who had seen porn said it shows how most people have sex. 2: Not in the 2022 survey. 47% learned a lot from a trusted adult, 41% from friends, 32% from sex ed, 27% from porn. The people around them still get a say in their script. 3: The opposite. 33% had ever seen anyone ask, and 52% had seen what looked like rape, choking or someone in pain. 4: Not yet. The WHO recognizes compulsive sexual behavior disorder, but researchers argue about "addiction." Feeling stuck is real either way, and people who believe porn is wrong often feel stuck even watching little.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Across 93 studies, couples who talk about sex well were more satisfied. Speak to the guys in particular: the script casts them as the one who never asks, never nervous. Asking "is this okay?" is confidence, and guys can say no too. That goes for every guy: straight, gay, bi, trans, or still figuring it out. Close: there's no deadline; plenty of people wait, for all kinds of reasons. Private reflection: "Which adult could you ask a real question, without it getting weird?"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IN PAIRS. At lunch: "Dude, not at lunch," and go back to your food. Someone you're seeing: "I'm not into that. Can we do something else?" Late nights: phone charges in the kitchen tonight. Skip the self-hatred and the vow to never watch again; small setup changes work better. Urges rise, peak and fade. A counselor can help if cutting back isn't working.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every card so nobody stands out. Answer some now and the rest next time. Remind students: an adult or much older person sending sexual content, or asking them to keep it secret, is something to tell a counselor today. 988 is there any time; RAINN is 800-656-4673; Take It Down helps remove nude images taken under 18. Share the take-home link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Scripted</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why porn pulls, how it works like pro wrestling (real bodies, staged show), and what real intimacy takes that the show leaves out. Expect nervous laughter and let it pass, keep it shame-free with nobody sharing what they watch, and if a student says an adult showed them porn or someone hurt them, walk them to a counselor that day.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Some students were raised to believe porn is wrong and carry heavy guilt, some LGBTQ+ students first saw people like them there, and porn sells stereotypes about race and bodies; leave room for all of them without shame.</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Set the room (2), pro wrestling (6), two of the four corners (7), exit card (5). Share the take-home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SCRIPTED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Scripted</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The show, and the real thing.</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HOW COMMON, AND WHY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Most people didn't plan the first time.</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HOW COMMON</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Nearly 3 in 4 teens have seen it</a:t>
            </a:r>
          </a:p>
          <a:p>
            <a:pPr algn="l">
              <a:spcAft>
                <a:spcPts val="855"/>
              </a:spcAft>
            </a:pPr>
            <a:r>
              <a:rPr sz="1900" b="0" i="0">
                <a:solidFill>
                  <a:srgbClr val="1C1B19"/>
                </a:solidFill>
                <a:latin typeface="Source Serif 4"/>
              </a:rPr>
              <a:t>Average first time: age 12</a:t>
            </a:r>
          </a:p>
          <a:p>
            <a:pPr algn="l">
              <a:spcAft>
                <a:spcPts val="855"/>
              </a:spcAft>
            </a:pPr>
            <a:r>
              <a:rPr sz="1900" b="0" i="0">
                <a:solidFill>
                  <a:srgbClr val="1C1B19"/>
                </a:solidFill>
                <a:latin typeface="Source Serif 4"/>
              </a:rPr>
              <a:t>More by accident than on purpose</a:t>
            </a:r>
          </a:p>
          <a:p>
            <a:pPr algn="l">
              <a:spcAft>
                <a:spcPts val="855"/>
              </a:spcAft>
            </a:pPr>
            <a:r>
              <a:rPr sz="1900" b="0" i="0">
                <a:solidFill>
                  <a:srgbClr val="1C1B19"/>
                </a:solidFill>
                <a:latin typeface="Source Serif 4"/>
              </a:rPr>
              <a:t>Often before anyone talked about sex</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WHY IT PULLS</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Curiosity is normal at this age</a:t>
            </a:r>
          </a:p>
          <a:p>
            <a:pPr algn="l">
              <a:spcAft>
                <a:spcPts val="855"/>
              </a:spcAft>
            </a:pPr>
            <a:r>
              <a:rPr sz="1900" b="0" i="0">
                <a:solidFill>
                  <a:srgbClr val="1C1B19"/>
                </a:solidFill>
                <a:latin typeface="Source Serif 4"/>
              </a:rPr>
              <a:t>New clips keep the reward system going</a:t>
            </a:r>
          </a:p>
          <a:p>
            <a:pPr algn="l">
              <a:spcAft>
                <a:spcPts val="855"/>
              </a:spcAft>
            </a:pPr>
            <a:r>
              <a:rPr sz="1900" b="0" i="0">
                <a:solidFill>
                  <a:srgbClr val="1C1B19"/>
                </a:solidFill>
                <a:latin typeface="Source Serif 4"/>
              </a:rPr>
              <a:t>Fast escape from boredom or stress</a:t>
            </a:r>
          </a:p>
          <a:p>
            <a:pPr algn="l">
              <a:spcAft>
                <a:spcPts val="855"/>
              </a:spcAft>
            </a:pPr>
            <a:r>
              <a:rPr sz="1900" b="0" i="0">
                <a:solidFill>
                  <a:srgbClr val="1C1B19"/>
                </a:solidFill>
                <a:latin typeface="Source Serif 4"/>
              </a:rPr>
              <a:t>Free, private, in your pocket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IT'S PRO WRESTLING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Real bodies. Staged show.</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The ending was decided backstage. The moves are rehearsed. And unlike wrestling, there's no "don't try this at home."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SCRIPT PROBLEM</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If nobody hands you a playbook, porn will.</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SCRIPT SAYS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Nobody needs to ask</a:t>
            </a:r>
          </a:p>
          <a:p>
            <a:pPr algn="l">
              <a:spcAft>
                <a:spcPts val="855"/>
              </a:spcAft>
            </a:pPr>
            <a:r>
              <a:rPr sz="1900" b="0" i="0">
                <a:solidFill>
                  <a:srgbClr val="1C1B19"/>
                </a:solidFill>
                <a:latin typeface="Source Serif 4"/>
              </a:rPr>
              <a:t>Rough is normal</a:t>
            </a:r>
          </a:p>
          <a:p>
            <a:pPr algn="l">
              <a:spcAft>
                <a:spcPts val="855"/>
              </a:spcAft>
            </a:pPr>
            <a:r>
              <a:rPr sz="1900" b="0" i="0">
                <a:solidFill>
                  <a:srgbClr val="1C1B19"/>
                </a:solidFill>
                <a:latin typeface="Source Serif 4"/>
              </a:rPr>
              <a:t>Good sex is performance</a:t>
            </a:r>
          </a:p>
          <a:p>
            <a:pPr algn="l">
              <a:spcAft>
                <a:spcPts val="855"/>
              </a:spcAft>
            </a:pPr>
            <a:r>
              <a:rPr sz="1900" b="0" i="0">
                <a:solidFill>
                  <a:srgbClr val="1C1B19"/>
                </a:solidFill>
                <a:latin typeface="Source Serif 4"/>
              </a:rPr>
              <a:t>Nobody's nervous</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REAL THING</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People ask and check in, and either can stop</a:t>
            </a:r>
          </a:p>
          <a:p>
            <a:pPr algn="l">
              <a:spcAft>
                <a:spcPts val="855"/>
              </a:spcAft>
            </a:pPr>
            <a:r>
              <a:rPr sz="1900" b="0" i="0">
                <a:solidFill>
                  <a:srgbClr val="1C1B19"/>
                </a:solidFill>
                <a:latin typeface="Source Serif 4"/>
              </a:rPr>
              <a:t>You find out what someone wants by asking</a:t>
            </a:r>
          </a:p>
          <a:p>
            <a:pPr algn="l">
              <a:spcAft>
                <a:spcPts val="855"/>
              </a:spcAft>
            </a:pPr>
            <a:r>
              <a:rPr sz="1900" b="0" i="0">
                <a:solidFill>
                  <a:srgbClr val="1C1B19"/>
                </a:solidFill>
                <a:latin typeface="Source Serif 4"/>
              </a:rPr>
              <a:t>Talking well predicts being happy with it</a:t>
            </a:r>
          </a:p>
          <a:p>
            <a:pPr algn="l">
              <a:spcAft>
                <a:spcPts val="855"/>
              </a:spcAft>
            </a:pPr>
            <a:r>
              <a:rPr sz="1900" b="0" i="0">
                <a:solidFill>
                  <a:srgbClr val="1C1B19"/>
                </a:solidFill>
                <a:latin typeface="Source Serif 4"/>
              </a:rPr>
              <a:t>Almost everyone is, and that's fine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FOUR CORNERS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Agree, disagree, not sure, or it depends?</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Most teens think porn shows how sex works.</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Teens learn more about sex from porn than from adults.</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Porn usually shows people asking for consent.</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Scientists agree porn addiction is real.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REAL INTIMACY TAKES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No crowd, no script, nobody keeping score.</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Two people who both want to be there.</a:t>
            </a:r>
          </a:p>
          <a:p>
            <a:pPr algn="l">
              <a:spcAft>
                <a:spcPts val="945"/>
              </a:spcAft>
            </a:pPr>
            <a:r>
              <a:rPr sz="1600" b="0" i="0">
                <a:solidFill>
                  <a:srgbClr val="5D5A54"/>
                </a:solidFill>
                <a:latin typeface="Source Serif 4"/>
              </a:rPr>
              <a:t>Either can stop at any point.</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Talking.</a:t>
            </a:r>
          </a:p>
          <a:p>
            <a:pPr algn="l">
              <a:spcAft>
                <a:spcPts val="945"/>
              </a:spcAft>
            </a:pPr>
            <a:r>
              <a:rPr sz="1600" b="0" i="0">
                <a:solidFill>
                  <a:srgbClr val="5D5A54"/>
                </a:solidFill>
                <a:latin typeface="Source Serif 4"/>
              </a:rPr>
              <a:t>Before, during and after.</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Trust.</a:t>
            </a:r>
          </a:p>
          <a:p>
            <a:pPr algn="l">
              <a:spcAft>
                <a:spcPts val="945"/>
              </a:spcAft>
            </a:pPr>
            <a:r>
              <a:rPr sz="1600" b="0" i="0">
                <a:solidFill>
                  <a:srgbClr val="5D5A54"/>
                </a:solidFill>
                <a:latin typeface="Source Serif 4"/>
              </a:rPr>
              <a:t>No screenshots, no locker-room stories.</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Room for awkward, and time.</a:t>
            </a:r>
          </a:p>
          <a:p>
            <a:pPr algn="l">
              <a:spcAft>
                <a:spcPts val="945"/>
              </a:spcAft>
            </a:pPr>
            <a:r>
              <a:rPr sz="1600" b="0" i="0">
                <a:solidFill>
                  <a:srgbClr val="5D5A54"/>
                </a:solidFill>
                <a:latin typeface="Source Serif 4"/>
              </a:rPr>
              <a:t>Closeness is built, not edited.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you do?</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AT LUNCH</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friend pulls up a clip on his phone and people crowd around.</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SOMEONE YOU'RE SEEING</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"I saw this in a video. Want to try it?" You're not into it.</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LATE NIGHTS</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You've been up watching most nights this week. You're tired and kind of down about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Questions, anonymously</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Write one question you still have. Blank cards are fine too.</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https://rmwtoolkit.github.io/bcds-toolkit/scripted-high-school.html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Scripted</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porn pulls so hard, how it works like pro wrestling (real bodies, staged show), how it can become a sexual script when nobody else offers one, and what real intimacy takes instead. The tone stays shame-free. Nobody shares what they watch, and students who've never seen any are welcome too.</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Four corners labeled Agree, Disagree, Not sure, It depends</a:t>
            </a:r>
          </a:p>
          <a:p>
            <a:pPr algn="l">
              <a:spcAft>
                <a:spcPts val="675"/>
              </a:spcAft>
            </a:pPr>
            <a:r>
              <a:rPr sz="1500" b="0" i="0">
                <a:solidFill>
                  <a:srgbClr val="1C1B19"/>
                </a:solidFill>
                <a:latin typeface="Source Serif 4"/>
              </a:rPr>
              <a:t>Index cards for anonymous questions</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Set the room</a:t>
            </a:r>
          </a:p>
          <a:p>
            <a:pPr algn="l">
              <a:spcAft>
                <a:spcPts val="630"/>
              </a:spcAft>
            </a:pPr>
            <a:r>
              <a:rPr sz="1300" b="1" i="0">
                <a:solidFill>
                  <a:srgbClr val="F47B20"/>
                </a:solidFill>
                <a:latin typeface="Inter Tight"/>
              </a:rPr>
              <a:t>5 min   </a:t>
            </a:r>
            <a:r>
              <a:rPr sz="1400" b="0" i="0">
                <a:solidFill>
                  <a:srgbClr val="1C1B19"/>
                </a:solidFill>
                <a:latin typeface="Source Serif 4"/>
              </a:rPr>
              <a:t>How common it is, and why it pulls</a:t>
            </a:r>
          </a:p>
          <a:p>
            <a:pPr algn="l">
              <a:spcAft>
                <a:spcPts val="630"/>
              </a:spcAft>
            </a:pPr>
            <a:r>
              <a:rPr sz="1300" b="1" i="0">
                <a:solidFill>
                  <a:srgbClr val="F47B20"/>
                </a:solidFill>
                <a:latin typeface="Inter Tight"/>
              </a:rPr>
              <a:t>6 min   </a:t>
            </a:r>
            <a:r>
              <a:rPr sz="1400" b="0" i="0">
                <a:solidFill>
                  <a:srgbClr val="1C1B19"/>
                </a:solidFill>
                <a:latin typeface="Source Serif 4"/>
              </a:rPr>
              <a:t>It's pro wrestling</a:t>
            </a:r>
          </a:p>
          <a:p>
            <a:pPr algn="l">
              <a:spcAft>
                <a:spcPts val="630"/>
              </a:spcAft>
            </a:pPr>
            <a:r>
              <a:rPr sz="1300" b="1" i="0">
                <a:solidFill>
                  <a:srgbClr val="F47B20"/>
                </a:solidFill>
                <a:latin typeface="Inter Tight"/>
              </a:rPr>
              <a:t>7 min   </a:t>
            </a:r>
            <a:r>
              <a:rPr sz="1400" b="0" i="0">
                <a:solidFill>
                  <a:srgbClr val="1C1B19"/>
                </a:solidFill>
                <a:latin typeface="Source Serif 4"/>
              </a:rPr>
              <a:t>The script versus the real thing</a:t>
            </a:r>
          </a:p>
          <a:p>
            <a:pPr algn="l">
              <a:spcAft>
                <a:spcPts val="630"/>
              </a:spcAft>
            </a:pPr>
            <a:r>
              <a:rPr sz="1300" b="1" i="0">
                <a:solidFill>
                  <a:srgbClr val="F47B20"/>
                </a:solidFill>
                <a:latin typeface="Inter Tight"/>
              </a:rPr>
              <a:t>10 min   </a:t>
            </a:r>
            <a:r>
              <a:rPr sz="1400" b="0" i="0">
                <a:solidFill>
                  <a:srgbClr val="1C1B19"/>
                </a:solidFill>
                <a:latin typeface="Source Serif 4"/>
              </a:rPr>
              <a:t>Four corners</a:t>
            </a:r>
          </a:p>
          <a:p>
            <a:pPr algn="l">
              <a:spcAft>
                <a:spcPts val="630"/>
              </a:spcAft>
            </a:pPr>
            <a:r>
              <a:rPr sz="1300" b="1" i="0">
                <a:solidFill>
                  <a:srgbClr val="F47B20"/>
                </a:solidFill>
                <a:latin typeface="Inter Tight"/>
              </a:rPr>
              <a:t>5 min   </a:t>
            </a:r>
            <a:r>
              <a:rPr sz="1400" b="0" i="0">
                <a:solidFill>
                  <a:srgbClr val="1C1B19"/>
                </a:solidFill>
                <a:latin typeface="Source Serif 4"/>
              </a:rPr>
              <a:t>What real intimacy takes</a:t>
            </a:r>
          </a:p>
          <a:p>
            <a:pPr algn="l">
              <a:spcAft>
                <a:spcPts val="630"/>
              </a:spcAft>
            </a:pPr>
            <a:r>
              <a:rPr sz="1300" b="1" i="0">
                <a:solidFill>
                  <a:srgbClr val="F47B20"/>
                </a:solidFill>
                <a:latin typeface="Inter Tight"/>
              </a:rPr>
              <a:t>4 min   </a:t>
            </a:r>
            <a:r>
              <a:rPr sz="1400" b="0" i="0">
                <a:solidFill>
                  <a:srgbClr val="1C1B19"/>
                </a:solidFill>
                <a:latin typeface="Source Serif 4"/>
              </a:rPr>
              <a:t>Three moments (pairs)</a:t>
            </a:r>
          </a:p>
          <a:p>
            <a:pPr algn="l">
              <a:spcAft>
                <a:spcPts val="630"/>
              </a:spcAft>
            </a:pPr>
            <a:r>
              <a:rPr sz="1300" b="1" i="0">
                <a:solidFill>
                  <a:srgbClr val="F47B20"/>
                </a:solidFill>
                <a:latin typeface="Inter Tight"/>
              </a:rPr>
              <a:t>5 min   </a:t>
            </a:r>
            <a:r>
              <a:rPr sz="1400" b="0" i="0">
                <a:solidFill>
                  <a:srgbClr val="1C1B19"/>
                </a:solidFill>
                <a:latin typeface="Source Serif 4"/>
              </a:rPr>
              <a:t>Anonymous questions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Set the room (2), pro wrestling (6), two of the four corners (7), exit card (5). Share the take-home link so students get the rest.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Keep it shame-free.</a:t>
            </a:r>
          </a:p>
          <a:p>
            <a:pPr algn="l">
              <a:spcAft>
                <a:spcPts val="585"/>
              </a:spcAft>
            </a:pPr>
            <a:r>
              <a:rPr sz="1300" b="0" i="0">
                <a:solidFill>
                  <a:srgbClr val="1C1B19"/>
                </a:solidFill>
                <a:latin typeface="Source Serif 4"/>
              </a:rPr>
              <a:t>Seeing it doesn't make anyone gross or broken. Shame makes a habit harder to change and shuts down the room. Say early: "Most people didn't plan the first time they saw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Nobody shares what they watch.</a:t>
            </a:r>
          </a:p>
          <a:p>
            <a:pPr algn="l">
              <a:spcAft>
                <a:spcPts val="585"/>
              </a:spcAft>
            </a:pPr>
            <a:r>
              <a:rPr sz="1300" b="0" i="0">
                <a:solidFill>
                  <a:srgbClr val="1C1B19"/>
                </a:solidFill>
                <a:latin typeface="Source Serif 4"/>
              </a:rPr>
              <a:t>Every question is about "people our age." The four-corners activity asks for opinions about research, never experiences.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Let the laughter pass.</a:t>
            </a:r>
          </a:p>
          <a:p>
            <a:pPr algn="l">
              <a:spcAft>
                <a:spcPts val="585"/>
              </a:spcAft>
            </a:pPr>
            <a:r>
              <a:rPr sz="1300" b="0" i="0">
                <a:solidFill>
                  <a:srgbClr val="1C1B19"/>
                </a:solidFill>
                <a:latin typeface="Source Serif 4"/>
              </a:rPr>
              <a:t>Nervous laughter is normal at the start. Don't scold it. Keep your own tone matter-of-fact and it settles.</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Be clear about choking.</a:t>
            </a:r>
          </a:p>
          <a:p>
            <a:pPr algn="l">
              <a:spcAft>
                <a:spcPts val="585"/>
              </a:spcAft>
            </a:pPr>
            <a:r>
              <a:rPr sz="1300" b="0" i="0">
                <a:solidFill>
                  <a:srgbClr val="1C1B19"/>
                </a:solidFill>
                <a:latin typeface="Source Serif 4"/>
              </a:rPr>
              <a:t>This is the one safety fact you say twice: pressure on the neck can cut off blood to the brain within seconds, and there's no safe way to do it. If someone does it without asking, that's not okay, and students can tell someone.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student discloses.</a:t>
            </a:r>
          </a:p>
          <a:p>
            <a:pPr algn="l">
              <a:spcAft>
                <a:spcPts val="585"/>
              </a:spcAft>
            </a:pPr>
            <a:r>
              <a:rPr sz="1300" b="0" i="0">
                <a:solidFill>
                  <a:srgbClr val="1C1B19"/>
                </a:solidFill>
                <a:latin typeface="Source Serif 4"/>
              </a:rPr>
              <a:t>An adult who showed a student porn or sent sexual content, or someone who hurt them, is something you can't keep private. Thank them and walk them to a counselor that day.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Be honest about what's debated.</a:t>
            </a:r>
          </a:p>
          <a:p>
            <a:pPr algn="l">
              <a:spcAft>
                <a:spcPts val="585"/>
              </a:spcAft>
            </a:pPr>
            <a:r>
              <a:rPr sz="1300" b="0" i="0">
                <a:solidFill>
                  <a:srgbClr val="1C1B19"/>
                </a:solidFill>
                <a:latin typeface="Source Serif 4"/>
              </a:rPr>
              <a:t>Researchers still argue about "porn addiction" and about the aggression link. Saying so makes the solid findings more believable.</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Faith and guilt.</a:t>
            </a:r>
          </a:p>
          <a:p>
            <a:pPr algn="l">
              <a:spcAft>
                <a:spcPts val="585"/>
              </a:spcAft>
            </a:pPr>
            <a:r>
              <a:rPr sz="1300" b="0" i="0">
                <a:solidFill>
                  <a:srgbClr val="1C1B19"/>
                </a:solidFill>
                <a:latin typeface="Source Serif 4"/>
              </a:rPr>
              <a:t>Students raised to believe porn is wrong may feel addicted even after watching fairly little, because the conflict itself feels like losing control. A counselor or a trusted faith leader can help them sort it out without treating them as bad.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LGBTQ+ students.</a:t>
            </a:r>
          </a:p>
          <a:p>
            <a:pPr algn="l">
              <a:spcAft>
                <a:spcPts val="585"/>
              </a:spcAft>
            </a:pPr>
            <a:r>
              <a:rPr sz="1300" b="0" i="0">
                <a:solidFill>
                  <a:srgbClr val="1C1B19"/>
                </a:solidFill>
                <a:latin typeface="Source Serif 4"/>
              </a:rPr>
              <a:t>Porn may have been one of the few places some LGBTQ+ students saw anyone like them. That makes sense. Real queer relationships take the same things everyone's do. Keep every example open to any couple.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Race and stereotypes.</a:t>
            </a:r>
          </a:p>
          <a:p>
            <a:pPr algn="l">
              <a:spcAft>
                <a:spcPts val="585"/>
              </a:spcAft>
            </a:pPr>
            <a:r>
              <a:rPr sz="1300" b="0" i="0">
                <a:solidFill>
                  <a:srgbClr val="1C1B19"/>
                </a:solidFill>
                <a:latin typeface="Source Serif 4"/>
              </a:rPr>
              <a:t>Over half of teens who'd seen porn saw Black people shown in stereotyped ways, and around half saw the same for Latino and Asian people. If a student has felt reduced to a stereotype, say plainly that it comes from the script and says nothing true about them.</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Family conversations.</a:t>
            </a:r>
          </a:p>
          <a:p>
            <a:pPr algn="l">
              <a:spcAft>
                <a:spcPts val="585"/>
              </a:spcAft>
            </a:pPr>
            <a:r>
              <a:rPr sz="1300" b="0" i="0">
                <a:solidFill>
                  <a:srgbClr val="1C1B19"/>
                </a:solidFill>
                <a:latin typeface="Source Serif 4"/>
              </a:rPr>
              <a:t>Some families talk openly, some never do, some have clear faith rules. The question "which adult could you ask?" lets each student pick someone who fits their family: a parent, an older cousin, a doctor, a counselor.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Bodies.</a:t>
            </a:r>
          </a:p>
          <a:p>
            <a:pPr algn="l">
              <a:spcAft>
                <a:spcPts val="585"/>
              </a:spcAft>
            </a:pPr>
            <a:r>
              <a:rPr sz="1300" b="0" i="0">
                <a:solidFill>
                  <a:srgbClr val="1C1B19"/>
                </a:solidFill>
                <a:latin typeface="Source Serif 4"/>
              </a:rPr>
              <a:t>Performers are cast, lit and edited. Students of every body type, including students with disabilities, should hear that comparing to porn is comparing to a casting call.</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Students who've never seen it.</a:t>
            </a:r>
          </a:p>
          <a:p>
            <a:pPr algn="l">
              <a:spcAft>
                <a:spcPts val="585"/>
              </a:spcAft>
            </a:pPr>
            <a:r>
              <a:rPr sz="1300" b="0" i="0">
                <a:solidFill>
                  <a:srgbClr val="1C1B19"/>
                </a:solidFill>
                <a:latin typeface="Source Serif 4"/>
              </a:rPr>
              <a:t>Say they're welcome and normal. The lesson still helps them understand what classmates are absorbing.</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Nearly three out of four teens had seen porn online, and the average age of first exposure was 12. More had seen it by accident than on purpose. Only 27% said it shows how most people have sex.</a:t>
            </a:r>
          </a:p>
          <a:p>
            <a:pPr algn="l">
              <a:spcAft>
                <a:spcPts val="585"/>
              </a:spcAft>
            </a:pPr>
            <a:r>
              <a:rPr sz="1050" b="0" i="0">
                <a:solidFill>
                  <a:srgbClr val="5D5A54"/>
                </a:solidFill>
                <a:latin typeface="Inter Tight"/>
              </a:rPr>
              <a:t>Robb and Mann, Common Sense Media, 2023</a:t>
            </a:r>
          </a:p>
          <a:p>
            <a:pPr algn="l">
              <a:spcAft>
                <a:spcPts val="585"/>
              </a:spcAft>
            </a:pPr>
            <a:r>
              <a:rPr sz="1300" b="0" i="0">
                <a:solidFill>
                  <a:srgbClr val="1C1B19"/>
                </a:solidFill>
                <a:latin typeface="Source Serif 4"/>
              </a:rPr>
              <a:t>More teens said they'd learned a lot about sex from a parent, caregiver or trusted adult (47%) than from porn (27%). Only 33% of teens who'd seen porn had ever seen anyone ask for consent.</a:t>
            </a:r>
          </a:p>
          <a:p>
            <a:pPr algn="l">
              <a:spcAft>
                <a:spcPts val="585"/>
              </a:spcAft>
            </a:pPr>
            <a:r>
              <a:rPr sz="1050" b="0" i="0">
                <a:solidFill>
                  <a:srgbClr val="5D5A54"/>
                </a:solidFill>
                <a:latin typeface="Inter Tight"/>
              </a:rPr>
              <a:t>Robb and Mann, Common Sense Media, 2023</a:t>
            </a:r>
          </a:p>
          <a:p>
            <a:pPr algn="l">
              <a:spcAft>
                <a:spcPts val="585"/>
              </a:spcAft>
            </a:pPr>
            <a:r>
              <a:rPr sz="1300" b="0" i="0">
                <a:solidFill>
                  <a:srgbClr val="1C1B19"/>
                </a:solidFill>
                <a:latin typeface="Source Serif 4"/>
              </a:rPr>
              <a:t>Among 14 to 17 year olds, parents and friends topped the list of helpful sources and about 8% named porn. By the early twenties, porn became the most-named source.</a:t>
            </a:r>
          </a:p>
          <a:p>
            <a:pPr algn="l">
              <a:spcAft>
                <a:spcPts val="585"/>
              </a:spcAft>
            </a:pPr>
            <a:r>
              <a:rPr sz="1050" b="0" i="0">
                <a:solidFill>
                  <a:srgbClr val="5D5A54"/>
                </a:solidFill>
                <a:latin typeface="Inter Tight"/>
              </a:rPr>
              <a:t>Rothman et al., Archives of Sexual Behavior, 2021</a:t>
            </a:r>
          </a:p>
          <a:p>
            <a:pPr algn="l">
              <a:spcAft>
                <a:spcPts val="585"/>
              </a:spcAft>
            </a:pPr>
            <a:r>
              <a:rPr sz="1300" b="0" i="0">
                <a:solidFill>
                  <a:srgbClr val="1C1B19"/>
                </a:solidFill>
                <a:latin typeface="Source Serif 4"/>
              </a:rPr>
              <a:t>About 1 in 5 adult women said a partner had choked them during sex, and people who watched porn more often were more likely to report it.</a:t>
            </a:r>
          </a:p>
          <a:p>
            <a:pPr algn="l">
              <a:spcAft>
                <a:spcPts val="585"/>
              </a:spcAft>
            </a:pPr>
            <a:r>
              <a:rPr sz="1050" b="0" i="0">
                <a:solidFill>
                  <a:srgbClr val="5D5A54"/>
                </a:solidFill>
                <a:latin typeface="Inter Tight"/>
              </a:rPr>
              <a:t>Herbenick et al., Journal of Sexual Medicine, 2020</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Twenty years of studies link teen porn use with more stereotyped beliefs about gender and more permissive attitudes about sex. Most were snapshots, so they can't prove cause.</a:t>
            </a:r>
          </a:p>
          <a:p>
            <a:pPr algn="l">
              <a:spcAft>
                <a:spcPts val="585"/>
              </a:spcAft>
            </a:pPr>
            <a:r>
              <a:rPr sz="1050" b="0" i="0">
                <a:solidFill>
                  <a:srgbClr val="5D5A54"/>
                </a:solidFill>
                <a:latin typeface="Inter Tight"/>
              </a:rPr>
              <a:t>Peter and Valkenburg, Journal of Sex Research, 2016</a:t>
            </a:r>
          </a:p>
          <a:p>
            <a:pPr algn="l">
              <a:spcAft>
                <a:spcPts val="585"/>
              </a:spcAft>
            </a:pPr>
            <a:r>
              <a:rPr sz="1300" b="0" i="0">
                <a:solidFill>
                  <a:srgbClr val="1C1B19"/>
                </a:solidFill>
                <a:latin typeface="Source Serif 4"/>
              </a:rPr>
              <a:t>People who believe porn is wrong often feel addicted even when they watch fairly little.</a:t>
            </a:r>
          </a:p>
          <a:p>
            <a:pPr algn="l">
              <a:spcAft>
                <a:spcPts val="585"/>
              </a:spcAft>
            </a:pPr>
            <a:r>
              <a:rPr sz="1050" b="0" i="0">
                <a:solidFill>
                  <a:srgbClr val="5D5A54"/>
                </a:solidFill>
                <a:latin typeface="Inter Tight"/>
              </a:rPr>
              <a:t>Grubbs et al., Archives of Sexual Behavior, 2019</a:t>
            </a:r>
          </a:p>
          <a:p>
            <a:pPr algn="l">
              <a:spcAft>
                <a:spcPts val="585"/>
              </a:spcAft>
            </a:pPr>
            <a:r>
              <a:rPr sz="1300" b="0" i="0">
                <a:solidFill>
                  <a:srgbClr val="1C1B19"/>
                </a:solidFill>
                <a:latin typeface="Source Serif 4"/>
              </a:rPr>
              <a:t>Across 93 studies, couples who talk about sex well are more satisfied with their sex lives and relationships.</a:t>
            </a:r>
          </a:p>
          <a:p>
            <a:pPr algn="l">
              <a:spcAft>
                <a:spcPts val="585"/>
              </a:spcAft>
            </a:pPr>
            <a:r>
              <a:rPr sz="1050" b="0" i="0">
                <a:solidFill>
                  <a:srgbClr val="5D5A54"/>
                </a:solidFill>
                <a:latin typeface="Inter Tight"/>
              </a:rPr>
              <a:t>Mallory, Journal of Family Psychology, 2022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