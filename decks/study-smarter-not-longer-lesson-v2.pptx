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"Your first big Upper School tests are coming, or just happened. Today isn't about studying more. It's about why the methods that feel best often work worst, and what to do instead."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(with the next slide). Read each one; students stand for fact, sit for myth. Don't reveal yet, just notice where the room splits. Answers are on the next slide. Option: let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On #2, expect "but I really am a visual learner." Say: "You can prefer visuals, and that's fine. Studies haven't found that matching teaching to a style helps people learn more." On #5: Diekelmann and Born describe sleep as an active part of memory. Cutting sleep to study more trades away part of what you studied, plus focus on test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(with the next slide). Show the left column first if you can. Ask: "Which group remembered more a week later? Hands up for A, hands up for B." Quick tally on the board. Then reveal: in Roediger and Karpicke's 2006 study, rereading won for about five minutes. After that, testing won by 14 points, at two days and at one week. Add the survey: about 84% of college students reread to study, and only 1% made recalling from memory their main method. Expect: "But rereading is faster." It feels faster because it's easy, which is the trap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most worth leaving with. In the same research, the students who only reread predicted they'd remember the most. They remembered the least a week later. Psychologist Robert Bjork calls the good methods "desirable difficulties": pulling an answer from memory feels slow and clumsy, and that effort is what builds the memory. Ask: "Where have you felt ready for a test and then blanked?" Take two or three answers; don't push anyone.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Rohrer and Taylor, 2007, with college students learning math. It was a small study, but mixed practice has held up in classrooms since. Why it works: doing 20 of the same problem tells you the method before you start. A mixed test makes you figure out which method to use, which is exactly what the real test asks. Line to give them: "If practice feels smooth, check whether it's practice or a performance for yourself." Ask: "Where could you mix it up this week?" (Old units with new, problem types shuffled, science terms with diagrams.)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Private. Nobody hands it in. Students without a test coming can use today's topic in any class. After five minutes of writing, give two or three minutes to check notes and mark gaps in a different color. Then say: "The colored parts are tomorrow's study list. That gap is your plan." Add one more move: write one "why" or "how" question you couldn't answer. Students can type, list, or sketch a map; the method is pulling it from memory, in any form. Some will find it uncomfortable to see how much is missing. Name that: "That uncomfortable feeling is the method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MINUTES. One card per group, then report back. Kenji: the guide is fine. Rereading it every night is the weak part. Make a short guide, then quiz himself from it on spaced days. Short quizzing sessions fit around practice. Rosa: mix problems from all six units in each session, so she has to pick the method the way the final will make her. Her hour a night is enough if she spends it answering from memory. Malik: each person brings five questions and they quiz each other with books closed. Reading notes aloud is rereading with company. Starting earlier than the night before helps too, and so does sleep. There's usually more than one good answer. The best one is the one they'll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Pair-share: each student picks a real test and writes the dates into a planner or phone, then tells a partner one session they'll do. The research behind it: in Cepeda's 2008 study of more than 1,350 people, the best gap between sessions grew with the time until the test. A day or two apart for a test a week away; closer to a month for a test a year away. That means finals start weeks out, with a little each week. Also: count questions answered from memory, not minutes spent. Forty-five minutes of quizzing can beat two hours of rereading. If a student says "I don't have ten days of time," point out that each session can be 15 or 20 minutes. Shared language with other lessons: stretch zone (effortful but doable, keep going) vs. shutdown (nothing moving, change something: a smaller step, a worked example, a narrower question).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Collect anonymously, or let students keep it as a reminder. Before they go, name when to ask for more help: using good methods and still struggling in a class; reading, writing or focusing taking much longer than it seems to take others; school stress taking over evenings, sleep or mood. Teachers, the learning specialist and counselors can help. Share the BVR Diner link on the slide (post it on your class page too). It has the methods, the ten-day plan,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Study Smarter, Not Longer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rereading feels like studying but holds up worst, and three methods that work: quiz yourself, space it out, mix it up. Bring blank paper for the brain dump, frame everything as a method problem and never a smarts problem, and keep scores private.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The brain dump can be typed, spoken, drawn or written in any language, and "who quizzes you" can be a sibling, a friend on a call, or flashcards, since not every student has a parent home or a quiet room.</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(4), the rereading experiment (6), brain dump (6), exit card and link (4). Share the BVR Diner link so students get the ten-day plan and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STUDY SMARTER, NOT LONGER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Study Smarter, Not Longer</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study methods that feel best usually work worst.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Rereading your notes is one of the best ways to study.</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learn more when teaching matches your learning style.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it feels easy while you study, you know it.</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Mixing problem types beats doing one type at a time.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all-nighter is worth it for a big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It feels great. A week later it holds up worst.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No good evidence for it. Quizzing and spacing help everyone.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Easy usually means familiar. Familiar isn't recall.</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Worse during practice, much better on the test.</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Sleep is when your brain strengthens what you studied.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EXPERIMENT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Reread it, or test yourself?</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GROUP A: REREAD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Read the passage</a:t>
            </a:r>
          </a:p>
          <a:p>
            <a:pPr algn="l">
              <a:spcAft>
                <a:spcPts val="855"/>
              </a:spcAft>
            </a:pPr>
            <a:r>
              <a:rPr sz="1900" b="0" i="0">
                <a:solidFill>
                  <a:srgbClr val="1C1B19"/>
                </a:solidFill>
                <a:latin typeface="Source Serif 4"/>
              </a:rPr>
              <a:t>Read it again</a:t>
            </a:r>
          </a:p>
          <a:p>
            <a:pPr algn="l">
              <a:spcAft>
                <a:spcPts val="855"/>
              </a:spcAft>
            </a:pPr>
            <a:r>
              <a:rPr sz="1900" b="0" i="0">
                <a:solidFill>
                  <a:srgbClr val="1C1B19"/>
                </a:solidFill>
                <a:latin typeface="Source Serif 4"/>
              </a:rPr>
              <a:t>Felt the most ready</a:t>
            </a:r>
          </a:p>
          <a:p>
            <a:pPr algn="l">
              <a:spcAft>
                <a:spcPts val="855"/>
              </a:spcAft>
            </a:pPr>
            <a:r>
              <a:rPr sz="1900" b="0" i="0">
                <a:solidFill>
                  <a:srgbClr val="1C1B19"/>
                </a:solidFill>
                <a:latin typeface="Source Serif 4"/>
              </a:rPr>
              <a:t>Won the five-minute test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GROUP B: READ ONCE, THEN RECALL</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Read the passage once</a:t>
            </a:r>
          </a:p>
          <a:p>
            <a:pPr algn="l">
              <a:spcAft>
                <a:spcPts val="855"/>
              </a:spcAft>
            </a:pPr>
            <a:r>
              <a:rPr sz="1900" b="0" i="0">
                <a:solidFill>
                  <a:srgbClr val="1C1B19"/>
                </a:solidFill>
                <a:latin typeface="Source Serif 4"/>
              </a:rPr>
              <a:t>Wrote all they could remember</a:t>
            </a:r>
          </a:p>
          <a:p>
            <a:pPr algn="l">
              <a:spcAft>
                <a:spcPts val="855"/>
              </a:spcAft>
            </a:pPr>
            <a:r>
              <a:rPr sz="1900" b="0" i="0">
                <a:solidFill>
                  <a:srgbClr val="1C1B19"/>
                </a:solidFill>
                <a:latin typeface="Source Serif 4"/>
              </a:rPr>
              <a:t>No notes, no feedback</a:t>
            </a:r>
          </a:p>
          <a:p>
            <a:pPr algn="l">
              <a:spcAft>
                <a:spcPts val="855"/>
              </a:spcAft>
            </a:pPr>
            <a:r>
              <a:rPr sz="1900" b="0" i="0">
                <a:solidFill>
                  <a:srgbClr val="1C1B19"/>
                </a:solidFill>
                <a:latin typeface="Source Serif 4"/>
              </a:rPr>
              <a:t>Won at two days and one week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FOOLS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Familiar feels like knowing.</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Rereading makes the page look familiar. The test asks you to pull it out of your own 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MIXING IT UP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Practice that feels worse, results that are better</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ONE TYPE AT A TIME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89% right during practice</a:t>
            </a:r>
          </a:p>
          <a:p>
            <a:pPr algn="l">
              <a:spcAft>
                <a:spcPts val="855"/>
              </a:spcAft>
            </a:pPr>
            <a:r>
              <a:rPr sz="1900" b="0" i="0">
                <a:solidFill>
                  <a:srgbClr val="1C1B19"/>
                </a:solidFill>
                <a:latin typeface="Source Serif 4"/>
              </a:rPr>
              <a:t>20% on the test a week later</a:t>
            </a:r>
          </a:p>
          <a:p>
            <a:pPr algn="l">
              <a:spcAft>
                <a:spcPts val="855"/>
              </a:spcAft>
            </a:pPr>
            <a:r>
              <a:rPr sz="1900" b="0" i="0">
                <a:solidFill>
                  <a:srgbClr val="1C1B19"/>
                </a:solidFill>
                <a:latin typeface="Source Serif 4"/>
              </a:rPr>
              <a:t>You know the method before you start</a:t>
            </a:r>
          </a:p>
          <a:p>
            <a:pPr algn="l">
              <a:spcAft>
                <a:spcPts val="855"/>
              </a:spcAft>
            </a:pPr>
            <a:r>
              <a:rPr sz="1900" b="0" i="0">
                <a:solidFill>
                  <a:srgbClr val="1C1B19"/>
                </a:solidFill>
                <a:latin typeface="Source Serif 4"/>
              </a:rPr>
              <a:t>Feels smooth</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MIXED UP</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60% right during practice</a:t>
            </a:r>
          </a:p>
          <a:p>
            <a:pPr algn="l">
              <a:spcAft>
                <a:spcPts val="855"/>
              </a:spcAft>
            </a:pPr>
            <a:r>
              <a:rPr sz="1900" b="0" i="0">
                <a:solidFill>
                  <a:srgbClr val="1C1B19"/>
                </a:solidFill>
                <a:latin typeface="Source Serif 4"/>
              </a:rPr>
              <a:t>63% on the test a week later</a:t>
            </a:r>
          </a:p>
          <a:p>
            <a:pPr algn="l">
              <a:spcAft>
                <a:spcPts val="855"/>
              </a:spcAft>
            </a:pPr>
            <a:r>
              <a:rPr sz="1900" b="0" i="0">
                <a:solidFill>
                  <a:srgbClr val="1C1B19"/>
                </a:solidFill>
                <a:latin typeface="Source Serif 4"/>
              </a:rPr>
              <a:t>You have to pick the method</a:t>
            </a:r>
          </a:p>
          <a:p>
            <a:pPr algn="l">
              <a:spcAft>
                <a:spcPts val="855"/>
              </a:spcAft>
            </a:pPr>
            <a:r>
              <a:rPr sz="1900" b="0" i="0">
                <a:solidFill>
                  <a:srgbClr val="1C1B19"/>
                </a:solidFill>
                <a:latin typeface="Source Serif 4"/>
              </a:rPr>
              <a:t>Feels clumsy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Pick a class with a test coming. Write all you remember.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No notes for five minutes. Then open your notes and mark what you missed in another color.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STUDY PLANS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plan would you change, and how?</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KENJI</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Biology test in ten days. Soccer most nights. His plan: make a color-coded study guide this weekend, then reread it every night.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ROSA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Math final covers six units. She watches her little brothers until her grandmother gets home. Plan: one unit a night, in order, all problems of a type together.</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MALIK</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study group meets on a video call the night before the history test. Last time they read their notes out loud for two hours.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PLAN IT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 ten-day plan for a real test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Day 1: learn it.</a:t>
            </a:r>
          </a:p>
          <a:p>
            <a:pPr algn="l">
              <a:spcAft>
                <a:spcPts val="945"/>
              </a:spcAft>
            </a:pPr>
            <a:r>
              <a:rPr sz="1600" b="0" i="0">
                <a:solidFill>
                  <a:srgbClr val="5D5A54"/>
                </a:solidFill>
                <a:latin typeface="Source Serif 4"/>
              </a:rPr>
              <a:t>End with a brain dump.</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Day 3: practice from memory.</a:t>
            </a:r>
          </a:p>
          <a:p>
            <a:pPr algn="l">
              <a:spcAft>
                <a:spcPts val="945"/>
              </a:spcAft>
            </a:pPr>
            <a:r>
              <a:rPr sz="1600" b="0" i="0">
                <a:solidFill>
                  <a:srgbClr val="5D5A54"/>
                </a:solidFill>
                <a:latin typeface="Source Serif 4"/>
              </a:rPr>
              <a:t>Then check your answers.</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Day 6: mixed practice test.</a:t>
            </a:r>
          </a:p>
          <a:p>
            <a:pPr algn="l">
              <a:spcAft>
                <a:spcPts val="945"/>
              </a:spcAft>
            </a:pPr>
            <a:r>
              <a:rPr sz="1600" b="0" i="0">
                <a:solidFill>
                  <a:srgbClr val="5D5A54"/>
                </a:solidFill>
                <a:latin typeface="Source Serif 4"/>
              </a:rPr>
              <a:t>Include last unit. Mark what you missed.</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Day 8: only what you missed.</a:t>
            </a:r>
          </a:p>
          <a:p>
            <a:pPr algn="l">
              <a:spcAft>
                <a:spcPts val="945"/>
              </a:spcAft>
            </a:pPr>
            <a:r>
              <a:rPr sz="1600" b="0" i="0">
                <a:solidFill>
                  <a:srgbClr val="5D5A54"/>
                </a:solidFill>
                <a:latin typeface="Source Serif 4"/>
              </a:rPr>
              <a:t>From memory, not rereading.</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Day 9: short quiz, then sleep.</a:t>
            </a:r>
          </a:p>
          <a:p>
            <a:pPr algn="l">
              <a:spcAft>
                <a:spcPts val="945"/>
              </a:spcAft>
            </a:pPr>
            <a:r>
              <a:rPr sz="1600" b="0" i="0">
                <a:solidFill>
                  <a:srgbClr val="5D5A54"/>
                </a:solidFill>
                <a:latin typeface="Source Serif 4"/>
              </a:rPr>
              <a:t>No all-nighter.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Which method will you try this week, and for which test?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https://rmwtoolkit.github.io/bcds-toolkit/study-smarter-not-longer-high-school.html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Study Smarter, Not Longer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rereading feels like studying but holds up worst (familiar isn't the same as knowing), use three methods that work (quiz yourself, space it out, mix it up), and sketch a spaced plan for a real test coming up. The aim is a better method. Nobody should leave thinking they're bad at school.</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Blank paper for the brain dump, one sheet per student</a:t>
            </a:r>
          </a:p>
          <a:p>
            <a:pPr algn="l">
              <a:spcAft>
                <a:spcPts val="675"/>
              </a:spcAft>
            </a:pPr>
            <a:r>
              <a:rPr sz="1500" b="0" i="0">
                <a:solidFill>
                  <a:srgbClr val="1C1B19"/>
                </a:solidFill>
                <a:latin typeface="Source Serif 4"/>
              </a:rPr>
              <a:t>Index cards for the opening guess and the exit card</a:t>
            </a:r>
          </a:p>
          <a:p>
            <a:pPr algn="l">
              <a:spcAft>
                <a:spcPts val="675"/>
              </a:spcAft>
            </a:pPr>
            <a:r>
              <a:rPr sz="1500" b="0" i="0">
                <a:solidFill>
                  <a:srgbClr val="1C1B19"/>
                </a:solidFill>
                <a:latin typeface="Source Serif 4"/>
              </a:rPr>
              <a:t>The BVR Diner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The rereading experiment (predict, then see)</a:t>
            </a:r>
          </a:p>
          <a:p>
            <a:pPr algn="l">
              <a:spcAft>
                <a:spcPts val="630"/>
              </a:spcAft>
            </a:pPr>
            <a:r>
              <a:rPr sz="1300" b="1" i="0">
                <a:solidFill>
                  <a:srgbClr val="F47B20"/>
                </a:solidFill>
                <a:latin typeface="Inter Tight"/>
              </a:rPr>
              <a:t>5 min   </a:t>
            </a:r>
            <a:r>
              <a:rPr sz="1400" b="0" i="0">
                <a:solidFill>
                  <a:srgbClr val="1C1B19"/>
                </a:solidFill>
                <a:latin typeface="Source Serif 4"/>
              </a:rPr>
              <a:t>Mixed practice: worse in the moment, better on the test</a:t>
            </a:r>
          </a:p>
          <a:p>
            <a:pPr algn="l">
              <a:spcAft>
                <a:spcPts val="630"/>
              </a:spcAft>
            </a:pPr>
            <a:r>
              <a:rPr sz="1300" b="1" i="0">
                <a:solidFill>
                  <a:srgbClr val="F47B20"/>
                </a:solidFill>
                <a:latin typeface="Inter Tight"/>
              </a:rPr>
              <a:t>8 min   </a:t>
            </a:r>
            <a:r>
              <a:rPr sz="1400" b="0" i="0">
                <a:solidFill>
                  <a:srgbClr val="1C1B19"/>
                </a:solidFill>
                <a:latin typeface="Source Serif 4"/>
              </a:rPr>
              <a:t>Brain dump (private, no notes)</a:t>
            </a:r>
          </a:p>
          <a:p>
            <a:pPr algn="l">
              <a:spcAft>
                <a:spcPts val="630"/>
              </a:spcAft>
            </a:pPr>
            <a:r>
              <a:rPr sz="1300" b="1" i="0">
                <a:solidFill>
                  <a:srgbClr val="F47B20"/>
                </a:solidFill>
                <a:latin typeface="Inter Tight"/>
              </a:rPr>
              <a:t>9 min   </a:t>
            </a:r>
            <a:r>
              <a:rPr sz="1400" b="0" i="0">
                <a:solidFill>
                  <a:srgbClr val="1C1B19"/>
                </a:solidFill>
                <a:latin typeface="Source Serif 4"/>
              </a:rPr>
              <a:t>Three study plans (small groups)</a:t>
            </a:r>
          </a:p>
          <a:p>
            <a:pPr algn="l">
              <a:spcAft>
                <a:spcPts val="630"/>
              </a:spcAft>
            </a:pPr>
            <a:r>
              <a:rPr sz="1300" b="1" i="0">
                <a:solidFill>
                  <a:srgbClr val="F47B20"/>
                </a:solidFill>
                <a:latin typeface="Inter Tight"/>
              </a:rPr>
              <a:t>6 min   </a:t>
            </a:r>
            <a:r>
              <a:rPr sz="1400" b="0" i="0">
                <a:solidFill>
                  <a:srgbClr val="1C1B19"/>
                </a:solidFill>
                <a:latin typeface="Source Serif 4"/>
              </a:rPr>
              <a:t>A ten-day plan for a real test (pair-share)</a:t>
            </a:r>
          </a:p>
          <a:p>
            <a:pPr algn="l">
              <a:spcAft>
                <a:spcPts val="630"/>
              </a:spcAft>
            </a:pPr>
            <a:r>
              <a:rPr sz="1300" b="1" i="0">
                <a:solidFill>
                  <a:srgbClr val="F47B20"/>
                </a:solidFill>
                <a:latin typeface="Inter Tight"/>
              </a:rPr>
              <a:t>4 min   </a:t>
            </a:r>
            <a:r>
              <a:rPr sz="1400" b="0" i="0">
                <a:solidFill>
                  <a:srgbClr val="1C1B19"/>
                </a:solidFill>
                <a:latin typeface="Source Serif 4"/>
              </a:rPr>
              <a:t>Exit card and the BVR Diner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(4), the rereading experiment (6), brain dump (6), exit card and link (4). Share the BVR Diner link so students get the ten-day plan and the rest.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already feel behind.</a:t>
            </a:r>
          </a:p>
          <a:p>
            <a:pPr algn="l">
              <a:spcAft>
                <a:spcPts val="585"/>
              </a:spcAft>
            </a:pPr>
            <a:r>
              <a:rPr sz="1300" b="0" i="0">
                <a:solidFill>
                  <a:srgbClr val="1C1B19"/>
                </a:solidFill>
                <a:latin typeface="Source Serif 4"/>
              </a:rPr>
              <a:t>First Upper School tests can shake students who did well before. Frame everything as a method problem, never a smarts problem. A student who rereads has been doing what most students do.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grades and scores private.</a:t>
            </a:r>
          </a:p>
          <a:p>
            <a:pPr algn="l">
              <a:spcAft>
                <a:spcPts val="585"/>
              </a:spcAft>
            </a:pPr>
            <a:r>
              <a:rPr sz="1300" b="0" i="0">
                <a:solidFill>
                  <a:srgbClr val="1C1B19"/>
                </a:solidFill>
                <a:latin typeface="Source Serif 4"/>
              </a:rPr>
              <a:t>Don't ask anyone to share a test score or how long they studied. The brain dump stays with the student. Nobody hands it in.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pushback on learning styles.</a:t>
            </a:r>
          </a:p>
          <a:p>
            <a:pPr algn="l">
              <a:spcAft>
                <a:spcPts val="585"/>
              </a:spcAft>
            </a:pPr>
            <a:r>
              <a:rPr sz="1300" b="0" i="0">
                <a:solidFill>
                  <a:srgbClr val="1C1B19"/>
                </a:solidFill>
                <a:latin typeface="Source Serif 4"/>
              </a:rPr>
              <a:t>Many students have been told they're visual learners. Preferring visuals is fine. The research says matching teaching to a style doesn't improve learning. Say it gently and move on. Nobody needs correcting in front of the room.</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honest about the research.</a:t>
            </a:r>
          </a:p>
          <a:p>
            <a:pPr algn="l">
              <a:spcAft>
                <a:spcPts val="585"/>
              </a:spcAft>
            </a:pPr>
            <a:r>
              <a:rPr sz="1300" b="0" i="0">
                <a:solidFill>
                  <a:srgbClr val="1C1B19"/>
                </a:solidFill>
                <a:latin typeface="Source Serif 4"/>
              </a:rPr>
              <a:t>Most of these studies were with college students, and the math-mixing study was small. Methods raise the odds. They don't promise a grade. Students trust you more when you say so.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Good methods and still struggling.</a:t>
            </a:r>
          </a:p>
          <a:p>
            <a:pPr algn="l">
              <a:spcAft>
                <a:spcPts val="585"/>
              </a:spcAft>
            </a:pPr>
            <a:r>
              <a:rPr sz="1300" b="0" i="0">
                <a:solidFill>
                  <a:srgbClr val="1C1B19"/>
                </a:solidFill>
                <a:latin typeface="Source Serif 4"/>
              </a:rPr>
              <a:t>If reading, writing or focusing takes a student much longer than it seems to take others, connect them with the learning specialist or a counselor. An evaluation can open up supports now and in college.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stress is the bigger problem.</a:t>
            </a:r>
          </a:p>
          <a:p>
            <a:pPr algn="l">
              <a:spcAft>
                <a:spcPts val="585"/>
              </a:spcAft>
            </a:pPr>
            <a:r>
              <a:rPr sz="1300" b="0" i="0">
                <a:solidFill>
                  <a:srgbClr val="1C1B19"/>
                </a:solidFill>
                <a:latin typeface="Source Serif 4"/>
              </a:rPr>
              <a:t>If a student says school stress is taking over their evenings, sleep or mood, thank them and walk them to a counselor that day. Don't work through it in front of the class.</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Learning differences and disability.</a:t>
            </a:r>
          </a:p>
          <a:p>
            <a:pPr algn="l">
              <a:spcAft>
                <a:spcPts val="585"/>
              </a:spcAft>
            </a:pPr>
            <a:r>
              <a:rPr sz="1300" b="0" i="0">
                <a:solidFill>
                  <a:srgbClr val="1C1B19"/>
                </a:solidFill>
                <a:latin typeface="Source Serif 4"/>
              </a:rPr>
              <a:t>The brain dump can be typed, spoken quietly into a phone, drawn as a map, or written as a list. Students with ADHD, dyslexia or slower processing may need more time on every activity. Measure what they can pull from memory, at whatever speed.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has the same study time.</a:t>
            </a:r>
          </a:p>
          <a:p>
            <a:pPr algn="l">
              <a:spcAft>
                <a:spcPts val="585"/>
              </a:spcAft>
            </a:pPr>
            <a:r>
              <a:rPr sz="1300" b="0" i="0">
                <a:solidFill>
                  <a:srgbClr val="1C1B19"/>
                </a:solidFill>
                <a:latin typeface="Source Serif 4"/>
              </a:rPr>
              <a:t>Some students work, ride a long bus, or watch younger siblings after school. "Count questions, not hours" helps here: short quizzing sessions fit a tight evening. Every method in this lesson is free, and released practice questions are free online.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 quiet place isn't a given.</a:t>
            </a:r>
          </a:p>
          <a:p>
            <a:pPr algn="l">
              <a:spcAft>
                <a:spcPts val="585"/>
              </a:spcAft>
            </a:pPr>
            <a:r>
              <a:rPr sz="1300" b="0" i="0">
                <a:solidFill>
                  <a:srgbClr val="1C1B19"/>
                </a:solidFill>
                <a:latin typeface="Source Serif 4"/>
              </a:rPr>
              <a:t>Some students share a room or study in a busy kitchen. Mention the school library and any after-school study space. A brain dump works on a bus or in a hallway.</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quizzes you can be anyone.</a:t>
            </a:r>
          </a:p>
          <a:p>
            <a:pPr algn="l">
              <a:spcAft>
                <a:spcPts val="585"/>
              </a:spcAft>
            </a:pPr>
            <a:r>
              <a:rPr sz="1300" b="0" i="0">
                <a:solidFill>
                  <a:srgbClr val="1C1B19"/>
                </a:solidFill>
                <a:latin typeface="Source Serif 4"/>
              </a:rPr>
              <a:t>Don't assume a parent is home to help. A sibling, a grandparent, a friend on a call, or a stack of flashcards all work. Rosa's scenario has a grandmother in it; swap in whatever fits your students.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hold different views on effort.</a:t>
            </a:r>
          </a:p>
          <a:p>
            <a:pPr algn="l">
              <a:spcAft>
                <a:spcPts val="585"/>
              </a:spcAft>
            </a:pPr>
            <a:r>
              <a:rPr sz="1300" b="0" i="0">
                <a:solidFill>
                  <a:srgbClr val="1C1B19"/>
                </a:solidFill>
                <a:latin typeface="Source Serif 4"/>
              </a:rPr>
              <a:t>For some families, long hours at the desk are how effort shows. Respect that. The point is to make those hours count. Ask students how studying is talked about at home, as a private thought.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the calendar.</a:t>
            </a:r>
          </a:p>
          <a:p>
            <a:pPr algn="l">
              <a:spcAft>
                <a:spcPts val="585"/>
              </a:spcAft>
            </a:pPr>
            <a:r>
              <a:rPr sz="1300" b="0" i="0">
                <a:solidFill>
                  <a:srgbClr val="1C1B19"/>
                </a:solidFill>
                <a:latin typeface="Source Serif 4"/>
              </a:rPr>
              <a:t>Students learning English can brain dump in any language, then check against notes in English. Religious holidays, fasting and family events can block whole days; a spaced plan moves around them more easily than a cram can.</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who reread a passage did best on a test five minutes later. Students who read it once and then wrote down all they could remember beat them by 14 points at two days and at one week. The rereaders predicted they'd remember the most and remembered the least.</a:t>
            </a:r>
          </a:p>
          <a:p>
            <a:pPr algn="l">
              <a:spcAft>
                <a:spcPts val="585"/>
              </a:spcAft>
            </a:pPr>
            <a:r>
              <a:rPr sz="1050" b="0" i="0">
                <a:solidFill>
                  <a:srgbClr val="5D5A54"/>
                </a:solidFill>
                <a:latin typeface="Inter Tight"/>
              </a:rPr>
              <a:t>Roediger and Karpicke, Psychological Science, 2006</a:t>
            </a:r>
          </a:p>
          <a:p>
            <a:pPr algn="l">
              <a:spcAft>
                <a:spcPts val="585"/>
              </a:spcAft>
            </a:pPr>
            <a:r>
              <a:rPr sz="1300" b="0" i="0">
                <a:solidFill>
                  <a:srgbClr val="1C1B19"/>
                </a:solidFill>
                <a:latin typeface="Source Serif 4"/>
              </a:rPr>
              <a:t>A review of hundreds of studies on ten common study techniques rated only two "high utility": practice testing and spreading study out over time. Rereading, highlighting and summarizing rated low.</a:t>
            </a:r>
          </a:p>
          <a:p>
            <a:pPr algn="l">
              <a:spcAft>
                <a:spcPts val="585"/>
              </a:spcAft>
            </a:pPr>
            <a:r>
              <a:rPr sz="1050" b="0" i="0">
                <a:solidFill>
                  <a:srgbClr val="5D5A54"/>
                </a:solidFill>
                <a:latin typeface="Inter Tight"/>
              </a:rPr>
              <a:t>Dunlosky et al., Psychological Science in the Public Interest, 2013</a:t>
            </a:r>
          </a:p>
          <a:p>
            <a:pPr algn="l">
              <a:spcAft>
                <a:spcPts val="585"/>
              </a:spcAft>
            </a:pPr>
            <a:r>
              <a:rPr sz="1300" b="0" i="0">
                <a:solidFill>
                  <a:srgbClr val="1C1B19"/>
                </a:solidFill>
                <a:latin typeface="Source Serif 4"/>
              </a:rPr>
              <a:t>About 84% of college students said they reread notes or textbooks to study. About 11% practiced recalling information, and only 1% called that their main method.</a:t>
            </a:r>
          </a:p>
          <a:p>
            <a:pPr algn="l">
              <a:spcAft>
                <a:spcPts val="585"/>
              </a:spcAft>
            </a:pPr>
            <a:r>
              <a:rPr sz="1050" b="0" i="0">
                <a:solidFill>
                  <a:srgbClr val="5D5A54"/>
                </a:solidFill>
                <a:latin typeface="Inter Tight"/>
              </a:rPr>
              <a:t>Karpicke, Butler and Roediger, Memory, 2009</a:t>
            </a:r>
          </a:p>
          <a:p>
            <a:pPr algn="l">
              <a:spcAft>
                <a:spcPts val="585"/>
              </a:spcAft>
            </a:pPr>
            <a:r>
              <a:rPr sz="1300" b="0" i="0">
                <a:solidFill>
                  <a:srgbClr val="1C1B19"/>
                </a:solidFill>
                <a:latin typeface="Source Serif 4"/>
              </a:rPr>
              <a:t>"Desirable difficulties": recalling from memory, waiting between sessions and mixing problem types feel slower in the moment, and that effort builds memory you can use later.</a:t>
            </a:r>
          </a:p>
          <a:p>
            <a:pPr algn="l">
              <a:spcAft>
                <a:spcPts val="585"/>
              </a:spcAft>
            </a:pPr>
            <a:r>
              <a:rPr sz="1050" b="0" i="0">
                <a:solidFill>
                  <a:srgbClr val="5D5A54"/>
                </a:solidFill>
                <a:latin typeface="Inter Tight"/>
              </a:rPr>
              <a:t>Bjork, 1994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who practiced math problems in blocks got 89% right during practice versus 60% for mixed practice. A week later the mixed group scored 63% and the blocked group 20%. A small study; mixed practice has held up in classrooms since.</a:t>
            </a:r>
          </a:p>
          <a:p>
            <a:pPr algn="l">
              <a:spcAft>
                <a:spcPts val="585"/>
              </a:spcAft>
            </a:pPr>
            <a:r>
              <a:rPr sz="1050" b="0" i="0">
                <a:solidFill>
                  <a:srgbClr val="5D5A54"/>
                </a:solidFill>
                <a:latin typeface="Inter Tight"/>
              </a:rPr>
              <a:t>Rohrer and Taylor, Instructional Science, 2007</a:t>
            </a:r>
          </a:p>
          <a:p>
            <a:pPr algn="l">
              <a:spcAft>
                <a:spcPts val="585"/>
              </a:spcAft>
            </a:pPr>
            <a:r>
              <a:rPr sz="1300" b="0" i="0">
                <a:solidFill>
                  <a:srgbClr val="1C1B19"/>
                </a:solidFill>
                <a:latin typeface="Source Serif 4"/>
              </a:rPr>
              <a:t>In a study of more than 1,350 people, the best gap between study sessions grew with the time until the test: a day or two for a test a week away, closer to a month for a test a year away.</a:t>
            </a:r>
          </a:p>
          <a:p>
            <a:pPr algn="l">
              <a:spcAft>
                <a:spcPts val="585"/>
              </a:spcAft>
            </a:pPr>
            <a:r>
              <a:rPr sz="1050" b="0" i="0">
                <a:solidFill>
                  <a:srgbClr val="5D5A54"/>
                </a:solidFill>
                <a:latin typeface="Inter Tight"/>
              </a:rPr>
              <a:t>Cepeda et al., Psychological Science, 2008</a:t>
            </a:r>
          </a:p>
          <a:p>
            <a:pPr algn="l">
              <a:spcAft>
                <a:spcPts val="585"/>
              </a:spcAft>
            </a:pPr>
            <a:r>
              <a:rPr sz="1300" b="0" i="0">
                <a:solidFill>
                  <a:srgbClr val="1C1B19"/>
                </a:solidFill>
                <a:latin typeface="Source Serif 4"/>
              </a:rPr>
              <a:t>During sleep the brain replays and strengthens what was learned that day. Sleep is an active part of memory consolidation.</a:t>
            </a:r>
          </a:p>
          <a:p>
            <a:pPr algn="l">
              <a:spcAft>
                <a:spcPts val="585"/>
              </a:spcAft>
            </a:pPr>
            <a:r>
              <a:rPr sz="1050" b="0" i="0">
                <a:solidFill>
                  <a:srgbClr val="5D5A54"/>
                </a:solidFill>
                <a:latin typeface="Inter Tight"/>
              </a:rPr>
              <a:t>Diekelmann and Born, Nature Reviews Neuroscience, 2010</a:t>
            </a:r>
          </a:p>
          <a:p>
            <a:pPr algn="l">
              <a:spcAft>
                <a:spcPts val="585"/>
              </a:spcAft>
            </a:pPr>
            <a:r>
              <a:rPr sz="1300" b="0" i="0">
                <a:solidFill>
                  <a:srgbClr val="1C1B19"/>
                </a:solidFill>
                <a:latin typeface="Source Serif 4"/>
              </a:rPr>
              <a:t>No good evidence that teaching to a person's preferred "learning style" improves learning.</a:t>
            </a:r>
          </a:p>
          <a:p>
            <a:pPr algn="l">
              <a:spcAft>
                <a:spcPts val="585"/>
              </a:spcAft>
            </a:pPr>
            <a:r>
              <a:rPr sz="1050" b="0" i="0">
                <a:solidFill>
                  <a:srgbClr val="5D5A54"/>
                </a:solidFill>
                <a:latin typeface="Inter Tight"/>
              </a:rPr>
              <a:t>Pashler et al., Psychological Science in the Public Interest, 2008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