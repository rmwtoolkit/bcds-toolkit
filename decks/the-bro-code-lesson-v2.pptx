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Open with a few of the "sound familiar" moments from the student page: you watched a few videos about lifting or making money, and now your feed explains what women "really" want. A guy quotes a creator about "high-value men" like it's settled science. Someone gets called "soft" or a "simp" for texting a girl back like a normal person. Then say: "Today is about how this content reaches you, why it works, and what the research says about its claims. Nobody's in trouble for what's in their feed, and we're not naming anyone." Name that everyone in the room is part of this, whatever their gender: some get the content, some are the subject of it, and everyone has heard the jokes.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Take a few guesses out loud, or collect them and read the range. Then the answer: in a 2024 Dublin City University study, every one of ten fresh accounts posing as 16- and 18-year-old boys was shown misogynistic or "alpha" content within 23 minutes, including ones that never searched for it. It was a small study, but it matches what other researchers have found. The point for students: it feels like you found it yourself. It was delivered.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MINUTE. Walk the steps quickly. Real wants: confidence, strength, money, respect, not being lonely. The package: respect comes from dominating people, and women are something to win, rate or control. The product: courses, coaching, paid group chats, supplements, usually monthly. Leaving costs you: push back and you're "beta" or "brainwashed," which is built to stop you thinking for yourself. Ask students to keep one question in their pocket: what does this person want me to feel, and what do they want me to buy?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Read one at a time. Students stand if they think it's true, or raise a hand from their seat if they'd rather. Ask one person standing and one sitting why. Then the research. 1: The biologist who made "alpha wolf" famous studied wild wolves for 13 summers and found a typical pack is a family, two parents and their young. The ranking idea came mostly from unrelated wolves housed together in captivity, and he has called the term misleading. 2: In a classic study of 10,047 people in 37 cultures, men and women both ranked kindness and intelligence above money and looks, in every sample. Looks and money mattered; they just weren't on top. 3: In a 2021 survey, 15% of American men said they had no close friends, up from 3% in 1990. This content lands partly because it offers a team and someone to blame. Reaching out first and making plans are skills guys build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Everyone writes two things: what they think most guys believe, and what they believe. Collect, shuffle, tally both out loud. In most rooms, people guess others are more okay with it than they say they are themselves. That matches a 2008 study: college men overestimated how sexist the other men in the room were, and when they saw the real numbers, their estimates dropped. Thinking everyone else agrees is part of what keeps guys quiet. If the tally doesn't show the gap, say so honestly and ask why someone might go along with a joke they don't like.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Jokes are how a group tests what's okay. Somebody pushes a line. If everyone laughs or nobody says anything, the line moves a little further next time. Silence reads as agreement even when you're cringing, and the guy next to you may be cringing too. No speech needed. These moves work for anyone in the group, whatever their gender. Two to skip: laughing along to keep the peace, and roasting the guy in the group chat. He needs a friend, not an audience.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Pairs take one card, then a few share. Team bus: earbuds in feels easier, but it reads as agreement. Strong moves: "That's a weird thing to believe about every woman you know," or bring it up with him later, one on one. Marco: sending more clips or roasting him both keep him there. He sounds like he's hurting. Something like "You doing okay since the breakup? Gym Saturday?" reaches the real problem. Aaliyah: she doesn't owe him a debate. Muting, blocking, or saying "not my thing" and changing the subject are all fine. If it turns into pressure or threats, that's a trusted adult. Close with: "You won't always get it right. One honest 'nah' is more than most people say."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MINUTES. Students write for themselves; nobody shares. Say: "What being a man means is shaped by family, culture and faith, and people you respect may define it differently. This question works whatever your gender." Add one feed tip: tap "not interested" several times on these creators, and follow athletes and coaches who talk about strength or money without trashing anyone. The feed shifts fast in both directions. Share the student page link. It has the claims, the moves, and when to get an adult involved.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Bro Code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900"/>
              </a:spcAft>
            </a:pPr>
            <a:r>
              <a:rPr sz="1200" b="1" i="0">
                <a:solidFill>
                  <a:srgbClr val="0B2D5B"/>
                </a:solidFill>
                <a:latin typeface="Inter Tight"/>
              </a:rPr>
              <a:t>BEFORE YOU START</a:t>
            </a:r>
          </a:p>
          <a:p>
            <a:pPr algn="l">
              <a:spcAft>
                <a:spcPts val="900"/>
              </a:spcAft>
            </a:pPr>
            <a:r>
              <a:rPr sz="2000" b="0" i="0">
                <a:solidFill>
                  <a:srgbClr val="1C1B19"/>
                </a:solidFill>
                <a:latin typeface="Source Serif 4"/>
              </a:rPr>
              <a:t>Students learn how a feed drifts toward "alpha" content, test three of its claims against research, and name one low-key move for when a joke goes too far. Describe the content without playing clips, respect the want for confidence and respect, and keep any student who seems angry and alone for a quiet check-in after.</a:t>
            </a:r>
          </a:p>
          <a:p>
            <a:pPr algn="l">
              <a:spcAft>
                <a:spcPts val="900"/>
              </a:spcAft>
            </a:pPr>
            <a:r>
              <a:rPr sz="2000" b="0" i="0">
                <a:solidFill>
                  <a:srgbClr val="1C1B19"/>
                </a:solidFill>
                <a:latin typeface="Source Serif 4"/>
              </a:rPr>
              <a:t/>
            </a:r>
          </a:p>
          <a:p>
            <a:pPr algn="l">
              <a:spcAft>
                <a:spcPts val="900"/>
              </a:spcAft>
            </a:pPr>
            <a:r>
              <a:rPr sz="1200" b="1" i="0">
                <a:solidFill>
                  <a:srgbClr val="0B2D5B"/>
                </a:solidFill>
                <a:latin typeface="Inter Tight"/>
              </a:rPr>
              <a:t>EVERY STUDENT IN THE ROOM</a:t>
            </a:r>
          </a:p>
          <a:p>
            <a:pPr algn="l">
              <a:spcAft>
                <a:spcPts val="900"/>
              </a:spcAft>
            </a:pPr>
            <a:r>
              <a:rPr sz="2000" b="0" i="0">
                <a:solidFill>
                  <a:srgbClr val="1C1B19"/>
                </a:solidFill>
                <a:latin typeface="Source Serif 4"/>
              </a:rPr>
              <a:t>Don't make the boys the problem and the girls the audience, and remember that family and faith shape what "being a man" means without that being contempt for women.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BRO CODE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Bro Code</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didn't search for it. It still showed up.</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WRITE A GUESS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A fresh phone. A teen boy's account. Gym and gaming only.</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It only searches gym, sports and gaming. How many minutes until it's shown "alpha" or anti-women content? Write a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A FEED DRIFTS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It starts with things worth wanting</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Real wants</a:t>
            </a:r>
          </a:p>
        </p:txBody>
      </p:sp>
      <p:cxnSp>
        <p:nvCxnSpPr>
          <p:cNvPr id="8" name="Connector 7"/>
          <p:cNvCxnSpPr/>
          <p:nvPr/>
        </p:nvCxnSpPr>
        <p:spPr>
          <a:xfrm>
            <a:off x="275234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70332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A package</a:t>
            </a:r>
          </a:p>
        </p:txBody>
      </p:sp>
      <p:cxnSp>
        <p:nvCxnSpPr>
          <p:cNvPr id="11" name="Connector 10"/>
          <p:cNvCxnSpPr/>
          <p:nvPr/>
        </p:nvCxnSpPr>
        <p:spPr>
          <a:xfrm>
            <a:off x="563270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658368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A product</a:t>
            </a:r>
          </a:p>
        </p:txBody>
      </p:sp>
      <p:cxnSp>
        <p:nvCxnSpPr>
          <p:cNvPr id="14" name="Connector 13"/>
          <p:cNvCxnSpPr/>
          <p:nvPr/>
        </p:nvCxnSpPr>
        <p:spPr>
          <a:xfrm>
            <a:off x="8513064" y="3246120"/>
            <a:ext cx="89611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Leaving costs you</a:t>
            </a:r>
          </a:p>
        </p:txBody>
      </p:sp>
      <p:sp>
        <p:nvSpPr>
          <p:cNvPr id="17" name="TextBox 16"/>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and it keeps you watching</a:t>
            </a:r>
          </a:p>
        </p:txBody>
      </p:sp>
      <p:sp>
        <p:nvSpPr>
          <p:cNvPr id="18" name="TextBox 17"/>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Confidence and respect are good to want. The package and the monthly fee are the catch.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STAND UP, SIT DOWN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true.</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"Alpha wolves prove there's a natural ranking of guys."</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"Being nice makes a guy less attractive."</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"Guys don't really need close friends."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ANONYMOUS CARDS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"Most guys at our school are fine with jokes that rate girls."</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Write agree or disagree. Then write what you think yourself. Fold it. No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SILENCE SOUNDS LIKE AGREEMENT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low-key "nah" goes a long way.</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The low-key "nah."</a:t>
            </a:r>
          </a:p>
          <a:p>
            <a:pPr algn="l">
              <a:spcAft>
                <a:spcPts val="945"/>
              </a:spcAft>
            </a:pPr>
            <a:r>
              <a:rPr sz="1600" b="0" i="0">
                <a:solidFill>
                  <a:srgbClr val="5D5A54"/>
                </a:solidFill>
                <a:latin typeface="Source Serif 4"/>
              </a:rPr>
              <a:t>"Bro, what." "That's weird." A flat look.</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Change the subject.</a:t>
            </a:r>
          </a:p>
          <a:p>
            <a:pPr algn="l">
              <a:spcAft>
                <a:spcPts val="945"/>
              </a:spcAft>
            </a:pPr>
            <a:r>
              <a:rPr sz="1600" b="0" i="0">
                <a:solidFill>
                  <a:srgbClr val="5D5A54"/>
                </a:solidFill>
                <a:latin typeface="Source Serif 4"/>
              </a:rPr>
              <a:t>It works more often than people think.</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Talk one on one later.</a:t>
            </a:r>
          </a:p>
          <a:p>
            <a:pPr algn="l">
              <a:spcAft>
                <a:spcPts val="945"/>
              </a:spcAft>
            </a:pPr>
            <a:r>
              <a:rPr sz="1600" b="0" i="0">
                <a:solidFill>
                  <a:srgbClr val="5D5A54"/>
                </a:solidFill>
                <a:latin typeface="Source Serif 4"/>
              </a:rPr>
              <a:t>"That stuff you said about her was a lot."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Check on the person it was about.</a:t>
            </a:r>
          </a:p>
          <a:p>
            <a:pPr algn="l">
              <a:spcAft>
                <a:spcPts val="945"/>
              </a:spcAft>
            </a:pPr>
            <a:r>
              <a:rPr sz="1600" b="0" i="0">
                <a:solidFill>
                  <a:srgbClr val="5D5A54"/>
                </a:solidFill>
                <a:latin typeface="Source Serif 4"/>
              </a:rPr>
              <a:t>"That wasn't cool. You okay?"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What's your move?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TEAM BUS</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Someone plays a clip saying women over 25 have "no value." Half the bus laughs.</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MARCO</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Since his breakup a month ago, he's been posting clips about how women "are all the same."</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AALIYAH</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guy she's been talking to keeps sending her "high-value man" videos and wants her to agree.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What do you want to keep?</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Privately: what did people in your life teach you about being a man? Which parts do you want to keep?</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https://rmwtoolkit.github.io/bcds-toolkit/the-bro-code-high-school.html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Bro Code</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20 minutes (fits a 30-minute advisory, with time for your opening check-in; 10-minute version below)  ·  Any grade</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how a feed drifts toward "alpha" and anti-women content, test three of its claims against the research, and name one low-key move for when a joke in the group goes too far. Wanting confidence and respect is treated as fair; nobody is shamed for what their feed shows them.</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Scraps of paper for the opening guess and the anonymous agree/disagree cards</a:t>
            </a:r>
          </a:p>
          <a:p>
            <a:pPr algn="l">
              <a:spcAft>
                <a:spcPts val="675"/>
              </a:spcAft>
            </a:pPr>
            <a:r>
              <a:rPr sz="1500" b="0" i="0">
                <a:solidFill>
                  <a:srgbClr val="1C1B19"/>
                </a:solidFill>
                <a:latin typeface="Source Serif 4"/>
              </a:rPr>
              <a:t>Index cards or notebooks for the private exit question</a:t>
            </a:r>
          </a:p>
          <a:p>
            <a:pPr algn="l">
              <a:spcAft>
                <a:spcPts val="675"/>
              </a:spcAft>
            </a:pPr>
            <a:r>
              <a:rPr sz="1500" b="0" i="0">
                <a:solidFill>
                  <a:srgbClr val="1C1B19"/>
                </a:solidFill>
                <a:latin typeface="Source Serif 4"/>
              </a:rPr>
              <a:t>The student page link (last slide) to share after advisory</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2 min   </a:t>
            </a:r>
            <a:r>
              <a:rPr sz="1400" b="0" i="0">
                <a:solidFill>
                  <a:srgbClr val="1C1B19"/>
                </a:solidFill>
                <a:latin typeface="Source Serif 4"/>
              </a:rPr>
              <a:t>Open: you didn't search for it</a:t>
            </a:r>
          </a:p>
          <a:p>
            <a:pPr algn="l">
              <a:spcAft>
                <a:spcPts val="630"/>
              </a:spcAft>
            </a:pPr>
            <a:r>
              <a:rPr sz="1300" b="1" i="0">
                <a:solidFill>
                  <a:srgbClr val="F47B20"/>
                </a:solidFill>
                <a:latin typeface="Inter Tight"/>
              </a:rPr>
              <a:t>3 min   </a:t>
            </a:r>
            <a:r>
              <a:rPr sz="1400" b="0" i="0">
                <a:solidFill>
                  <a:srgbClr val="1C1B19"/>
                </a:solidFill>
                <a:latin typeface="Source Serif 4"/>
              </a:rPr>
              <a:t>How fast does a feed drift? (written guess)</a:t>
            </a:r>
          </a:p>
          <a:p>
            <a:pPr algn="l">
              <a:spcAft>
                <a:spcPts val="630"/>
              </a:spcAft>
            </a:pPr>
            <a:r>
              <a:rPr sz="1300" b="1" i="0">
                <a:solidFill>
                  <a:srgbClr val="F47B20"/>
                </a:solidFill>
                <a:latin typeface="Inter Tight"/>
              </a:rPr>
              <a:t>4 min   </a:t>
            </a:r>
            <a:r>
              <a:rPr sz="1400" b="0" i="0">
                <a:solidFill>
                  <a:srgbClr val="1C1B19"/>
                </a:solidFill>
                <a:latin typeface="Source Serif 4"/>
              </a:rPr>
              <a:t>Claims vs. the research (stand up, sit down)</a:t>
            </a:r>
          </a:p>
          <a:p>
            <a:pPr algn="l">
              <a:spcAft>
                <a:spcPts val="630"/>
              </a:spcAft>
            </a:pPr>
            <a:r>
              <a:rPr sz="1300" b="1" i="0">
                <a:solidFill>
                  <a:srgbClr val="F47B20"/>
                </a:solidFill>
                <a:latin typeface="Inter Tight"/>
              </a:rPr>
              <a:t>3 min   </a:t>
            </a:r>
            <a:r>
              <a:rPr sz="1400" b="0" i="0">
                <a:solidFill>
                  <a:srgbClr val="1C1B19"/>
                </a:solidFill>
                <a:latin typeface="Source Serif 4"/>
              </a:rPr>
              <a:t>What most guys think (anonymous cards)</a:t>
            </a:r>
          </a:p>
          <a:p>
            <a:pPr algn="l">
              <a:spcAft>
                <a:spcPts val="630"/>
              </a:spcAft>
            </a:pPr>
            <a:r>
              <a:rPr sz="1300" b="1" i="0">
                <a:solidFill>
                  <a:srgbClr val="F47B20"/>
                </a:solidFill>
                <a:latin typeface="Inter Tight"/>
              </a:rPr>
              <a:t>2 min   </a:t>
            </a:r>
            <a:r>
              <a:rPr sz="1400" b="0" i="0">
                <a:solidFill>
                  <a:srgbClr val="1C1B19"/>
                </a:solidFill>
                <a:latin typeface="Source Serif 4"/>
              </a:rPr>
              <a:t>Silence sounds like agreement</a:t>
            </a:r>
          </a:p>
          <a:p>
            <a:pPr algn="l">
              <a:spcAft>
                <a:spcPts val="630"/>
              </a:spcAft>
            </a:pPr>
            <a:r>
              <a:rPr sz="1300" b="1" i="0">
                <a:solidFill>
                  <a:srgbClr val="F47B20"/>
                </a:solidFill>
                <a:latin typeface="Inter Tight"/>
              </a:rPr>
              <a:t>4 min   </a:t>
            </a:r>
            <a:r>
              <a:rPr sz="1400" b="0" i="0">
                <a:solidFill>
                  <a:srgbClr val="1C1B19"/>
                </a:solidFill>
                <a:latin typeface="Source Serif 4"/>
              </a:rPr>
              <a:t>Three moments (pairs)</a:t>
            </a:r>
          </a:p>
          <a:p>
            <a:pPr algn="l">
              <a:spcAft>
                <a:spcPts val="630"/>
              </a:spcAft>
            </a:pPr>
            <a:r>
              <a:rPr sz="1300" b="1" i="0">
                <a:solidFill>
                  <a:srgbClr val="F47B20"/>
                </a:solidFill>
                <a:latin typeface="Inter Tight"/>
              </a:rPr>
              <a:t>2 min   </a:t>
            </a:r>
            <a:r>
              <a:rPr sz="1400" b="0" i="0">
                <a:solidFill>
                  <a:srgbClr val="1C1B19"/>
                </a:solidFill>
                <a:latin typeface="Source Serif 4"/>
              </a:rPr>
              <a:t>What you want to keep (private) and the student page</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(10-MINUTE CHECK-IN)</a:t>
            </a:r>
          </a:p>
          <a:p>
            <a:pPr algn="l">
              <a:spcAft>
                <a:spcPts val="630"/>
              </a:spcAft>
            </a:pPr>
            <a:r>
              <a:rPr sz="1400" b="0" i="0">
                <a:solidFill>
                  <a:srgbClr val="1C1B19"/>
                </a:solidFill>
                <a:latin typeface="Source Serif 4"/>
              </a:rPr>
              <a:t>The feed guess (3), anonymous agree/disagree cards (3), the low-key moves and one moment in pairs (3), the student page link (1). The student page has the claims, the feed settings and when to get an adult.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Respect the want.</a:t>
            </a:r>
          </a:p>
          <a:p>
            <a:pPr algn="l">
              <a:spcAft>
                <a:spcPts val="585"/>
              </a:spcAft>
            </a:pPr>
            <a:r>
              <a:rPr sz="1300" b="0" i="0">
                <a:solidFill>
                  <a:srgbClr val="1C1B19"/>
                </a:solidFill>
                <a:latin typeface="Source Serif 4"/>
              </a:rPr>
              <a:t>Confidence, strength, money, respect and not being lonely are good things to want, and that's how this content gets in. If a student gets defensive or quotes a creator, stay steady: "Wanting confidence and respect makes total sense. The question is what gets you there." Students who feel lectured stop listening.</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play clips in class.</a:t>
            </a:r>
          </a:p>
          <a:p>
            <a:pPr algn="l">
              <a:spcAft>
                <a:spcPts val="585"/>
              </a:spcAft>
            </a:pPr>
            <a:r>
              <a:rPr sz="1300" b="0" i="0">
                <a:solidFill>
                  <a:srgbClr val="1C1B19"/>
                </a:solidFill>
                <a:latin typeface="Source Serif 4"/>
              </a:rPr>
              <a:t>Describe the content; don't show it. Keep the talk about content and situations, never named students. Some students in the circle follow these creators, and some have friends who do.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Girls and students of every gender are in the room.</a:t>
            </a:r>
          </a:p>
          <a:p>
            <a:pPr algn="l">
              <a:spcAft>
                <a:spcPts val="585"/>
              </a:spcAft>
            </a:pPr>
            <a:r>
              <a:rPr sz="1300" b="0" i="0">
                <a:solidFill>
                  <a:srgbClr val="1C1B19"/>
                </a:solidFill>
                <a:latin typeface="Source Serif 4"/>
              </a:rPr>
              <a:t>This content is about many of them. Don't ask girls to explain how it feels or to debate a guy who repeats it. Say plainly that muting and blocking are always okay, and that nobody owes anyone a debate.</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Know what goes to an adult the same day.</a:t>
            </a:r>
          </a:p>
          <a:p>
            <a:pPr algn="l">
              <a:spcAft>
                <a:spcPts val="585"/>
              </a:spcAft>
            </a:pPr>
            <a:r>
              <a:rPr sz="1300" b="0" i="0">
                <a:solidFill>
                  <a:srgbClr val="1C1B19"/>
                </a:solidFill>
                <a:latin typeface="Source Serif 4"/>
              </a:rPr>
              <a:t>Someone sharing photos of a real person, real or AI-made. Threats. Talk about a girl that turns into a plan to hurt, follow or embarrass her. Don't ask about these in the circle. Know your dean's and counselor's protocol before advisory, and follow up that day.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Watch for the student who seems alone.</a:t>
            </a:r>
          </a:p>
          <a:p>
            <a:pPr algn="l">
              <a:spcAft>
                <a:spcPts val="585"/>
              </a:spcAft>
            </a:pPr>
            <a:r>
              <a:rPr sz="1300" b="0" i="0">
                <a:solidFill>
                  <a:srgbClr val="1C1B19"/>
                </a:solidFill>
                <a:latin typeface="Source Serif 4"/>
              </a:rPr>
              <a:t>A student who seems much angrier lately, or who says these videos are the only place that gets him, may need a counselor more than a debate. Check in privately afterward. Don't ask self-harm questions in the circle; any disclosure goes to a counselor, and 988 (call or text) is open any time.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Stay out of party politics.</a:t>
            </a:r>
          </a:p>
          <a:p>
            <a:pPr algn="l">
              <a:spcAft>
                <a:spcPts val="585"/>
              </a:spcAft>
            </a:pPr>
            <a:r>
              <a:rPr sz="1300" b="0" i="0">
                <a:solidFill>
                  <a:srgbClr val="1C1B19"/>
                </a:solidFill>
                <a:latin typeface="Source Serif 4"/>
              </a:rPr>
              <a:t>Families hold a wide range of views about men's and women's roles, often rooted in faith or culture. Keep the conversation on how feeds work and what the research says about specific claims, and leave room for students to respect the adults who raised them.</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Don't make the boys the problem and the girls the audience.</a:t>
            </a:r>
          </a:p>
          <a:p>
            <a:pPr algn="l">
              <a:spcAft>
                <a:spcPts val="585"/>
              </a:spcAft>
            </a:pPr>
            <a:r>
              <a:rPr sz="1300" b="0" i="0">
                <a:solidFill>
                  <a:srgbClr val="1C1B19"/>
                </a:solidFill>
                <a:latin typeface="Source Serif 4"/>
              </a:rPr>
              <a:t>Most guys are less into this than they seem, and that's the core of the lesson. Girls, nonbinary students and boys all get pulled by feeds, and anyone can be the one who says "nah." Boys can be scared, lonely and tender; girls can be ambitious and loud. Keep examples off stereotypes in both directions.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"Soft," "simp" and anti-gay jokes police every guy.</a:t>
            </a:r>
          </a:p>
          <a:p>
            <a:pPr algn="l">
              <a:spcAft>
                <a:spcPts val="585"/>
              </a:spcAft>
            </a:pPr>
            <a:r>
              <a:rPr sz="1300" b="0" i="0">
                <a:solidFill>
                  <a:srgbClr val="1C1B19"/>
                </a:solidFill>
                <a:latin typeface="Source Serif 4"/>
              </a:rPr>
              <a:t>Gay, bi, trans and questioning students hear these words as being about them, and straight guys get boxed in by them too. Name them as pressure. Partners in examples can be anyone; the Aaliyah card is one example, not the only kind of relationship. Know where to point students: a counselor and The Trevor Project (call 1-866-488-7386 or text START to 678-678).</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Family, culture and faith shape what "being a man" means.</a:t>
            </a:r>
          </a:p>
          <a:p>
            <a:pPr algn="l">
              <a:spcAft>
                <a:spcPts val="585"/>
              </a:spcAft>
            </a:pPr>
            <a:r>
              <a:rPr sz="1300" b="0" i="0">
                <a:solidFill>
                  <a:srgbClr val="1C1B19"/>
                </a:solidFill>
                <a:latin typeface="Source Serif 4"/>
              </a:rPr>
              <a:t>People students respect may define it differently, and traditional roles are not the same thing as contempt for women. Avoid "In X families" generalizations. The closing question is private: which parts of what you were taught do you want to keep?</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Not every student has a man at home.</a:t>
            </a:r>
          </a:p>
          <a:p>
            <a:pPr algn="l">
              <a:spcAft>
                <a:spcPts val="585"/>
              </a:spcAft>
            </a:pPr>
            <a:r>
              <a:rPr sz="1300" b="0" i="0">
                <a:solidFill>
                  <a:srgbClr val="1C1B19"/>
                </a:solidFill>
                <a:latin typeface="Source Serif 4"/>
              </a:rPr>
              <a:t>Some are raised by a single mom, grandparents, two moms, or in foster or kinship care. When you ask what they were taught about being a man, say "from anyone in your life": a coach, an uncle, an older cousin, a friend's dad, or nobody in particular.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money pitch lands harder when money is tight.</a:t>
            </a:r>
          </a:p>
          <a:p>
            <a:pPr algn="l">
              <a:spcAft>
                <a:spcPts val="585"/>
              </a:spcAft>
            </a:pPr>
            <a:r>
              <a:rPr sz="1300" b="0" i="0">
                <a:solidFill>
                  <a:srgbClr val="1C1B19"/>
                </a:solidFill>
                <a:latin typeface="Source Serif 4"/>
              </a:rPr>
              <a:t>Get-rich and "high-value" content can feel like a way out for students whose families are struggling, and the courses cost real money every month. Keep the good part: lift, study, save, build discipline. None of that costs anything or requires the package.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Rules can feel like relief.</a:t>
            </a:r>
          </a:p>
          <a:p>
            <a:pPr algn="l">
              <a:spcAft>
                <a:spcPts val="585"/>
              </a:spcAft>
            </a:pPr>
            <a:r>
              <a:rPr sz="1300" b="0" i="0">
                <a:solidFill>
                  <a:srgbClr val="1C1B19"/>
                </a:solidFill>
                <a:latin typeface="Source Serif 4"/>
              </a:rPr>
              <a:t>Some students, including some autistic students, find unwritten social rules hard to read, and content that promises clear rules about dating and status can feel like help. Treat that want as fair and point to real support. For stand up, sit down, let students vote with a hand or thumb from their seat.</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Researchers set up ten fresh phones with accounts posing as 16- and 18-year-old boys. Some searched only for gym, sports and gaming. Every account was shown misogynistic or "alpha" content within 23 minutes.</a:t>
            </a:r>
          </a:p>
          <a:p>
            <a:pPr algn="l">
              <a:spcAft>
                <a:spcPts val="585"/>
              </a:spcAft>
            </a:pPr>
            <a:r>
              <a:rPr sz="1050" b="0" i="0">
                <a:solidFill>
                  <a:srgbClr val="5D5A54"/>
                </a:solidFill>
                <a:latin typeface="Inter Tight"/>
              </a:rPr>
              <a:t>Baker, Ging and Andreasen, Dublin City University, 2024</a:t>
            </a:r>
          </a:p>
          <a:p>
            <a:pPr algn="l">
              <a:spcAft>
                <a:spcPts val="585"/>
              </a:spcAft>
            </a:pPr>
            <a:r>
              <a:rPr sz="1300" b="0" i="0">
                <a:solidFill>
                  <a:srgbClr val="1C1B19"/>
                </a:solidFill>
                <a:latin typeface="Source Serif 4"/>
              </a:rPr>
              <a:t>In that study, toxic content meant alpha-male, anti-women, reactionary or conspiracy videos. It was a small study, but it matches what other researchers have found.</a:t>
            </a:r>
          </a:p>
          <a:p>
            <a:pPr algn="l">
              <a:spcAft>
                <a:spcPts val="585"/>
              </a:spcAft>
            </a:pPr>
            <a:r>
              <a:rPr sz="1050" b="0" i="0">
                <a:solidFill>
                  <a:srgbClr val="5D5A54"/>
                </a:solidFill>
                <a:latin typeface="Inter Tight"/>
              </a:rPr>
              <a:t>Baker, Ging and Andreasen, 2024</a:t>
            </a:r>
          </a:p>
          <a:p>
            <a:pPr algn="l">
              <a:spcAft>
                <a:spcPts val="585"/>
              </a:spcAft>
            </a:pPr>
            <a:r>
              <a:rPr sz="1300" b="0" i="0">
                <a:solidFill>
                  <a:srgbClr val="1C1B19"/>
                </a:solidFill>
                <a:latin typeface="Source Serif 4"/>
              </a:rPr>
              <a:t>The biologist who helped make "alpha wolf" famous studied wild wolves for 13 summers and concluded a typical pack is a family: two parents and their young. The ranking picture came mostly from unrelated wolves in captivity, and he has since called the term misleading.</a:t>
            </a:r>
          </a:p>
          <a:p>
            <a:pPr algn="l">
              <a:spcAft>
                <a:spcPts val="585"/>
              </a:spcAft>
            </a:pPr>
            <a:r>
              <a:rPr sz="1050" b="0" i="0">
                <a:solidFill>
                  <a:srgbClr val="5D5A54"/>
                </a:solidFill>
                <a:latin typeface="Inter Tight"/>
              </a:rPr>
              <a:t>Mech, Canadian Journal of Zoology, 1999</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Across 10,047 people in 37 cultures, both men and women ranked "kind and understanding" and "intelligent" above earning power and good looks, in every sample.</a:t>
            </a:r>
          </a:p>
          <a:p>
            <a:pPr algn="l">
              <a:spcAft>
                <a:spcPts val="585"/>
              </a:spcAft>
            </a:pPr>
            <a:r>
              <a:rPr sz="1050" b="0" i="0">
                <a:solidFill>
                  <a:srgbClr val="5D5A54"/>
                </a:solidFill>
                <a:latin typeface="Inter Tight"/>
              </a:rPr>
              <a:t>Buss, Behavioral and Brain Sciences, 1989</a:t>
            </a:r>
          </a:p>
          <a:p>
            <a:pPr algn="l">
              <a:spcAft>
                <a:spcPts val="585"/>
              </a:spcAft>
            </a:pPr>
            <a:r>
              <a:rPr sz="1300" b="0" i="0">
                <a:solidFill>
                  <a:srgbClr val="1C1B19"/>
                </a:solidFill>
                <a:latin typeface="Source Serif 4"/>
              </a:rPr>
              <a:t>College men overestimated how sexist the other men in the room were. After seeing the real numbers, their estimates of other men's sexism were lower three weeks later.</a:t>
            </a:r>
          </a:p>
          <a:p>
            <a:pPr algn="l">
              <a:spcAft>
                <a:spcPts val="585"/>
              </a:spcAft>
            </a:pPr>
            <a:r>
              <a:rPr sz="1050" b="0" i="0">
                <a:solidFill>
                  <a:srgbClr val="5D5A54"/>
                </a:solidFill>
                <a:latin typeface="Inter Tight"/>
              </a:rPr>
              <a:t>Kilmartin et al., Sex Roles, 2008</a:t>
            </a:r>
          </a:p>
          <a:p>
            <a:pPr algn="l">
              <a:spcAft>
                <a:spcPts val="585"/>
              </a:spcAft>
            </a:pPr>
            <a:r>
              <a:rPr sz="1300" b="0" i="0">
                <a:solidFill>
                  <a:srgbClr val="1C1B19"/>
                </a:solidFill>
                <a:latin typeface="Source Serif 4"/>
              </a:rPr>
              <a:t>In a 2021 national survey, 15% of American men said they had no close friends, up from 3% in 1990.</a:t>
            </a:r>
          </a:p>
          <a:p>
            <a:pPr algn="l">
              <a:spcAft>
                <a:spcPts val="585"/>
              </a:spcAft>
            </a:pPr>
            <a:r>
              <a:rPr sz="1050" b="0" i="0">
                <a:solidFill>
                  <a:srgbClr val="5D5A54"/>
                </a:solidFill>
                <a:latin typeface="Inter Tight"/>
              </a:rPr>
              <a:t>Cox, Survey Center on American Life, 2021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