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Something like: "Most of us answer 'How are you?' with fine, tired or stressed no matter what's going on. Today is about getting one word more exact, and why that helps." Say up front that the stories are made up and nobody has to share their own feelings.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with the title. Go around the circle quickly. Model it first with an honest, low-stakes word of your own ("scattered," "relieved"). Expect a pause and some laughs. That pause is the point: the easy words are habits. Afterward ask: "Was that harder than you expected? Why?" Don't comment on individual words. If a word worries you, follow up privately after advisory.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In a UCLA brain-imaging study, putting a word to an emotion ("angry," "scared") turned down activity in the amygdala, the brain's fast alarm, and turned up a part of the prefrontal cortex that does the labeling (Lieberman et al., 2007). People afraid of spiders who described their fear out loud near one had smaller fear responses a week later than people who distracted themselves (Kircanski et al., 2012). Psychologists call precise feeling words emotional granularity: telling overwhelmed from behind from dreading one specific thing. People with more of it are less likely to binge drink or lash out when upset, and report less severe anxiety and depression (Kashdan et al., 2015). The insula reads body signals like heartbeat and gut, which is why your body can know before you have the word. A student may say naming it makes it bigger. The research points the other way.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These categories are adapted from Nonviolent Communication. Research on self-determination theory (Ryan and Deci, 2000) points to three at the core of well-being: autonomy, competence and connection, which show up here as Freedom, Meaning and Connection. Give one quick pair: when Connection is met you might feel warm or safe; when it isn't, lonely, hurt or jealous. When Freedom isn't met: frustrated, resentful, impatient. Ask: "Which one do teenagers get the least of?" Freedom usually comes up fast. Keep it light; the stories come next.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Read each story aloud. Everyone silently picks a feeling word the character might have, then a few people share. Different words are fine; that's the point. Then the group names the need. Marisol: Peace in the sense of fairness, plus respect. Feelings might be frustrated, resentful, discouraged. If met: settled, respected. Tuan: several at once. Meaning (helping his family matters to him), Connection (being seen for it), Body (rest). He might feel proud, depleted and unseen at the same time. Mixed notifications are normal. Nadia: Freedom and Connection pulling against each other, a say in her own future and staying close to her family. Feelings might be torn, frustrated, guilty. Both needs are real. For a lot of people a decision like this is shared, which is part of what makes it hard. If you have time, add the green one from the student page: after a long week, Andre laughs so hard at lunch he can't breathe. Play and Connection got met. Worth noticing what made it happen.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Thumbs up for a feeling, thumbs down for a thought in disguise. Answers: used (thought), resentful (feeling), not good enough (thought), overwhelmed (feeling), manipulated (thought). The test: if you can add "like" or "that" after "I feel," it's usually a thought. "Used" and "manipulated" describe what someone else did. The feeling underneath might be hurt, resentful or lonely. Thoughts in disguise aren't wrong. They're one step away from the real feeling, and the real feeling points to the need. Ask: "What might be underneath 'I feel like I'm not good enough'?" Expect: discouraged, embarrassed, scared.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A request is clear and doable: "Can we talk tonight instead of over text?" A request can get a no. If no isn't allowed, it's a demand. Two more ideas from the student page if there's time. Most needs have more than one door: "I need my parents to stop asking about my grades" might be a need for trust and a say, and a weekly check-in you lead might meet it better than silence. And name it before you open the app: scrolling can mute a bored or lonely notification, and the need is still there when you look up.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Private. The card goes home with the student. Share the student page link (post it on your class page too). It has the needs, the word banks, the decoder, a private check-in, and who to talk to. Close with: a red notification that won't go away for weeks, feeling numb or hopeless most of the time, or a need for safety that isn't being met are all reasons to talk to a counselor soon.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Name the Need</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900"/>
              </a:spcAft>
            </a:pPr>
            <a:r>
              <a:rPr sz="1200" b="1" i="0">
                <a:solidFill>
                  <a:srgbClr val="0B2D5B"/>
                </a:solidFill>
                <a:latin typeface="Inter Tight"/>
              </a:rPr>
              <a:t>BEFORE YOU START</a:t>
            </a:r>
          </a:p>
          <a:p>
            <a:pPr algn="l">
              <a:spcAft>
                <a:spcPts val="900"/>
              </a:spcAft>
            </a:pPr>
            <a:r>
              <a:rPr sz="2000" b="0" i="0">
                <a:solidFill>
                  <a:srgbClr val="1C1B19"/>
                </a:solidFill>
                <a:latin typeface="Source Serif 4"/>
              </a:rPr>
              <a:t>Students learn that putting a precise word on a feeling turns the alarm down, and practice Feeling, Need, Request on something small. Bring index cards, keep it on the made-up characters, and let "pass" be a full answer in the check-in.</a:t>
            </a:r>
          </a:p>
          <a:p>
            <a:pPr algn="l">
              <a:spcAft>
                <a:spcPts val="900"/>
              </a:spcAft>
            </a:pPr>
            <a:r>
              <a:rPr sz="2000" b="0" i="0">
                <a:solidFill>
                  <a:srgbClr val="1C1B19"/>
                </a:solidFill>
                <a:latin typeface="Source Serif 4"/>
              </a:rPr>
              <a:t/>
            </a:r>
          </a:p>
          <a:p>
            <a:pPr algn="l">
              <a:spcAft>
                <a:spcPts val="900"/>
              </a:spcAft>
            </a:pPr>
            <a:r>
              <a:rPr sz="1200" b="1" i="0">
                <a:solidFill>
                  <a:srgbClr val="0B2D5B"/>
                </a:solidFill>
                <a:latin typeface="Inter Tight"/>
              </a:rPr>
              <a:t>EVERY STUDENT IN THE ROOM</a:t>
            </a:r>
          </a:p>
          <a:p>
            <a:pPr algn="l">
              <a:spcAft>
                <a:spcPts val="900"/>
              </a:spcAft>
            </a:pPr>
            <a:r>
              <a:rPr sz="2000" b="0" i="0">
                <a:solidFill>
                  <a:srgbClr val="1C1B19"/>
                </a:solidFill>
                <a:latin typeface="Source Serif 4"/>
              </a:rPr>
              <a:t>Any language counts for naming a feeling; when you read Tuan's story, keep your eyes off the room, since some students translate for family or help with bills.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NAME THE NEED</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Name the Need</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"Fine" covers a lot of ground. Every feeling is a notification from a need.</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ONE-WORD CHECK-IN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How are you, in one word?</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Any word except fine, good, tired or stressed. Any language. "Pass" is fine too.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WHY NAMING HELPS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Put it into words and the alarm turns down.</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WHAT THE RESEARCH FOUND</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Naming a feeling quiets the brain's alarm</a:t>
            </a:r>
          </a:p>
          <a:p>
            <a:pPr algn="l">
              <a:spcAft>
                <a:spcPts val="855"/>
              </a:spcAft>
            </a:pPr>
            <a:r>
              <a:rPr sz="1900" b="0" i="0">
                <a:solidFill>
                  <a:srgbClr val="1C1B19"/>
                </a:solidFill>
                <a:latin typeface="Source Serif 4"/>
              </a:rPr>
              <a:t>Saying fear out loud shrank it a week later</a:t>
            </a:r>
          </a:p>
          <a:p>
            <a:pPr algn="l">
              <a:spcAft>
                <a:spcPts val="855"/>
              </a:spcAft>
            </a:pPr>
            <a:r>
              <a:rPr sz="1900" b="0" i="0">
                <a:solidFill>
                  <a:srgbClr val="1C1B19"/>
                </a:solidFill>
                <a:latin typeface="Source Serif 4"/>
              </a:rPr>
              <a:t>More precise words, steadier mood</a:t>
            </a:r>
          </a:p>
          <a:p>
            <a:pPr algn="l">
              <a:spcAft>
                <a:spcPts val="855"/>
              </a:spcAft>
            </a:pPr>
            <a:r>
              <a:rPr sz="1900" b="0" i="0">
                <a:solidFill>
                  <a:srgbClr val="1C1B19"/>
                </a:solidFill>
                <a:latin typeface="Source Serif 4"/>
              </a:rPr>
              <a:t>Your body often knows before you do</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WHAT THAT MEANS FOR YOU</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"Fine" leaves the alarm running</a:t>
            </a:r>
          </a:p>
          <a:p>
            <a:pPr algn="l">
              <a:spcAft>
                <a:spcPts val="855"/>
              </a:spcAft>
            </a:pPr>
            <a:r>
              <a:rPr sz="1900" b="0" i="0">
                <a:solidFill>
                  <a:srgbClr val="1C1B19"/>
                </a:solidFill>
                <a:latin typeface="Source Serif 4"/>
              </a:rPr>
              <a:t>Go one word past "stressed"</a:t>
            </a:r>
          </a:p>
          <a:p>
            <a:pPr algn="l">
              <a:spcAft>
                <a:spcPts val="855"/>
              </a:spcAft>
            </a:pPr>
            <a:r>
              <a:rPr sz="1900" b="0" i="0">
                <a:solidFill>
                  <a:srgbClr val="1C1B19"/>
                </a:solidFill>
                <a:latin typeface="Source Serif 4"/>
              </a:rPr>
              <a:t>It's a vocabulary, so it grows with use</a:t>
            </a:r>
          </a:p>
          <a:p>
            <a:pPr algn="l">
              <a:spcAft>
                <a:spcPts val="855"/>
              </a:spcAft>
            </a:pPr>
            <a:r>
              <a:rPr sz="1900" b="0" i="0">
                <a:solidFill>
                  <a:srgbClr val="1C1B19"/>
                </a:solidFill>
                <a:latin typeface="Source Serif 4"/>
              </a:rPr>
              <a:t>Check chest, stomach, jaw, shoulders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SEVEN NEEDS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Everyone has all of them.</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NEEDS 1 TO 4</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Connection: belonging, being seen</a:t>
            </a:r>
          </a:p>
          <a:p>
            <a:pPr algn="l">
              <a:spcAft>
                <a:spcPts val="855"/>
              </a:spcAft>
            </a:pPr>
            <a:r>
              <a:rPr sz="1900" b="0" i="0">
                <a:solidFill>
                  <a:srgbClr val="1C1B19"/>
                </a:solidFill>
                <a:latin typeface="Source Serif 4"/>
              </a:rPr>
              <a:t>Body: rest, food, movement, safety</a:t>
            </a:r>
          </a:p>
          <a:p>
            <a:pPr algn="l">
              <a:spcAft>
                <a:spcPts val="855"/>
              </a:spcAft>
            </a:pPr>
            <a:r>
              <a:rPr sz="1900" b="0" i="0">
                <a:solidFill>
                  <a:srgbClr val="1C1B19"/>
                </a:solidFill>
                <a:latin typeface="Source Serif 4"/>
              </a:rPr>
              <a:t>Honesty: same person in every room</a:t>
            </a:r>
          </a:p>
          <a:p>
            <a:pPr algn="l">
              <a:spcAft>
                <a:spcPts val="855"/>
              </a:spcAft>
            </a:pPr>
            <a:r>
              <a:rPr sz="1900" b="0" i="0">
                <a:solidFill>
                  <a:srgbClr val="1C1B19"/>
                </a:solidFill>
                <a:latin typeface="Source Serif 4"/>
              </a:rPr>
              <a:t>Play: fun for its own sake</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NEEDS 5 TO 7</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Peace: calm, order, things feeling fair</a:t>
            </a:r>
          </a:p>
          <a:p>
            <a:pPr algn="l">
              <a:spcAft>
                <a:spcPts val="855"/>
              </a:spcAft>
            </a:pPr>
            <a:r>
              <a:rPr sz="1900" b="0" i="0">
                <a:solidFill>
                  <a:srgbClr val="1C1B19"/>
                </a:solidFill>
                <a:latin typeface="Source Serif 4"/>
              </a:rPr>
              <a:t>Freedom: choice, space, a say</a:t>
            </a:r>
          </a:p>
          <a:p>
            <a:pPr algn="l">
              <a:spcAft>
                <a:spcPts val="855"/>
              </a:spcAft>
            </a:pPr>
            <a:r>
              <a:rPr sz="1900" b="0" i="0">
                <a:solidFill>
                  <a:srgbClr val="1C1B19"/>
                </a:solidFill>
                <a:latin typeface="Source Serif 4"/>
              </a:rPr>
              <a:t>Meaning: purpose, growth, to matter</a:t>
            </a:r>
          </a:p>
          <a:p>
            <a:pPr algn="l">
              <a:spcAft>
                <a:spcPts val="855"/>
              </a:spcAft>
            </a:pPr>
            <a:r>
              <a:rPr sz="1900" b="0" i="0">
                <a:solidFill>
                  <a:srgbClr val="1C1B19"/>
                </a:solidFill>
                <a:latin typeface="Source Serif 4"/>
              </a:rPr>
              <a:t>Each one can feel met or not met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NAME THAT NEED</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Pick a feeling word. Then find the need.</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MARISOL</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Asked for a Saturday off a month ago. Her manager gave it to a coworker who asked last week, and scheduled Marisol to close.</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TUAN</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Translates at his parents' medical appointments and helps with bills. It matters to him. At school nobody knows. He feels drained and kind of invisible.</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NADIA</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Wants to apply to colleges across the country. Her parents want her close to home. Every conversation ends in silence.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THUMBS VOTE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Feeling, or a thought in disguise?</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 feel used."</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 feel resentful."</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 feel like I'm not good enough."</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 feel overwhelmed."</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 feel manipulated."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CORE SKILL</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Feeling. Need. Request.</a:t>
            </a:r>
          </a:p>
        </p:txBody>
      </p:sp>
      <p:sp>
        <p:nvSpPr>
          <p:cNvPr id="6" name="Rectangle 5"/>
          <p:cNvSpPr/>
          <p:nvPr/>
        </p:nvSpPr>
        <p:spPr>
          <a:xfrm>
            <a:off x="82296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Get granular</a:t>
            </a:r>
          </a:p>
        </p:txBody>
      </p:sp>
      <p:cxnSp>
        <p:nvCxnSpPr>
          <p:cNvPr id="8" name="Connector 7"/>
          <p:cNvCxnSpPr/>
          <p:nvPr/>
        </p:nvCxnSpPr>
        <p:spPr>
          <a:xfrm>
            <a:off x="2752344" y="3246120"/>
            <a:ext cx="89611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70332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Check your body</a:t>
            </a:r>
          </a:p>
        </p:txBody>
      </p:sp>
      <p:cxnSp>
        <p:nvCxnSpPr>
          <p:cNvPr id="11" name="Connector 10"/>
          <p:cNvCxnSpPr/>
          <p:nvPr/>
        </p:nvCxnSpPr>
        <p:spPr>
          <a:xfrm>
            <a:off x="5632704" y="3246120"/>
            <a:ext cx="89611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58368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Find the need</a:t>
            </a:r>
          </a:p>
        </p:txBody>
      </p:sp>
      <p:cxnSp>
        <p:nvCxnSpPr>
          <p:cNvPr id="14" name="Connector 13"/>
          <p:cNvCxnSpPr/>
          <p:nvPr/>
        </p:nvCxnSpPr>
        <p:spPr>
          <a:xfrm>
            <a:off x="8513064" y="3246120"/>
            <a:ext cx="89611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946404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6404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Make a request</a:t>
            </a:r>
          </a:p>
        </p:txBody>
      </p:sp>
      <p:sp>
        <p:nvSpPr>
          <p:cNvPr id="17" name="TextBox 16"/>
          <p:cNvSpPr txBox="1"/>
          <p:nvPr/>
        </p:nvSpPr>
        <p:spPr>
          <a:xfrm>
            <a:off x="822960" y="4160520"/>
            <a:ext cx="10515600" cy="457200"/>
          </a:xfrm>
          <a:prstGeom prst="rect">
            <a:avLst/>
          </a:prstGeom>
          <a:noFill/>
        </p:spPr>
        <p:txBody>
          <a:bodyPr wrap="square" anchor="t" lIns="0" rIns="0" tIns="0" bIns="0">
            <a:spAutoFit/>
          </a:bodyPr>
          <a:lstStyle/>
          <a:p>
            <a:pPr algn="ctr">
              <a:spcAft>
                <a:spcPts val="810"/>
              </a:spcAft>
            </a:pPr>
            <a:r>
              <a:rPr sz="1800" b="1" i="0">
                <a:solidFill>
                  <a:srgbClr val="F47B20"/>
                </a:solidFill>
                <a:latin typeface="Inter Tight"/>
              </a:rPr>
              <a:t>↺  and around again</a:t>
            </a:r>
          </a:p>
        </p:txBody>
      </p:sp>
      <p:sp>
        <p:nvSpPr>
          <p:cNvPr id="18" name="TextBox 17"/>
          <p:cNvSpPr txBox="1"/>
          <p:nvPr/>
        </p:nvSpPr>
        <p:spPr>
          <a:xfrm>
            <a:off x="822960" y="4846320"/>
            <a:ext cx="10515600" cy="1188720"/>
          </a:xfrm>
          <a:prstGeom prst="rect">
            <a:avLst/>
          </a:prstGeom>
          <a:noFill/>
        </p:spPr>
        <p:txBody>
          <a:bodyPr wrap="square" anchor="t" lIns="0" rIns="0" tIns="0" bIns="0">
            <a:spAutoFit/>
          </a:bodyPr>
          <a:lstStyle/>
          <a:p>
            <a:pPr algn="ctr">
              <a:spcAft>
                <a:spcPts val="900"/>
              </a:spcAft>
            </a:pPr>
            <a:r>
              <a:rPr sz="2000" b="0" i="1">
                <a:solidFill>
                  <a:srgbClr val="5D5A54"/>
                </a:solidFill>
                <a:latin typeface="Source Serif 4"/>
              </a:rPr>
              <a:t>Most conflicts skip from feeling straight to blame. The need is in between.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I feel ___ because I need ___.</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Something small from this week, on your card. A request you could make, if you want one.</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https://rmwtoolkit.github.io/bcds-toolkit/name-the-need-high-school.html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Name the Need</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why putting a precise word to a feeling helps (naming turns the alarm down), connect a feeling to the need underneath it, and try the Feeling. Need. Request. steps on something small. Discussion stays on made-up characters; nobody has to share their own feelings.</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for the private "I feel ___ because I need ___"</a:t>
            </a:r>
          </a:p>
          <a:p>
            <a:pPr algn="l">
              <a:spcAft>
                <a:spcPts val="675"/>
              </a:spcAft>
            </a:pPr>
            <a:r>
              <a:rPr sz="1500" b="0" i="0">
                <a:solidFill>
                  <a:srgbClr val="1C1B19"/>
                </a:solidFill>
                <a:latin typeface="Source Serif 4"/>
              </a:rPr>
              <a:t>Optional: the word banks from the student page, on screen or printed</a:t>
            </a:r>
          </a:p>
          <a:p>
            <a:pPr algn="l">
              <a:spcAft>
                <a:spcPts val="675"/>
              </a:spcAft>
            </a:pPr>
            <a:r>
              <a:rPr sz="1500" b="0" i="0">
                <a:solidFill>
                  <a:srgbClr val="1C1B19"/>
                </a:solidFill>
                <a:latin typeface="Source Serif 4"/>
              </a:rPr>
              <a:t>The student page link (last slide) to share after advisory</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One-word check-in, no "fine" (go around, pass allowed)</a:t>
            </a:r>
          </a:p>
          <a:p>
            <a:pPr algn="l">
              <a:spcAft>
                <a:spcPts val="630"/>
              </a:spcAft>
            </a:pPr>
            <a:r>
              <a:rPr sz="1300" b="1" i="0">
                <a:solidFill>
                  <a:srgbClr val="F47B20"/>
                </a:solidFill>
                <a:latin typeface="Inter Tight"/>
              </a:rPr>
              <a:t>3 min   </a:t>
            </a:r>
            <a:r>
              <a:rPr sz="1400" b="0" i="0">
                <a:solidFill>
                  <a:srgbClr val="1C1B19"/>
                </a:solidFill>
                <a:latin typeface="Source Serif 4"/>
              </a:rPr>
              <a:t>What naming does in your brain</a:t>
            </a:r>
          </a:p>
          <a:p>
            <a:pPr algn="l">
              <a:spcAft>
                <a:spcPts val="630"/>
              </a:spcAft>
            </a:pPr>
            <a:r>
              <a:rPr sz="1300" b="1" i="0">
                <a:solidFill>
                  <a:srgbClr val="F47B20"/>
                </a:solidFill>
                <a:latin typeface="Inter Tight"/>
              </a:rPr>
              <a:t>2 min   </a:t>
            </a:r>
            <a:r>
              <a:rPr sz="1400" b="0" i="0">
                <a:solidFill>
                  <a:srgbClr val="1C1B19"/>
                </a:solidFill>
                <a:latin typeface="Source Serif 4"/>
              </a:rPr>
              <a:t>Seven needs everyone has</a:t>
            </a:r>
          </a:p>
          <a:p>
            <a:pPr algn="l">
              <a:spcAft>
                <a:spcPts val="630"/>
              </a:spcAft>
            </a:pPr>
            <a:r>
              <a:rPr sz="1300" b="1" i="0">
                <a:solidFill>
                  <a:srgbClr val="F47B20"/>
                </a:solidFill>
                <a:latin typeface="Inter Tight"/>
              </a:rPr>
              <a:t>5 min   </a:t>
            </a:r>
            <a:r>
              <a:rPr sz="1400" b="0" i="0">
                <a:solidFill>
                  <a:srgbClr val="1C1B19"/>
                </a:solidFill>
                <a:latin typeface="Source Serif 4"/>
              </a:rPr>
              <a:t>Name that need (stories, silent pick, then share)</a:t>
            </a:r>
          </a:p>
          <a:p>
            <a:pPr algn="l">
              <a:spcAft>
                <a:spcPts val="630"/>
              </a:spcAft>
            </a:pPr>
            <a:r>
              <a:rPr sz="1300" b="1" i="0">
                <a:solidFill>
                  <a:srgbClr val="F47B20"/>
                </a:solidFill>
                <a:latin typeface="Inter Tight"/>
              </a:rPr>
              <a:t>3 min   </a:t>
            </a:r>
            <a:r>
              <a:rPr sz="1400" b="0" i="0">
                <a:solidFill>
                  <a:srgbClr val="1C1B19"/>
                </a:solidFill>
                <a:latin typeface="Source Serif 4"/>
              </a:rPr>
              <a:t>Feeling or thought in disguise? (thumbs vote)</a:t>
            </a:r>
          </a:p>
          <a:p>
            <a:pPr algn="l">
              <a:spcAft>
                <a:spcPts val="630"/>
              </a:spcAft>
            </a:pPr>
            <a:r>
              <a:rPr sz="1300" b="1" i="0">
                <a:solidFill>
                  <a:srgbClr val="F47B20"/>
                </a:solidFill>
                <a:latin typeface="Inter Tight"/>
              </a:rPr>
              <a:t>2 min   </a:t>
            </a:r>
            <a:r>
              <a:rPr sz="1400" b="0" i="0">
                <a:solidFill>
                  <a:srgbClr val="1C1B19"/>
                </a:solidFill>
                <a:latin typeface="Source Serif 4"/>
              </a:rPr>
              <a:t>Feeling. Need. Request.</a:t>
            </a:r>
          </a:p>
          <a:p>
            <a:pPr algn="l">
              <a:spcAft>
                <a:spcPts val="630"/>
              </a:spcAft>
            </a:pPr>
            <a:r>
              <a:rPr sz="1300" b="1" i="0">
                <a:solidFill>
                  <a:srgbClr val="F47B20"/>
                </a:solidFill>
                <a:latin typeface="Inter Tight"/>
              </a:rPr>
              <a:t>2 min   </a:t>
            </a:r>
            <a:r>
              <a:rPr sz="1400" b="0" i="0">
                <a:solidFill>
                  <a:srgbClr val="1C1B19"/>
                </a:solidFill>
                <a:latin typeface="Source Serif 4"/>
              </a:rPr>
              <a:t>I feel ___ because I need ___ (private card), and the student page</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(10-MINUTE CHECK-IN)</a:t>
            </a:r>
          </a:p>
          <a:p>
            <a:pPr algn="l">
              <a:spcAft>
                <a:spcPts val="630"/>
              </a:spcAft>
            </a:pPr>
            <a:r>
              <a:rPr sz="1400" b="0" i="0">
                <a:solidFill>
                  <a:srgbClr val="1C1B19"/>
                </a:solidFill>
                <a:latin typeface="Source Serif 4"/>
              </a:rPr>
              <a:t>One-word check-in (3), Name that need with one or two stories (5), I feel ___ because I need ___ on a private card, and the student page (2).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Keep it on the characters.</a:t>
            </a:r>
          </a:p>
          <a:p>
            <a:pPr algn="l">
              <a:spcAft>
                <a:spcPts val="585"/>
              </a:spcAft>
            </a:pPr>
            <a:r>
              <a:rPr sz="1300" b="0" i="0">
                <a:solidFill>
                  <a:srgbClr val="1C1B19"/>
                </a:solidFill>
                <a:latin typeface="Source Serif 4"/>
              </a:rPr>
              <a:t>Nobody should have to share their own feelings out loud. The stories are made-up students, not anyone in the room. If students disagree about the need, that's a good discussion: a feeling can come from more than one need.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Passing is always allowed.</a:t>
            </a:r>
          </a:p>
          <a:p>
            <a:pPr algn="l">
              <a:spcAft>
                <a:spcPts val="585"/>
              </a:spcAft>
            </a:pPr>
            <a:r>
              <a:rPr sz="1300" b="0" i="0">
                <a:solidFill>
                  <a:srgbClr val="1C1B19"/>
                </a:solidFill>
                <a:latin typeface="Source Serif 4"/>
              </a:rPr>
              <a:t>In the check-in, "pass" is a full answer. Some students are having a hard week and don't want the circle to know. Move on without comment.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If a word in the check-in worries you.</a:t>
            </a:r>
          </a:p>
          <a:p>
            <a:pPr algn="l">
              <a:spcAft>
                <a:spcPts val="585"/>
              </a:spcAft>
            </a:pPr>
            <a:r>
              <a:rPr sz="1300" b="0" i="0">
                <a:solidFill>
                  <a:srgbClr val="1C1B19"/>
                </a:solidFill>
                <a:latin typeface="Source Serif 4"/>
              </a:rPr>
              <a:t>If someone says "hopeless," "numb" or something heavier, don't stop the circle to ask about it. Check in privately afterward and connect them with a counselor that day. Don't ask screening questions in advisory.</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Safety is a need too.</a:t>
            </a:r>
          </a:p>
          <a:p>
            <a:pPr algn="l">
              <a:spcAft>
                <a:spcPts val="585"/>
              </a:spcAft>
            </a:pPr>
            <a:r>
              <a:rPr sz="1300" b="0" i="0">
                <a:solidFill>
                  <a:srgbClr val="1C1B19"/>
                </a:solidFill>
                <a:latin typeface="Source Serif 4"/>
              </a:rPr>
              <a:t>If a student says a need for safety isn't being met, at home, online or in a relationship, that goes to a counselor the same day.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Tuan's story may be someone's life.</a:t>
            </a:r>
          </a:p>
          <a:p>
            <a:pPr algn="l">
              <a:spcAft>
                <a:spcPts val="585"/>
              </a:spcAft>
            </a:pPr>
            <a:r>
              <a:rPr sz="1300" b="0" i="0">
                <a:solidFill>
                  <a:srgbClr val="1C1B19"/>
                </a:solidFill>
                <a:latin typeface="Source Serif 4"/>
              </a:rPr>
              <a:t>Some students translate for their families or help with bills. Don't look at anyone while reading it, and don't invite students to say it's them.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Nadia's story can sting in the fall.</a:t>
            </a:r>
          </a:p>
          <a:p>
            <a:pPr algn="l">
              <a:spcAft>
                <a:spcPts val="585"/>
              </a:spcAft>
            </a:pPr>
            <a:r>
              <a:rPr sz="1300" b="0" i="0">
                <a:solidFill>
                  <a:srgbClr val="1C1B19"/>
                </a:solidFill>
                <a:latin typeface="Source Serif 4"/>
              </a:rPr>
              <a:t>College conversations at home are tense for many seniors right now. Keep it on Nadia, and treat both of her needs as real.</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Feelings in more than one language.</a:t>
            </a:r>
          </a:p>
          <a:p>
            <a:pPr algn="l">
              <a:spcAft>
                <a:spcPts val="585"/>
              </a:spcAft>
            </a:pPr>
            <a:r>
              <a:rPr sz="1300" b="0" i="0">
                <a:solidFill>
                  <a:srgbClr val="1C1B19"/>
                </a:solidFill>
                <a:latin typeface="Source Serif 4"/>
              </a:rPr>
              <a:t>Some students think about feelings in a language other than English, or have a family word that English doesn't. Say clearly that any language counts in the check-in and on the card. Tuan's story makes room for students who interpret for their families.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Which feelings get said out loud varies.</a:t>
            </a:r>
          </a:p>
          <a:p>
            <a:pPr algn="l">
              <a:spcAft>
                <a:spcPts val="585"/>
              </a:spcAft>
            </a:pPr>
            <a:r>
              <a:rPr sz="1300" b="0" i="0">
                <a:solidFill>
                  <a:srgbClr val="1C1B19"/>
                </a:solidFill>
                <a:latin typeface="Source Serif 4"/>
              </a:rPr>
              <a:t>The Tsai study shows that cultures value different feelings (excited versus calm), and families differ on which feelings get named and to whom. Avoid "In X families" generalizations. Ask students to notice their own home's rules, privately.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Naming feelings is harder for some brains.</a:t>
            </a:r>
          </a:p>
          <a:p>
            <a:pPr algn="l">
              <a:spcAft>
                <a:spcPts val="585"/>
              </a:spcAft>
            </a:pPr>
            <a:r>
              <a:rPr sz="1300" b="0" i="0">
                <a:solidFill>
                  <a:srgbClr val="1C1B19"/>
                </a:solidFill>
                <a:latin typeface="Source Serif 4"/>
              </a:rPr>
              <a:t>Some autistic students, and others, find it hard to put feelings into words or notice body signals later. That's a difference to meet with patience. The word banks, the body check (chest, stomach, jaw, shoulders) and multiple-choice options help. Don't require eye contact in the circle.</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Family structure.</a:t>
            </a:r>
          </a:p>
          <a:p>
            <a:pPr algn="l">
              <a:spcAft>
                <a:spcPts val="585"/>
              </a:spcAft>
            </a:pPr>
            <a:r>
              <a:rPr sz="1300" b="0" i="0">
                <a:solidFill>
                  <a:srgbClr val="1C1B19"/>
                </a:solidFill>
                <a:latin typeface="Source Serif 4"/>
              </a:rPr>
              <a:t>Nadia's parents are in her story, but say "parent or caregiver" when you talk about needs at home. Students live with grandparents, one parent, two moms or two dads, in foster or kinship care, or across two homes.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Rest isn't equally available.</a:t>
            </a:r>
          </a:p>
          <a:p>
            <a:pPr algn="l">
              <a:spcAft>
                <a:spcPts val="585"/>
              </a:spcAft>
            </a:pPr>
            <a:r>
              <a:rPr sz="1300" b="0" i="0">
                <a:solidFill>
                  <a:srgbClr val="1C1B19"/>
                </a:solidFill>
                <a:latin typeface="Source Serif 4"/>
              </a:rPr>
              <a:t>Marisol works weekends and Tuan helps with bills. Some students can't just take a night off. When talking about the Body need, offer small, free options and avoid implying that rest is a choice everyone has.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Boys get to be hurt and lonely.</a:t>
            </a:r>
          </a:p>
          <a:p>
            <a:pPr algn="l">
              <a:spcAft>
                <a:spcPts val="585"/>
              </a:spcAft>
            </a:pPr>
            <a:r>
              <a:rPr sz="1300" b="0" i="0">
                <a:solidFill>
                  <a:srgbClr val="1C1B19"/>
                </a:solidFill>
                <a:latin typeface="Source Serif 4"/>
              </a:rPr>
              <a:t>Students hear that some feelings belong to some genders. Mix genders when giving examples, and when a student offers "hurt" or "lonely" for Andre or Tuan, treat it as an ordinary, accurate answer.</a:t>
            </a:r>
          </a:p>
          <a:p>
            <a:pPr algn="l">
              <a:spcAft>
                <a:spcPts val="585"/>
              </a:spcAft>
            </a:pPr>
            <a:r>
              <a:rPr sz="1300" b="0" i="0">
                <a:solidFill>
                  <a:srgbClr val="1C1B19"/>
                </a:solidFill>
                <a:latin typeface="Source Serif 4"/>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Putting a word to the emotion in a face ("angry," "scared") turned down activity in the amygdala and turned up activity in the right ventrolateral prefrontal cortex. The two moved in opposite directions.</a:t>
            </a:r>
          </a:p>
          <a:p>
            <a:pPr algn="l">
              <a:spcAft>
                <a:spcPts val="585"/>
              </a:spcAft>
            </a:pPr>
            <a:r>
              <a:rPr sz="1050" b="0" i="0">
                <a:solidFill>
                  <a:srgbClr val="5D5A54"/>
                </a:solidFill>
                <a:latin typeface="Inter Tight"/>
              </a:rPr>
              <a:t>Lieberman et al., 2007, Psychological Science (UCLA)</a:t>
            </a:r>
          </a:p>
          <a:p>
            <a:pPr algn="l">
              <a:spcAft>
                <a:spcPts val="585"/>
              </a:spcAft>
            </a:pPr>
            <a:r>
              <a:rPr sz="1300" b="0" i="0">
                <a:solidFill>
                  <a:srgbClr val="1C1B19"/>
                </a:solidFill>
                <a:latin typeface="Source Serif 4"/>
              </a:rPr>
              <a:t>People afraid of spiders who described their feelings out loud while near one had smaller physical fear responses a week later than people who distracted themselves or tried to talk themselves out of it.</a:t>
            </a:r>
          </a:p>
          <a:p>
            <a:pPr algn="l">
              <a:spcAft>
                <a:spcPts val="585"/>
              </a:spcAft>
            </a:pPr>
            <a:r>
              <a:rPr sz="1050" b="0" i="0">
                <a:solidFill>
                  <a:srgbClr val="5D5A54"/>
                </a:solidFill>
                <a:latin typeface="Inter Tight"/>
              </a:rPr>
              <a:t>Kircanski, Lieberman and Craske, 2012, Psychological Science</a:t>
            </a:r>
          </a:p>
          <a:p>
            <a:pPr algn="l">
              <a:spcAft>
                <a:spcPts val="585"/>
              </a:spcAft>
            </a:pPr>
            <a:r>
              <a:rPr sz="1300" b="0" i="0">
                <a:solidFill>
                  <a:srgbClr val="1C1B19"/>
                </a:solidFill>
                <a:latin typeface="Source Serif 4"/>
              </a:rPr>
              <a:t>The insula tracks signals from inside the body (heartbeat, gut, breathing, muscle tension). Neuroscientist Bud Craig proposed it's where those signals become conscious feelings.</a:t>
            </a:r>
          </a:p>
          <a:p>
            <a:pPr algn="l">
              <a:spcAft>
                <a:spcPts val="585"/>
              </a:spcAft>
            </a:pPr>
            <a:r>
              <a:rPr sz="1050" b="0" i="0">
                <a:solidFill>
                  <a:srgbClr val="5D5A54"/>
                </a:solidFill>
                <a:latin typeface="Inter Tight"/>
              </a:rPr>
              <a:t>Craig, 2009, Nature Reviews Neuroscience</a:t>
            </a:r>
          </a:p>
          <a:p>
            <a:pPr algn="l">
              <a:spcAft>
                <a:spcPts val="585"/>
              </a:spcAft>
            </a:pPr>
            <a:r>
              <a:rPr sz="1300" b="0" i="0">
                <a:solidFill>
                  <a:srgbClr val="1C1B19"/>
                </a:solidFill>
                <a:latin typeface="Source Serif 4"/>
              </a:rPr>
              <a:t>People who describe emotions in more detail (emotional granularity) are less likely to binge drink, lash out or hurt themselves when upset, and report less severe anxiety and depression.</a:t>
            </a:r>
          </a:p>
          <a:p>
            <a:pPr algn="l">
              <a:spcAft>
                <a:spcPts val="585"/>
              </a:spcAft>
            </a:pPr>
            <a:r>
              <a:rPr sz="1050" b="0" i="0">
                <a:solidFill>
                  <a:srgbClr val="5D5A54"/>
                </a:solidFill>
                <a:latin typeface="Inter Tight"/>
              </a:rPr>
              <a:t>Kashdan, Barrett and McKnight, 2015, Current Directions in Psychological Science</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Self-determination theory points to three needs at the core of motivation and well-being: autonomy, competence and relatedness.</a:t>
            </a:r>
          </a:p>
          <a:p>
            <a:pPr algn="l">
              <a:spcAft>
                <a:spcPts val="585"/>
              </a:spcAft>
            </a:pPr>
            <a:r>
              <a:rPr sz="1050" b="0" i="0">
                <a:solidFill>
                  <a:srgbClr val="5D5A54"/>
                </a:solidFill>
                <a:latin typeface="Inter Tight"/>
              </a:rPr>
              <a:t>Ryan and Deci, 2000, American Psychologist</a:t>
            </a:r>
          </a:p>
          <a:p>
            <a:pPr algn="l">
              <a:spcAft>
                <a:spcPts val="585"/>
              </a:spcAft>
            </a:pPr>
            <a:r>
              <a:rPr sz="1300" b="0" i="0">
                <a:solidFill>
                  <a:srgbClr val="1C1B19"/>
                </a:solidFill>
                <a:latin typeface="Source Serif 4"/>
              </a:rPr>
              <a:t>European American participants ideally wanted to feel excited more than Hong Kong Chinese participants, who valued calm more. Chinese American participants landed in between.</a:t>
            </a:r>
          </a:p>
          <a:p>
            <a:pPr algn="l">
              <a:spcAft>
                <a:spcPts val="585"/>
              </a:spcAft>
            </a:pPr>
            <a:r>
              <a:rPr sz="1050" b="0" i="0">
                <a:solidFill>
                  <a:srgbClr val="5D5A54"/>
                </a:solidFill>
                <a:latin typeface="Inter Tight"/>
              </a:rPr>
              <a:t>Tsai, Knutson and Fung, 2006, Journal of Personality and Social Psychology (Stanford)</a:t>
            </a:r>
          </a:p>
          <a:p>
            <a:pPr algn="l">
              <a:spcAft>
                <a:spcPts val="585"/>
              </a:spcAft>
            </a:pPr>
            <a:r>
              <a:rPr sz="1300" b="0" i="0">
                <a:solidFill>
                  <a:srgbClr val="1C1B19"/>
                </a:solidFill>
                <a:latin typeface="Source Serif 4"/>
              </a:rPr>
              <a:t>The seven need categories and the feeling word banks are adapted from the Feelings Inventory and Needs Inventory.</a:t>
            </a:r>
          </a:p>
          <a:p>
            <a:pPr algn="l">
              <a:spcAft>
                <a:spcPts val="585"/>
              </a:spcAft>
            </a:pPr>
            <a:r>
              <a:rPr sz="1050" b="0" i="0">
                <a:solidFill>
                  <a:srgbClr val="5D5A54"/>
                </a:solidFill>
                <a:latin typeface="Inter Tight"/>
              </a:rPr>
              <a:t>© 2005 Center for Nonviolent Communication, www.cnvc.org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