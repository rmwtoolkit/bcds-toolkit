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why we're here: the department asked how to help students face challenging content. Something like: "We all want students to work hard on hard things. Today is about the space between too easy and too much, and how to keep them in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Private writing. Then ask for a few volunteers to describe what they noticed (not who). Expect: blank page, head down, "I don't get any of this," phone out, bathroom requests, jokes, tears, anger. Write a few on the board under SHUTDOWN. Keep the cards; groups use them later.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The teacher's job is reading this line. On the left, frustration is a sign of learning, and stepping in too soon takes the learning away. On the right, more effort won't help; the task or the support needs to change. Ask: "What do you usually do when you see the right column?" Most will say rescue (give the answer) or push harder. Both are understandable. Today is a third option: adjust the task so the student can get back to the left column. A line you can borrow: hard means keep going, stuck means change something.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Rosenshine's review of effective teachers found they kept practice success around 80%. Pair it with Bjork's desirable difficulties: effort during practice is good for memory, as long as students keep succeeding often enough to stay in it. Vygotsky's zone of proximal development is the older name for the same sweet spot: what a student can do with help but not yet alone. Ask: "In your last problem set, roughly what percent did most students get on their own?" If it's far below 80%, the next scaffold matters more than another pep talk.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A hard problem can trip the same alarm as a threat: racing heart, blank mind, urge to escape. The student reads the alarm as "I'm bad at this" and opts out. Relief follows, which teaches the brain that escaping works. Less practice means the next problem really is harder. The loop is the same one anxiety runs on. The way out is small: one step back into the task with enough support to succeed. Rick's version for students: look where you want to go. Point their eyes at the next small step, not the whole wall.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Walk through each with an example from science. Worked examples: Sweller showed novices learn more from studying a solved problem than from struggling cold; Renkl showed fading steps builds independence. Time-boxing keeps struggle but gives an exit ramp before shutdown. A hint ladder posted in the room makes help-seeking a normal step instead of a personal risk. Naming the hard part changes what confusion means: it becomes a sign they've reached the right spot, not proof they don't belong. Reframing: Jamieson's GRE study. Ask each table to pick the move that would fit their next unit best.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One card per group, using the five moves. Maya: likely shutdown hidden as "fine." Offer a worked example with the first step done, and a 5-minute check-back. Theo: name the hard part ("write-ups are where everyone stalls"), shrink the task to one section, and check in privately later; if this happens a lot, loop in the counselor or learning specialist. Ana: she's in the stretch zone but doesn't trust it. Fade your help: "Which step do you trust? Do two more, then I'll check." Invite groups to use their cards from the opening too. Families: when a teacher calls home, a useful message is "She's working on hard material, and here's the one thing that helps her stay in it," rather than "She gives up."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The top line on the right is close to the note Yeager and Cohen tested: critical feedback plus high standards plus belief in the student. Middle schoolers who got it revised their essays more often, and the effect was largest for Black students who had less reason to trust school. Praise the strategy and the revision, not the person. Pair-share: rewrite one comment you gave this week.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Invite, don't assign: "Which move will you try?" Share the student card link on this slide. It gives students the same language (stretch vs. shutdown, the hint ladder, the 5-minute rule) and who to talk to. If the department wants, collect anonymous notes on which moves worked for the next meeting.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Stretch, Not Strain</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For teachers  ·  45-minute department meeting (20-minute version below)  ·  Middle and Upper School, any subject</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Teachers leave able to tell productive struggle from shutdown, and with two or three moves they can use next week to keep students working on hard material without rescuing them or losing them.</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a few per person</a:t>
            </a:r>
          </a:p>
          <a:p>
            <a:pPr algn="l">
              <a:spcAft>
                <a:spcPts val="675"/>
              </a:spcAft>
            </a:pPr>
            <a:r>
              <a:rPr sz="1500" b="0" i="0">
                <a:solidFill>
                  <a:srgbClr val="1C1B19"/>
                </a:solidFill>
                <a:latin typeface="Source Serif 4"/>
              </a:rPr>
              <a:t>One upcoming unit or problem set per person (their own)</a:t>
            </a:r>
          </a:p>
          <a:p>
            <a:pPr algn="l">
              <a:spcAft>
                <a:spcPts val="675"/>
              </a:spcAft>
            </a:pPr>
            <a:r>
              <a:rPr sz="1500" b="0" i="0">
                <a:solidFill>
                  <a:srgbClr val="1C1B19"/>
                </a:solidFill>
                <a:latin typeface="Source Serif 4"/>
              </a:rPr>
              <a:t>The student card link (last slide) to share with classes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A student who shut down (private cards)</a:t>
            </a:r>
          </a:p>
          <a:p>
            <a:pPr algn="l">
              <a:spcAft>
                <a:spcPts val="630"/>
              </a:spcAft>
            </a:pPr>
            <a:r>
              <a:rPr sz="1300" b="1" i="0">
                <a:solidFill>
                  <a:srgbClr val="F47B20"/>
                </a:solidFill>
                <a:latin typeface="Inter Tight"/>
              </a:rPr>
              <a:t>8 min   </a:t>
            </a:r>
            <a:r>
              <a:rPr sz="1400" b="0" i="0">
                <a:solidFill>
                  <a:srgbClr val="1C1B19"/>
                </a:solidFill>
                <a:latin typeface="Source Serif 4"/>
              </a:rPr>
              <a:t>Stretch or shutdown: what it looks like</a:t>
            </a:r>
          </a:p>
          <a:p>
            <a:pPr algn="l">
              <a:spcAft>
                <a:spcPts val="630"/>
              </a:spcAft>
            </a:pPr>
            <a:r>
              <a:rPr sz="1300" b="1" i="0">
                <a:solidFill>
                  <a:srgbClr val="F47B20"/>
                </a:solidFill>
                <a:latin typeface="Inter Tight"/>
              </a:rPr>
              <a:t>7 min   </a:t>
            </a:r>
            <a:r>
              <a:rPr sz="1400" b="0" i="0">
                <a:solidFill>
                  <a:srgbClr val="1C1B19"/>
                </a:solidFill>
                <a:latin typeface="Source Serif 4"/>
              </a:rPr>
              <a:t>The 80% target and the shutdown loop</a:t>
            </a:r>
          </a:p>
          <a:p>
            <a:pPr algn="l">
              <a:spcAft>
                <a:spcPts val="630"/>
              </a:spcAft>
            </a:pPr>
            <a:r>
              <a:rPr sz="1300" b="1" i="0">
                <a:solidFill>
                  <a:srgbClr val="F47B20"/>
                </a:solidFill>
                <a:latin typeface="Inter Tight"/>
              </a:rPr>
              <a:t>10 min   </a:t>
            </a:r>
            <a:r>
              <a:rPr sz="1400" b="0" i="0">
                <a:solidFill>
                  <a:srgbClr val="1C1B19"/>
                </a:solidFill>
                <a:latin typeface="Source Serif 4"/>
              </a:rPr>
              <a:t>Five scaffolds that keep the struggle</a:t>
            </a:r>
          </a:p>
          <a:p>
            <a:pPr algn="l">
              <a:spcAft>
                <a:spcPts val="630"/>
              </a:spcAft>
            </a:pPr>
            <a:r>
              <a:rPr sz="1300" b="1" i="0">
                <a:solidFill>
                  <a:srgbClr val="F47B20"/>
                </a:solidFill>
                <a:latin typeface="Inter Tight"/>
              </a:rPr>
              <a:t>8 min   </a:t>
            </a:r>
            <a:r>
              <a:rPr sz="1400" b="0" i="0">
                <a:solidFill>
                  <a:srgbClr val="1C1B19"/>
                </a:solidFill>
                <a:latin typeface="Source Serif 4"/>
              </a:rPr>
              <a:t>Three students (small groups)</a:t>
            </a:r>
          </a:p>
          <a:p>
            <a:pPr algn="l">
              <a:spcAft>
                <a:spcPts val="630"/>
              </a:spcAft>
            </a:pPr>
            <a:r>
              <a:rPr sz="1300" b="1" i="0">
                <a:solidFill>
                  <a:srgbClr val="F47B20"/>
                </a:solidFill>
                <a:latin typeface="Inter Tight"/>
              </a:rPr>
              <a:t>5 min   </a:t>
            </a:r>
            <a:r>
              <a:rPr sz="1400" b="0" i="0">
                <a:solidFill>
                  <a:srgbClr val="1C1B19"/>
                </a:solidFill>
                <a:latin typeface="Source Serif 4"/>
              </a:rPr>
              <a:t>Feedback that keeps them in it</a:t>
            </a:r>
          </a:p>
          <a:p>
            <a:pPr algn="l">
              <a:spcAft>
                <a:spcPts val="630"/>
              </a:spcAft>
            </a:pPr>
            <a:r>
              <a:rPr sz="1300" b="1" i="0">
                <a:solidFill>
                  <a:srgbClr val="F47B20"/>
                </a:solidFill>
                <a:latin typeface="Inter Tight"/>
              </a:rPr>
              <a:t>2 min   </a:t>
            </a:r>
            <a:r>
              <a:rPr sz="1400" b="0" i="0">
                <a:solidFill>
                  <a:srgbClr val="1C1B19"/>
                </a:solidFill>
                <a:latin typeface="Source Serif 4"/>
              </a:rPr>
              <a:t>One move this week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Stretch or shutdown (5), the five scaffolds (8), one of the three students (5), one move this week (2). Share the student card link afterward.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Nobody here is doing it wrong.</a:t>
            </a:r>
          </a:p>
          <a:p>
            <a:pPr algn="l">
              <a:spcAft>
                <a:spcPts val="585"/>
              </a:spcAft>
            </a:pPr>
            <a:r>
              <a:rPr sz="1300" b="0" i="0">
                <a:solidFill>
                  <a:srgbClr val="1C1B19"/>
                </a:solidFill>
                <a:latin typeface="Source Serif 4"/>
              </a:rPr>
              <a:t>Teachers asked for this because they care. Keep it practical and avoid any hint that student struggle is the teacher's fault. Most people in the room have watched a student shut down and felt stuck too.</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Name the teacher's discomfort.</a:t>
            </a:r>
          </a:p>
          <a:p>
            <a:pPr algn="l">
              <a:spcAft>
                <a:spcPts val="585"/>
              </a:spcAft>
            </a:pPr>
            <a:r>
              <a:rPr sz="1300" b="0" i="0">
                <a:solidFill>
                  <a:srgbClr val="1C1B19"/>
                </a:solidFill>
                <a:latin typeface="Source Serif 4"/>
              </a:rPr>
              <a:t>Watching a student struggle is hard, and rescuing is a kind instinct. Part of this session is helping adults sit with a student's discomfort a little longer, the same skill we're asking of students.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Shutdown and crisis are different.</a:t>
            </a:r>
          </a:p>
          <a:p>
            <a:pPr algn="l">
              <a:spcAft>
                <a:spcPts val="585"/>
              </a:spcAft>
            </a:pPr>
            <a:r>
              <a:rPr sz="1300" b="0" i="0">
                <a:solidFill>
                  <a:srgbClr val="1C1B19"/>
                </a:solidFill>
                <a:latin typeface="Source Serif 4"/>
              </a:rPr>
              <a:t>This session is about everyday academic struggle. A student who seems hopeless, panicked most days, or unsafe needs a counselor the same day. Teachers don't screen or diagnose; they notice and walk the student over.</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Accommodations are scaffolds.</a:t>
            </a:r>
          </a:p>
          <a:p>
            <a:pPr algn="l">
              <a:spcAft>
                <a:spcPts val="585"/>
              </a:spcAft>
            </a:pPr>
            <a:r>
              <a:rPr sz="1300" b="0" i="0">
                <a:solidFill>
                  <a:srgbClr val="1C1B19"/>
                </a:solidFill>
                <a:latin typeface="Source Serif 4"/>
              </a:rPr>
              <a:t>Extended time, notes, or a quiet space under a 504 or IEP keep a student in the stretch zone. Frame them that way, never as a shortcut.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Middle and Upper School differ.</a:t>
            </a:r>
          </a:p>
          <a:p>
            <a:pPr algn="l">
              <a:spcAft>
                <a:spcPts val="585"/>
              </a:spcAft>
            </a:pPr>
            <a:r>
              <a:rPr sz="1300" b="0" i="0">
                <a:solidFill>
                  <a:srgbClr val="1C1B19"/>
                </a:solidFill>
                <a:latin typeface="Source Serif 4"/>
              </a:rPr>
              <a:t>Younger students need more visible structure (a printed hint ladder, a timer on the board). Older students can own more of it. Invite each division to adapt the moves.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mindset messaging modest.</a:t>
            </a:r>
          </a:p>
          <a:p>
            <a:pPr algn="l">
              <a:spcAft>
                <a:spcPts val="585"/>
              </a:spcAft>
            </a:pPr>
            <a:r>
              <a:rPr sz="1300" b="0" i="0">
                <a:solidFill>
                  <a:srgbClr val="1C1B19"/>
                </a:solidFill>
                <a:latin typeface="Source Serif 4"/>
              </a:rPr>
              <a:t>Growth-mindset posters alone show small effects in large studies. The research supports the concrete moves in this session, with the message built into them.</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Language learners.</a:t>
            </a:r>
          </a:p>
          <a:p>
            <a:pPr algn="l">
              <a:spcAft>
                <a:spcPts val="585"/>
              </a:spcAft>
            </a:pPr>
            <a:r>
              <a:rPr sz="1300" b="0" i="0">
                <a:solidFill>
                  <a:srgbClr val="1C1B19"/>
                </a:solidFill>
                <a:latin typeface="Source Serif 4"/>
              </a:rPr>
              <a:t>A student learning English may be stuck on the words, not the science. Glossaries, sentence starters, and a worked example in plain language lower the language load so the real challenge is the content.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Learning differences and ADHD.</a:t>
            </a:r>
          </a:p>
          <a:p>
            <a:pPr algn="l">
              <a:spcAft>
                <a:spcPts val="585"/>
              </a:spcAft>
            </a:pPr>
            <a:r>
              <a:rPr sz="1300" b="0" i="0">
                <a:solidFill>
                  <a:srgbClr val="1C1B19"/>
                </a:solidFill>
                <a:latin typeface="Source Serif 4"/>
              </a:rPr>
              <a:t>Working memory limits mean some students need worked examples longer and fade more slowly. That's a pacing choice, not a lower bar.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Students who expect to be judged.</a:t>
            </a:r>
          </a:p>
          <a:p>
            <a:pPr algn="l">
              <a:spcAft>
                <a:spcPts val="585"/>
              </a:spcAft>
            </a:pPr>
            <a:r>
              <a:rPr sz="1300" b="0" i="0">
                <a:solidFill>
                  <a:srgbClr val="1C1B19"/>
                </a:solidFill>
                <a:latin typeface="Source Serif 4"/>
              </a:rPr>
              <a:t>Students from groups stereotyped as weaker in a subject (for example girls in physics, or Black and Latino students in advanced classes) may read struggle as proof the stereotype is right. Wise feedback was tested with exactly these students.</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Who has help at home.</a:t>
            </a:r>
          </a:p>
          <a:p>
            <a:pPr algn="l">
              <a:spcAft>
                <a:spcPts val="585"/>
              </a:spcAft>
            </a:pPr>
            <a:r>
              <a:rPr sz="1300" b="0" i="0">
                <a:solidFill>
                  <a:srgbClr val="1C1B19"/>
                </a:solidFill>
                <a:latin typeface="Source Serif 4"/>
              </a:rPr>
              <a:t>Some students go home to a parent who can explain chemistry or pay a tutor. Others go home to younger siblings to watch. Scaffolds that live in class (hint cards, worked examples) even that out.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Asking for help varies.</a:t>
            </a:r>
          </a:p>
          <a:p>
            <a:pPr algn="l">
              <a:spcAft>
                <a:spcPts val="585"/>
              </a:spcAft>
            </a:pPr>
            <a:r>
              <a:rPr sz="1300" b="0" i="0">
                <a:solidFill>
                  <a:srgbClr val="1C1B19"/>
                </a:solidFill>
                <a:latin typeface="Source Serif 4"/>
              </a:rPr>
              <a:t>In some families and cultures, asking a teacher a question can feel disrespectful, or admitting confusion feels shameful. Make help-seeking a normal, built-in step rather than a personal risk.</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Faith, fasting, and home stress.</a:t>
            </a:r>
          </a:p>
          <a:p>
            <a:pPr algn="l">
              <a:spcAft>
                <a:spcPts val="585"/>
              </a:spcAft>
            </a:pPr>
            <a:r>
              <a:rPr sz="1300" b="0" i="0">
                <a:solidFill>
                  <a:srgbClr val="1C1B19"/>
                </a:solidFill>
                <a:latin typeface="Source Serif 4"/>
              </a:rPr>
              <a:t>A student who is fasting, grieving, or dealing with something at home has less to give that day. A dip in effort is worth a quiet check-in before it's treated as attitude.</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Learning conditions that make practice harder in the short term, like spacing, mixing problem types, and testing yourself, often produce better long-term learning than easier practice. Bjork calls these desirable difficulties.</a:t>
            </a:r>
          </a:p>
          <a:p>
            <a:pPr algn="l">
              <a:spcAft>
                <a:spcPts val="585"/>
              </a:spcAft>
            </a:pPr>
            <a:r>
              <a:rPr sz="1050" b="0" i="0">
                <a:solidFill>
                  <a:srgbClr val="5D5A54"/>
                </a:solidFill>
                <a:latin typeface="Inter Tight"/>
              </a:rPr>
              <a:t>Bjork &amp; Bjork, 2011, Psychology and the Real World</a:t>
            </a:r>
          </a:p>
          <a:p>
            <a:pPr algn="l">
              <a:spcAft>
                <a:spcPts val="585"/>
              </a:spcAft>
            </a:pPr>
            <a:r>
              <a:rPr sz="1300" b="0" i="0">
                <a:solidFill>
                  <a:srgbClr val="1C1B19"/>
                </a:solidFill>
                <a:latin typeface="Source Serif 4"/>
              </a:rPr>
              <a:t>Rosenshine's review of research on effective teachers found that the most successful teachers kept students at a high success rate during practice, about 80%, which keeps practice challenging without steady failure.</a:t>
            </a:r>
          </a:p>
          <a:p>
            <a:pPr algn="l">
              <a:spcAft>
                <a:spcPts val="585"/>
              </a:spcAft>
            </a:pPr>
            <a:r>
              <a:rPr sz="1050" b="0" i="0">
                <a:solidFill>
                  <a:srgbClr val="5D5A54"/>
                </a:solidFill>
                <a:latin typeface="Inter Tight"/>
              </a:rPr>
              <a:t>Rosenshine, 2012, American Educator</a:t>
            </a:r>
          </a:p>
          <a:p>
            <a:pPr algn="l">
              <a:spcAft>
                <a:spcPts val="585"/>
              </a:spcAft>
            </a:pPr>
            <a:r>
              <a:rPr sz="1300" b="0" i="0">
                <a:solidFill>
                  <a:srgbClr val="1C1B19"/>
                </a:solidFill>
                <a:latin typeface="Source Serif 4"/>
              </a:rPr>
              <a:t>Novices learn more from studying worked examples than from solving the same problems unaided, because unaided problem solving overloads working memory.</a:t>
            </a:r>
          </a:p>
          <a:p>
            <a:pPr algn="l">
              <a:spcAft>
                <a:spcPts val="585"/>
              </a:spcAft>
            </a:pPr>
            <a:r>
              <a:rPr sz="1050" b="0" i="0">
                <a:solidFill>
                  <a:srgbClr val="5D5A54"/>
                </a:solidFill>
                <a:latin typeface="Inter Tight"/>
              </a:rPr>
              <a:t>Sweller &amp; Cooper, 1985, Cognition and Instruction</a:t>
            </a:r>
          </a:p>
          <a:p>
            <a:pPr algn="l">
              <a:spcAft>
                <a:spcPts val="585"/>
              </a:spcAft>
            </a:pPr>
            <a:r>
              <a:rPr sz="1300" b="0" i="0">
                <a:solidFill>
                  <a:srgbClr val="1C1B19"/>
                </a:solidFill>
                <a:latin typeface="Source Serif 4"/>
              </a:rPr>
              <a:t>Gradually removing steps from worked examples (fading) helps students move from studying examples to solving problems on their own.</a:t>
            </a:r>
          </a:p>
          <a:p>
            <a:pPr algn="l">
              <a:spcAft>
                <a:spcPts val="585"/>
              </a:spcAft>
            </a:pPr>
            <a:r>
              <a:rPr sz="1050" b="0" i="0">
                <a:solidFill>
                  <a:srgbClr val="5D5A54"/>
                </a:solidFill>
                <a:latin typeface="Inter Tight"/>
              </a:rPr>
              <a:t>Renkl &amp; Atkinson, 2003, Educational Psychologist</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Struggling first on a problem before instruction can help, when the struggle is designed and followed by good teaching. Kapur calls this productive failure and contrasts it with failure that teaches nothing.</a:t>
            </a:r>
          </a:p>
          <a:p>
            <a:pPr algn="l">
              <a:spcAft>
                <a:spcPts val="585"/>
              </a:spcAft>
            </a:pPr>
            <a:r>
              <a:rPr sz="1050" b="0" i="0">
                <a:solidFill>
                  <a:srgbClr val="5D5A54"/>
                </a:solidFill>
                <a:latin typeface="Inter Tight"/>
              </a:rPr>
              <a:t>Kapur, 2016, Educational Psychologist</a:t>
            </a:r>
          </a:p>
          <a:p>
            <a:pPr algn="l">
              <a:spcAft>
                <a:spcPts val="585"/>
              </a:spcAft>
            </a:pPr>
            <a:r>
              <a:rPr sz="1300" b="0" i="0">
                <a:solidFill>
                  <a:srgbClr val="1C1B19"/>
                </a:solidFill>
                <a:latin typeface="Source Serif 4"/>
              </a:rPr>
              <a:t>Critical feedback paired with a note saying the teacher has high standards and believes the student can meet them made middle schoolers more likely to revise their work, with the largest effect for Black students who had lower trust in school.</a:t>
            </a:r>
          </a:p>
          <a:p>
            <a:pPr algn="l">
              <a:spcAft>
                <a:spcPts val="585"/>
              </a:spcAft>
            </a:pPr>
            <a:r>
              <a:rPr sz="1050" b="0" i="0">
                <a:solidFill>
                  <a:srgbClr val="5D5A54"/>
                </a:solidFill>
                <a:latin typeface="Inter Tight"/>
              </a:rPr>
              <a:t>Yeager et al., 2014, Journal of Experimental Psychology: General</a:t>
            </a:r>
          </a:p>
          <a:p>
            <a:pPr algn="l">
              <a:spcAft>
                <a:spcPts val="585"/>
              </a:spcAft>
            </a:pPr>
            <a:r>
              <a:rPr sz="1300" b="0" i="0">
                <a:solidFill>
                  <a:srgbClr val="1C1B19"/>
                </a:solidFill>
                <a:latin typeface="Source Serif 4"/>
              </a:rPr>
              <a:t>Students told that a racing heart before a test is the body preparing to perform scored higher on GRE math practice and the real exam than students not told this.</a:t>
            </a:r>
          </a:p>
          <a:p>
            <a:pPr algn="l">
              <a:spcAft>
                <a:spcPts val="585"/>
              </a:spcAft>
            </a:pPr>
            <a:r>
              <a:rPr sz="1050" b="0" i="0">
                <a:solidFill>
                  <a:srgbClr val="5D5A54"/>
                </a:solidFill>
                <a:latin typeface="Inter Tight"/>
              </a:rPr>
              <a:t>Jamieson et al., 2010, Journal of Experimental Social Psychology</a:t>
            </a:r>
          </a:p>
          <a:p>
            <a:pPr algn="l">
              <a:spcAft>
                <a:spcPts val="585"/>
              </a:spcAft>
            </a:pPr>
            <a:r>
              <a:rPr sz="1300" b="0" i="0">
                <a:solidFill>
                  <a:srgbClr val="1C1B19"/>
                </a:solidFill>
                <a:latin typeface="Source Serif 4"/>
              </a:rPr>
              <a:t>Across two meta-analyses, growth-mindset interventions on their own had small average effects on achievement, with larger effects for students at risk or from lower-income families.</a:t>
            </a:r>
          </a:p>
          <a:p>
            <a:pPr algn="l">
              <a:spcAft>
                <a:spcPts val="585"/>
              </a:spcAft>
            </a:pPr>
            <a:r>
              <a:rPr sz="1050" b="0" i="0">
                <a:solidFill>
                  <a:srgbClr val="5D5A54"/>
                </a:solidFill>
                <a:latin typeface="Inter Tight"/>
              </a:rPr>
              <a:t>Sisk et al., 2018, Psychological Science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STRETCH, NOT STRAIN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Stretch, Not Strain</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Helping students push through hard work without shutting down.</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START HERE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Think of a student who shut down this month. What did it look like just before?</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One card, no names. Keep it; we'll come back to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READING THE LINE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Stretch or shutdown?</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STRETCH (KEEP GOING)</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Still trying new attempts</a:t>
            </a:r>
          </a:p>
          <a:p>
            <a:pPr algn="l">
              <a:spcAft>
                <a:spcPts val="855"/>
              </a:spcAft>
            </a:pPr>
            <a:r>
              <a:rPr sz="1900" b="0" i="0">
                <a:solidFill>
                  <a:srgbClr val="1C1B19"/>
                </a:solidFill>
                <a:latin typeface="Source Serif 4"/>
              </a:rPr>
              <a:t>Asks narrower questions</a:t>
            </a:r>
          </a:p>
          <a:p>
            <a:pPr algn="l">
              <a:spcAft>
                <a:spcPts val="855"/>
              </a:spcAft>
            </a:pPr>
            <a:r>
              <a:rPr sz="1900" b="0" i="0">
                <a:solidFill>
                  <a:srgbClr val="1C1B19"/>
                </a:solidFill>
                <a:latin typeface="Source Serif 4"/>
              </a:rPr>
              <a:t>Erases and retries</a:t>
            </a:r>
          </a:p>
          <a:p>
            <a:pPr algn="l">
              <a:spcAft>
                <a:spcPts val="855"/>
              </a:spcAft>
            </a:pPr>
            <a:r>
              <a:rPr sz="1900" b="0" i="0">
                <a:solidFill>
                  <a:srgbClr val="1C1B19"/>
                </a:solidFill>
                <a:latin typeface="Source Serif 4"/>
              </a:rPr>
              <a:t>Frustrated but still in it</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SHUTDOWN (CHANGE SOMETHING)</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Nothing on the page</a:t>
            </a:r>
          </a:p>
          <a:p>
            <a:pPr algn="l">
              <a:spcAft>
                <a:spcPts val="855"/>
              </a:spcAft>
            </a:pPr>
            <a:r>
              <a:rPr sz="1900" b="0" i="0">
                <a:solidFill>
                  <a:srgbClr val="1C1B19"/>
                </a:solidFill>
                <a:latin typeface="Source Serif 4"/>
              </a:rPr>
              <a:t>"I don't get any of this"</a:t>
            </a:r>
          </a:p>
          <a:p>
            <a:pPr algn="l">
              <a:spcAft>
                <a:spcPts val="855"/>
              </a:spcAft>
            </a:pPr>
            <a:r>
              <a:rPr sz="1900" b="0" i="0">
                <a:solidFill>
                  <a:srgbClr val="1C1B19"/>
                </a:solidFill>
                <a:latin typeface="Source Serif 4"/>
              </a:rPr>
              <a:t>Phone out, bathroom, jokes</a:t>
            </a:r>
          </a:p>
          <a:p>
            <a:pPr algn="l">
              <a:spcAft>
                <a:spcPts val="855"/>
              </a:spcAft>
            </a:pPr>
            <a:r>
              <a:rPr sz="1900" b="0" i="0">
                <a:solidFill>
                  <a:srgbClr val="1C1B19"/>
                </a:solidFill>
                <a:latin typeface="Source Serif 4"/>
              </a:rPr>
              <a:t>Tears, anger, or blank stare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TARGET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Aim for about 80% success during practice.</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Hard enough to cost effort. Winnable enough to keep going.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WHY THEY OPT OUT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shutdown loop</a:t>
            </a:r>
          </a:p>
        </p:txBody>
      </p:sp>
      <p:sp>
        <p:nvSpPr>
          <p:cNvPr id="6" name="Rectangle 5"/>
          <p:cNvSpPr/>
          <p:nvPr/>
        </p:nvSpPr>
        <p:spPr>
          <a:xfrm>
            <a:off x="82296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Hard task</a:t>
            </a:r>
          </a:p>
        </p:txBody>
      </p:sp>
      <p:cxnSp>
        <p:nvCxnSpPr>
          <p:cNvPr id="8" name="Connector 7"/>
          <p:cNvCxnSpPr/>
          <p:nvPr/>
        </p:nvCxnSpPr>
        <p:spPr>
          <a:xfrm>
            <a:off x="2752344" y="3246120"/>
            <a:ext cx="176021"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983229"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83229"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Alarm</a:t>
            </a:r>
          </a:p>
        </p:txBody>
      </p:sp>
      <p:cxnSp>
        <p:nvCxnSpPr>
          <p:cNvPr id="11" name="Connector 10"/>
          <p:cNvCxnSpPr/>
          <p:nvPr/>
        </p:nvCxnSpPr>
        <p:spPr>
          <a:xfrm>
            <a:off x="491261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14350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350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"I can't"</a:t>
            </a:r>
          </a:p>
        </p:txBody>
      </p:sp>
      <p:cxnSp>
        <p:nvCxnSpPr>
          <p:cNvPr id="14" name="Connector 13"/>
          <p:cNvCxnSpPr/>
          <p:nvPr/>
        </p:nvCxnSpPr>
        <p:spPr>
          <a:xfrm>
            <a:off x="7072883" y="3246120"/>
            <a:ext cx="176023"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30377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0377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Opt out</a:t>
            </a:r>
          </a:p>
        </p:txBody>
      </p:sp>
      <p:cxnSp>
        <p:nvCxnSpPr>
          <p:cNvPr id="17" name="Connector 16"/>
          <p:cNvCxnSpPr/>
          <p:nvPr/>
        </p:nvCxnSpPr>
        <p:spPr>
          <a:xfrm>
            <a:off x="923315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946404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6404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Less practice</a:t>
            </a:r>
          </a:p>
        </p:txBody>
      </p:sp>
      <p:sp>
        <p:nvSpPr>
          <p:cNvPr id="20" name="TextBox 19"/>
          <p:cNvSpPr txBox="1"/>
          <p:nvPr/>
        </p:nvSpPr>
        <p:spPr>
          <a:xfrm>
            <a:off x="822960" y="4160520"/>
            <a:ext cx="10515600" cy="457200"/>
          </a:xfrm>
          <a:prstGeom prst="rect">
            <a:avLst/>
          </a:prstGeom>
          <a:noFill/>
        </p:spPr>
        <p:txBody>
          <a:bodyPr wrap="square" anchor="t" lIns="0" rIns="0" tIns="0" bIns="0">
            <a:spAutoFit/>
          </a:bodyPr>
          <a:lstStyle/>
          <a:p>
            <a:pPr algn="ctr">
              <a:spcAft>
                <a:spcPts val="810"/>
              </a:spcAft>
            </a:pPr>
            <a:r>
              <a:rPr sz="1800" b="1" i="0">
                <a:solidFill>
                  <a:srgbClr val="F47B20"/>
                </a:solidFill>
                <a:latin typeface="Inter Tight"/>
              </a:rPr>
              <a:t>↺  next hard task feels harder</a:t>
            </a:r>
          </a:p>
        </p:txBody>
      </p:sp>
      <p:sp>
        <p:nvSpPr>
          <p:cNvPr id="21" name="TextBox 20"/>
          <p:cNvSpPr txBox="1"/>
          <p:nvPr/>
        </p:nvSpPr>
        <p:spPr>
          <a:xfrm>
            <a:off x="822960" y="4846320"/>
            <a:ext cx="10515600" cy="1188720"/>
          </a:xfrm>
          <a:prstGeom prst="rect">
            <a:avLst/>
          </a:prstGeom>
          <a:noFill/>
        </p:spPr>
        <p:txBody>
          <a:bodyPr wrap="square" anchor="t" lIns="0" rIns="0" tIns="0" bIns="0">
            <a:spAutoFit/>
          </a:bodyPr>
          <a:lstStyle/>
          <a:p>
            <a:pPr algn="ctr">
              <a:spcAft>
                <a:spcPts val="900"/>
              </a:spcAft>
            </a:pPr>
            <a:r>
              <a:rPr sz="2000" b="0" i="1">
                <a:solidFill>
                  <a:srgbClr val="5D5A54"/>
                </a:solidFill>
                <a:latin typeface="Source Serif 4"/>
              </a:rPr>
              <a:t>Opting out brings relief right away, so the brain learns to do it again.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SCAFFOLDS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Five moves that keep the struggle</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Worked example, then fade it.</a:t>
            </a:r>
          </a:p>
          <a:p>
            <a:pPr algn="l">
              <a:spcAft>
                <a:spcPts val="945"/>
              </a:spcAft>
            </a:pPr>
            <a:r>
              <a:rPr sz="1600" b="0" i="0">
                <a:solidFill>
                  <a:srgbClr val="5D5A54"/>
                </a:solidFill>
                <a:latin typeface="Source Serif 4"/>
              </a:rPr>
              <a:t>Solved, then half-solved, then on their own.</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Time-box the struggle.</a:t>
            </a:r>
          </a:p>
          <a:p>
            <a:pPr algn="l">
              <a:spcAft>
                <a:spcPts val="945"/>
              </a:spcAft>
            </a:pPr>
            <a:r>
              <a:rPr sz="1600" b="0" i="0">
                <a:solidFill>
                  <a:srgbClr val="5D5A54"/>
                </a:solidFill>
                <a:latin typeface="Source Serif 4"/>
              </a:rPr>
              <a:t>"Try it for 5 minutes, then use a hint."</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Build a hint ladder.</a:t>
            </a:r>
          </a:p>
          <a:p>
            <a:pPr algn="l">
              <a:spcAft>
                <a:spcPts val="945"/>
              </a:spcAft>
            </a:pPr>
            <a:r>
              <a:rPr sz="1600" b="0" i="0">
                <a:solidFill>
                  <a:srgbClr val="5D5A54"/>
                </a:solidFill>
                <a:latin typeface="Source Serif 4"/>
              </a:rPr>
              <a:t>Re-read, find an example, ask a peer, then ask me.</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Name the hard part.</a:t>
            </a:r>
          </a:p>
          <a:p>
            <a:pPr algn="l">
              <a:spcAft>
                <a:spcPts val="945"/>
              </a:spcAft>
            </a:pPr>
            <a:r>
              <a:rPr sz="1600" b="0" i="0">
                <a:solidFill>
                  <a:srgbClr val="5D5A54"/>
                </a:solidFill>
                <a:latin typeface="Source Serif 4"/>
              </a:rPr>
              <a:t>"This is where most people get stuck."</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Reframe the racing heart.</a:t>
            </a:r>
          </a:p>
          <a:p>
            <a:pPr algn="l">
              <a:spcAft>
                <a:spcPts val="945"/>
              </a:spcAft>
            </a:pPr>
            <a:r>
              <a:rPr sz="1600" b="0" i="0">
                <a:solidFill>
                  <a:srgbClr val="5D5A54"/>
                </a:solidFill>
                <a:latin typeface="Source Serif 4"/>
              </a:rPr>
              <a:t>"That's your body gearing up to work."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STUDENTS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would you try first?</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MAYA, 9TH GRADE CHEMISTRY</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Ten minutes into a stoichiometry set, her page is blank. When you walk by she says, "I'm fine."</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THEO, 7TH GRADE SCIENCE</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Halfway through the lab write-up he says, "I'm just not a science person," and asks for the nurse.</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ANA, 10TH GRADE PHYSICS</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Raises her hand after every step to ask, "Is this right?" She's usually right.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FEEDBACK</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Feedback that keeps them in it</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INSTEAD OF</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"Good effort, but this is wrong."</a:t>
            </a:r>
          </a:p>
          <a:p>
            <a:pPr algn="l">
              <a:spcAft>
                <a:spcPts val="855"/>
              </a:spcAft>
            </a:pPr>
            <a:r>
              <a:rPr sz="1900" b="0" i="0">
                <a:solidFill>
                  <a:srgbClr val="1C1B19"/>
                </a:solidFill>
                <a:latin typeface="Source Serif 4"/>
              </a:rPr>
              <a:t>"Here, let me show you."</a:t>
            </a:r>
          </a:p>
          <a:p>
            <a:pPr algn="l">
              <a:spcAft>
                <a:spcPts val="855"/>
              </a:spcAft>
            </a:pPr>
            <a:r>
              <a:rPr sz="1900" b="0" i="0">
                <a:solidFill>
                  <a:srgbClr val="1C1B19"/>
                </a:solidFill>
                <a:latin typeface="Source Serif 4"/>
              </a:rPr>
              <a:t>"Don't worry, it's really hard."</a:t>
            </a:r>
          </a:p>
          <a:p>
            <a:pPr algn="l">
              <a:spcAft>
                <a:spcPts val="855"/>
              </a:spcAft>
            </a:pPr>
            <a:r>
              <a:rPr sz="1900" b="0" i="0">
                <a:solidFill>
                  <a:srgbClr val="1C1B19"/>
                </a:solidFill>
                <a:latin typeface="Source Serif 4"/>
              </a:rPr>
              <a:t>"You're so smart."</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TRY</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"I'm giving you these comments because I know you can reach a high standard."</a:t>
            </a:r>
          </a:p>
          <a:p>
            <a:pPr algn="l">
              <a:spcAft>
                <a:spcPts val="855"/>
              </a:spcAft>
            </a:pPr>
            <a:r>
              <a:rPr sz="1900" b="0" i="0">
                <a:solidFill>
                  <a:srgbClr val="1C1B19"/>
                </a:solidFill>
                <a:latin typeface="Source Serif 4"/>
              </a:rPr>
              <a:t>"Which step do you trust? Start there."</a:t>
            </a:r>
          </a:p>
          <a:p>
            <a:pPr algn="l">
              <a:spcAft>
                <a:spcPts val="855"/>
              </a:spcAft>
            </a:pPr>
            <a:r>
              <a:rPr sz="1900" b="0" i="0">
                <a:solidFill>
                  <a:srgbClr val="1C1B19"/>
                </a:solidFill>
                <a:latin typeface="Source Serif 4"/>
              </a:rPr>
              <a:t>"This is the step where most people get stuck."</a:t>
            </a:r>
          </a:p>
          <a:p>
            <a:pPr algn="l">
              <a:spcAft>
                <a:spcPts val="855"/>
              </a:spcAft>
            </a:pPr>
            <a:r>
              <a:rPr sz="1900" b="0" i="0">
                <a:solidFill>
                  <a:srgbClr val="1C1B19"/>
                </a:solidFill>
                <a:latin typeface="Source Serif 4"/>
              </a:rPr>
              <a:t>"Your second try used a better strategy."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One move this week</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Pick one scaffold to try with one class. We'll swap notes next meeting.</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CARD TO SHARE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https://rmwtoolkit.github.io/bcds-toolkit/when-it-gets-hard-high-school.html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