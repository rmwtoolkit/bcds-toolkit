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"Today is about attention: where yours goes, who's trying to grab it, and a few ways to practice putting it where you want. Every practice today is optional. Eyes open is always fine."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Time exactly one minute. Then ask for a show of hands: 0 to 2 marks, 3 to 5, more than 5. Most will be in the middle or higher. Point out: "That's not failing. Noticing that your mind wandered is the skill. Every tally mark was a rep."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Ask what students have heard about mindfulness. Expect: apps, "calm down", yoga, "emptying your mind". Clear up the big myth: nobody empties their mind. Then: "Phones and apps are built to grab your attention: notifications, autoplay, endless feeds. Noticing where your attention goes, and choosing, is a useful skill in that world."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This was an adult study; teens with phones are probably not lower. Ask: "When does your mind wander most? Least?" (Often least: sports, music, games, conversations they care about. That's attention fully engaged, which is close to what practice trains.)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This is the honest version. Neuroplasticity is real and adolescent brains are especially good at it. The specific claim that mindfulness grows or shrinks brain regions comes from small studies, and the largest controlled trial (Kral 2022, over 200 adults) didn't find structural changes. The functional findings (attention, emotion labeling, less mind-wandering) are steadier. If a student has heard "it shrinks your amygdala", say that's an overstatement.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Students appreciate honesty. Say: "Nobody is going to make you do this. We'll try a few kinds, and you can keep what works." The MYRIAD team concluded that choice and motivation matter; that's why today ends with options.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Sati (often translated as mindfulness) and metta (loving-kindness) come from Buddhist traditions that are about 2,500 years old. In 1979 Jon Kabat-Zinn adapted these into a secular course for hospital patients (MBSR), which is the source of most school and app versions. Many traditions have their own forms: centering prayer, dhikr, Jewish contemplative prayer, the rosary, Hindu and Sikh meditation, quiet time outdoors. Invite students to notice privately if their family already has one. Don't ask anyone to explain their faith.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Ask students which sounds most like them. Movement is a first choice, not a backup, especially for students who hate sitting still. Repetitive movement they already do (cycling, running, swimming, drumming, knitting, free throws) is a real practice if they pay attention while doing it. Mention that breath focus makes some people more anxious; they should switch anchors if so.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including setup and debrief. Read one script aloud from the practice cards (Breathe Out Longer or Five Senses work best for a whole room), or let students pick and follow their card. Afterward ask: "Anything you noticed? Anything that felt off?" Accept "nothing" and "I didn't like it" as useful answers. Skip the body scan in class (see the teacher page). If anyone seems far away or upset, invite everyone to open their eyes, look around, and name three things they see.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cards anonymously. Share the student page and the five practice cards (post them on your class page). Remind students a counselor is available for anyone whose stress, sleep or worry feels bigger than a practice can handle.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Train Your Attention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what mindfulness is and isn't, what the research honestly shows, and try one short practice of their choosing. Bring a timer, say before every practice that eyes can stay open and anyone can opt out, and offer an anchor other than the breath.</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Many traditions already do this and some families will be wary, so keep it secular, credit the roots, and adjust any instruction that doesn't fit a student's body.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One minute of noticing (3), what it is and isn't (4), the brain research slide (5), try one practice (5), exit card (3). Share the practice links so students can pick their 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TRAIN YOUR ATTENTION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Train Your Attention</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Your mind wanders about half the time. What can a few minutes of noticing actually do?</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ONE MINUTE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Sit for one minute. Each time your mind wanders, make a tally mark.</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Eyes open or closed. No right number.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IT IS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Mindfulness is paying attention to right now, on purpose, without judging it.</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When your mind wanders, you notice and come back. The coming back is the practice.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Killingsworth &amp; Gilbert, 2010</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Minds wander almost half the time.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About 2,250 adults got random phone check-ins: what are you doing, what are you thinking about?</a:t>
            </a:r>
          </a:p>
          <a:p>
            <a:pPr algn="l">
              <a:spcAft>
                <a:spcPts val="855"/>
              </a:spcAft>
            </a:pPr>
            <a:r>
              <a:rPr sz="1900" b="0" i="0">
                <a:solidFill>
                  <a:srgbClr val="1C1B19"/>
                </a:solidFill>
                <a:latin typeface="Source Serif 4"/>
              </a:rPr>
              <a:t>•  Their minds were somewhere else 47% of the time.</a:t>
            </a:r>
          </a:p>
          <a:p>
            <a:pPr algn="l">
              <a:spcAft>
                <a:spcPts val="855"/>
              </a:spcAft>
            </a:pPr>
            <a:r>
              <a:rPr sz="1900" b="0" i="0">
                <a:solidFill>
                  <a:srgbClr val="1C1B19"/>
                </a:solidFill>
                <a:latin typeface="Source Serif 4"/>
              </a:rPr>
              <a:t>•  They were less happy while their minds wandered, even during pleasant activities.</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Wandering is normal. Noticing it is the skill.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BRAIN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Lieberman 2007  ·  Brewer 2011  ·  Tang, Hölzel &amp; Posner 2015  ·  Kral 2022</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Practice changes how the brain works. How much it changes the structure is still argued.</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Naming a feeling ("that's frustration") turns down the brain's alarm center.</a:t>
            </a:r>
          </a:p>
          <a:p>
            <a:pPr algn="l">
              <a:spcAft>
                <a:spcPts val="855"/>
              </a:spcAft>
            </a:pPr>
            <a:r>
              <a:rPr sz="1900" b="0" i="0">
                <a:solidFill>
                  <a:srgbClr val="1C1B19"/>
                </a:solidFill>
                <a:latin typeface="Source Serif 4"/>
              </a:rPr>
              <a:t>•  People who practice show more activity in attention and emotion networks, and less in the mind-wandering network.</a:t>
            </a:r>
          </a:p>
          <a:p>
            <a:pPr algn="l">
              <a:spcAft>
                <a:spcPts val="855"/>
              </a:spcAft>
            </a:pPr>
            <a:r>
              <a:rPr sz="1900" b="0" i="0">
                <a:solidFill>
                  <a:srgbClr val="1C1B19"/>
                </a:solidFill>
                <a:latin typeface="Source Serif 4"/>
              </a:rPr>
              <a:t>•  A small study found gray-matter growth after 8 weeks. The largest trial since found none.</a:t>
            </a:r>
          </a:p>
          <a:p>
            <a:pPr algn="l">
              <a:spcAft>
                <a:spcPts val="855"/>
              </a:spcAft>
            </a:pPr>
            <a:r>
              <a:rPr sz="1900" b="0" i="0">
                <a:solidFill>
                  <a:srgbClr val="1C1B19"/>
                </a:solidFill>
                <a:latin typeface="Source Serif 4"/>
              </a:rPr>
              <a:t>•  Almost all of this is on adults.</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The brain rewires around what you practice, like an instrument or a sport. Attention is one more thing you can practice.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IN SCHOOLS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MYRIAD trial, Kuyken et al., 2022  ·  Dunning et al., 2019</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A school course alone isn't a cure.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8,000+ students in 84 UK schools: mindfulness classes helped about as much as regular wellbeing lessons.</a:t>
            </a:r>
          </a:p>
          <a:p>
            <a:pPr algn="l">
              <a:spcAft>
                <a:spcPts val="855"/>
              </a:spcAft>
            </a:pPr>
            <a:r>
              <a:rPr sz="1900" b="0" i="0">
                <a:solidFill>
                  <a:srgbClr val="1C1B19"/>
                </a:solidFill>
                <a:latin typeface="Source Serif 4"/>
              </a:rPr>
              <a:t>•  Most students stopped practicing after the course.</a:t>
            </a:r>
          </a:p>
          <a:p>
            <a:pPr algn="l">
              <a:spcAft>
                <a:spcPts val="855"/>
              </a:spcAft>
            </a:pPr>
            <a:r>
              <a:rPr sz="1900" b="0" i="0">
                <a:solidFill>
                  <a:srgbClr val="1C1B19"/>
                </a:solidFill>
                <a:latin typeface="Source Serif 4"/>
              </a:rPr>
              <a:t>•  Across 33 studies, benefits for attention, stress and mood were small but real.</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It's a tool. It works best when you pick a practice you like and use it because you want 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WHERE IT COMES FROM</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Mindfulness grew out of Buddhist meditation. Many traditions have their own versions.</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Since 1979 it's been taught without religion. That's how we use it 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FIVE WAYS 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Pick the one that fits you.</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Breathe out longer.</a:t>
            </a:r>
          </a:p>
          <a:p>
            <a:pPr algn="l">
              <a:spcAft>
                <a:spcPts val="945"/>
              </a:spcAft>
            </a:pPr>
            <a:r>
              <a:rPr sz="1600" b="0" i="0">
                <a:solidFill>
                  <a:srgbClr val="5D5A54"/>
                </a:solidFill>
                <a:latin typeface="Source Serif 4"/>
              </a:rPr>
              <a:t>In for 4, out for 6.</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Move and notice.</a:t>
            </a:r>
          </a:p>
          <a:p>
            <a:pPr algn="l">
              <a:spcAft>
                <a:spcPts val="945"/>
              </a:spcAft>
            </a:pPr>
            <a:r>
              <a:rPr sz="1600" b="0" i="0">
                <a:solidFill>
                  <a:srgbClr val="5D5A54"/>
                </a:solidFill>
                <a:latin typeface="Source Serif 4"/>
              </a:rPr>
              <a:t>Slow walking, stretching, or the rhythm of cycling, running, swimming.</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Five senses.</a:t>
            </a:r>
          </a:p>
          <a:p>
            <a:pPr algn="l">
              <a:spcAft>
                <a:spcPts val="945"/>
              </a:spcAft>
            </a:pPr>
            <a:r>
              <a:rPr sz="1600" b="0" i="0">
                <a:solidFill>
                  <a:srgbClr val="5D5A54"/>
                </a:solidFill>
                <a:latin typeface="Source Serif 4"/>
              </a:rPr>
              <a:t>5 see, 4 hear, 3 touch, 2 smell, 1 taste.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Kindness practice.</a:t>
            </a:r>
          </a:p>
          <a:p>
            <a:pPr algn="l">
              <a:spcAft>
                <a:spcPts val="945"/>
              </a:spcAft>
            </a:pPr>
            <a:r>
              <a:rPr sz="1600" b="0" i="0">
                <a:solidFill>
                  <a:srgbClr val="5D5A54"/>
                </a:solidFill>
                <a:latin typeface="Source Serif 4"/>
              </a:rPr>
              <a:t>Silently wishing yourself and others well.</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Body scan.</a:t>
            </a:r>
          </a:p>
          <a:p>
            <a:pPr algn="l">
              <a:spcAft>
                <a:spcPts val="945"/>
              </a:spcAft>
            </a:pPr>
            <a:r>
              <a:rPr sz="1600" b="0" i="0">
                <a:solidFill>
                  <a:srgbClr val="5D5A54"/>
                </a:solidFill>
                <a:latin typeface="Source Serif 4"/>
              </a:rPr>
              <a:t>Attention moving slowly from feet to head. Best on your 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ONE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Two to three minutes. Your choice: breathing, five senses, or a slow stretch.</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Eyes open is fine. Stop whenever you want.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Which practice might you try this week, and when?</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Exit card, no names. The practice cards are linked here.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https://rmwtoolkit.github.io/bcds-toolkit/train-your-attention-high-school.html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Train Your Attention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what mindfulness is and isn't, describe what the research does and doesn't show about attention and the brain, and try one short practice of their choosing. Nobody has to close their eyes, share what they noticed, or keep practicing.</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A timer you can see or hear</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The five practice cards (links on the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One minute of noticing</a:t>
            </a:r>
          </a:p>
          <a:p>
            <a:pPr algn="l">
              <a:spcAft>
                <a:spcPts val="630"/>
              </a:spcAft>
            </a:pPr>
            <a:r>
              <a:rPr sz="1300" b="1" i="0">
                <a:solidFill>
                  <a:srgbClr val="F47B20"/>
                </a:solidFill>
                <a:latin typeface="Inter Tight"/>
              </a:rPr>
              <a:t>5 min   </a:t>
            </a:r>
            <a:r>
              <a:rPr sz="1400" b="0" i="0">
                <a:solidFill>
                  <a:srgbClr val="1C1B19"/>
                </a:solidFill>
                <a:latin typeface="Source Serif 4"/>
              </a:rPr>
              <a:t>What mindfulness is (and isn't)</a:t>
            </a:r>
          </a:p>
          <a:p>
            <a:pPr algn="l">
              <a:spcAft>
                <a:spcPts val="630"/>
              </a:spcAft>
            </a:pPr>
            <a:r>
              <a:rPr sz="1300" b="1" i="0">
                <a:solidFill>
                  <a:srgbClr val="F47B20"/>
                </a:solidFill>
                <a:latin typeface="Inter Tight"/>
              </a:rPr>
              <a:t>10 min   </a:t>
            </a:r>
            <a:r>
              <a:rPr sz="1400" b="0" i="0">
                <a:solidFill>
                  <a:srgbClr val="1C1B19"/>
                </a:solidFill>
                <a:latin typeface="Source Serif 4"/>
              </a:rPr>
              <a:t>The research: attention, the brain, and honest limits</a:t>
            </a:r>
          </a:p>
          <a:p>
            <a:pPr algn="l">
              <a:spcAft>
                <a:spcPts val="630"/>
              </a:spcAft>
            </a:pPr>
            <a:r>
              <a:rPr sz="1300" b="1" i="0">
                <a:solidFill>
                  <a:srgbClr val="F47B20"/>
                </a:solidFill>
                <a:latin typeface="Inter Tight"/>
              </a:rPr>
              <a:t>5 min   </a:t>
            </a:r>
            <a:r>
              <a:rPr sz="1400" b="0" i="0">
                <a:solidFill>
                  <a:srgbClr val="1C1B19"/>
                </a:solidFill>
                <a:latin typeface="Source Serif 4"/>
              </a:rPr>
              <a:t>Where it comes from</a:t>
            </a:r>
          </a:p>
          <a:p>
            <a:pPr algn="l">
              <a:spcAft>
                <a:spcPts val="630"/>
              </a:spcAft>
            </a:pPr>
            <a:r>
              <a:rPr sz="1300" b="1" i="0">
                <a:solidFill>
                  <a:srgbClr val="F47B20"/>
                </a:solidFill>
                <a:latin typeface="Inter Tight"/>
              </a:rPr>
              <a:t>5 min   </a:t>
            </a:r>
            <a:r>
              <a:rPr sz="1400" b="0" i="0">
                <a:solidFill>
                  <a:srgbClr val="1C1B19"/>
                </a:solidFill>
                <a:latin typeface="Source Serif 4"/>
              </a:rPr>
              <a:t>Five ways in</a:t>
            </a:r>
          </a:p>
          <a:p>
            <a:pPr algn="l">
              <a:spcAft>
                <a:spcPts val="630"/>
              </a:spcAft>
            </a:pPr>
            <a:r>
              <a:rPr sz="1300" b="1" i="0">
                <a:solidFill>
                  <a:srgbClr val="F47B20"/>
                </a:solidFill>
                <a:latin typeface="Inter Tight"/>
              </a:rPr>
              <a:t>10 min   </a:t>
            </a:r>
            <a:r>
              <a:rPr sz="1400" b="0" i="0">
                <a:solidFill>
                  <a:srgbClr val="1C1B19"/>
                </a:solidFill>
                <a:latin typeface="Source Serif 4"/>
              </a:rPr>
              <a:t>Try one (student's choice, eyes open is fine)</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practice links</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One minute of noticing (3), what it is and isn't (4), the brain research slide (5), try one practice (5), exit card (3). Share the practice links so students can pick their 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Invite, never require.</a:t>
            </a:r>
          </a:p>
          <a:p>
            <a:pPr algn="l">
              <a:spcAft>
                <a:spcPts val="585"/>
              </a:spcAft>
            </a:pPr>
            <a:r>
              <a:rPr sz="1300" b="0" i="0">
                <a:solidFill>
                  <a:srgbClr val="1C1B19"/>
                </a:solidFill>
                <a:latin typeface="Source Serif 4"/>
              </a:rPr>
              <a:t>Every practice is optional. Students can keep their eyes open, look at the desk, doodle quietly, or just sit. Say so before every practice. A student who opts out is following the instructions.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Breath focus isn't calming for everyone.</a:t>
            </a:r>
          </a:p>
          <a:p>
            <a:pPr algn="l">
              <a:spcAft>
                <a:spcPts val="585"/>
              </a:spcAft>
            </a:pPr>
            <a:r>
              <a:rPr sz="1300" b="0" i="0">
                <a:solidFill>
                  <a:srgbClr val="1C1B19"/>
                </a:solidFill>
                <a:latin typeface="Source Serif 4"/>
              </a:rPr>
              <a:t>For some students, paying attention to breathing raises anxiety. Always offer another anchor: sounds, hands on the desk, feet on the floor. If a student looks distressed, invite them to open their eyes and look around the room.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Trauma and the body.</a:t>
            </a:r>
          </a:p>
          <a:p>
            <a:pPr algn="l">
              <a:spcAft>
                <a:spcPts val="585"/>
              </a:spcAft>
            </a:pPr>
            <a:r>
              <a:rPr sz="1300" b="0" i="0">
                <a:solidFill>
                  <a:srgbClr val="1C1B19"/>
                </a:solidFill>
                <a:latin typeface="Source Serif 4"/>
              </a:rPr>
              <a:t>Students who have lived through something frightening, or who struggle with body image or eating, may find body-focused practices uncomfortable or upsetting. Don't do a full body scan in class; leave it on the practice card for students to choose. Watch for students who seem far away or frozen, and bring the group back gently with eyes open and a few normal sounds.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When to bring in a counselor.</a:t>
            </a:r>
          </a:p>
          <a:p>
            <a:pPr algn="l">
              <a:spcAft>
                <a:spcPts val="585"/>
              </a:spcAft>
            </a:pPr>
            <a:r>
              <a:rPr sz="1300" b="0" i="0">
                <a:solidFill>
                  <a:srgbClr val="1C1B19"/>
                </a:solidFill>
                <a:latin typeface="Source Serif 4"/>
              </a:rPr>
              <a:t>Refer the same day if a practice brings on panic, a flashback, or a student seeming disconnected for more than a few minutes. Also refer if a student mentions they can't sleep, can't stop worrying, or feels hopeless. Disclosures go to a counselor. No screening questions in class.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oversell it.</a:t>
            </a:r>
          </a:p>
          <a:p>
            <a:pPr algn="l">
              <a:spcAft>
                <a:spcPts val="585"/>
              </a:spcAft>
            </a:pPr>
            <a:r>
              <a:rPr sz="1300" b="0" i="0">
                <a:solidFill>
                  <a:srgbClr val="1C1B19"/>
                </a:solidFill>
                <a:latin typeface="Source Serif 4"/>
              </a:rPr>
              <a:t>Mindfulness is a useful skill, not a treatment for depression or anxiety, and it doesn't replace counseling. The research slides give you honest language. If a student says it didn't work for them, that's a reasonable result.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secular in class, and honor the roots.</a:t>
            </a:r>
          </a:p>
          <a:p>
            <a:pPr algn="l">
              <a:spcAft>
                <a:spcPts val="585"/>
              </a:spcAft>
            </a:pPr>
            <a:r>
              <a:rPr sz="1300" b="0" i="0">
                <a:solidFill>
                  <a:srgbClr val="1C1B19"/>
                </a:solidFill>
                <a:latin typeface="Source Serif 4"/>
              </a:rPr>
              <a:t>Name the Buddhist origins plainly (slide 7). Don't ask students to chant, bow, or adopt any belief. Students whose families object can sit quietly or read during the practice.</a:t>
            </a:r>
          </a:p>
          <a:p>
            <a:pPr algn="l">
              <a:spcAft>
                <a:spcPts val="585"/>
              </a:spcAft>
            </a:pPr>
            <a:r>
              <a:rPr sz="1300" b="0" i="0">
                <a:solidFill>
                  <a:srgbClr val="1C1B19"/>
                </a:solidFill>
                <a:latin typeface="Source Serif 4"/>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Many traditions already do this.</a:t>
            </a:r>
          </a:p>
          <a:p>
            <a:pPr algn="l">
              <a:spcAft>
                <a:spcPts val="585"/>
              </a:spcAft>
            </a:pPr>
            <a:r>
              <a:rPr sz="1300" b="0" i="0">
                <a:solidFill>
                  <a:srgbClr val="1C1B19"/>
                </a:solidFill>
                <a:latin typeface="Source Serif 4"/>
              </a:rPr>
              <a:t>Centering prayer, dhikr, Jewish contemplative prayer, the rosary, meditation in Hindu and Sikh traditions, quiet time on the land. Invite students to notice if their family already has a version. Never ask them to explain their faith to the class.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families will be wary.</a:t>
            </a:r>
          </a:p>
          <a:p>
            <a:pPr algn="l">
              <a:spcAft>
                <a:spcPts val="585"/>
              </a:spcAft>
            </a:pPr>
            <a:r>
              <a:rPr sz="1300" b="0" i="0">
                <a:solidFill>
                  <a:srgbClr val="1C1B19"/>
                </a:solidFill>
                <a:latin typeface="Source Serif 4"/>
              </a:rPr>
              <a:t>Some families see meditation as religious, or as something that conflicts with their own faith. The secular framing and the opt-out are real; mean them. A note home before the lesson can help.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Stillness isn't a virtue.</a:t>
            </a:r>
          </a:p>
          <a:p>
            <a:pPr algn="l">
              <a:spcAft>
                <a:spcPts val="585"/>
              </a:spcAft>
            </a:pPr>
            <a:r>
              <a:rPr sz="1300" b="0" i="0">
                <a:solidFill>
                  <a:srgbClr val="1C1B19"/>
                </a:solidFill>
                <a:latin typeface="Source Serif 4"/>
              </a:rPr>
              <a:t>Sitting still with eyes closed is one cultural picture of calm. Movement, rhythm, music and prayer all count. Students with ADHD often do better with movement-based practice; offer it first, not as a backup.</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Noticing isn't the same as accepting harm.</a:t>
            </a:r>
          </a:p>
          <a:p>
            <a:pPr algn="l">
              <a:spcAft>
                <a:spcPts val="585"/>
              </a:spcAft>
            </a:pPr>
            <a:r>
              <a:rPr sz="1300" b="0" i="0">
                <a:solidFill>
                  <a:srgbClr val="1C1B19"/>
                </a:solidFill>
                <a:latin typeface="Source Serif 4"/>
              </a:rPr>
              <a:t>Students facing racism, an unsafe home, or money stress shouldn't hear that breathing will fix it. Mindfulness can help someone get through a hard moment. It doesn't make an unfair situation fair, and adults still need to act.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Disabled and neurodivergent students.</a:t>
            </a:r>
          </a:p>
          <a:p>
            <a:pPr algn="l">
              <a:spcAft>
                <a:spcPts val="585"/>
              </a:spcAft>
            </a:pPr>
            <a:r>
              <a:rPr sz="1300" b="0" i="0">
                <a:solidFill>
                  <a:srgbClr val="1C1B19"/>
                </a:solidFill>
                <a:latin typeface="Source Serif 4"/>
              </a:rPr>
              <a:t>Adjust every instruction: "feel your feet" may not fit a wheelchair user; "notice your breath" may not fit a student with asthma. Offer the anchor that works. Some autistic students find closed eyes or silence uncomfortable; eyes open and a soft sound are fine.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a:t>
            </a:r>
          </a:p>
          <a:p>
            <a:pPr algn="l">
              <a:spcAft>
                <a:spcPts val="585"/>
              </a:spcAft>
            </a:pPr>
            <a:r>
              <a:rPr sz="1300" b="0" i="0">
                <a:solidFill>
                  <a:srgbClr val="1C1B19"/>
                </a:solidFill>
                <a:latin typeface="Source Serif 4"/>
              </a:rPr>
              <a:t>"Mindfulness" can sound like jargon. "Noticing" or "paying attention on purpose" works in any language. English learners can do the senses practice in whatever language they think in.</a:t>
            </a:r>
          </a:p>
          <a:p>
            <a:pPr algn="l">
              <a:spcAft>
                <a:spcPts val="585"/>
              </a:spcAft>
            </a:pPr>
            <a:r>
              <a:rPr sz="1300" b="0" i="0">
                <a:solidFill>
                  <a:srgbClr val="1C1B19"/>
                </a:solidFill>
                <a:latin typeface="Source Serif 4"/>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People's minds wandered during about 47% of their waking moments, and they were less happy while their minds wandered.</a:t>
            </a:r>
          </a:p>
          <a:p>
            <a:pPr algn="l">
              <a:spcAft>
                <a:spcPts val="585"/>
              </a:spcAft>
            </a:pPr>
            <a:r>
              <a:rPr sz="1050" b="0" i="0">
                <a:solidFill>
                  <a:srgbClr val="5D5A54"/>
                </a:solidFill>
                <a:latin typeface="Inter Tight"/>
              </a:rPr>
              <a:t>Killingsworth &amp; Gilbert, Science, 2010 (about 2,250 adults, smartphone sampling)</a:t>
            </a:r>
          </a:p>
          <a:p>
            <a:pPr algn="l">
              <a:spcAft>
                <a:spcPts val="585"/>
              </a:spcAft>
            </a:pPr>
            <a:r>
              <a:rPr sz="1300" b="0" i="0">
                <a:solidFill>
                  <a:srgbClr val="1C1B19"/>
                </a:solidFill>
                <a:latin typeface="Source Serif 4"/>
              </a:rPr>
              <a:t>Putting a feeling into words reduced activity in the amygdala, the brain's alarm center, and increased activity in a region that helps regulate emotion.</a:t>
            </a:r>
          </a:p>
          <a:p>
            <a:pPr algn="l">
              <a:spcAft>
                <a:spcPts val="585"/>
              </a:spcAft>
            </a:pPr>
            <a:r>
              <a:rPr sz="1050" b="0" i="0">
                <a:solidFill>
                  <a:srgbClr val="5D5A54"/>
                </a:solidFill>
                <a:latin typeface="Inter Tight"/>
              </a:rPr>
              <a:t>Lieberman et al., Psychological Science, 2007</a:t>
            </a:r>
          </a:p>
          <a:p>
            <a:pPr algn="l">
              <a:spcAft>
                <a:spcPts val="585"/>
              </a:spcAft>
            </a:pPr>
            <a:r>
              <a:rPr sz="1300" b="0" i="0">
                <a:solidFill>
                  <a:srgbClr val="1C1B19"/>
                </a:solidFill>
                <a:latin typeface="Source Serif 4"/>
              </a:rPr>
              <a:t>Experienced meditators showed less activity in the default mode network, the brain's mind-wandering system, during practice.</a:t>
            </a:r>
          </a:p>
          <a:p>
            <a:pPr algn="l">
              <a:spcAft>
                <a:spcPts val="585"/>
              </a:spcAft>
            </a:pPr>
            <a:r>
              <a:rPr sz="1050" b="0" i="0">
                <a:solidFill>
                  <a:srgbClr val="5D5A54"/>
                </a:solidFill>
                <a:latin typeface="Inter Tight"/>
              </a:rPr>
              <a:t>Brewer et al., PNAS, 2011</a:t>
            </a:r>
          </a:p>
          <a:p>
            <a:pPr algn="l">
              <a:spcAft>
                <a:spcPts val="585"/>
              </a:spcAft>
            </a:pPr>
            <a:r>
              <a:rPr sz="1300" b="0" i="0">
                <a:solidFill>
                  <a:srgbClr val="1C1B19"/>
                </a:solidFill>
                <a:latin typeface="Source Serif 4"/>
              </a:rPr>
              <a:t>Across studies, practice is linked to changes in attention control, emotion regulation and self-awareness networks. Most studies are small and on adults.</a:t>
            </a:r>
          </a:p>
          <a:p>
            <a:pPr algn="l">
              <a:spcAft>
                <a:spcPts val="585"/>
              </a:spcAft>
            </a:pPr>
            <a:r>
              <a:rPr sz="1050" b="0" i="0">
                <a:solidFill>
                  <a:srgbClr val="5D5A54"/>
                </a:solidFill>
                <a:latin typeface="Inter Tight"/>
              </a:rPr>
              <a:t>Tang, Hölzel &amp; Posner, Nature Reviews Neuroscience, 2015</a:t>
            </a:r>
          </a:p>
          <a:p>
            <a:pPr algn="l">
              <a:spcAft>
                <a:spcPts val="585"/>
              </a:spcAft>
            </a:pPr>
            <a:r>
              <a:rPr sz="1300" b="0" i="0">
                <a:solidFill>
                  <a:srgbClr val="1C1B19"/>
                </a:solidFill>
                <a:latin typeface="Source Serif 4"/>
              </a:rPr>
              <a:t>An eight-week course increased gray-matter density in some regions in a study of 16 adults. The largest controlled trial since (more than 200 adults) found no structural brain changes.</a:t>
            </a:r>
          </a:p>
          <a:p>
            <a:pPr algn="l">
              <a:spcAft>
                <a:spcPts val="585"/>
              </a:spcAft>
            </a:pPr>
            <a:r>
              <a:rPr sz="1050" b="0" i="0">
                <a:solidFill>
                  <a:srgbClr val="5D5A54"/>
                </a:solidFill>
                <a:latin typeface="Inter Tight"/>
              </a:rPr>
              <a:t>Hölzel et al., Psychiatry Research: Neuroimaging, 2011; Kral et al., Science Advances, 2022</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84 UK schools and over 8,000 students aged 11 to 16, a mindfulness curriculum was no better than usual social-emotional teaching at preventing mental health problems. Few students kept practicing.</a:t>
            </a:r>
          </a:p>
          <a:p>
            <a:pPr algn="l">
              <a:spcAft>
                <a:spcPts val="585"/>
              </a:spcAft>
            </a:pPr>
            <a:r>
              <a:rPr sz="1050" b="0" i="0">
                <a:solidFill>
                  <a:srgbClr val="5D5A54"/>
                </a:solidFill>
                <a:latin typeface="Inter Tight"/>
              </a:rPr>
              <a:t>Kuyken et al. (MYRIAD), Evidence-Based Mental Health, 2022</a:t>
            </a:r>
          </a:p>
          <a:p>
            <a:pPr algn="l">
              <a:spcAft>
                <a:spcPts val="585"/>
              </a:spcAft>
            </a:pPr>
            <a:r>
              <a:rPr sz="1300" b="0" i="0">
                <a:solidFill>
                  <a:srgbClr val="1C1B19"/>
                </a:solidFill>
                <a:latin typeface="Source Serif 4"/>
              </a:rPr>
              <a:t>Across 33 trials with young people, mindfulness programs had small benefits for attention, stress and mood, mostly smaller when compared with other active programs.</a:t>
            </a:r>
          </a:p>
          <a:p>
            <a:pPr algn="l">
              <a:spcAft>
                <a:spcPts val="585"/>
              </a:spcAft>
            </a:pPr>
            <a:r>
              <a:rPr sz="1050" b="0" i="0">
                <a:solidFill>
                  <a:srgbClr val="5D5A54"/>
                </a:solidFill>
                <a:latin typeface="Inter Tight"/>
              </a:rPr>
              <a:t>Dunning et al., Journal of Child Psychology and Psychiatry, 2019</a:t>
            </a:r>
          </a:p>
          <a:p>
            <a:pPr algn="l">
              <a:spcAft>
                <a:spcPts val="585"/>
              </a:spcAft>
            </a:pPr>
            <a:r>
              <a:rPr sz="1300" b="0" i="0">
                <a:solidFill>
                  <a:srgbClr val="1C1B19"/>
                </a:solidFill>
                <a:latin typeface="Source Serif 4"/>
              </a:rPr>
              <a:t>Five minutes a day of slow, sighing breaths improved mood and lowered breathing rate more than five minutes of mindfulness meditation, over one month.</a:t>
            </a:r>
          </a:p>
          <a:p>
            <a:pPr algn="l">
              <a:spcAft>
                <a:spcPts val="585"/>
              </a:spcAft>
            </a:pPr>
            <a:r>
              <a:rPr sz="1050" b="0" i="0">
                <a:solidFill>
                  <a:srgbClr val="5D5A54"/>
                </a:solidFill>
                <a:latin typeface="Inter Tight"/>
              </a:rPr>
              <a:t>Balban et al., Cell Reports Medicine, 2023</a:t>
            </a:r>
          </a:p>
          <a:p>
            <a:pPr algn="l">
              <a:spcAft>
                <a:spcPts val="585"/>
              </a:spcAft>
            </a:pPr>
            <a:r>
              <a:rPr sz="1300" b="0" i="0">
                <a:solidFill>
                  <a:srgbClr val="1C1B19"/>
                </a:solidFill>
                <a:latin typeface="Source Serif 4"/>
              </a:rPr>
              <a:t>Mindfulness can have side effects for some people, including anxiety and re-experiencing trauma, especially with long or intense practice.</a:t>
            </a:r>
          </a:p>
          <a:p>
            <a:pPr algn="l">
              <a:spcAft>
                <a:spcPts val="585"/>
              </a:spcAft>
            </a:pPr>
            <a:r>
              <a:rPr sz="1050" b="0" i="0">
                <a:solidFill>
                  <a:srgbClr val="5D5A54"/>
                </a:solidFill>
                <a:latin typeface="Inter Tight"/>
              </a:rPr>
              <a:t>Britton, Current Opinion in Psychology, 2019; Treleaven, Trauma-Sensitive Mindfulness,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