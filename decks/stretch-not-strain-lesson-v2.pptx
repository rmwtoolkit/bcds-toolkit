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both presenters and why you're here: the science department asked how to support students facing challenging content. Something like: "You asked a big question, and there's good research on it. Today we'll walk through what it says and land on a few things you can try next week."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Private writing, then a few volunteers describe what they noticed (not who). Expect: blank page, head down, "I don't get any of this," phone out, bathroom requests, jokes, tears, anger. Write a few on the board. Teachers keep their cards for the small-group part.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Read the department's questions aloud if helpful: hot spots, why students struggle, how to scaffold, what to say to families, a strategy menu, and whether teachers need training. Say what today covers (the scaffolding question, and some of the messaging) and what it doesn't (school-specific data on hot spots, which would need a quick survey or exit cards). Then: "Here's what the research says about the right amount of struggle."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Bjork's "desirable difficulties": conditions that slow performance during practice (spacing, interleaving, retrieval practice) often improve long-term retention and transfer. The catch is in the word desirable: the difficulty has to be one the learner can overcome. Vygotsky's zone of proximal development names the target, the space between what a student can do alone and what they can do with support. Ask: "Where in your course do students feel most confident and learn least?" (Often: rereading notes, copying examples.)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Rosenshine's Principles of Instruction drew on classroom observation studies of effective teachers. One principle: obtain a high success rate, around 80%, during guided and independent practice. That still leaves 20% that's hard, which is where Bjork's difficulties live. Ask: "In your last problem set, roughly what percent did most students get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Cognitive load: beginners have little room in working memory, and searching for a solution eats it up, leaving little for learning the method. Worked examples free that room. Renkl and Atkinson showed that fading steps from examples (backward fading works well) helps students take over. Note the word novices: as students gain skill, examples help less and practice helps more.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Kapur's productive failure is the main counterpoint to "always show examples first." It fits concept-heavy learning (why a formula works), with a problem students can make some progress on, followed by instruction that compares their attempts with the expert solution. It doesn't mean leaving students to flounder. Bridge: "So the research supports struggle, in the right dose, with support. The hard part is seeing in the moment which side of the line a student is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This one is from classroom practice rather than a single study. On the left, frustration is a sign of learning, and stepping in too soon takes the learning away. On the right, more effort won't help; the task or the support needs to change. Ask teachers to compare with their opening cards. A line to borrow: hard means keep going, stuck means change something.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A hard problem can trigger the body's threat response: racing heart, narrowed attention, the urge to escape. The student reads it as "I'm bad at this" and opts out. Relief follows, which reinforces avoidance, the same pattern that keeps anxiety going. Less practice makes the next problem genuinely harder. This is why the next three studies matter: they target the alarm and the meaning students give it. Rick's line for students: look where you want to go. Point their eyes at the next small step, not the whole wall.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Jamieson's reappraisal research: arousal isn't the problem; reading it as danger is. Students who were told arousal can improve performance did better. Be honest that participants were college students. In class this is one sentence, said before a test or a hard lab, never as a lecture.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"Wise feedback" changes what criticism means to a student: from "you think I can't" to "you think I can." The effect was largest for students who had reason to expect bias, which ties to the inclusion page. Pair-share: rewrite one comment you gave this week.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This keeps us honest. Mindset matters most when it's built into how a class runs (what gets praised, how mistakes are treated, whether revision is expected), not when it's a poster. Bridge: "So what does this look like on Monday?"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Sources: worked examples (Sweller, Renkl), reframing (Jamieson), wise feedback (Yeager). Time-boxing and the hint ladder come from classroom practice; they keep struggle while giving an exit ramp before shutdown, and they make help-seeking a normal step rather than a personal risk. Naming the hard part changes what confusion means. Ask each person to circle the move that fits their next unit.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One card per group, using the five moves and their opening cards. Maya: likely shutdown hidden as "fine." Offer a worked example with the first step done and a 5-minute check-back. Theo: name the hard part ("write-ups are where everyone stalls"), shrink the task to one section, check in privately later; if it happens a lot, loop in learning support or a counselor. Ana: she's in the stretch zone but doesn't trust it. Fade your help: "Which step do you trust? Do two more, then I'll check." Families: when calling home, a useful frame is "She's working on hard material, and here's the one thing that helps her stay in it," rather than "She gives 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Invite, don't assign: "Which move will you try?" The quick reference on this slide puts stretch vs. shutdown, the five moves and the key phrases on one page teachers can print or keep open. If the department wants a follow-up, collect anonymous notes on which moves worked.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Session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Stretch, Not Strain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Faculty professional development  ·  45 to 60 minutes (30-minute version below)  ·  Led by counseling and learning support  ·  Middle and Upper School, any subject</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Teachers leave knowing what the research says about productive struggle, able to tell a student who is stretching from one who is shutting down, and with two or three classroom moves to try the next week.</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a few per person</a:t>
            </a:r>
          </a:p>
          <a:p>
            <a:pPr algn="l">
              <a:spcAft>
                <a:spcPts val="675"/>
              </a:spcAft>
            </a:pPr>
            <a:r>
              <a:rPr sz="1500" b="0" i="0">
                <a:solidFill>
                  <a:srgbClr val="1C1B19"/>
                </a:solidFill>
                <a:latin typeface="Source Serif 4"/>
              </a:rPr>
              <a:t>Teachers bring one upcoming unit or problem set of their own</a:t>
            </a:r>
          </a:p>
          <a:p>
            <a:pPr algn="l">
              <a:spcAft>
                <a:spcPts val="675"/>
              </a:spcAft>
            </a:pPr>
            <a:r>
              <a:rPr sz="1500" b="0" i="0">
                <a:solidFill>
                  <a:srgbClr val="1C1B19"/>
                </a:solidFill>
                <a:latin typeface="Source Serif 4"/>
              </a:rPr>
              <a:t>The faculty quick reference (last slide): one page to print or keep open</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Opening: a student who shut down (private cards)</a:t>
            </a:r>
          </a:p>
          <a:p>
            <a:pPr algn="l">
              <a:spcAft>
                <a:spcPts val="630"/>
              </a:spcAft>
            </a:pPr>
            <a:r>
              <a:rPr sz="1300" b="1" i="0">
                <a:solidFill>
                  <a:srgbClr val="F47B20"/>
                </a:solidFill>
                <a:latin typeface="Inter Tight"/>
              </a:rPr>
              <a:t>5 min   </a:t>
            </a:r>
            <a:r>
              <a:rPr sz="1400" b="0" i="0">
                <a:solidFill>
                  <a:srgbClr val="1C1B19"/>
                </a:solidFill>
                <a:latin typeface="Source Serif 4"/>
              </a:rPr>
              <a:t>The question the department asked</a:t>
            </a:r>
          </a:p>
          <a:p>
            <a:pPr algn="l">
              <a:spcAft>
                <a:spcPts val="630"/>
              </a:spcAft>
            </a:pPr>
            <a:r>
              <a:rPr sz="1300" b="1" i="0">
                <a:solidFill>
                  <a:srgbClr val="F47B20"/>
                </a:solidFill>
                <a:latin typeface="Inter Tight"/>
              </a:rPr>
              <a:t>12 min   </a:t>
            </a:r>
            <a:r>
              <a:rPr sz="1400" b="0" i="0">
                <a:solidFill>
                  <a:srgbClr val="1C1B19"/>
                </a:solidFill>
                <a:latin typeface="Source Serif 4"/>
              </a:rPr>
              <a:t>The research on the right amount of struggle (4 studies)</a:t>
            </a:r>
          </a:p>
          <a:p>
            <a:pPr algn="l">
              <a:spcAft>
                <a:spcPts val="630"/>
              </a:spcAft>
            </a:pPr>
            <a:r>
              <a:rPr sz="1300" b="1" i="0">
                <a:solidFill>
                  <a:srgbClr val="F47B20"/>
                </a:solidFill>
                <a:latin typeface="Inter Tight"/>
              </a:rPr>
              <a:t>8 min   </a:t>
            </a:r>
            <a:r>
              <a:rPr sz="1400" b="0" i="0">
                <a:solidFill>
                  <a:srgbClr val="1C1B19"/>
                </a:solidFill>
                <a:latin typeface="Source Serif 4"/>
              </a:rPr>
              <a:t>Stretch or shutdown, and why students opt out</a:t>
            </a:r>
          </a:p>
          <a:p>
            <a:pPr algn="l">
              <a:spcAft>
                <a:spcPts val="630"/>
              </a:spcAft>
            </a:pPr>
            <a:r>
              <a:rPr sz="1300" b="1" i="0">
                <a:solidFill>
                  <a:srgbClr val="F47B20"/>
                </a:solidFill>
                <a:latin typeface="Inter Tight"/>
              </a:rPr>
              <a:t>8 min   </a:t>
            </a:r>
            <a:r>
              <a:rPr sz="1400" b="0" i="0">
                <a:solidFill>
                  <a:srgbClr val="1C1B19"/>
                </a:solidFill>
                <a:latin typeface="Source Serif 4"/>
              </a:rPr>
              <a:t>The research on getting them back in (3 studies)</a:t>
            </a:r>
          </a:p>
          <a:p>
            <a:pPr algn="l">
              <a:spcAft>
                <a:spcPts val="630"/>
              </a:spcAft>
            </a:pPr>
            <a:r>
              <a:rPr sz="1300" b="1" i="0">
                <a:solidFill>
                  <a:srgbClr val="F47B20"/>
                </a:solidFill>
                <a:latin typeface="Inter Tight"/>
              </a:rPr>
              <a:t>5 min   </a:t>
            </a:r>
            <a:r>
              <a:rPr sz="1400" b="0" i="0">
                <a:solidFill>
                  <a:srgbClr val="1C1B19"/>
                </a:solidFill>
                <a:latin typeface="Source Serif 4"/>
              </a:rPr>
              <a:t>Five moves for Monday</a:t>
            </a:r>
          </a:p>
          <a:p>
            <a:pPr algn="l">
              <a:spcAft>
                <a:spcPts val="630"/>
              </a:spcAft>
            </a:pPr>
            <a:r>
              <a:rPr sz="1300" b="1" i="0">
                <a:solidFill>
                  <a:srgbClr val="F47B20"/>
                </a:solidFill>
                <a:latin typeface="Inter Tight"/>
              </a:rPr>
              <a:t>8 min   </a:t>
            </a:r>
            <a:r>
              <a:rPr sz="1400" b="0" i="0">
                <a:solidFill>
                  <a:srgbClr val="1C1B19"/>
                </a:solidFill>
                <a:latin typeface="Source Serif 4"/>
              </a:rPr>
              <a:t>Three students (small groups)</a:t>
            </a:r>
          </a:p>
          <a:p>
            <a:pPr algn="l">
              <a:spcAft>
                <a:spcPts val="630"/>
              </a:spcAft>
            </a:pPr>
            <a:r>
              <a:rPr sz="1300" b="1" i="0">
                <a:solidFill>
                  <a:srgbClr val="F47B20"/>
                </a:solidFill>
                <a:latin typeface="Inter Tight"/>
              </a:rPr>
              <a:t>4 min   </a:t>
            </a:r>
            <a:r>
              <a:rPr sz="1400" b="0" i="0">
                <a:solidFill>
                  <a:srgbClr val="1C1B19"/>
                </a:solidFill>
                <a:latin typeface="Source Serif 4"/>
              </a:rPr>
              <a:t>One move this week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Thirty minutes: the question (3), the 80% finding and worked examples (6), stretch or shutdown (5), wise feedback and reappraisal (6), five moves (5), one move this week (5). Share the faculty quick reference afterward.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present</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present</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Two presenters, one voice.</a:t>
            </a:r>
          </a:p>
          <a:p>
            <a:pPr algn="l">
              <a:spcAft>
                <a:spcPts val="585"/>
              </a:spcAft>
            </a:pPr>
            <a:r>
              <a:rPr sz="1300" b="0" i="0">
                <a:solidFill>
                  <a:srgbClr val="1C1B19"/>
                </a:solidFill>
                <a:latin typeface="Source Serif 4"/>
              </a:rPr>
              <a:t>A natural split: the counselor or psychologist presents the stress and motivation research (the shutdown loop, reappraisal, wise feedback, mindset), and learning support presents the instructional research (desirable difficulties, the 80% finding, worked examples, productive failure). Each of you can take one of the student scenarios in the debrief.</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Nobody here is doing it wrong.</a:t>
            </a:r>
          </a:p>
          <a:p>
            <a:pPr algn="l">
              <a:spcAft>
                <a:spcPts val="585"/>
              </a:spcAft>
            </a:pPr>
            <a:r>
              <a:rPr sz="1300" b="0" i="0">
                <a:solidFill>
                  <a:srgbClr val="1C1B19"/>
                </a:solidFill>
                <a:latin typeface="Source Serif 4"/>
              </a:rPr>
              <a:t>Teachers asked for this because they care. Keep it practical and avoid any hint that student struggle is the teacher's fault. Most people in the room have watched a student shut down and felt stuck too.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Name the teacher's discomfort.</a:t>
            </a:r>
          </a:p>
          <a:p>
            <a:pPr algn="l">
              <a:spcAft>
                <a:spcPts val="585"/>
              </a:spcAft>
            </a:pPr>
            <a:r>
              <a:rPr sz="1300" b="0" i="0">
                <a:solidFill>
                  <a:srgbClr val="1C1B19"/>
                </a:solidFill>
                <a:latin typeface="Source Serif 4"/>
              </a:rPr>
              <a:t>Watching a student struggle is hard, and rescuing is a kind instinct. Part of this talk is helping adults sit with a student's discomfort a little longer, the same skill we're asking of students.</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Shutdown and crisis are different.</a:t>
            </a:r>
          </a:p>
          <a:p>
            <a:pPr algn="l">
              <a:spcAft>
                <a:spcPts val="585"/>
              </a:spcAft>
            </a:pPr>
            <a:r>
              <a:rPr sz="1300" b="0" i="0">
                <a:solidFill>
                  <a:srgbClr val="1C1B19"/>
                </a:solidFill>
                <a:latin typeface="Source Serif 4"/>
              </a:rPr>
              <a:t>This talk is about everyday academic struggle. A student who seems hopeless, panicked most days, or unsafe needs a counselor the same day. Teachers don't screen or diagnose; they notice and walk the student over.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Be honest about the evidence.</a:t>
            </a:r>
          </a:p>
          <a:p>
            <a:pPr algn="l">
              <a:spcAft>
                <a:spcPts val="585"/>
              </a:spcAft>
            </a:pPr>
            <a:r>
              <a:rPr sz="1300" b="0" i="0">
                <a:solidFill>
                  <a:srgbClr val="1C1B19"/>
                </a:solidFill>
                <a:latin typeface="Source Serif 4"/>
              </a:rPr>
              <a:t>Several studies used college students or adults, and some effects are modest. Teachers trust a presenter who says so. Where a move comes from classroom practice rather than a study (the hint ladder, time-boxing), say that too.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Learning plans are scaffolds.</a:t>
            </a:r>
          </a:p>
          <a:p>
            <a:pPr algn="l">
              <a:spcAft>
                <a:spcPts val="585"/>
              </a:spcAft>
            </a:pPr>
            <a:r>
              <a:rPr sz="1300" b="0" i="0">
                <a:solidFill>
                  <a:srgbClr val="1C1B19"/>
                </a:solidFill>
                <a:latin typeface="Source Serif 4"/>
              </a:rPr>
              <a:t>Extended time, notes, or a quiet space under a learning plan keep a student in the stretch zone. Frame them that way, never as a shortcut. Middle School students usually need the moves more visible (a printed hint ladder, a timer on the board).</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Language learners.</a:t>
            </a:r>
          </a:p>
          <a:p>
            <a:pPr algn="l">
              <a:spcAft>
                <a:spcPts val="585"/>
              </a:spcAft>
            </a:pPr>
            <a:r>
              <a:rPr sz="1300" b="0" i="0">
                <a:solidFill>
                  <a:srgbClr val="1C1B19"/>
                </a:solidFill>
                <a:latin typeface="Source Serif 4"/>
              </a:rPr>
              <a:t>A student learning English may be stuck on the words, not the science. Glossaries, sentence starters, and worked examples in plain language lower the language load so the real challenge is the content.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Learning differences and ADHD.</a:t>
            </a:r>
          </a:p>
          <a:p>
            <a:pPr algn="l">
              <a:spcAft>
                <a:spcPts val="585"/>
              </a:spcAft>
            </a:pPr>
            <a:r>
              <a:rPr sz="1300" b="0" i="0">
                <a:solidFill>
                  <a:srgbClr val="1C1B19"/>
                </a:solidFill>
                <a:latin typeface="Source Serif 4"/>
              </a:rPr>
              <a:t>Working memory limits mean some students need worked examples longer and fade more slowly. That's a pacing choice, not a lower bar.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Students who expect to be judged.</a:t>
            </a:r>
          </a:p>
          <a:p>
            <a:pPr algn="l">
              <a:spcAft>
                <a:spcPts val="585"/>
              </a:spcAft>
            </a:pPr>
            <a:r>
              <a:rPr sz="1300" b="0" i="0">
                <a:solidFill>
                  <a:srgbClr val="1C1B19"/>
                </a:solidFill>
                <a:latin typeface="Source Serif 4"/>
              </a:rPr>
              <a:t>Students from groups stereotyped as weaker in a subject (for example girls in physics, or Black and Latino students in advanced classes) may read struggle as proof the stereotype is right. Wise feedback was tested with exactly these students.</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Who has help at home.</a:t>
            </a:r>
          </a:p>
          <a:p>
            <a:pPr algn="l">
              <a:spcAft>
                <a:spcPts val="585"/>
              </a:spcAft>
            </a:pPr>
            <a:r>
              <a:rPr sz="1300" b="0" i="0">
                <a:solidFill>
                  <a:srgbClr val="1C1B19"/>
                </a:solidFill>
                <a:latin typeface="Source Serif 4"/>
              </a:rPr>
              <a:t>Some students go home to a parent who can explain chemistry or pay a tutor. Others go home to younger siblings to watch. Scaffolds that live in class (hint cards, worked examples) even that out.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Asking for help varies.</a:t>
            </a:r>
          </a:p>
          <a:p>
            <a:pPr algn="l">
              <a:spcAft>
                <a:spcPts val="585"/>
              </a:spcAft>
            </a:pPr>
            <a:r>
              <a:rPr sz="1300" b="0" i="0">
                <a:solidFill>
                  <a:srgbClr val="1C1B19"/>
                </a:solidFill>
                <a:latin typeface="Source Serif 4"/>
              </a:rPr>
              <a:t>In some families and cultures, asking a teacher a question can feel disrespectful, or admitting confusion feels shameful. Make help-seeking a normal, built-in step rather than a personal risk.</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 fasting, and home stress.</a:t>
            </a:r>
          </a:p>
          <a:p>
            <a:pPr algn="l">
              <a:spcAft>
                <a:spcPts val="585"/>
              </a:spcAft>
            </a:pPr>
            <a:r>
              <a:rPr sz="1300" b="0" i="0">
                <a:solidFill>
                  <a:srgbClr val="1C1B19"/>
                </a:solidFill>
                <a:latin typeface="Source Serif 4"/>
              </a:rPr>
              <a:t>A student who is fasting, grieving, or dealing with something at home has less to give that day. A dip in effort is worth a quiet check-in before it's treated as attitude.</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Learning conditions that make practice harder in the short term, like spacing, mixing problem types, and testing yourself, often produce better long-term learning. How well students perform during practice is a poor guide to how much they're learning.</a:t>
            </a:r>
          </a:p>
          <a:p>
            <a:pPr algn="l">
              <a:spcAft>
                <a:spcPts val="585"/>
              </a:spcAft>
            </a:pPr>
            <a:r>
              <a:rPr sz="1050" b="0" i="0">
                <a:solidFill>
                  <a:srgbClr val="5D5A54"/>
                </a:solidFill>
                <a:latin typeface="Inter Tight"/>
              </a:rPr>
              <a:t>Bjork &amp; Bjork, 2011, Psychology and the Real World</a:t>
            </a:r>
          </a:p>
          <a:p>
            <a:pPr algn="l">
              <a:spcAft>
                <a:spcPts val="585"/>
              </a:spcAft>
            </a:pPr>
            <a:r>
              <a:rPr sz="1300" b="0" i="0">
                <a:solidFill>
                  <a:srgbClr val="1C1B19"/>
                </a:solidFill>
                <a:latin typeface="Source Serif 4"/>
              </a:rPr>
              <a:t>Vygotsky described the zone of proximal development: the gap between what a learner can do alone and what they can do with guidance. Teaching aimed there moves development forward.</a:t>
            </a:r>
          </a:p>
          <a:p>
            <a:pPr algn="l">
              <a:spcAft>
                <a:spcPts val="585"/>
              </a:spcAft>
            </a:pPr>
            <a:r>
              <a:rPr sz="1050" b="0" i="0">
                <a:solidFill>
                  <a:srgbClr val="5D5A54"/>
                </a:solidFill>
                <a:latin typeface="Inter Tight"/>
              </a:rPr>
              <a:t>Vygotsky, 1978, Mind in Society</a:t>
            </a:r>
          </a:p>
          <a:p>
            <a:pPr algn="l">
              <a:spcAft>
                <a:spcPts val="585"/>
              </a:spcAft>
            </a:pPr>
            <a:r>
              <a:rPr sz="1300" b="0" i="0">
                <a:solidFill>
                  <a:srgbClr val="1C1B19"/>
                </a:solidFill>
                <a:latin typeface="Source Serif 4"/>
              </a:rPr>
              <a:t>Rosenshine's review of research on effective teachers found the most successful teachers kept students at a high success rate during practice, around 80%.</a:t>
            </a:r>
          </a:p>
          <a:p>
            <a:pPr algn="l">
              <a:spcAft>
                <a:spcPts val="585"/>
              </a:spcAft>
            </a:pPr>
            <a:r>
              <a:rPr sz="1050" b="0" i="0">
                <a:solidFill>
                  <a:srgbClr val="5D5A54"/>
                </a:solidFill>
                <a:latin typeface="Inter Tight"/>
              </a:rPr>
              <a:t>Rosenshine, 2012, American Educator</a:t>
            </a:r>
          </a:p>
          <a:p>
            <a:pPr algn="l">
              <a:spcAft>
                <a:spcPts val="585"/>
              </a:spcAft>
            </a:pPr>
            <a:r>
              <a:rPr sz="1300" b="0" i="0">
                <a:solidFill>
                  <a:srgbClr val="1C1B19"/>
                </a:solidFill>
                <a:latin typeface="Source Serif 4"/>
              </a:rPr>
              <a:t>Algebra students who studied worked examples learned faster and solved similar problems better than students who solved the same problems on their own.</a:t>
            </a:r>
          </a:p>
          <a:p>
            <a:pPr algn="l">
              <a:spcAft>
                <a:spcPts val="585"/>
              </a:spcAft>
            </a:pPr>
            <a:r>
              <a:rPr sz="1050" b="0" i="0">
                <a:solidFill>
                  <a:srgbClr val="5D5A54"/>
                </a:solidFill>
                <a:latin typeface="Inter Tight"/>
              </a:rPr>
              <a:t>Sweller &amp; Cooper, 1985, Cognition and Instruction</a:t>
            </a:r>
          </a:p>
          <a:p>
            <a:pPr algn="l">
              <a:spcAft>
                <a:spcPts val="585"/>
              </a:spcAft>
            </a:pPr>
            <a:r>
              <a:rPr sz="1300" b="0" i="0">
                <a:solidFill>
                  <a:srgbClr val="1C1B19"/>
                </a:solidFill>
                <a:latin typeface="Source Serif 4"/>
              </a:rPr>
              <a:t>Gradually removing steps from worked examples (fading) helps students move from studying examples to solving problems on their own.</a:t>
            </a:r>
          </a:p>
          <a:p>
            <a:pPr algn="l">
              <a:spcAft>
                <a:spcPts val="585"/>
              </a:spcAft>
            </a:pPr>
            <a:r>
              <a:rPr sz="1050" b="0" i="0">
                <a:solidFill>
                  <a:srgbClr val="5D5A54"/>
                </a:solidFill>
                <a:latin typeface="Inter Tight"/>
              </a:rPr>
              <a:t>Renkl &amp; Atkinson, 2003, Educational Psychologist</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Students who first tried to solve a new kind of problem, then got instruction, often showed deeper understanding and transfer than students taught first. It works when the struggle is designed and followed by teaching that builds on the students' attempts.</a:t>
            </a:r>
          </a:p>
          <a:p>
            <a:pPr algn="l">
              <a:spcAft>
                <a:spcPts val="585"/>
              </a:spcAft>
            </a:pPr>
            <a:r>
              <a:rPr sz="1050" b="0" i="0">
                <a:solidFill>
                  <a:srgbClr val="5D5A54"/>
                </a:solidFill>
                <a:latin typeface="Inter Tight"/>
              </a:rPr>
              <a:t>Kapur, 2016, Educational Psychologist</a:t>
            </a:r>
          </a:p>
          <a:p>
            <a:pPr algn="l">
              <a:spcAft>
                <a:spcPts val="585"/>
              </a:spcAft>
            </a:pPr>
            <a:r>
              <a:rPr sz="1300" b="0" i="0">
                <a:solidFill>
                  <a:srgbClr val="1C1B19"/>
                </a:solidFill>
                <a:latin typeface="Source Serif 4"/>
              </a:rPr>
              <a:t>Students told that a racing heart before a test is the body preparing to perform scored higher on GRE math practice and on the real exam months later.</a:t>
            </a:r>
          </a:p>
          <a:p>
            <a:pPr algn="l">
              <a:spcAft>
                <a:spcPts val="585"/>
              </a:spcAft>
            </a:pPr>
            <a:r>
              <a:rPr sz="1050" b="0" i="0">
                <a:solidFill>
                  <a:srgbClr val="5D5A54"/>
                </a:solidFill>
                <a:latin typeface="Inter Tight"/>
              </a:rPr>
              <a:t>Jamieson et al., 2010, Journal of Experimental Social Psychology</a:t>
            </a:r>
          </a:p>
          <a:p>
            <a:pPr algn="l">
              <a:spcAft>
                <a:spcPts val="585"/>
              </a:spcAft>
            </a:pPr>
            <a:r>
              <a:rPr sz="1300" b="0" i="0">
                <a:solidFill>
                  <a:srgbClr val="1C1B19"/>
                </a:solidFill>
                <a:latin typeface="Source Serif 4"/>
              </a:rPr>
              <a:t>Critical feedback paired with a note about high standards and the teacher's belief that the student could meet them made 7th graders more likely to revise their essays, with the largest effect for Black students who had lower trust in school.</a:t>
            </a:r>
          </a:p>
          <a:p>
            <a:pPr algn="l">
              <a:spcAft>
                <a:spcPts val="585"/>
              </a:spcAft>
            </a:pPr>
            <a:r>
              <a:rPr sz="1050" b="0" i="0">
                <a:solidFill>
                  <a:srgbClr val="5D5A54"/>
                </a:solidFill>
                <a:latin typeface="Inter Tight"/>
              </a:rPr>
              <a:t>Yeager et al., 2014, Journal of Experimental Psychology: General</a:t>
            </a:r>
          </a:p>
          <a:p>
            <a:pPr algn="l">
              <a:spcAft>
                <a:spcPts val="585"/>
              </a:spcAft>
            </a:pPr>
            <a:r>
              <a:rPr sz="1300" b="0" i="0">
                <a:solidFill>
                  <a:srgbClr val="1C1B19"/>
                </a:solidFill>
                <a:latin typeface="Source Serif 4"/>
              </a:rPr>
              <a:t>Across two meta-analyses, growth-mindset interventions on their own had small average effects on achievement, with larger effects for students at risk or from lower-income families.</a:t>
            </a:r>
          </a:p>
          <a:p>
            <a:pPr algn="l">
              <a:spcAft>
                <a:spcPts val="585"/>
              </a:spcAft>
            </a:pPr>
            <a:r>
              <a:rPr sz="1050" b="0" i="0">
                <a:solidFill>
                  <a:srgbClr val="5D5A54"/>
                </a:solidFill>
                <a:latin typeface="Inter Tight"/>
              </a:rPr>
              <a:t>Sisk et al., 2018, Psychological Science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STRETCH, NOT STRAIN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Stretch, Not Strain</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What the research says about productive struggle, and what to try on Monday.</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 Faculty professional development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TO START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Think of a student who shut down this month. What did it look like just before?</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One card, no names. Keep it; we'll come back to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 QUESTION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How do we push just enough for growth without shutdown?</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The research gives a fairly clear answer, with a few honest caveats.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Bjork &amp; Bjork, 2011  ·  Vygotsky, 1978</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Some difficulty helps learning stick.</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Spacing, mixing problem types, and quizzing feel harder and work better than rereading.</a:t>
            </a:r>
          </a:p>
          <a:p>
            <a:pPr algn="l">
              <a:spcAft>
                <a:spcPts val="855"/>
              </a:spcAft>
            </a:pPr>
            <a:r>
              <a:rPr sz="1900" b="0" i="0">
                <a:solidFill>
                  <a:srgbClr val="1C1B19"/>
                </a:solidFill>
                <a:latin typeface="Source Serif 4"/>
              </a:rPr>
              <a:t>•  How well students do during practice is a poor guide to how much they're learning.</a:t>
            </a:r>
          </a:p>
          <a:p>
            <a:pPr algn="l">
              <a:spcAft>
                <a:spcPts val="855"/>
              </a:spcAft>
            </a:pPr>
            <a:r>
              <a:rPr sz="1900" b="0" i="0">
                <a:solidFill>
                  <a:srgbClr val="1C1B19"/>
                </a:solidFill>
                <a:latin typeface="Source Serif 4"/>
              </a:rPr>
              <a:t>•  Vygotsky: aim at what students can do with help, not yet alone.</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If practice feels easy, it may not be sticking. Some struggle is the point.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Rosenshine, 2012, American Educator</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Strong teachers keep practice success near 80%.</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Rosenshine reviewed classroom research on effective teachers.</a:t>
            </a:r>
          </a:p>
          <a:p>
            <a:pPr algn="l">
              <a:spcAft>
                <a:spcPts val="855"/>
              </a:spcAft>
            </a:pPr>
            <a:r>
              <a:rPr sz="1900" b="0" i="0">
                <a:solidFill>
                  <a:srgbClr val="1C1B19"/>
                </a:solidFill>
                <a:latin typeface="Source Serif 4"/>
              </a:rPr>
              <a:t>•  The most effective kept students succeeding most of the time during practice.</a:t>
            </a:r>
          </a:p>
          <a:p>
            <a:pPr algn="l">
              <a:spcAft>
                <a:spcPts val="855"/>
              </a:spcAft>
            </a:pPr>
            <a:r>
              <a:rPr sz="1900" b="0" i="0">
                <a:solidFill>
                  <a:srgbClr val="1C1B19"/>
                </a:solidFill>
                <a:latin typeface="Source Serif 4"/>
              </a:rPr>
              <a:t>•  Too much failure during practice builds errors and avoidance.</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If most students get far below 80% on their own, add a scaffold before adding a pep talk.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Sweller &amp; Cooper, 1985  ·  Renkl &amp; Atkinson, 2003</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Novices learn more from solved examples, then fading.</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Algebra students who studied worked examples learned faster than those who solved problems cold.</a:t>
            </a:r>
          </a:p>
          <a:p>
            <a:pPr algn="l">
              <a:spcAft>
                <a:spcPts val="855"/>
              </a:spcAft>
            </a:pPr>
            <a:r>
              <a:rPr sz="1900" b="0" i="0">
                <a:solidFill>
                  <a:srgbClr val="1C1B19"/>
                </a:solidFill>
                <a:latin typeface="Source Serif 4"/>
              </a:rPr>
              <a:t>•  Solving cold overloads working memory for beginners.</a:t>
            </a:r>
          </a:p>
          <a:p>
            <a:pPr algn="l">
              <a:spcAft>
                <a:spcPts val="855"/>
              </a:spcAft>
            </a:pPr>
            <a:r>
              <a:rPr sz="1900" b="0" i="0">
                <a:solidFill>
                  <a:srgbClr val="1C1B19"/>
                </a:solidFill>
                <a:latin typeface="Source Serif 4"/>
              </a:rPr>
              <a:t>•  Removing steps one at a time builds independence.</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Show a solved problem, then a half-solved one, then let them solve alone.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Kapur, 2016, Educational Psychologist</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Struggling first can help, when it's designed.</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Students who tried a new problem before instruction often understood it more deeply.</a:t>
            </a:r>
          </a:p>
          <a:p>
            <a:pPr algn="l">
              <a:spcAft>
                <a:spcPts val="855"/>
              </a:spcAft>
            </a:pPr>
            <a:r>
              <a:rPr sz="1900" b="0" i="0">
                <a:solidFill>
                  <a:srgbClr val="1C1B19"/>
                </a:solidFill>
                <a:latin typeface="Source Serif 4"/>
              </a:rPr>
              <a:t>•  It worked when teaching afterward built on their attempts.</a:t>
            </a:r>
          </a:p>
          <a:p>
            <a:pPr algn="l">
              <a:spcAft>
                <a:spcPts val="855"/>
              </a:spcAft>
            </a:pPr>
            <a:r>
              <a:rPr sz="1900" b="0" i="0">
                <a:solidFill>
                  <a:srgbClr val="1C1B19"/>
                </a:solidFill>
                <a:latin typeface="Source Serif 4"/>
              </a:rPr>
              <a:t>•  Struggle with no follow-up taught little.</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Productive failure is planned: a doable problem, then teaching that uses what they tried.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READING THE LINE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Stretch or shutdown?</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STRETCH (KEEP GOING)</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Still trying new attempts</a:t>
            </a:r>
          </a:p>
          <a:p>
            <a:pPr algn="l">
              <a:spcAft>
                <a:spcPts val="855"/>
              </a:spcAft>
            </a:pPr>
            <a:r>
              <a:rPr sz="1900" b="0" i="0">
                <a:solidFill>
                  <a:srgbClr val="1C1B19"/>
                </a:solidFill>
                <a:latin typeface="Source Serif 4"/>
              </a:rPr>
              <a:t>Asks narrower questions</a:t>
            </a:r>
          </a:p>
          <a:p>
            <a:pPr algn="l">
              <a:spcAft>
                <a:spcPts val="855"/>
              </a:spcAft>
            </a:pPr>
            <a:r>
              <a:rPr sz="1900" b="0" i="0">
                <a:solidFill>
                  <a:srgbClr val="1C1B19"/>
                </a:solidFill>
                <a:latin typeface="Source Serif 4"/>
              </a:rPr>
              <a:t>Erases and retries</a:t>
            </a:r>
          </a:p>
          <a:p>
            <a:pPr algn="l">
              <a:spcAft>
                <a:spcPts val="855"/>
              </a:spcAft>
            </a:pPr>
            <a:r>
              <a:rPr sz="1900" b="0" i="0">
                <a:solidFill>
                  <a:srgbClr val="1C1B19"/>
                </a:solidFill>
                <a:latin typeface="Source Serif 4"/>
              </a:rPr>
              <a:t>Frustrated but still in it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SHUTDOWN (CHANGE SOMETHING)</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Nothing on the page</a:t>
            </a:r>
          </a:p>
          <a:p>
            <a:pPr algn="l">
              <a:spcAft>
                <a:spcPts val="855"/>
              </a:spcAft>
            </a:pPr>
            <a:r>
              <a:rPr sz="1900" b="0" i="0">
                <a:solidFill>
                  <a:srgbClr val="1C1B19"/>
                </a:solidFill>
                <a:latin typeface="Source Serif 4"/>
              </a:rPr>
              <a:t>"I don't get any of this"</a:t>
            </a:r>
          </a:p>
          <a:p>
            <a:pPr algn="l">
              <a:spcAft>
                <a:spcPts val="855"/>
              </a:spcAft>
            </a:pPr>
            <a:r>
              <a:rPr sz="1900" b="0" i="0">
                <a:solidFill>
                  <a:srgbClr val="1C1B19"/>
                </a:solidFill>
                <a:latin typeface="Source Serif 4"/>
              </a:rPr>
              <a:t>Phone out, bathroom, jokes</a:t>
            </a:r>
          </a:p>
          <a:p>
            <a:pPr algn="l">
              <a:spcAft>
                <a:spcPts val="855"/>
              </a:spcAft>
            </a:pPr>
            <a:r>
              <a:rPr sz="1900" b="0" i="0">
                <a:solidFill>
                  <a:srgbClr val="1C1B19"/>
                </a:solidFill>
                <a:latin typeface="Source Serif 4"/>
              </a:rPr>
              <a:t>Tears, anger, or blank stare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THEY OPT OUT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shutdown loop</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Hard task</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Alarm</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"I can't"</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Opt out</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Less practice</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next hard task feels harder</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Opting out brings relief right away, so the brain learns to do it again.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Jamieson et al., 2010, Journal of Experimental Social Psychology</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Calling the racing heart fuel improved scores.</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Students were told stress arousal before a test can help performance.</a:t>
            </a:r>
          </a:p>
          <a:p>
            <a:pPr algn="l">
              <a:spcAft>
                <a:spcPts val="855"/>
              </a:spcAft>
            </a:pPr>
            <a:r>
              <a:rPr sz="1900" b="0" i="0">
                <a:solidFill>
                  <a:srgbClr val="1C1B19"/>
                </a:solidFill>
                <a:latin typeface="Source Serif 4"/>
              </a:rPr>
              <a:t>•  They scored higher on GRE math practice, and on the real GRE months later.</a:t>
            </a:r>
          </a:p>
          <a:p>
            <a:pPr algn="l">
              <a:spcAft>
                <a:spcPts val="855"/>
              </a:spcAft>
            </a:pPr>
            <a:r>
              <a:rPr sz="1900" b="0" i="0">
                <a:solidFill>
                  <a:srgbClr val="1C1B19"/>
                </a:solidFill>
                <a:latin typeface="Source Serif 4"/>
              </a:rPr>
              <a:t>•  The study used college students; the idea is simple enough for any grade.</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"That racing heart is your body gearing up to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Yeager et al., 2014, Journal of Experimental Psychology: General</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Feedback with high standards and belief got revisions.</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7th graders got critical essay feedback with a short teacher note.</a:t>
            </a:r>
          </a:p>
          <a:p>
            <a:pPr algn="l">
              <a:spcAft>
                <a:spcPts val="855"/>
              </a:spcAft>
            </a:pPr>
            <a:r>
              <a:rPr sz="1900" b="0" i="0">
                <a:solidFill>
                  <a:srgbClr val="1C1B19"/>
                </a:solidFill>
                <a:latin typeface="Source Serif 4"/>
              </a:rPr>
              <a:t>•  The note: high standards, and "I know you can reach them."</a:t>
            </a:r>
          </a:p>
          <a:p>
            <a:pPr algn="l">
              <a:spcAft>
                <a:spcPts val="855"/>
              </a:spcAft>
            </a:pPr>
            <a:r>
              <a:rPr sz="1900" b="0" i="0">
                <a:solidFill>
                  <a:srgbClr val="1C1B19"/>
                </a:solidFill>
                <a:latin typeface="Source Serif 4"/>
              </a:rPr>
              <a:t>•  More revised, especially Black students with lower trust in school.</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"I'm giving you these comments because I know you can reach a high standard."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Sisk et al., 2018, Psychological Science</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Mindset messages alone do little.</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Two meta-analyses found small average effects of growth-mindset programs.</a:t>
            </a:r>
          </a:p>
          <a:p>
            <a:pPr algn="l">
              <a:spcAft>
                <a:spcPts val="855"/>
              </a:spcAft>
            </a:pPr>
            <a:r>
              <a:rPr sz="1900" b="0" i="0">
                <a:solidFill>
                  <a:srgbClr val="1C1B19"/>
                </a:solidFill>
                <a:latin typeface="Source Serif 4"/>
              </a:rPr>
              <a:t>•  Effects were larger for students at risk or from lower-income families.</a:t>
            </a:r>
          </a:p>
          <a:p>
            <a:pPr algn="l">
              <a:spcAft>
                <a:spcPts val="855"/>
              </a:spcAft>
            </a:pPr>
            <a:r>
              <a:rPr sz="1900" b="0" i="0">
                <a:solidFill>
                  <a:srgbClr val="1C1B19"/>
                </a:solidFill>
                <a:latin typeface="Source Serif 4"/>
              </a:rPr>
              <a:t>•  Posters and slogans are the weakest form.</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Build the message into the moves: worked examples, feedback, and naming the hard part.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FOR MONDAY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Five moves that keep the struggle</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Worked example, then fade it.</a:t>
            </a:r>
          </a:p>
          <a:p>
            <a:pPr algn="l">
              <a:spcAft>
                <a:spcPts val="945"/>
              </a:spcAft>
            </a:pPr>
            <a:r>
              <a:rPr sz="1600" b="0" i="0">
                <a:solidFill>
                  <a:srgbClr val="5D5A54"/>
                </a:solidFill>
                <a:latin typeface="Source Serif 4"/>
              </a:rPr>
              <a:t>Solved, then half-solved, then on their own.</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Time-box the struggle.</a:t>
            </a:r>
          </a:p>
          <a:p>
            <a:pPr algn="l">
              <a:spcAft>
                <a:spcPts val="945"/>
              </a:spcAft>
            </a:pPr>
            <a:r>
              <a:rPr sz="1600" b="0" i="0">
                <a:solidFill>
                  <a:srgbClr val="5D5A54"/>
                </a:solidFill>
                <a:latin typeface="Source Serif 4"/>
              </a:rPr>
              <a:t>"Try it for 5 minutes, then use a hint."</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Post a hint ladder.</a:t>
            </a:r>
          </a:p>
          <a:p>
            <a:pPr algn="l">
              <a:spcAft>
                <a:spcPts val="945"/>
              </a:spcAft>
            </a:pPr>
            <a:r>
              <a:rPr sz="1600" b="0" i="0">
                <a:solidFill>
                  <a:srgbClr val="5D5A54"/>
                </a:solidFill>
                <a:latin typeface="Source Serif 4"/>
              </a:rPr>
              <a:t>Re-read, find an example, ask a peer, then ask me.</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Name the hard part.</a:t>
            </a:r>
          </a:p>
          <a:p>
            <a:pPr algn="l">
              <a:spcAft>
                <a:spcPts val="945"/>
              </a:spcAft>
            </a:pPr>
            <a:r>
              <a:rPr sz="1600" b="0" i="0">
                <a:solidFill>
                  <a:srgbClr val="5D5A54"/>
                </a:solidFill>
                <a:latin typeface="Source Serif 4"/>
              </a:rPr>
              <a:t>"This is where most people get stuck."</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Reframe and give wise feedback.</a:t>
            </a:r>
          </a:p>
          <a:p>
            <a:pPr algn="l">
              <a:spcAft>
                <a:spcPts val="945"/>
              </a:spcAft>
            </a:pPr>
            <a:r>
              <a:rPr sz="1600" b="0" i="0">
                <a:solidFill>
                  <a:srgbClr val="5D5A54"/>
                </a:solidFill>
                <a:latin typeface="Source Serif 4"/>
              </a:rPr>
              <a:t>"Your body's gearing up." "I know you can."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try first?</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MAYA, 9TH GRADE CHEMISTRY</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Ten minutes into a stoichiometry set, her page is blank. When you walk by she says, "I'm fine."</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THEO, 7TH GRADE SCIENCE</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Halfway through the lab write-up he says, "I'm just not a science person," and asks for the nurse.</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ANA, 10TH GRADE PHYSICS</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Raises her hand after every step to ask, "Is this right?" She's usually right.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move this week</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Pick one to try with one class. We'll swap notes next time.</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FACULTY QUICK REFERENCE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https://rmwtoolkit.github.io/bcds-toolkit/stretch-not-strain-faculty-card.html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