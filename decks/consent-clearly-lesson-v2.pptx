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is hidden and skipped when you present. The full plan, care notes and research are on the hidden pages at the end of the deck, if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Set the room before anything else: "This topic is personal for some people. Nobody will be asked about their own life. If you need to step out, you can, no explanation needed. And one thing I'll say more than once: if something happened to you, it was not your fault." Hand out index cards for questions anyone can write during class.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MINUTES. Write the four on the board; they stay up all period. Capacity: whatever was said earlier doesn't count if someone can't follow what's happening. Freely given: a yes after the fifth ask, a guilt trip, a threat to break up, or pressure from someone with power (older, more popular, holding your photos) isn't free. Specific: yes last weekend isn't yes tonight; a photo sent to one person isn't permission to show anyone. Ongoing: being a partner never means automatic yes. Ask: "Which check do you think gets skipped most?"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MINUTES. Freezing, called tonic immobility, is a reflex, not a choice. The study included only women, but the reflex is human. In the speed-dating study, men on average overestimated women's interest and women underestimated men's; if adults misread three minutes of conversation, guessing in a dark room goes worse. Then the national number: in 2021, 14% of high school girls said they'd been forced to have sex, and boys and nonbinary students are assaulted too. Speak slowly here. Someone in the room may be hearing their own story.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MINUTES. Read each myth and ask the room to say what's wrong with it before you show the answer. Keep it brisk. If a student defends a myth, answer with the research rather than the student's character.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MINUTES. One card per group; each group names which check fails. Dev and Aaliyah: stop and ask, "Hey, you okay? We can stop." Going still can be freezing. Jules: not consent; Jules is too drunk to decide (capacity). Mateo: delete it and don't show anyone. A yes to sending isn't a yes to keeping or sharing (specific, ongoing). If groups finish early, add Kenji, an 18-year-old senior, and Ana, a 15-year-old sophomore who both want to have sex: not okay, since she can't legally consent in Massachusetts, with no close-in-age exception.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Pair-share: each partner says one check-in line out loud in their own words. It feels awkward, and that's the point; it gets smoother with practice. Then the other half: saying no your way. "I don't want to." "Not tonight." "Stop." No reason required. If words won't come, an exit works: "I need the bathroom," or a code text to a friend. Myth to address: asking kills the mood. Pressure kills the mood.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MINUTES. Quick whole-class discussion. Share the research first: across 26 Kentucky high schools, schools that trained students to step in had less sexual violence in the years after. Maya: distract ("Maya, come to the bathroom with me," then stay with her) or delegate (her friends, the host, a trusted adult). Group chat: don't forward it, say "delete that," report it, tell an adult. Since 2024 sharing it is a crime in Massachusetts, and Take It Down can help remove images of people under 18. A friend's story: listen, believe them, say it's not their fault, and let them decide what to call it. Offer to walk with them to a counselor.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every card, including blanks, so nobody stands out. Answer a few now and the rest next time. Close with the help line: if something happened, it's not your fault; RAINN is free and confidential 24/7 at 1-800-656-4673; medical care helps even without a report; a counselor can help, and students can ask up front what they'd have to share. Share the take-home link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want more: this page and the next three are hidden and skipped when you present.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start</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Consent, Clearly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2011680"/>
            <a:ext cx="11064240" cy="4206240"/>
          </a:xfrm>
          <a:prstGeom prst="rect">
            <a:avLst/>
          </a:prstGeom>
          <a:noFill/>
        </p:spPr>
        <p:txBody>
          <a:bodyPr wrap="square" anchor="t" lIns="0" rIns="0" tIns="0" bIns="0">
            <a:spAutoFit/>
          </a:bodyPr>
          <a:lstStyle/>
          <a:p>
            <a:pPr algn="l">
              <a:spcAft>
                <a:spcPts val="810"/>
              </a:spcAft>
            </a:pPr>
            <a:r>
              <a:rPr sz="1200" b="1" i="0">
                <a:solidFill>
                  <a:srgbClr val="0B2D5B"/>
                </a:solidFill>
                <a:latin typeface="Inter Tight"/>
              </a:rPr>
              <a:t>BEFORE YOU START</a:t>
            </a:r>
          </a:p>
          <a:p>
            <a:pPr algn="l">
              <a:spcAft>
                <a:spcPts val="810"/>
              </a:spcAft>
            </a:pPr>
            <a:r>
              <a:rPr sz="1800" b="0" i="0">
                <a:solidFill>
                  <a:srgbClr val="1C1B19"/>
                </a:solidFill>
                <a:latin typeface="Source Serif 4"/>
              </a:rPr>
              <a:t>Students learn the four checks for consent, why freezing and silence aren't a yes, and how to step in as a bystander. Open by naming that some people in any room have lived through this and can step out, keep every example about the characters, and if a student discloses something, don't promise secrecy; walk them to a counselor that day.</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EVERY STUDENT IN THE ROOM</a:t>
            </a:r>
          </a:p>
          <a:p>
            <a:pPr algn="l">
              <a:spcAft>
                <a:spcPts val="810"/>
              </a:spcAft>
            </a:pPr>
            <a:r>
              <a:rPr sz="1800" b="0" i="0">
                <a:solidFill>
                  <a:srgbClr val="1C1B19"/>
                </a:solidFill>
                <a:latin typeface="Source Serif 4"/>
              </a:rPr>
              <a:t>Survivors of every gender are in the room, and who someone tells first depends on family and culture; say clearly that it is never the victim's fault and that boys and nonbinary students can be hurt too.</a:t>
            </a:r>
          </a:p>
          <a:p>
            <a:pPr algn="l">
              <a:spcAft>
                <a:spcPts val="810"/>
              </a:spcAft>
            </a:pPr>
            <a:r>
              <a:rPr sz="1800" b="0" i="0">
                <a:solidFill>
                  <a:srgbClr val="1C1B19"/>
                </a:solidFill>
                <a:latin typeface="Source Serif 4"/>
              </a:rPr>
              <a:t/>
            </a:r>
          </a:p>
          <a:p>
            <a:pPr algn="l">
              <a:spcAft>
                <a:spcPts val="810"/>
              </a:spcAft>
            </a:pPr>
            <a:r>
              <a:rPr sz="1200" b="1" i="0">
                <a:solidFill>
                  <a:srgbClr val="0B2D5B"/>
                </a:solidFill>
                <a:latin typeface="Inter Tight"/>
              </a:rPr>
              <a:t>SHORT ON TIME (20-MINUTE ADVISORY)</a:t>
            </a:r>
          </a:p>
          <a:p>
            <a:pPr algn="l">
              <a:spcAft>
                <a:spcPts val="810"/>
              </a:spcAft>
            </a:pPr>
            <a:r>
              <a:rPr sz="1800" b="0" i="0">
                <a:solidFill>
                  <a:srgbClr val="1C1B19"/>
                </a:solidFill>
                <a:latin typeface="Source Serif 4"/>
              </a:rPr>
              <a:t>Set the room (2), four checks (5), two of the four situations (8), exit card (5). Share the take-home link so students get the rest.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2D5B"/>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CONSENT, CLEARLY</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2011680"/>
            <a:ext cx="10515600" cy="1463040"/>
          </a:xfrm>
          <a:prstGeom prst="rect">
            <a:avLst/>
          </a:prstGeom>
          <a:noFill/>
        </p:spPr>
        <p:txBody>
          <a:bodyPr wrap="square" anchor="b" lIns="0" rIns="0" tIns="0" bIns="0">
            <a:spAutoFit/>
          </a:bodyPr>
          <a:lstStyle/>
          <a:p>
            <a:pPr algn="l">
              <a:spcAft>
                <a:spcPts val="2700"/>
              </a:spcAft>
            </a:pPr>
            <a:r>
              <a:rPr sz="6000" b="1" i="0">
                <a:solidFill>
                  <a:srgbClr val="FFFFFF"/>
                </a:solidFill>
                <a:latin typeface="Source Serif 4"/>
              </a:rPr>
              <a:t>Consent, Clearly</a:t>
            </a:r>
          </a:p>
        </p:txBody>
      </p:sp>
      <p:sp>
        <p:nvSpPr>
          <p:cNvPr id="6" name="TextBox 5"/>
          <p:cNvSpPr txBox="1"/>
          <p:nvPr/>
        </p:nvSpPr>
        <p:spPr>
          <a:xfrm>
            <a:off x="822960" y="3611880"/>
            <a:ext cx="10515600" cy="914400"/>
          </a:xfrm>
          <a:prstGeom prst="rect">
            <a:avLst/>
          </a:prstGeom>
          <a:noFill/>
        </p:spPr>
        <p:txBody>
          <a:bodyPr wrap="square" anchor="t" lIns="0" rIns="0" tIns="0" bIns="0">
            <a:spAutoFit/>
          </a:bodyPr>
          <a:lstStyle/>
          <a:p>
            <a:pPr algn="l">
              <a:spcAft>
                <a:spcPts val="1080"/>
              </a:spcAft>
            </a:pPr>
            <a:r>
              <a:rPr sz="2400" b="0" i="1">
                <a:solidFill>
                  <a:srgbClr val="E8E4DA"/>
                </a:solidFill>
                <a:latin typeface="Source Serif 4"/>
              </a:rPr>
              <a:t>You know the definition. This is the next layer.</a:t>
            </a:r>
          </a:p>
        </p:txBody>
      </p:sp>
      <p:sp>
        <p:nvSpPr>
          <p:cNvPr id="7" name="TextBox 6"/>
          <p:cNvSpPr txBox="1"/>
          <p:nvPr/>
        </p:nvSpPr>
        <p:spPr>
          <a:xfrm>
            <a:off x="822960" y="6035040"/>
            <a:ext cx="7315200" cy="365760"/>
          </a:xfrm>
          <a:prstGeom prst="rect">
            <a:avLst/>
          </a:prstGeom>
          <a:noFill/>
        </p:spPr>
        <p:txBody>
          <a:bodyPr wrap="square" anchor="t" lIns="0" rIns="0" tIns="0" bIns="0">
            <a:spAutoFit/>
          </a:bodyPr>
          <a:lstStyle/>
          <a:p>
            <a:pPr algn="l">
              <a:spcAft>
                <a:spcPts val="585"/>
              </a:spcAft>
            </a:pPr>
            <a:r>
              <a:rPr sz="1300" b="0" i="0">
                <a:solidFill>
                  <a:srgbClr val="E8E4DA"/>
                </a:solidFill>
                <a:latin typeface="Inter Tight"/>
              </a:rPr>
              <a:t>Beaver Upper School · Counseling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FOUR CHECKS</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All of them, every time.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Capacity.</a:t>
            </a:r>
          </a:p>
          <a:p>
            <a:pPr algn="l">
              <a:spcAft>
                <a:spcPts val="945"/>
              </a:spcAft>
            </a:pPr>
            <a:r>
              <a:rPr sz="1600" b="0" i="0">
                <a:solidFill>
                  <a:srgbClr val="5D5A54"/>
                </a:solidFill>
                <a:latin typeface="Source Serif 4"/>
              </a:rPr>
              <a:t>Asleep, passed out, too drunk or high, or under 16: no.</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Freely given.</a:t>
            </a:r>
          </a:p>
          <a:p>
            <a:pPr algn="l">
              <a:spcAft>
                <a:spcPts val="945"/>
              </a:spcAft>
            </a:pPr>
            <a:r>
              <a:rPr sz="1600" b="0" i="0">
                <a:solidFill>
                  <a:srgbClr val="5D5A54"/>
                </a:solidFill>
                <a:latin typeface="Source Serif 4"/>
              </a:rPr>
              <a:t>Could they say no at no cost?</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Specific.</a:t>
            </a:r>
          </a:p>
          <a:p>
            <a:pPr algn="l">
              <a:spcAft>
                <a:spcPts val="945"/>
              </a:spcAft>
            </a:pPr>
            <a:r>
              <a:rPr sz="1600" b="0" i="0">
                <a:solidFill>
                  <a:srgbClr val="5D5A54"/>
                </a:solidFill>
                <a:latin typeface="Source Serif 4"/>
              </a:rPr>
              <a:t>Yes to kissing isn't yes to more.</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Ongoing.</a:t>
            </a:r>
          </a:p>
          <a:p>
            <a:pPr algn="l">
              <a:spcAft>
                <a:spcPts val="945"/>
              </a:spcAft>
            </a:pPr>
            <a:r>
              <a:rPr sz="1600" b="0" i="0">
                <a:solidFill>
                  <a:srgbClr val="5D5A54"/>
                </a:solidFill>
                <a:latin typeface="Source Serif 4"/>
              </a:rPr>
              <a:t>Anyone can stop, any time, any relationship.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THE RESEARCH</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914400"/>
            <a:ext cx="10515600" cy="365760"/>
          </a:xfrm>
          <a:prstGeom prst="rect">
            <a:avLst/>
          </a:prstGeom>
          <a:noFill/>
        </p:spPr>
        <p:txBody>
          <a:bodyPr wrap="square" anchor="t" lIns="0" rIns="0" tIns="0" bIns="0">
            <a:spAutoFit/>
          </a:bodyPr>
          <a:lstStyle/>
          <a:p>
            <a:pPr algn="l">
              <a:spcAft>
                <a:spcPts val="630"/>
              </a:spcAft>
            </a:pPr>
            <a:r>
              <a:rPr sz="1400" b="1" i="0">
                <a:solidFill>
                  <a:srgbClr val="0B2D5B"/>
                </a:solidFill>
                <a:latin typeface="Inter Tight"/>
              </a:rPr>
              <a:t>Möller et al., 2017  ·  Perilloux et al., 2012  ·  Abbey, 2002</a:t>
            </a:r>
          </a:p>
        </p:txBody>
      </p:sp>
      <p:sp>
        <p:nvSpPr>
          <p:cNvPr id="6" name="TextBox 5"/>
          <p:cNvSpPr txBox="1"/>
          <p:nvPr/>
        </p:nvSpPr>
        <p:spPr>
          <a:xfrm>
            <a:off x="822960" y="1325880"/>
            <a:ext cx="10515600" cy="1097280"/>
          </a:xfrm>
          <a:prstGeom prst="rect">
            <a:avLst/>
          </a:prstGeom>
          <a:noFill/>
        </p:spPr>
        <p:txBody>
          <a:bodyPr wrap="square" anchor="t" lIns="0" rIns="0" tIns="0" bIns="0">
            <a:spAutoFit/>
          </a:bodyPr>
          <a:lstStyle/>
          <a:p>
            <a:pPr algn="l">
              <a:spcAft>
                <a:spcPts val="1440"/>
              </a:spcAft>
            </a:pPr>
            <a:r>
              <a:rPr sz="3200" b="1" i="0">
                <a:solidFill>
                  <a:srgbClr val="1C1B19"/>
                </a:solidFill>
                <a:latin typeface="Source Serif 4"/>
              </a:rPr>
              <a:t>Why "they didn't say no" proves nothing.</a:t>
            </a:r>
          </a:p>
        </p:txBody>
      </p:sp>
      <p:sp>
        <p:nvSpPr>
          <p:cNvPr id="7" name="TextBox 6"/>
          <p:cNvSpPr txBox="1"/>
          <p:nvPr/>
        </p:nvSpPr>
        <p:spPr>
          <a:xfrm>
            <a:off x="822960" y="2514600"/>
            <a:ext cx="10515600" cy="2194560"/>
          </a:xfrm>
          <a:prstGeom prst="rect">
            <a:avLst/>
          </a:prstGeom>
          <a:noFill/>
        </p:spPr>
        <p:txBody>
          <a:bodyPr wrap="square" anchor="t" lIns="0" rIns="0" tIns="0" bIns="0">
            <a:spAutoFit/>
          </a:bodyPr>
          <a:lstStyle/>
          <a:p>
            <a:pPr algn="l">
              <a:spcAft>
                <a:spcPts val="855"/>
              </a:spcAft>
            </a:pPr>
            <a:r>
              <a:rPr sz="1900" b="0" i="0">
                <a:solidFill>
                  <a:srgbClr val="1C1B19"/>
                </a:solidFill>
                <a:latin typeface="Source Serif 4"/>
              </a:rPr>
              <a:t>•  70% of women seen after an assault said their body froze.</a:t>
            </a:r>
          </a:p>
          <a:p>
            <a:pPr algn="l">
              <a:spcAft>
                <a:spcPts val="855"/>
              </a:spcAft>
            </a:pPr>
            <a:r>
              <a:rPr sz="1900" b="0" i="0">
                <a:solidFill>
                  <a:srgbClr val="1C1B19"/>
                </a:solidFill>
                <a:latin typeface="Source Serif 4"/>
              </a:rPr>
              <a:t>•  Speed daters misread each other's interest, in both directions.</a:t>
            </a:r>
          </a:p>
          <a:p>
            <a:pPr algn="l">
              <a:spcAft>
                <a:spcPts val="855"/>
              </a:spcAft>
            </a:pPr>
            <a:r>
              <a:rPr sz="1900" b="0" i="0">
                <a:solidFill>
                  <a:srgbClr val="1C1B19"/>
                </a:solidFill>
                <a:latin typeface="Source Serif 4"/>
              </a:rPr>
              <a:t>•  At least half of assaults among college students involve alcohol.</a:t>
            </a:r>
          </a:p>
          <a:p>
            <a:pPr algn="l">
              <a:spcAft>
                <a:spcPts val="855"/>
              </a:spcAft>
            </a:pPr>
            <a:r>
              <a:rPr sz="1900" b="0" i="0">
                <a:solidFill>
                  <a:srgbClr val="1C1B19"/>
                </a:solidFill>
                <a:latin typeface="Source Serif 4"/>
              </a:rPr>
              <a:t>•  Drinking never moves responsibility onto the person drinking.</a:t>
            </a:r>
          </a:p>
        </p:txBody>
      </p:sp>
      <p:sp>
        <p:nvSpPr>
          <p:cNvPr id="8" name="Rectangle 7"/>
          <p:cNvSpPr/>
          <p:nvPr/>
        </p:nvSpPr>
        <p:spPr>
          <a:xfrm>
            <a:off x="822960" y="4892040"/>
            <a:ext cx="73152" cy="1097280"/>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892040"/>
            <a:ext cx="10241280" cy="1188720"/>
          </a:xfrm>
          <a:prstGeom prst="rect">
            <a:avLst/>
          </a:prstGeom>
          <a:noFill/>
        </p:spPr>
        <p:txBody>
          <a:bodyPr wrap="square" anchor="t" lIns="0" rIns="0" tIns="0" bIns="0">
            <a:spAutoFit/>
          </a:bodyPr>
          <a:lstStyle/>
          <a:p>
            <a:pPr algn="l">
              <a:spcAft>
                <a:spcPts val="855"/>
              </a:spcAft>
            </a:pPr>
            <a:r>
              <a:rPr sz="1200" b="1" i="0">
                <a:solidFill>
                  <a:srgbClr val="F47B20"/>
                </a:solidFill>
                <a:latin typeface="Inter Tight"/>
              </a:rPr>
              <a:t>IN CLASS</a:t>
            </a:r>
          </a:p>
          <a:p>
            <a:pPr algn="l">
              <a:spcAft>
                <a:spcPts val="855"/>
              </a:spcAft>
            </a:pPr>
            <a:r>
              <a:rPr sz="1900" b="0" i="0">
                <a:solidFill>
                  <a:srgbClr val="1C1B19"/>
                </a:solidFill>
                <a:latin typeface="Source Serif 4"/>
              </a:rPr>
              <a:t>Silence and stillness can be fear. Asking is the only reliable way to know.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MYTHS THAT BLUR THE LINE</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What people say, and what's true</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they didn't fight back, they wanted it."</a:t>
            </a:r>
          </a:p>
          <a:p>
            <a:pPr algn="l">
              <a:spcAft>
                <a:spcPts val="945"/>
              </a:spcAft>
            </a:pPr>
            <a:r>
              <a:rPr sz="1600" b="0" i="0">
                <a:solidFill>
                  <a:srgbClr val="5D5A54"/>
                </a:solidFill>
                <a:latin typeface="Source Serif 4"/>
              </a:rPr>
              <a:t>Freezing is one of the most common reactions to threat.</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"Couples don't need to ask."</a:t>
            </a:r>
          </a:p>
          <a:p>
            <a:pPr algn="l">
              <a:spcAft>
                <a:spcPts val="945"/>
              </a:spcAft>
            </a:pPr>
            <a:r>
              <a:rPr sz="1600" b="0" i="0">
                <a:solidFill>
                  <a:srgbClr val="5D5A54"/>
                </a:solidFill>
                <a:latin typeface="Source Serif 4"/>
              </a:rPr>
              <a:t>Asking gets easier. It doesn't become optional.</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"If they were drinking, it's partly on them."</a:t>
            </a:r>
          </a:p>
          <a:p>
            <a:pPr algn="l">
              <a:spcAft>
                <a:spcPts val="945"/>
              </a:spcAft>
            </a:pPr>
            <a:r>
              <a:rPr sz="1600" b="0" i="0">
                <a:solidFill>
                  <a:srgbClr val="5D5A54"/>
                </a:solidFill>
                <a:latin typeface="Source Serif 4"/>
              </a:rPr>
              <a:t>It's on the person who went ahead.</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"Guys always want it."</a:t>
            </a:r>
          </a:p>
          <a:p>
            <a:pPr algn="l">
              <a:spcAft>
                <a:spcPts val="945"/>
              </a:spcAft>
            </a:pPr>
            <a:r>
              <a:rPr sz="1600" b="0" i="0">
                <a:solidFill>
                  <a:srgbClr val="5D5A54"/>
                </a:solidFill>
                <a:latin typeface="Source Serif 4"/>
              </a:rPr>
              <a:t>Anyone can be pressured. A boy's no counts the same.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DOES THE YES COUNT?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Run each one through the four checks.</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DEV AND AALIYAH</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Making out at his place. Aaliyah has gone quiet and still. She hasn't said no.</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JULES</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Has had a lot to drink and is slurring. Someone Jules met an hour ago asks about going upstairs. Jules says yes.</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MATEO</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His girlfriend sent him a private photo months ago. After they break up, she asks him to delete 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ASKING WELL</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109728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Asking is a skill. Taking a no is too.</a:t>
            </a:r>
          </a:p>
        </p:txBody>
      </p:sp>
      <p:sp>
        <p:nvSpPr>
          <p:cNvPr id="6" name="TextBox 5"/>
          <p:cNvSpPr txBox="1"/>
          <p:nvPr/>
        </p:nvSpPr>
        <p:spPr>
          <a:xfrm>
            <a:off x="822960" y="219456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1</a:t>
            </a:r>
          </a:p>
        </p:txBody>
      </p:sp>
      <p:sp>
        <p:nvSpPr>
          <p:cNvPr id="7" name="TextBox 6"/>
          <p:cNvSpPr txBox="1"/>
          <p:nvPr/>
        </p:nvSpPr>
        <p:spPr>
          <a:xfrm>
            <a:off x="1463040" y="223113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Make no easy to say.</a:t>
            </a:r>
          </a:p>
          <a:p>
            <a:pPr algn="l">
              <a:spcAft>
                <a:spcPts val="945"/>
              </a:spcAft>
            </a:pPr>
            <a:r>
              <a:rPr sz="1600" b="0" i="0">
                <a:solidFill>
                  <a:srgbClr val="5D5A54"/>
                </a:solidFill>
                <a:latin typeface="Source Serif 4"/>
              </a:rPr>
              <a:t>"Is this okay?" "Want to slow down?"</a:t>
            </a:r>
          </a:p>
        </p:txBody>
      </p:sp>
      <p:sp>
        <p:nvSpPr>
          <p:cNvPr id="8" name="TextBox 7"/>
          <p:cNvSpPr txBox="1"/>
          <p:nvPr/>
        </p:nvSpPr>
        <p:spPr>
          <a:xfrm>
            <a:off x="822960" y="320040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2</a:t>
            </a:r>
          </a:p>
        </p:txBody>
      </p:sp>
      <p:sp>
        <p:nvSpPr>
          <p:cNvPr id="9" name="TextBox 8"/>
          <p:cNvSpPr txBox="1"/>
          <p:nvPr/>
        </p:nvSpPr>
        <p:spPr>
          <a:xfrm>
            <a:off x="1463040" y="323697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Treat hesitation as a no.</a:t>
            </a:r>
          </a:p>
          <a:p>
            <a:pPr algn="l">
              <a:spcAft>
                <a:spcPts val="945"/>
              </a:spcAft>
            </a:pPr>
            <a:r>
              <a:rPr sz="1600" b="0" i="0">
                <a:solidFill>
                  <a:srgbClr val="5D5A54"/>
                </a:solidFill>
                <a:latin typeface="Source Serif 4"/>
              </a:rPr>
              <a:t>"Um," a pause, going still: stop and ask.</a:t>
            </a:r>
          </a:p>
        </p:txBody>
      </p:sp>
      <p:sp>
        <p:nvSpPr>
          <p:cNvPr id="10" name="TextBox 9"/>
          <p:cNvSpPr txBox="1"/>
          <p:nvPr/>
        </p:nvSpPr>
        <p:spPr>
          <a:xfrm>
            <a:off x="822960" y="420624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3</a:t>
            </a:r>
          </a:p>
        </p:txBody>
      </p:sp>
      <p:sp>
        <p:nvSpPr>
          <p:cNvPr id="11" name="TextBox 10"/>
          <p:cNvSpPr txBox="1"/>
          <p:nvPr/>
        </p:nvSpPr>
        <p:spPr>
          <a:xfrm>
            <a:off x="1463040" y="424281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Check in when anything changes.</a:t>
            </a:r>
          </a:p>
          <a:p>
            <a:pPr algn="l">
              <a:spcAft>
                <a:spcPts val="945"/>
              </a:spcAft>
            </a:pPr>
            <a:r>
              <a:rPr sz="1600" b="0" i="0">
                <a:solidFill>
                  <a:srgbClr val="5D5A54"/>
                </a:solidFill>
                <a:latin typeface="Source Serif 4"/>
              </a:rPr>
              <a:t>"Still good?" takes two seconds.</a:t>
            </a:r>
          </a:p>
        </p:txBody>
      </p:sp>
      <p:sp>
        <p:nvSpPr>
          <p:cNvPr id="12" name="TextBox 11"/>
          <p:cNvSpPr txBox="1"/>
          <p:nvPr/>
        </p:nvSpPr>
        <p:spPr>
          <a:xfrm>
            <a:off x="822960" y="5212080"/>
            <a:ext cx="548640" cy="1005840"/>
          </a:xfrm>
          <a:prstGeom prst="rect">
            <a:avLst/>
          </a:prstGeom>
          <a:noFill/>
        </p:spPr>
        <p:txBody>
          <a:bodyPr wrap="square" anchor="t" lIns="0" rIns="0" tIns="0" bIns="0">
            <a:spAutoFit/>
          </a:bodyPr>
          <a:lstStyle/>
          <a:p>
            <a:pPr algn="l">
              <a:spcAft>
                <a:spcPts val="1170"/>
              </a:spcAft>
            </a:pPr>
            <a:r>
              <a:rPr sz="2600" b="1" i="0">
                <a:solidFill>
                  <a:srgbClr val="F47B20"/>
                </a:solidFill>
                <a:latin typeface="Source Serif 4"/>
              </a:rPr>
              <a:t>4</a:t>
            </a:r>
          </a:p>
        </p:txBody>
      </p:sp>
      <p:sp>
        <p:nvSpPr>
          <p:cNvPr id="13" name="TextBox 12"/>
          <p:cNvSpPr txBox="1"/>
          <p:nvPr/>
        </p:nvSpPr>
        <p:spPr>
          <a:xfrm>
            <a:off x="1463040" y="5248656"/>
            <a:ext cx="9875520" cy="1005840"/>
          </a:xfrm>
          <a:prstGeom prst="rect">
            <a:avLst/>
          </a:prstGeom>
          <a:noFill/>
        </p:spPr>
        <p:txBody>
          <a:bodyPr wrap="square" anchor="t" lIns="0" rIns="0" tIns="0" bIns="0">
            <a:spAutoFit/>
          </a:bodyPr>
          <a:lstStyle/>
          <a:p>
            <a:pPr algn="l">
              <a:spcAft>
                <a:spcPts val="945"/>
              </a:spcAft>
            </a:pPr>
            <a:r>
              <a:rPr sz="2100" b="1" i="0">
                <a:solidFill>
                  <a:srgbClr val="1C1B19"/>
                </a:solidFill>
                <a:latin typeface="Source Serif 4"/>
              </a:rPr>
              <a:t>Take a no well.</a:t>
            </a:r>
          </a:p>
          <a:p>
            <a:pPr algn="l">
              <a:spcAft>
                <a:spcPts val="945"/>
              </a:spcAft>
            </a:pPr>
            <a:r>
              <a:rPr sz="1600" b="0" i="0">
                <a:solidFill>
                  <a:srgbClr val="5D5A54"/>
                </a:solidFill>
                <a:latin typeface="Source Serif 4"/>
              </a:rPr>
              <a:t>"Okay." Then change course. No sulking.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YOU'RE THE ONE WHO SEES IT</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005840"/>
            <a:ext cx="10515600" cy="91440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Direct, distract or delegate?</a:t>
            </a:r>
          </a:p>
        </p:txBody>
      </p:sp>
      <p:sp>
        <p:nvSpPr>
          <p:cNvPr id="6" name="Rectangle 5"/>
          <p:cNvSpPr/>
          <p:nvPr/>
        </p:nvSpPr>
        <p:spPr>
          <a:xfrm>
            <a:off x="82296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MAYA</a:t>
            </a:r>
          </a:p>
        </p:txBody>
      </p:sp>
      <p:sp>
        <p:nvSpPr>
          <p:cNvPr id="8" name="TextBox 7"/>
          <p:cNvSpPr txBox="1"/>
          <p:nvPr/>
        </p:nvSpPr>
        <p:spPr>
          <a:xfrm>
            <a:off x="105156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At a party, an older guy keeps refilling her cup and steering her toward a back room. She looks unsteady. You barely know her.</a:t>
            </a:r>
          </a:p>
        </p:txBody>
      </p:sp>
      <p:sp>
        <p:nvSpPr>
          <p:cNvPr id="9" name="Rectangle 8"/>
          <p:cNvSpPr/>
          <p:nvPr/>
        </p:nvSpPr>
        <p:spPr>
          <a:xfrm>
            <a:off x="4419600"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48200"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THE GROUP CHAT</a:t>
            </a:r>
          </a:p>
        </p:txBody>
      </p:sp>
      <p:sp>
        <p:nvSpPr>
          <p:cNvPr id="11" name="TextBox 10"/>
          <p:cNvSpPr txBox="1"/>
          <p:nvPr/>
        </p:nvSpPr>
        <p:spPr>
          <a:xfrm>
            <a:off x="4648200"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Someone posts a classmate's private photo.</a:t>
            </a:r>
          </a:p>
        </p:txBody>
      </p:sp>
      <p:sp>
        <p:nvSpPr>
          <p:cNvPr id="12" name="Rectangle 11"/>
          <p:cNvSpPr/>
          <p:nvPr/>
        </p:nvSpPr>
        <p:spPr>
          <a:xfrm>
            <a:off x="8016239" y="2103120"/>
            <a:ext cx="3322320" cy="3840480"/>
          </a:xfrm>
          <a:prstGeom prst="rect">
            <a:avLst/>
          </a:prstGeom>
          <a:solidFill>
            <a:srgbClr val="FFFFFF"/>
          </a:solidFill>
          <a:ln w="15875">
            <a:solidFill>
              <a:srgbClr val="D8D2C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44839" y="2286000"/>
            <a:ext cx="2865120" cy="365760"/>
          </a:xfrm>
          <a:prstGeom prst="rect">
            <a:avLst/>
          </a:prstGeom>
          <a:noFill/>
        </p:spPr>
        <p:txBody>
          <a:bodyPr wrap="square" anchor="t" lIns="0" rIns="0" tIns="0" bIns="0">
            <a:spAutoFit/>
          </a:bodyPr>
          <a:lstStyle/>
          <a:p>
            <a:pPr algn="l">
              <a:spcAft>
                <a:spcPts val="585"/>
              </a:spcAft>
            </a:pPr>
            <a:r>
              <a:rPr sz="1300" b="1" i="0">
                <a:solidFill>
                  <a:srgbClr val="0B2D5B"/>
                </a:solidFill>
                <a:latin typeface="Inter Tight"/>
              </a:rPr>
              <a:t>A FRIEND'S STORY</a:t>
            </a:r>
          </a:p>
        </p:txBody>
      </p:sp>
      <p:sp>
        <p:nvSpPr>
          <p:cNvPr id="14" name="TextBox 13"/>
          <p:cNvSpPr txBox="1"/>
          <p:nvPr/>
        </p:nvSpPr>
        <p:spPr>
          <a:xfrm>
            <a:off x="8244839" y="2743200"/>
            <a:ext cx="2865120" cy="3017520"/>
          </a:xfrm>
          <a:prstGeom prst="rect">
            <a:avLst/>
          </a:prstGeom>
          <a:noFill/>
        </p:spPr>
        <p:txBody>
          <a:bodyPr wrap="square" anchor="t" lIns="0" rIns="0" tIns="0" bIns="0">
            <a:spAutoFit/>
          </a:bodyPr>
          <a:lstStyle/>
          <a:p>
            <a:pPr algn="l">
              <a:spcAft>
                <a:spcPts val="810"/>
              </a:spcAft>
            </a:pPr>
            <a:r>
              <a:rPr sz="1800" b="0" i="0">
                <a:solidFill>
                  <a:srgbClr val="1C1B19"/>
                </a:solidFill>
                <a:latin typeface="Source Serif 4"/>
              </a:rPr>
              <a:t>A friend tells you about a night that didn't sit right. They don't know what to call it.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4EE"/>
        </a:solidFill>
        <a:effectLst/>
      </p:bgPr>
    </p:bg>
    <p:spTree>
      <p:nvGrpSpPr>
        <p:cNvPr id="1" name=""/>
        <p:cNvGrpSpPr/>
        <p:nvPr/>
      </p:nvGrpSpPr>
      <p:grpSpPr/>
      <p:sp>
        <p:nvSpPr>
          <p:cNvPr id="2" name="Rectangle 1"/>
          <p:cNvSpPr/>
          <p:nvPr/>
        </p:nvSpPr>
        <p:spPr>
          <a:xfrm>
            <a:off x="548640" y="502920"/>
            <a:ext cx="457200" cy="54864"/>
          </a:xfrm>
          <a:prstGeom prst="rect">
            <a:avLst/>
          </a:prstGeom>
          <a:solidFill>
            <a:srgbClr val="F47B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393192"/>
            <a:ext cx="8229600" cy="274320"/>
          </a:xfrm>
          <a:prstGeom prst="rect">
            <a:avLst/>
          </a:prstGeom>
          <a:noFill/>
        </p:spPr>
        <p:txBody>
          <a:bodyPr wrap="square" anchor="t" lIns="0" rIns="0" tIns="0" bIns="0">
            <a:spAutoFit/>
          </a:bodyPr>
          <a:lstStyle/>
          <a:p>
            <a:pPr algn="l">
              <a:spcAft>
                <a:spcPts val="540"/>
              </a:spcAft>
            </a:pPr>
            <a:r>
              <a:rPr sz="1200" b="1" i="0">
                <a:solidFill>
                  <a:srgbClr val="5D5A54"/>
                </a:solidFill>
                <a:latin typeface="Inter Tight"/>
              </a:rPr>
              <a:t>BEFORE YOU GO</a:t>
            </a:r>
          </a:p>
        </p:txBody>
      </p:sp>
      <p:sp>
        <p:nvSpPr>
          <p:cNvPr id="4" name="TextBox 3"/>
          <p:cNvSpPr txBox="1"/>
          <p:nvPr/>
        </p:nvSpPr>
        <p:spPr>
          <a:xfrm>
            <a:off x="8229600" y="6400800"/>
            <a:ext cx="3410712" cy="274320"/>
          </a:xfrm>
          <a:prstGeom prst="rect">
            <a:avLst/>
          </a:prstGeom>
          <a:noFill/>
        </p:spPr>
        <p:txBody>
          <a:bodyPr wrap="square" anchor="t" lIns="0" rIns="0" tIns="0" bIns="0">
            <a:spAutoFit/>
          </a:bodyPr>
          <a:lstStyle/>
          <a:p>
            <a:pPr algn="r">
              <a:spcAft>
                <a:spcPts val="450"/>
              </a:spcAft>
            </a:pPr>
            <a:r>
              <a:rPr sz="1000" b="0" i="0">
                <a:solidFill>
                  <a:srgbClr val="5D5A54"/>
                </a:solidFill>
                <a:latin typeface="Inter Tight"/>
              </a:rPr>
              <a:t>Beaver Counseling</a:t>
            </a:r>
          </a:p>
        </p:txBody>
      </p:sp>
      <p:sp>
        <p:nvSpPr>
          <p:cNvPr id="5" name="TextBox 4"/>
          <p:cNvSpPr txBox="1"/>
          <p:nvPr/>
        </p:nvSpPr>
        <p:spPr>
          <a:xfrm>
            <a:off x="822960" y="1188720"/>
            <a:ext cx="10515600" cy="914400"/>
          </a:xfrm>
          <a:prstGeom prst="rect">
            <a:avLst/>
          </a:prstGeom>
          <a:noFill/>
        </p:spPr>
        <p:txBody>
          <a:bodyPr wrap="square" anchor="t" lIns="0" rIns="0" tIns="0" bIns="0">
            <a:spAutoFit/>
          </a:bodyPr>
          <a:lstStyle/>
          <a:p>
            <a:pPr algn="l">
              <a:spcAft>
                <a:spcPts val="1620"/>
              </a:spcAft>
            </a:pPr>
            <a:r>
              <a:rPr sz="3600" b="1" i="0">
                <a:solidFill>
                  <a:srgbClr val="1C1B19"/>
                </a:solidFill>
                <a:latin typeface="Source Serif 4"/>
              </a:rPr>
              <a:t>Questions, anonymously</a:t>
            </a:r>
          </a:p>
        </p:txBody>
      </p:sp>
      <p:sp>
        <p:nvSpPr>
          <p:cNvPr id="6" name="TextBox 5"/>
          <p:cNvSpPr txBox="1"/>
          <p:nvPr/>
        </p:nvSpPr>
        <p:spPr>
          <a:xfrm>
            <a:off x="822960" y="2286000"/>
            <a:ext cx="10515600" cy="1463040"/>
          </a:xfrm>
          <a:prstGeom prst="rect">
            <a:avLst/>
          </a:prstGeom>
          <a:noFill/>
        </p:spPr>
        <p:txBody>
          <a:bodyPr wrap="square" anchor="t" lIns="0" rIns="0" tIns="0" bIns="0">
            <a:spAutoFit/>
          </a:bodyPr>
          <a:lstStyle/>
          <a:p>
            <a:pPr algn="l">
              <a:spcAft>
                <a:spcPts val="1080"/>
              </a:spcAft>
            </a:pPr>
            <a:r>
              <a:rPr sz="2400" b="0" i="0">
                <a:solidFill>
                  <a:srgbClr val="1C1B19"/>
                </a:solidFill>
                <a:latin typeface="Source Serif 4"/>
              </a:rPr>
              <a:t>Write one question you still have. I'll answer as many as I can.</a:t>
            </a:r>
          </a:p>
        </p:txBody>
      </p:sp>
      <p:sp>
        <p:nvSpPr>
          <p:cNvPr id="7" name="Rectangle 6"/>
          <p:cNvSpPr/>
          <p:nvPr/>
        </p:nvSpPr>
        <p:spPr>
          <a:xfrm>
            <a:off x="822960" y="4023360"/>
            <a:ext cx="10515600" cy="1371600"/>
          </a:xfrm>
          <a:prstGeom prst="rect">
            <a:avLst/>
          </a:prstGeom>
          <a:solidFill>
            <a:srgbClr val="FFFFFF"/>
          </a:solidFill>
          <a:ln w="15875">
            <a:solidFill>
              <a:srgbClr val="1C1B1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4206240"/>
            <a:ext cx="10058400" cy="365760"/>
          </a:xfrm>
          <a:prstGeom prst="rect">
            <a:avLst/>
          </a:prstGeom>
          <a:noFill/>
        </p:spPr>
        <p:txBody>
          <a:bodyPr wrap="square" anchor="t" lIns="0" rIns="0" tIns="0" bIns="0">
            <a:spAutoFit/>
          </a:bodyPr>
          <a:lstStyle/>
          <a:p>
            <a:pPr algn="l">
              <a:spcAft>
                <a:spcPts val="540"/>
              </a:spcAft>
            </a:pPr>
            <a:r>
              <a:rPr sz="1200" b="1" i="0">
                <a:solidFill>
                  <a:srgbClr val="0B2D5B"/>
                </a:solidFill>
                <a:latin typeface="Inter Tight"/>
              </a:rPr>
              <a:t>STUDENT PAGE</a:t>
            </a:r>
          </a:p>
        </p:txBody>
      </p:sp>
      <p:sp>
        <p:nvSpPr>
          <p:cNvPr id="9" name="TextBox 8"/>
          <p:cNvSpPr txBox="1"/>
          <p:nvPr/>
        </p:nvSpPr>
        <p:spPr>
          <a:xfrm>
            <a:off x="1097280" y="4617720"/>
            <a:ext cx="10058400" cy="640080"/>
          </a:xfrm>
          <a:prstGeom prst="rect">
            <a:avLst/>
          </a:prstGeom>
          <a:noFill/>
        </p:spPr>
        <p:txBody>
          <a:bodyPr wrap="square" anchor="t" lIns="0" rIns="0" tIns="0" bIns="0">
            <a:spAutoFit/>
          </a:bodyPr>
          <a:lstStyle/>
          <a:p>
            <a:pPr algn="l">
              <a:spcAft>
                <a:spcPts val="900"/>
              </a:spcAft>
            </a:pPr>
            <a:r>
              <a:rPr sz="2000" b="0" i="0">
                <a:solidFill>
                  <a:srgbClr val="1C1B19"/>
                </a:solidFill>
                <a:latin typeface="Inter Tight"/>
              </a:rPr>
              <a:t>https://rmwtoolkit.github.io/bcds-toolkit/consent-clearly-high-school.html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Lesson plan</a:t>
            </a:r>
          </a:p>
        </p:txBody>
      </p:sp>
      <p:sp>
        <p:nvSpPr>
          <p:cNvPr id="4" name="TextBox 3"/>
          <p:cNvSpPr txBox="1"/>
          <p:nvPr/>
        </p:nvSpPr>
        <p:spPr>
          <a:xfrm>
            <a:off x="548640" y="685800"/>
            <a:ext cx="10972800" cy="731520"/>
          </a:xfrm>
          <a:prstGeom prst="rect">
            <a:avLst/>
          </a:prstGeom>
          <a:noFill/>
        </p:spPr>
        <p:txBody>
          <a:bodyPr wrap="square" anchor="t" lIns="0" rIns="0" tIns="0" bIns="0">
            <a:spAutoFit/>
          </a:bodyPr>
          <a:lstStyle/>
          <a:p>
            <a:pPr algn="l">
              <a:spcAft>
                <a:spcPts val="1530"/>
              </a:spcAft>
            </a:pPr>
            <a:r>
              <a:rPr sz="3400" b="1" i="0">
                <a:solidFill>
                  <a:srgbClr val="1C1B19"/>
                </a:solidFill>
                <a:latin typeface="Source Serif 4"/>
              </a:rPr>
              <a:t>Consent, Clearly</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Upper School  ·  45 minutes (20-minute advisory version below)  ·  Health class, advisory, or a counselor-led group</a:t>
            </a:r>
          </a:p>
        </p:txBody>
      </p:sp>
      <p:sp>
        <p:nvSpPr>
          <p:cNvPr id="6" name="TextBox 5"/>
          <p:cNvSpPr txBox="1"/>
          <p:nvPr/>
        </p:nvSpPr>
        <p:spPr>
          <a:xfrm>
            <a:off x="548640" y="1828800"/>
            <a:ext cx="5120640" cy="4389120"/>
          </a:xfrm>
          <a:prstGeom prst="rect">
            <a:avLst/>
          </a:prstGeom>
          <a:noFill/>
        </p:spPr>
        <p:txBody>
          <a:bodyPr wrap="square" anchor="t" lIns="0" rIns="0" tIns="0" bIns="0">
            <a:spAutoFit/>
          </a:bodyPr>
          <a:lstStyle/>
          <a:p>
            <a:pPr algn="l">
              <a:spcAft>
                <a:spcPts val="675"/>
              </a:spcAft>
            </a:pPr>
            <a:r>
              <a:rPr sz="1100" b="1" i="0">
                <a:solidFill>
                  <a:srgbClr val="0B2D5B"/>
                </a:solidFill>
                <a:latin typeface="Inter Tight"/>
              </a:rPr>
              <a:t>GOAL</a:t>
            </a:r>
          </a:p>
          <a:p>
            <a:pPr algn="l">
              <a:spcAft>
                <a:spcPts val="675"/>
              </a:spcAft>
            </a:pPr>
            <a:r>
              <a:rPr sz="1500" b="0" i="0">
                <a:solidFill>
                  <a:srgbClr val="1C1B19"/>
                </a:solidFill>
                <a:latin typeface="Source Serif 4"/>
              </a:rPr>
              <a:t>Students can run any situation through the four checks (capacity, freely given, specific, ongoing), explain why silence or freezing isn't a yes, and practice asking, taking a no, and stepping in as a bystander. Survivors in the room should hear, clearly, that it wasn't their fault.</a:t>
            </a:r>
          </a:p>
          <a:p>
            <a:pPr algn="l">
              <a:spcAft>
                <a:spcPts val="675"/>
              </a:spcAft>
            </a:pPr>
            <a:r>
              <a:rPr sz="1500" b="0" i="0">
                <a:solidFill>
                  <a:srgbClr val="1C1B19"/>
                </a:solidFill>
                <a:latin typeface="Source Serif 4"/>
              </a:rPr>
              <a:t/>
            </a:r>
          </a:p>
          <a:p>
            <a:pPr algn="l">
              <a:spcAft>
                <a:spcPts val="675"/>
              </a:spcAft>
            </a:pPr>
            <a:r>
              <a:rPr sz="1100" b="1" i="0">
                <a:solidFill>
                  <a:srgbClr val="0B2D5B"/>
                </a:solidFill>
                <a:latin typeface="Inter Tight"/>
              </a:rPr>
              <a:t>MATERIALS</a:t>
            </a:r>
          </a:p>
          <a:p>
            <a:pPr algn="l">
              <a:spcAft>
                <a:spcPts val="675"/>
              </a:spcAft>
            </a:pPr>
            <a:r>
              <a:rPr sz="1500" b="0" i="0">
                <a:solidFill>
                  <a:srgbClr val="1C1B19"/>
                </a:solidFill>
                <a:latin typeface="Source Serif 4"/>
              </a:rPr>
              <a:t>Index cards for anonymous questions</a:t>
            </a:r>
          </a:p>
          <a:p>
            <a:pPr algn="l">
              <a:spcAft>
                <a:spcPts val="675"/>
              </a:spcAft>
            </a:pPr>
            <a:r>
              <a:rPr sz="1500" b="0" i="0">
                <a:solidFill>
                  <a:srgbClr val="1C1B19"/>
                </a:solidFill>
                <a:latin typeface="Source Serif 4"/>
              </a:rPr>
              <a:t>Board space for the four checks</a:t>
            </a:r>
          </a:p>
          <a:p>
            <a:pPr algn="l">
              <a:spcAft>
                <a:spcPts val="675"/>
              </a:spcAft>
            </a:pPr>
            <a:r>
              <a:rPr sz="1500" b="0" i="0">
                <a:solidFill>
                  <a:srgbClr val="1C1B19"/>
                </a:solidFill>
                <a:latin typeface="Source Serif 4"/>
              </a:rPr>
              <a:t>The take-home link (last slide) to share after class</a:t>
            </a:r>
          </a:p>
        </p:txBody>
      </p:sp>
      <p:sp>
        <p:nvSpPr>
          <p:cNvPr id="7" name="TextBox 6"/>
          <p:cNvSpPr txBox="1"/>
          <p:nvPr/>
        </p:nvSpPr>
        <p:spPr>
          <a:xfrm>
            <a:off x="6126480" y="1828800"/>
            <a:ext cx="5486400" cy="4389120"/>
          </a:xfrm>
          <a:prstGeom prst="rect">
            <a:avLst/>
          </a:prstGeom>
          <a:noFill/>
        </p:spPr>
        <p:txBody>
          <a:bodyPr wrap="square" anchor="t" lIns="0" rIns="0" tIns="0" bIns="0">
            <a:spAutoFit/>
          </a:bodyPr>
          <a:lstStyle/>
          <a:p>
            <a:pPr algn="l">
              <a:spcAft>
                <a:spcPts val="630"/>
              </a:spcAft>
            </a:pPr>
            <a:r>
              <a:rPr sz="1100" b="1" i="0">
                <a:solidFill>
                  <a:srgbClr val="0B2D5B"/>
                </a:solidFill>
                <a:latin typeface="Inter Tight"/>
              </a:rPr>
              <a:t>FLOW</a:t>
            </a:r>
          </a:p>
          <a:p>
            <a:pPr algn="l">
              <a:spcAft>
                <a:spcPts val="630"/>
              </a:spcAft>
            </a:pPr>
            <a:r>
              <a:rPr sz="1300" b="1" i="0">
                <a:solidFill>
                  <a:srgbClr val="F47B20"/>
                </a:solidFill>
                <a:latin typeface="Inter Tight"/>
              </a:rPr>
              <a:t>3 min   </a:t>
            </a:r>
            <a:r>
              <a:rPr sz="1400" b="0" i="0">
                <a:solidFill>
                  <a:srgbClr val="1C1B19"/>
                </a:solidFill>
                <a:latin typeface="Source Serif 4"/>
              </a:rPr>
              <a:t>Set the room</a:t>
            </a:r>
          </a:p>
          <a:p>
            <a:pPr algn="l">
              <a:spcAft>
                <a:spcPts val="630"/>
              </a:spcAft>
            </a:pPr>
            <a:r>
              <a:rPr sz="1300" b="1" i="0">
                <a:solidFill>
                  <a:srgbClr val="F47B20"/>
                </a:solidFill>
                <a:latin typeface="Inter Tight"/>
              </a:rPr>
              <a:t>8 min   </a:t>
            </a:r>
            <a:r>
              <a:rPr sz="1400" b="0" i="0">
                <a:solidFill>
                  <a:srgbClr val="1C1B19"/>
                </a:solidFill>
                <a:latin typeface="Source Serif 4"/>
              </a:rPr>
              <a:t>Four checks, every time</a:t>
            </a:r>
          </a:p>
          <a:p>
            <a:pPr algn="l">
              <a:spcAft>
                <a:spcPts val="630"/>
              </a:spcAft>
            </a:pPr>
            <a:r>
              <a:rPr sz="1300" b="1" i="0">
                <a:solidFill>
                  <a:srgbClr val="F47B20"/>
                </a:solidFill>
                <a:latin typeface="Inter Tight"/>
              </a:rPr>
              <a:t>4 min   </a:t>
            </a:r>
            <a:r>
              <a:rPr sz="1400" b="0" i="0">
                <a:solidFill>
                  <a:srgbClr val="1C1B19"/>
                </a:solidFill>
                <a:latin typeface="Source Serif 4"/>
              </a:rPr>
              <a:t>Why "they didn't say no" proves nothing</a:t>
            </a:r>
          </a:p>
          <a:p>
            <a:pPr algn="l">
              <a:spcAft>
                <a:spcPts val="630"/>
              </a:spcAft>
            </a:pPr>
            <a:r>
              <a:rPr sz="1300" b="1" i="0">
                <a:solidFill>
                  <a:srgbClr val="F47B20"/>
                </a:solidFill>
                <a:latin typeface="Inter Tight"/>
              </a:rPr>
              <a:t>3 min   </a:t>
            </a:r>
            <a:r>
              <a:rPr sz="1400" b="0" i="0">
                <a:solidFill>
                  <a:srgbClr val="1C1B19"/>
                </a:solidFill>
                <a:latin typeface="Source Serif 4"/>
              </a:rPr>
              <a:t>Myths that blur the line</a:t>
            </a:r>
          </a:p>
          <a:p>
            <a:pPr algn="l">
              <a:spcAft>
                <a:spcPts val="630"/>
              </a:spcAft>
            </a:pPr>
            <a:r>
              <a:rPr sz="1300" b="1" i="0">
                <a:solidFill>
                  <a:srgbClr val="F47B20"/>
                </a:solidFill>
                <a:latin typeface="Inter Tight"/>
              </a:rPr>
              <a:t>10 min   </a:t>
            </a:r>
            <a:r>
              <a:rPr sz="1400" b="0" i="0">
                <a:solidFill>
                  <a:srgbClr val="1C1B19"/>
                </a:solidFill>
                <a:latin typeface="Source Serif 4"/>
              </a:rPr>
              <a:t>Does the yes count? (small groups)</a:t>
            </a:r>
          </a:p>
          <a:p>
            <a:pPr algn="l">
              <a:spcAft>
                <a:spcPts val="630"/>
              </a:spcAft>
            </a:pPr>
            <a:r>
              <a:rPr sz="1300" b="1" i="0">
                <a:solidFill>
                  <a:srgbClr val="F47B20"/>
                </a:solidFill>
                <a:latin typeface="Inter Tight"/>
              </a:rPr>
              <a:t>5 min   </a:t>
            </a:r>
            <a:r>
              <a:rPr sz="1400" b="0" i="0">
                <a:solidFill>
                  <a:srgbClr val="1C1B19"/>
                </a:solidFill>
                <a:latin typeface="Source Serif 4"/>
              </a:rPr>
              <a:t>Asking well, and taking a no</a:t>
            </a:r>
          </a:p>
          <a:p>
            <a:pPr algn="l">
              <a:spcAft>
                <a:spcPts val="630"/>
              </a:spcAft>
            </a:pPr>
            <a:r>
              <a:rPr sz="1300" b="1" i="0">
                <a:solidFill>
                  <a:srgbClr val="F47B20"/>
                </a:solidFill>
                <a:latin typeface="Inter Tight"/>
              </a:rPr>
              <a:t>7 min   </a:t>
            </a:r>
            <a:r>
              <a:rPr sz="1400" b="0" i="0">
                <a:solidFill>
                  <a:srgbClr val="1C1B19"/>
                </a:solidFill>
                <a:latin typeface="Source Serif 4"/>
              </a:rPr>
              <a:t>You're the one who sees it (bystander)</a:t>
            </a:r>
          </a:p>
          <a:p>
            <a:pPr algn="l">
              <a:spcAft>
                <a:spcPts val="630"/>
              </a:spcAft>
            </a:pPr>
            <a:r>
              <a:rPr sz="1300" b="1" i="0">
                <a:solidFill>
                  <a:srgbClr val="F47B20"/>
                </a:solidFill>
                <a:latin typeface="Inter Tight"/>
              </a:rPr>
              <a:t>5 min   </a:t>
            </a:r>
            <a:r>
              <a:rPr sz="1400" b="0" i="0">
                <a:solidFill>
                  <a:srgbClr val="1C1B19"/>
                </a:solidFill>
                <a:latin typeface="Source Serif 4"/>
              </a:rPr>
              <a:t>Anonymous questions and take-home link</a:t>
            </a:r>
          </a:p>
          <a:p>
            <a:pPr algn="l">
              <a:spcAft>
                <a:spcPts val="630"/>
              </a:spcAft>
            </a:pPr>
            <a:r>
              <a:rPr sz="1400" b="0" i="0">
                <a:solidFill>
                  <a:srgbClr val="1C1B19"/>
                </a:solidFill>
                <a:latin typeface="Source Serif 4"/>
              </a:rPr>
              <a:t/>
            </a:r>
          </a:p>
          <a:p>
            <a:pPr algn="l">
              <a:spcAft>
                <a:spcPts val="630"/>
              </a:spcAft>
            </a:pPr>
            <a:r>
              <a:rPr sz="1100" b="1" i="0">
                <a:solidFill>
                  <a:srgbClr val="0B2D5B"/>
                </a:solidFill>
                <a:latin typeface="Inter Tight"/>
              </a:rPr>
              <a:t>SHORT ON TIME (20-MINUTE ADVISORY)</a:t>
            </a:r>
          </a:p>
          <a:p>
            <a:pPr algn="l">
              <a:spcAft>
                <a:spcPts val="630"/>
              </a:spcAft>
            </a:pPr>
            <a:r>
              <a:rPr sz="1400" b="0" i="0">
                <a:solidFill>
                  <a:srgbClr val="1C1B19"/>
                </a:solidFill>
                <a:latin typeface="Source Serif 4"/>
              </a:rPr>
              <a:t>Set the room (2), four checks (5), two of the four situations (8), exit card (5). Share the take-home link so students get the rest.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Before you teach</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Before you teach</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Assume survivors are in the room.</a:t>
            </a:r>
          </a:p>
          <a:p>
            <a:pPr algn="l">
              <a:spcAft>
                <a:spcPts val="585"/>
              </a:spcAft>
            </a:pPr>
            <a:r>
              <a:rPr sz="1300" b="0" i="0">
                <a:solidFill>
                  <a:srgbClr val="1C1B19"/>
                </a:solidFill>
                <a:latin typeface="Source Serif 4"/>
              </a:rPr>
              <a:t>Say at the start that this topic is personal for some people, anyone can step out, and nobody will be asked about their own life. Keep every example about the characters on the slides.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Say "not your fault" out loud.</a:t>
            </a:r>
          </a:p>
          <a:p>
            <a:pPr algn="l">
              <a:spcAft>
                <a:spcPts val="585"/>
              </a:spcAft>
            </a:pPr>
            <a:r>
              <a:rPr sz="1300" b="0" i="0">
                <a:solidFill>
                  <a:srgbClr val="1C1B19"/>
                </a:solidFill>
                <a:latin typeface="Source Serif 4"/>
              </a:rPr>
              <a:t>Whatever someone drank, wore or said before. Put it on the board. A survivor in the room may never hear it said this plainly anywhere else.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If a student discloses.</a:t>
            </a:r>
          </a:p>
          <a:p>
            <a:pPr algn="l">
              <a:spcAft>
                <a:spcPts val="585"/>
              </a:spcAft>
            </a:pPr>
            <a:r>
              <a:rPr sz="1300" b="0" i="0">
                <a:solidFill>
                  <a:srgbClr val="1C1B19"/>
                </a:solidFill>
                <a:latin typeface="Source Serif 4"/>
              </a:rPr>
              <a:t>Thank them, stay calm, and don't promise to keep it secret. Walk them to a counselor that day. Counselors can explain what they'd have to share and with whom.</a:t>
            </a:r>
          </a:p>
          <a:p>
            <a:pPr algn="l">
              <a:spcAft>
                <a:spcPts val="585"/>
              </a:spcAft>
            </a:pPr>
            <a:r>
              <a:rPr sz="1300" b="0" i="0">
                <a:solidFill>
                  <a:srgbClr val="1C1B19"/>
                </a:solidFill>
                <a:latin typeface="Source Serif 4"/>
              </a:rPr>
              <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Shut down victim blaming gently.</a:t>
            </a:r>
          </a:p>
          <a:p>
            <a:pPr algn="l">
              <a:spcAft>
                <a:spcPts val="585"/>
              </a:spcAft>
            </a:pPr>
            <a:r>
              <a:rPr sz="1300" b="0" i="0">
                <a:solidFill>
                  <a:srgbClr val="1C1B19"/>
                </a:solidFill>
                <a:latin typeface="Source Serif 4"/>
              </a:rPr>
              <a:t>If someone says "well, she was drunk," answer with the fact: responsibility belongs to the person who went ahead without consent. Then move on without shaming the student who said it.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Be accurate about the law.</a:t>
            </a:r>
          </a:p>
          <a:p>
            <a:pPr algn="l">
              <a:spcAft>
                <a:spcPts val="585"/>
              </a:spcAft>
            </a:pPr>
            <a:r>
              <a:rPr sz="1300" b="0" i="0">
                <a:solidFill>
                  <a:srgbClr val="1C1B19"/>
                </a:solidFill>
                <a:latin typeface="Source Serif 4"/>
              </a:rPr>
              <a:t>In Massachusetts, a person under 16 can't legally consent to sex, with no close-in-age exception. Sharing explicit images without consent is a crime as of 2024, including AI fakes. Don't add more than that.</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Use anonymous questions.</a:t>
            </a:r>
          </a:p>
          <a:p>
            <a:pPr algn="l">
              <a:spcAft>
                <a:spcPts val="585"/>
              </a:spcAft>
            </a:pPr>
            <a:r>
              <a:rPr sz="1300" b="0" i="0">
                <a:solidFill>
                  <a:srgbClr val="1C1B19"/>
                </a:solidFill>
                <a:latin typeface="Source Serif 4"/>
              </a:rPr>
              <a:t>The best questions in this lesson come on cards. Read them before answering, and skip any that name a real person.</a:t>
            </a:r>
          </a:p>
          <a:p>
            <a:pPr algn="l">
              <a:spcAft>
                <a:spcPts val="585"/>
              </a:spcAft>
            </a:pPr>
            <a:r>
              <a:rPr sz="1300" b="0" i="0">
                <a:solidFill>
                  <a:srgbClr val="1C1B19"/>
                </a:solidFill>
                <a:latin typeface="Source Serif 4"/>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Every student in the room</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Every student in the room</a:t>
            </a:r>
          </a:p>
        </p:txBody>
      </p:sp>
      <p:sp>
        <p:nvSpPr>
          <p:cNvPr id="5" name="TextBox 4"/>
          <p:cNvSpPr txBox="1"/>
          <p:nvPr/>
        </p:nvSpPr>
        <p:spPr>
          <a:xfrm>
            <a:off x="548640" y="1325880"/>
            <a:ext cx="10972800" cy="365760"/>
          </a:xfrm>
          <a:prstGeom prst="rect">
            <a:avLst/>
          </a:prstGeom>
          <a:noFill/>
        </p:spPr>
        <p:txBody>
          <a:bodyPr wrap="square" anchor="t" lIns="0" rIns="0" tIns="0" bIns="0">
            <a:spAutoFit/>
          </a:bodyPr>
          <a:lstStyle/>
          <a:p>
            <a:pPr algn="l">
              <a:spcAft>
                <a:spcPts val="630"/>
              </a:spcAft>
            </a:pPr>
            <a:r>
              <a:rPr sz="1400" b="0" i="0">
                <a:solidFill>
                  <a:srgbClr val="5D5A54"/>
                </a:solidFill>
                <a:latin typeface="Inter Tight"/>
              </a:rPr>
              <a:t>Culture, family, identity, ability and money: what to keep in mind for this topic.</a:t>
            </a:r>
          </a:p>
        </p:txBody>
      </p:sp>
      <p:sp>
        <p:nvSpPr>
          <p:cNvPr id="6" name="TextBox 5"/>
          <p:cNvSpPr txBox="1"/>
          <p:nvPr/>
        </p:nvSpPr>
        <p:spPr>
          <a:xfrm>
            <a:off x="54864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Every gender.</a:t>
            </a:r>
          </a:p>
          <a:p>
            <a:pPr algn="l">
              <a:spcAft>
                <a:spcPts val="585"/>
              </a:spcAft>
            </a:pPr>
            <a:r>
              <a:rPr sz="1300" b="0" i="0">
                <a:solidFill>
                  <a:srgbClr val="1C1B19"/>
                </a:solidFill>
                <a:latin typeface="Source Serif 4"/>
              </a:rPr>
              <a:t>Boys and nonbinary students are assaulted too and are often less likely to tell. Say it directly, and include "guys always want it" in the myths.</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LGBTQ+ students.</a:t>
            </a:r>
          </a:p>
          <a:p>
            <a:pPr algn="l">
              <a:spcAft>
                <a:spcPts val="585"/>
              </a:spcAft>
            </a:pPr>
            <a:r>
              <a:rPr sz="1300" b="0" i="0">
                <a:solidFill>
                  <a:srgbClr val="1C1B19"/>
                </a:solidFill>
                <a:latin typeface="Source Serif 4"/>
              </a:rPr>
              <a:t>Use examples with same-gender couples alongside others, and never make consent sound like a rule only for boys pursuing girls. Outing someone, or threatening to, is a form of pressure.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Who they tell first.</a:t>
            </a:r>
          </a:p>
          <a:p>
            <a:pPr algn="l">
              <a:spcAft>
                <a:spcPts val="585"/>
              </a:spcAft>
            </a:pPr>
            <a:r>
              <a:rPr sz="1300" b="0" i="0">
                <a:solidFill>
                  <a:srgbClr val="1C1B19"/>
                </a:solidFill>
                <a:latin typeface="Source Serif 4"/>
              </a:rPr>
              <a:t>Depending on family and culture, a student might first tell a friend, sibling, aunt, coach, faith leader or counselor. Any start counts. Don't present one route as the right one.</a:t>
            </a:r>
          </a:p>
          <a:p>
            <a:pPr algn="l">
              <a:spcAft>
                <a:spcPts val="585"/>
              </a:spcAft>
            </a:pPr>
            <a:r>
              <a:rPr sz="1300" b="0" i="0">
                <a:solidFill>
                  <a:srgbClr val="1C1B19"/>
                </a:solidFill>
                <a:latin typeface="Source Serif 4"/>
              </a:rPr>
              <a:t/>
            </a:r>
          </a:p>
        </p:txBody>
      </p:sp>
      <p:sp>
        <p:nvSpPr>
          <p:cNvPr id="7" name="TextBox 6"/>
          <p:cNvSpPr txBox="1"/>
          <p:nvPr/>
        </p:nvSpPr>
        <p:spPr>
          <a:xfrm>
            <a:off x="6217920" y="1828800"/>
            <a:ext cx="5394960" cy="4572000"/>
          </a:xfrm>
          <a:prstGeom prst="rect">
            <a:avLst/>
          </a:prstGeom>
          <a:noFill/>
        </p:spPr>
        <p:txBody>
          <a:bodyPr wrap="square" anchor="t" lIns="0" rIns="0" tIns="0" bIns="0">
            <a:spAutoFit/>
          </a:bodyPr>
          <a:lstStyle/>
          <a:p>
            <a:pPr algn="l">
              <a:spcAft>
                <a:spcPts val="585"/>
              </a:spcAft>
            </a:pPr>
            <a:r>
              <a:rPr sz="1500" b="1" i="0">
                <a:solidFill>
                  <a:srgbClr val="1C1B19"/>
                </a:solidFill>
                <a:latin typeface="Source Serif 4"/>
              </a:rPr>
              <a:t>Faith and family values.</a:t>
            </a:r>
          </a:p>
          <a:p>
            <a:pPr algn="l">
              <a:spcAft>
                <a:spcPts val="585"/>
              </a:spcAft>
            </a:pPr>
            <a:r>
              <a:rPr sz="1300" b="0" i="0">
                <a:solidFill>
                  <a:srgbClr val="1C1B19"/>
                </a:solidFill>
                <a:latin typeface="Source Serif 4"/>
              </a:rPr>
              <a:t>Some students come from families or faiths where dating or sex before marriage isn't accepted. Consent applies to every kind of touch and every photo, so the lesson fits all of them. Never assume students are sexually active.</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Disability.</a:t>
            </a:r>
          </a:p>
          <a:p>
            <a:pPr algn="l">
              <a:spcAft>
                <a:spcPts val="585"/>
              </a:spcAft>
            </a:pPr>
            <a:r>
              <a:rPr sz="1300" b="0" i="0">
                <a:solidFill>
                  <a:srgbClr val="1C1B19"/>
                </a:solidFill>
                <a:latin typeface="Source Serif 4"/>
              </a:rPr>
              <a:t>Students with disabilities face higher risk and are often treated as unable to say yes or no. Capacity means being able to understand and decide, and a disability doesn't take that away.</a:t>
            </a:r>
          </a:p>
          <a:p>
            <a:pPr algn="l">
              <a:spcAft>
                <a:spcPts val="585"/>
              </a:spcAft>
            </a:pPr>
            <a:r>
              <a:rPr sz="1300" b="0" i="0">
                <a:solidFill>
                  <a:srgbClr val="1C1B19"/>
                </a:solidFill>
                <a:latin typeface="Source Serif 4"/>
              </a:rPr>
              <a:t/>
            </a:r>
          </a:p>
          <a:p>
            <a:pPr algn="l">
              <a:spcAft>
                <a:spcPts val="585"/>
              </a:spcAft>
            </a:pPr>
            <a:r>
              <a:rPr sz="1500" b="1" i="0">
                <a:solidFill>
                  <a:srgbClr val="1C1B19"/>
                </a:solidFill>
                <a:latin typeface="Source Serif 4"/>
              </a:rPr>
              <a:t>Fear of police or reporting.</a:t>
            </a:r>
          </a:p>
          <a:p>
            <a:pPr algn="l">
              <a:spcAft>
                <a:spcPts val="585"/>
              </a:spcAft>
            </a:pPr>
            <a:r>
              <a:rPr sz="1300" b="0" i="0">
                <a:solidFill>
                  <a:srgbClr val="1C1B19"/>
                </a:solidFill>
                <a:latin typeface="Source Serif 4"/>
              </a:rPr>
              <a:t>Some students fear what reporting means for their family. Medical care helps even without a report, RAINN is confidential, and the student decides what to do next.</a:t>
            </a:r>
          </a:p>
          <a:p>
            <a:pPr algn="l">
              <a:spcAft>
                <a:spcPts val="585"/>
              </a:spcAft>
            </a:pPr>
            <a:r>
              <a:rPr sz="1300" b="0" i="0">
                <a:solidFill>
                  <a:srgbClr val="1C1B19"/>
                </a:solidFill>
                <a:latin typeface="Source Serif 4"/>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EEEBE4"/>
        </a:solidFill>
        <a:effectLst/>
      </p:bgPr>
    </p:bg>
    <p:spTree>
      <p:nvGrpSpPr>
        <p:cNvPr id="1" name=""/>
        <p:cNvGrpSpPr/>
        <p:nvPr/>
      </p:nvGrpSpPr>
      <p:grpSpPr/>
      <p:sp>
        <p:nvSpPr>
          <p:cNvPr id="2" name="Rectangle 1"/>
          <p:cNvSpPr/>
          <p:nvPr/>
        </p:nvSpPr>
        <p:spPr>
          <a:xfrm>
            <a:off x="0" y="0"/>
            <a:ext cx="12191695" cy="384048"/>
          </a:xfrm>
          <a:prstGeom prst="rect">
            <a:avLst/>
          </a:prstGeom>
          <a:solidFill>
            <a:srgbClr val="0B2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00584"/>
            <a:ext cx="10972800" cy="274320"/>
          </a:xfrm>
          <a:prstGeom prst="rect">
            <a:avLst/>
          </a:prstGeom>
          <a:noFill/>
        </p:spPr>
        <p:txBody>
          <a:bodyPr wrap="square" anchor="t" lIns="0" rIns="0" tIns="0" bIns="0">
            <a:spAutoFit/>
          </a:bodyPr>
          <a:lstStyle/>
          <a:p>
            <a:pPr algn="l">
              <a:spcAft>
                <a:spcPts val="495"/>
              </a:spcAft>
            </a:pPr>
            <a:r>
              <a:rPr sz="1100" b="1" i="0">
                <a:solidFill>
                  <a:srgbClr val="FFFFFF"/>
                </a:solidFill>
                <a:latin typeface="Inter Tight"/>
              </a:rPr>
              <a:t>TEACHER PAGE  ·  skipped when you present  ·  Background</a:t>
            </a:r>
          </a:p>
        </p:txBody>
      </p:sp>
      <p:sp>
        <p:nvSpPr>
          <p:cNvPr id="4" name="TextBox 3"/>
          <p:cNvSpPr txBox="1"/>
          <p:nvPr/>
        </p:nvSpPr>
        <p:spPr>
          <a:xfrm>
            <a:off x="548640" y="685800"/>
            <a:ext cx="10972800" cy="640080"/>
          </a:xfrm>
          <a:prstGeom prst="rect">
            <a:avLst/>
          </a:prstGeom>
          <a:noFill/>
        </p:spPr>
        <p:txBody>
          <a:bodyPr wrap="square" anchor="t" lIns="0" rIns="0" tIns="0" bIns="0">
            <a:spAutoFit/>
          </a:bodyPr>
          <a:lstStyle/>
          <a:p>
            <a:pPr algn="l">
              <a:spcAft>
                <a:spcPts val="1350"/>
              </a:spcAft>
            </a:pPr>
            <a:r>
              <a:rPr sz="3000" b="1" i="0">
                <a:solidFill>
                  <a:srgbClr val="1C1B19"/>
                </a:solidFill>
                <a:latin typeface="Source Serif 4"/>
              </a:rPr>
              <a:t>What the research says</a:t>
            </a:r>
          </a:p>
        </p:txBody>
      </p:sp>
      <p:sp>
        <p:nvSpPr>
          <p:cNvPr id="5" name="TextBox 4"/>
          <p:cNvSpPr txBox="1"/>
          <p:nvPr/>
        </p:nvSpPr>
        <p:spPr>
          <a:xfrm>
            <a:off x="54864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70% of 298 women seen after a sexual assault reported significant involuntary paralysis during it, and 48% extreme paralysis (tonic immobility).</a:t>
            </a:r>
          </a:p>
          <a:p>
            <a:pPr algn="l">
              <a:spcAft>
                <a:spcPts val="585"/>
              </a:spcAft>
            </a:pPr>
            <a:r>
              <a:rPr sz="1050" b="0" i="0">
                <a:solidFill>
                  <a:srgbClr val="5D5A54"/>
                </a:solidFill>
                <a:latin typeface="Inter Tight"/>
              </a:rPr>
              <a:t>Möller, Söndergaard and Helström, Acta Obstetricia et Gynecologica Scandinavica, 2017</a:t>
            </a:r>
          </a:p>
          <a:p>
            <a:pPr algn="l">
              <a:spcAft>
                <a:spcPts val="585"/>
              </a:spcAft>
            </a:pPr>
            <a:r>
              <a:rPr sz="1300" b="0" i="0">
                <a:solidFill>
                  <a:srgbClr val="1C1B19"/>
                </a:solidFill>
                <a:latin typeface="Source Serif 4"/>
              </a:rPr>
              <a:t>In speed dating, men on average overestimated women's sexual interest, and women tended to underestimate men's.</a:t>
            </a:r>
          </a:p>
          <a:p>
            <a:pPr algn="l">
              <a:spcAft>
                <a:spcPts val="585"/>
              </a:spcAft>
            </a:pPr>
            <a:r>
              <a:rPr sz="1050" b="0" i="0">
                <a:solidFill>
                  <a:srgbClr val="5D5A54"/>
                </a:solidFill>
                <a:latin typeface="Inter Tight"/>
              </a:rPr>
              <a:t>Perilloux, Easton and Buss, Psychological Science, 2012</a:t>
            </a:r>
          </a:p>
          <a:p>
            <a:pPr algn="l">
              <a:spcAft>
                <a:spcPts val="585"/>
              </a:spcAft>
            </a:pPr>
            <a:r>
              <a:rPr sz="1300" b="0" i="0">
                <a:solidFill>
                  <a:srgbClr val="1C1B19"/>
                </a:solidFill>
                <a:latin typeface="Source Serif 4"/>
              </a:rPr>
              <a:t>At least half of sexual assaults among college students involve alcohol, drunk by the person who did it, the person it happened to, or both.</a:t>
            </a:r>
          </a:p>
          <a:p>
            <a:pPr algn="l">
              <a:spcAft>
                <a:spcPts val="585"/>
              </a:spcAft>
            </a:pPr>
            <a:r>
              <a:rPr sz="1050" b="0" i="0">
                <a:solidFill>
                  <a:srgbClr val="5D5A54"/>
                </a:solidFill>
                <a:latin typeface="Inter Tight"/>
              </a:rPr>
              <a:t>Abbey, Journal of Studies on Alcohol, 2002</a:t>
            </a:r>
          </a:p>
          <a:p>
            <a:pPr algn="l">
              <a:spcAft>
                <a:spcPts val="585"/>
              </a:spcAft>
            </a:pPr>
            <a:r>
              <a:rPr sz="1300" b="0" i="0">
                <a:solidFill>
                  <a:srgbClr val="1C1B19"/>
                </a:solidFill>
                <a:latin typeface="Source Serif 4"/>
              </a:rPr>
              <a:t>In 2021, 14% of U.S. high school girls said they had been forced to have sex at some point, the first increase in ten years.</a:t>
            </a:r>
          </a:p>
          <a:p>
            <a:pPr algn="l">
              <a:spcAft>
                <a:spcPts val="585"/>
              </a:spcAft>
            </a:pPr>
            <a:r>
              <a:rPr sz="1050" b="0" i="0">
                <a:solidFill>
                  <a:srgbClr val="5D5A54"/>
                </a:solidFill>
                <a:latin typeface="Inter Tight"/>
              </a:rPr>
              <a:t>CDC Youth Risk Behavior Survey, 2023</a:t>
            </a:r>
          </a:p>
        </p:txBody>
      </p:sp>
      <p:sp>
        <p:nvSpPr>
          <p:cNvPr id="6" name="TextBox 5"/>
          <p:cNvSpPr txBox="1"/>
          <p:nvPr/>
        </p:nvSpPr>
        <p:spPr>
          <a:xfrm>
            <a:off x="6217920" y="1463040"/>
            <a:ext cx="5394960" cy="4937760"/>
          </a:xfrm>
          <a:prstGeom prst="rect">
            <a:avLst/>
          </a:prstGeom>
          <a:noFill/>
        </p:spPr>
        <p:txBody>
          <a:bodyPr wrap="square" anchor="t" lIns="0" rIns="0" tIns="0" bIns="0">
            <a:spAutoFit/>
          </a:bodyPr>
          <a:lstStyle/>
          <a:p>
            <a:pPr algn="l">
              <a:spcAft>
                <a:spcPts val="585"/>
              </a:spcAft>
            </a:pPr>
            <a:r>
              <a:rPr sz="1300" b="0" i="0">
                <a:solidFill>
                  <a:srgbClr val="1C1B19"/>
                </a:solidFill>
                <a:latin typeface="Source Serif 4"/>
              </a:rPr>
              <a:t>Across 39 studies of more than 110,000 teens, about 15% had sent a sext, 27% had received one, 12% had forwarded one without permission, and 8% had their own forwarded.</a:t>
            </a:r>
          </a:p>
          <a:p>
            <a:pPr algn="l">
              <a:spcAft>
                <a:spcPts val="585"/>
              </a:spcAft>
            </a:pPr>
            <a:r>
              <a:rPr sz="1050" b="0" i="0">
                <a:solidFill>
                  <a:srgbClr val="5D5A54"/>
                </a:solidFill>
                <a:latin typeface="Inter Tight"/>
              </a:rPr>
              <a:t>Madigan et al., JAMA Pediatrics, 2018</a:t>
            </a:r>
          </a:p>
          <a:p>
            <a:pPr algn="l">
              <a:spcAft>
                <a:spcPts val="585"/>
              </a:spcAft>
            </a:pPr>
            <a:r>
              <a:rPr sz="1300" b="0" i="0">
                <a:solidFill>
                  <a:srgbClr val="1C1B19"/>
                </a:solidFill>
                <a:latin typeface="Source Serif 4"/>
              </a:rPr>
              <a:t>Across 26 Kentucky high schools, schools that trained students to step in had less sexual violence in the years that followed.</a:t>
            </a:r>
          </a:p>
          <a:p>
            <a:pPr algn="l">
              <a:spcAft>
                <a:spcPts val="585"/>
              </a:spcAft>
            </a:pPr>
            <a:r>
              <a:rPr sz="1050" b="0" i="0">
                <a:solidFill>
                  <a:srgbClr val="5D5A54"/>
                </a:solidFill>
                <a:latin typeface="Inter Tight"/>
              </a:rPr>
              <a:t>Coker et al., American Journal of Preventive Medicine, 2017</a:t>
            </a:r>
          </a:p>
          <a:p>
            <a:pPr algn="l">
              <a:spcAft>
                <a:spcPts val="585"/>
              </a:spcAft>
            </a:pPr>
            <a:r>
              <a:rPr sz="1300" b="0" i="0">
                <a:solidFill>
                  <a:srgbClr val="1C1B19"/>
                </a:solidFill>
                <a:latin typeface="Source Serif 4"/>
              </a:rPr>
              <a:t>In Massachusetts, a person under 16 can't legally consent to sex. Since 2024, sharing someone's explicit images without consent is a crime, including AI fakes, and most teens are sent to an education program instead of being charged.</a:t>
            </a:r>
          </a:p>
          <a:p>
            <a:pPr algn="l">
              <a:spcAft>
                <a:spcPts val="585"/>
              </a:spcAft>
            </a:pPr>
            <a:r>
              <a:rPr sz="1050" b="0" i="0">
                <a:solidFill>
                  <a:srgbClr val="5D5A54"/>
                </a:solidFill>
                <a:latin typeface="Inter Tight"/>
              </a:rPr>
              <a:t>Massachusetts General Laws c. 265 § 23; St. 2024, c. 118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