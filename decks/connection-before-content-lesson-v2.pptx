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why you're here. Something like: "Every one of you already does this with some students. Today is about why it matters so much in high school, and how to do it on purpose with the students we haven't reached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Two minutes of writing, then take five or six answers. Write what they did on the board. You'll almost always hear small, personal things: knew my name on day one, came to my game, noticed I was off, told us about their own kid, held a high bar and believed I could hit it. Almost nobody says "they covered the curriculum well." There's no survey with a percentage for this, so let the room find it. The closest research: when Van Bergen and colleagues interviewed 96 students in grades 3 to 10 about past teachers, every group tied its best relationships to teachers who were kind, caring, helpful or funny. Point at the board: "That's the talk. The rest is the research behind your list and some ways to do more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 common belief is that relationships matter most with little kids and high school is about content. The meta-analyses say the opposite for engagement: the link between warm relationships and engagement is stronger in secondary school. Cornelius-White pooled 119 studies and 355,325 students; warmth, empathy and encouraging thinking correlated with outcomes at about .31, which is above average for anything schools try. Be honest that these are mostly correlational; the next slide is the experimental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These are randomized trials, which is why they matter. My Teaching Partner-Secondary coached middle and high school teachers about twice a month using video of their own classes; the coaching focused on warmth, sensitivity, and respecting adolescents' perspectives. The gain showed up the year after coaching ended. Caveat: a third of teachers dropped out, so the federal clearinghouse rates it "with reservations." Gehlbach is the most hopeful for today: a single get-to-know-you survey, and the effects were biggest for the students the school usually served least well. One school, so hold it lightly.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Martin and Collie followed students in 18 high schools who rated five of their teachers. It wasn't all or nothing: every additional positive relationship added something, and positives carried more weight than negatives. Steiner used a national sample of about 14,800 people followed from adolescence into adulthood. The 48 to 66 percent lower odds figure is for teens high in both school and family connectedness, and these are associations, not proof. Still: this is health, not only grades. Optional analogy if it fits your voice: think of it like a bank account. Every correction is a withdrawal. Make deposits when nothing's due.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Yeager, Dahl and Dweck (2018): programs that lecture teenagers tend to fail because they clash with a stronger need for respect and status at this age; programs that treat teens with respect do better. Gregory and Ripski (2008) found discipline-referred high schoolers were more cooperative with teachers who took a relational approach, and trust explained the link. Ask the room: which column does a phone confiscation in front of the class fall in? Same rule, delivered privately, can land in the right column.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This is the heart of the talk. None of these touch the schoolwork, and none take more than thirty seconds. The one-thing list is the version of Gehlbach's survey teachers can do themselves: a three-question index card in week one (What do you do when you're not in school? What's something you're good at that school doesn't see? What should I know about you?). Keep it in your gradebook and look at it before class. Notice-out-loud works best without a follow-up question; students who feel watched get uneasy, and students who feel seen relax. If your school ran Kids Do Well If They Can, the two-minute habit from that talk belongs here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Showing up is the move students remember for years; one appearance is enough. Telling them afterward matters as much as going. Sharing yourself is where Gehlbach's shared-similarity finding lives: students feel closer to a teacher once they find something in common, so give them something to find. Keep it small and real, and keep the focus on them. Asking their advice is respect in action (Yeager): you're giving them standing. A positive note home lands hard in families who only hear from school when something's wrong. Ask the room what else they do; the best ideas are usually already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 student who has checked out of the work has usually heard plenty about the work. Lead with the person; the work conversation lands better once there's something to stand on. Building a bridge is what MTP coaches call regard for adolescent perspectives: content relevance, autonomy and leadership. A job (running the timer, choosing the example, running the slides, teaching a classmate the part they get) gives a student standing. The last one is the warm demander stance (Bondy and Ross): warmth without a bar feels like pity; a bar without warmth feels like a wall. Teenagers can tell the difference between low expectations and kindness.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Every teacher will have a rough moment with a student. What matters is what happens next. This is the Restore step in Cook's Establish-Maintain-Restore. Be straight about the evidence: it's strongest in 4th and 5th grade; a high school pilot didn't find significant effects, so this is sensible practice rather than proof for teens. A teacher who repairs teaches the student that conflict doesn't end relationships, which plenty of teenagers have never seen an adult 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Give four minutes of quiet. Then ask, without names: "What do you notice about the students without a check?" Expect: quiet ones, students who do fine and never need anything, students unlike me, students who sit in the back. Worth naming: in Van Bergen's interviews, up to a third of students with a history of disruptive behavior couldn't recall one good relationship with a teacher. Some of the students without a check have never had one. This is a classroom version of Making Caring Common's relationship mapping, a free tool from Harvard (widely used, not tested in a trial). If the school wants to do it faculty-wide, the counseling team can run it at a later meeting.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5 MINUTES if time allows. One card per small group. Jordan: one thing from the earbuds ("What are you listening to?"), then follow up next week. Mei: connection isn't only for students who struggle; high achievers often have no adult who knows them past their grades. Ask her advice on something, or notice something that isn't academic. Andrés: early arrival is an open door; two minutes before class about anything but school. Don't let the groups solve the student; just pick a first move.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Invite, don't assign: "If you want a place to start." Point to the faculty quick reference. Close with the board from the opening: "Every one of these was small. You'll be on somebody's card someday." Bring in the counseling team when a student seems low for weeks, tells you something heavy, or nothing you try lands. You don't have to do it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Connection Before Content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professional development  ·  45 minutes (30-minute version below)  ·  Led by counseling  ·  Upper School, any subject</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Teachers leave knowing why the relationship carries the learning in high school, with a short list of ways to connect that have nothing to do with the schoolwork, a plan for the student who has checked out of the work, a way to repair things after a rough moment, and two or three names to start with.</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teacher</a:t>
            </a:r>
          </a:p>
          <a:p>
            <a:pPr algn="l">
              <a:spcAft>
                <a:spcPts val="675"/>
              </a:spcAft>
            </a:pPr>
            <a:r>
              <a:rPr sz="1500" b="0" i="0">
                <a:solidFill>
                  <a:srgbClr val="1C1B19"/>
                </a:solidFill>
                <a:latin typeface="Source Serif 4"/>
              </a:rPr>
              <a:t>Each teacher's class rosters (on a laptop or printed)</a:t>
            </a:r>
          </a:p>
          <a:p>
            <a:pPr algn="l">
              <a:spcAft>
                <a:spcPts val="675"/>
              </a:spcAft>
            </a:pPr>
            <a:r>
              <a:rPr sz="1500" b="0" i="0">
                <a:solidFill>
                  <a:srgbClr val="1C1B19"/>
                </a:solidFill>
                <a:latin typeface="Source Serif 4"/>
              </a:rPr>
              <a:t>The faculty quick reference (last slide), printed or linked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Opening: your favorite high school teacher</a:t>
            </a:r>
          </a:p>
          <a:p>
            <a:pPr algn="l">
              <a:spcAft>
                <a:spcPts val="630"/>
              </a:spcAft>
            </a:pPr>
            <a:r>
              <a:rPr sz="1300" b="1" i="0">
                <a:solidFill>
                  <a:srgbClr val="F47B20"/>
                </a:solidFill>
                <a:latin typeface="Inter Tight"/>
              </a:rPr>
              <a:t>8 min   </a:t>
            </a:r>
            <a:r>
              <a:rPr sz="1400" b="0" i="0">
                <a:solidFill>
                  <a:srgbClr val="1C1B19"/>
                </a:solidFill>
                <a:latin typeface="Source Serif 4"/>
              </a:rPr>
              <a:t>The research: why the relationship carries the learning</a:t>
            </a:r>
          </a:p>
          <a:p>
            <a:pPr algn="l">
              <a:spcAft>
                <a:spcPts val="630"/>
              </a:spcAft>
            </a:pPr>
            <a:r>
              <a:rPr sz="1300" b="1" i="0">
                <a:solidFill>
                  <a:srgbClr val="F47B20"/>
                </a:solidFill>
                <a:latin typeface="Inter Tight"/>
              </a:rPr>
              <a:t>4 min   </a:t>
            </a:r>
            <a:r>
              <a:rPr sz="1400" b="0" i="0">
                <a:solidFill>
                  <a:srgbClr val="1C1B19"/>
                </a:solidFill>
                <a:latin typeface="Source Serif 4"/>
              </a:rPr>
              <a:t>What teenagers need from adults</a:t>
            </a:r>
          </a:p>
          <a:p>
            <a:pPr algn="l">
              <a:spcAft>
                <a:spcPts val="630"/>
              </a:spcAft>
            </a:pPr>
            <a:r>
              <a:rPr sz="1300" b="1" i="0">
                <a:solidFill>
                  <a:srgbClr val="F47B20"/>
                </a:solidFill>
                <a:latin typeface="Inter Tight"/>
              </a:rPr>
              <a:t>8 min   </a:t>
            </a:r>
            <a:r>
              <a:rPr sz="1400" b="0" i="0">
                <a:solidFill>
                  <a:srgbClr val="1C1B19"/>
                </a:solidFill>
                <a:latin typeface="Source Serif 4"/>
              </a:rPr>
              <a:t>Connection outside the schoolwork</a:t>
            </a:r>
          </a:p>
          <a:p>
            <a:pPr algn="l">
              <a:spcAft>
                <a:spcPts val="630"/>
              </a:spcAft>
            </a:pPr>
            <a:r>
              <a:rPr sz="1300" b="1" i="0">
                <a:solidFill>
                  <a:srgbClr val="F47B20"/>
                </a:solidFill>
                <a:latin typeface="Inter Tight"/>
              </a:rPr>
              <a:t>5 min   </a:t>
            </a:r>
            <a:r>
              <a:rPr sz="1400" b="0" i="0">
                <a:solidFill>
                  <a:srgbClr val="1C1B19"/>
                </a:solidFill>
                <a:latin typeface="Source Serif 4"/>
              </a:rPr>
              <a:t>The student who has checked out of the work</a:t>
            </a:r>
          </a:p>
          <a:p>
            <a:pPr algn="l">
              <a:spcAft>
                <a:spcPts val="630"/>
              </a:spcAft>
            </a:pPr>
            <a:r>
              <a:rPr sz="1300" b="1" i="0">
                <a:solidFill>
                  <a:srgbClr val="F47B20"/>
                </a:solidFill>
                <a:latin typeface="Inter Tight"/>
              </a:rPr>
              <a:t>4 min   </a:t>
            </a:r>
            <a:r>
              <a:rPr sz="1400" b="0" i="0">
                <a:solidFill>
                  <a:srgbClr val="1C1B19"/>
                </a:solidFill>
                <a:latin typeface="Source Serif 4"/>
              </a:rPr>
              <a:t>When it goes sideways: repair</a:t>
            </a:r>
          </a:p>
          <a:p>
            <a:pPr algn="l">
              <a:spcAft>
                <a:spcPts val="630"/>
              </a:spcAft>
            </a:pPr>
            <a:r>
              <a:rPr sz="1300" b="1" i="0">
                <a:solidFill>
                  <a:srgbClr val="F47B20"/>
                </a:solidFill>
                <a:latin typeface="Inter Tight"/>
              </a:rPr>
              <a:t>7 min   </a:t>
            </a:r>
            <a:r>
              <a:rPr sz="1400" b="0" i="0">
                <a:solidFill>
                  <a:srgbClr val="1C1B19"/>
                </a:solidFill>
                <a:latin typeface="Source Serif 4"/>
              </a:rPr>
              <a:t>Who do you know? (roster exercise)</a:t>
            </a:r>
          </a:p>
          <a:p>
            <a:pPr algn="l">
              <a:spcAft>
                <a:spcPts val="630"/>
              </a:spcAft>
            </a:pPr>
            <a:r>
              <a:rPr sz="1300" b="1" i="0">
                <a:solidFill>
                  <a:srgbClr val="F47B20"/>
                </a:solidFill>
                <a:latin typeface="Inter Tight"/>
              </a:rPr>
              <a:t>4 min   </a:t>
            </a:r>
            <a:r>
              <a:rPr sz="1400" b="0" i="0">
                <a:solidFill>
                  <a:srgbClr val="1C1B19"/>
                </a:solidFill>
                <a:latin typeface="Source Serif 4"/>
              </a:rPr>
              <a:t>Two or three names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Thirty minutes: the opening card (3), the research, two slides only (5), what teenagers need (3), connection outside the schoolwork (7), checked out of the work (4), who do you know (5), two or three names (3). Skip repair or give it one sentence. Share the faculty quick reference afterward.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Nobody here is cold.</a:t>
            </a:r>
          </a:p>
          <a:p>
            <a:pPr algn="l">
              <a:spcAft>
                <a:spcPts val="585"/>
              </a:spcAft>
            </a:pPr>
            <a:r>
              <a:rPr sz="1300" b="0" i="0">
                <a:solidFill>
                  <a:srgbClr val="1C1B19"/>
                </a:solidFill>
                <a:latin typeface="Source Serif 4"/>
              </a:rPr>
              <a:t>Most teachers already connect with plenty of students. Say so early. This talk is about the students we haven't reached yet, and about doing more of what already works, on purpose.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Connection isn't friendship.</a:t>
            </a:r>
          </a:p>
          <a:p>
            <a:pPr algn="l">
              <a:spcAft>
                <a:spcPts val="585"/>
              </a:spcAft>
            </a:pPr>
            <a:r>
              <a:rPr sz="1300" b="0" i="0">
                <a:solidFill>
                  <a:srgbClr val="1C1B19"/>
                </a:solidFill>
                <a:latin typeface="Source Serif 4"/>
              </a:rPr>
              <a:t>Warm and professional go together. Keep conversations in public spaces or with the door open, keep messages on school channels, and stay the adult in the room. Students want a teacher who's on their side, not a buddy.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You can't be close to 120 students.</a:t>
            </a:r>
          </a:p>
          <a:p>
            <a:pPr algn="l">
              <a:spcAft>
                <a:spcPts val="585"/>
              </a:spcAft>
            </a:pPr>
            <a:r>
              <a:rPr sz="1300" b="0" i="0">
                <a:solidFill>
                  <a:srgbClr val="1C1B19"/>
                </a:solidFill>
                <a:latin typeface="Source Serif 4"/>
              </a:rPr>
              <a:t>Nobody can. The aim is that every student has something with you: you know their name, one thing about them, and they know you noticed. A few will need more, and that's where the roster exercise helps.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Two minutes, not a program.</a:t>
            </a:r>
          </a:p>
          <a:p>
            <a:pPr algn="l">
              <a:spcAft>
                <a:spcPts val="585"/>
              </a:spcAft>
            </a:pPr>
            <a:r>
              <a:rPr sz="1300" b="0" i="0">
                <a:solidFill>
                  <a:srgbClr val="1C1B19"/>
                </a:solidFill>
                <a:latin typeface="Source Serif 4"/>
              </a:rPr>
              <a:t>If Kids Do Well If They Can ran earlier, connect the dots: the two-minute habit from that talk is one of these moves. Don't re-teach it; point back to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a student tells you something heavy.</a:t>
            </a:r>
          </a:p>
          <a:p>
            <a:pPr algn="l">
              <a:spcAft>
                <a:spcPts val="585"/>
              </a:spcAft>
            </a:pPr>
            <a:r>
              <a:rPr sz="1300" b="0" i="0">
                <a:solidFill>
                  <a:srgbClr val="1C1B19"/>
                </a:solidFill>
                <a:latin typeface="Source Serif 4"/>
              </a:rPr>
              <a:t>Closeness means students tell you things. If a student shares something about safety, harm or home that worries you, walk them to the counseling office that day. You don't have to carry it, and you shouldn't promise to keep it secret.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Teachers have limits too.</a:t>
            </a:r>
          </a:p>
          <a:p>
            <a:pPr algn="l">
              <a:spcAft>
                <a:spcPts val="585"/>
              </a:spcAft>
            </a:pPr>
            <a:r>
              <a:rPr sz="1300" b="0" i="0">
                <a:solidFill>
                  <a:srgbClr val="1C1B19"/>
                </a:solidFill>
                <a:latin typeface="Source Serif 4"/>
              </a:rPr>
              <a:t>Connection takes energy. A teacher who is running on empty will connect less, and that's a signal to take care of the teacher, not a failing. Name that warmly.</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We connect fastest with students like us.</a:t>
            </a:r>
          </a:p>
          <a:p>
            <a:pPr algn="l">
              <a:spcAft>
                <a:spcPts val="585"/>
              </a:spcAft>
            </a:pPr>
            <a:r>
              <a:rPr sz="1300" b="0" i="0">
                <a:solidFill>
                  <a:srgbClr val="1C1B19"/>
                </a:solidFill>
                <a:latin typeface="Source Serif 4"/>
              </a:rPr>
              <a:t>Gehlbach's study shows similarity builds closeness, which means the students who share our background, interests or style get more of us by default. Look at the roster for who's missing, and go find something you share with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Names.</a:t>
            </a:r>
          </a:p>
          <a:p>
            <a:pPr algn="l">
              <a:spcAft>
                <a:spcPts val="585"/>
              </a:spcAft>
            </a:pPr>
            <a:r>
              <a:rPr sz="1300" b="0" i="0">
                <a:solidFill>
                  <a:srgbClr val="1C1B19"/>
                </a:solidFill>
                <a:latin typeface="Source Serif 4"/>
              </a:rPr>
              <a:t>Ask each student how to say their name, practice it, and use it. Don't shorten or anglicize it unless the student asks you to. A name said right is the cheapest, clearest sign that a student belongs.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What respect looks like varies.</a:t>
            </a:r>
          </a:p>
          <a:p>
            <a:pPr algn="l">
              <a:spcAft>
                <a:spcPts val="585"/>
              </a:spcAft>
            </a:pPr>
            <a:r>
              <a:rPr sz="1300" b="0" i="0">
                <a:solidFill>
                  <a:srgbClr val="1C1B19"/>
                </a:solidFill>
                <a:latin typeface="Source Serif 4"/>
              </a:rPr>
              <a:t>In some families, children are taught to keep a respectful distance from teachers, avoid eye contact with adults, or never talk about home. A quiet student may be showing respect, not disinterest. Let them set the pace.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Show up across the whole school.</a:t>
            </a:r>
          </a:p>
          <a:p>
            <a:pPr algn="l">
              <a:spcAft>
                <a:spcPts val="585"/>
              </a:spcAft>
            </a:pPr>
            <a:r>
              <a:rPr sz="1300" b="0" i="0">
                <a:solidFill>
                  <a:srgbClr val="1C1B19"/>
                </a:solidFill>
                <a:latin typeface="Source Serif 4"/>
              </a:rPr>
              <a:t>Games are easy to find. So are plays. Robotics, a debate round, a cultural club's event, a student's art in the hallway count too. If a student invites you to something from their community, it's an honor; go if you can.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can stay after.</a:t>
            </a:r>
          </a:p>
          <a:p>
            <a:pPr algn="l">
              <a:spcAft>
                <a:spcPts val="585"/>
              </a:spcAft>
            </a:pPr>
            <a:r>
              <a:rPr sz="1300" b="0" i="0">
                <a:solidFill>
                  <a:srgbClr val="1C1B19"/>
                </a:solidFill>
                <a:latin typeface="Source Serif 4"/>
              </a:rPr>
              <a:t>Students who work, ride a late bus, care for siblings or live far away can't hang around after class. Build connection into the minutes you already have with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assume.</a:t>
            </a:r>
          </a:p>
          <a:p>
            <a:pPr algn="l">
              <a:spcAft>
                <a:spcPts val="585"/>
              </a:spcAft>
            </a:pPr>
            <a:r>
              <a:rPr sz="1300" b="0" i="0">
                <a:solidFill>
                  <a:srgbClr val="1C1B19"/>
                </a:solidFill>
                <a:latin typeface="Source Serif 4"/>
              </a:rPr>
              <a:t>Ask open questions ("Anything fun this weekend?"), not ones that assume a family, holiday, religion, money or dating life. LGBTQ+ students, students in foster care, and students with a parent who's gone notice these questions.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Side by side works for some.</a:t>
            </a:r>
          </a:p>
          <a:p>
            <a:pPr algn="l">
              <a:spcAft>
                <a:spcPts val="585"/>
              </a:spcAft>
            </a:pPr>
            <a:r>
              <a:rPr sz="1300" b="0" i="0">
                <a:solidFill>
                  <a:srgbClr val="1C1B19"/>
                </a:solidFill>
                <a:latin typeface="Source Serif 4"/>
              </a:rPr>
              <a:t>Some students, including many neurodivergent students, find face-to-face talk hard. Walking together, working on something with your hands, or a quick written note can work better than eye contact and questions.</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Across 99 studies from preschool through high school, warm teacher-student relationships were linked to student engagement (medium to large) and achievement (small to medium), and conflict-filled ones to lower engagement and achievement. Overall, the links were stronger in the higher grades.</a:t>
            </a:r>
          </a:p>
          <a:p>
            <a:pPr algn="l">
              <a:spcAft>
                <a:spcPts val="585"/>
              </a:spcAft>
            </a:pPr>
            <a:r>
              <a:rPr sz="1050" b="0" i="0">
                <a:solidFill>
                  <a:srgbClr val="5D5A54"/>
                </a:solidFill>
                <a:latin typeface="Inter Tight"/>
              </a:rPr>
              <a:t>Roorda, Koomen, Spilt and Oort, Review of Educational Research, 2011</a:t>
            </a:r>
          </a:p>
          <a:p>
            <a:pPr algn="l">
              <a:spcAft>
                <a:spcPts val="585"/>
              </a:spcAft>
            </a:pPr>
            <a:r>
              <a:rPr sz="1300" b="0" i="0">
                <a:solidFill>
                  <a:srgbClr val="1C1B19"/>
                </a:solidFill>
                <a:latin typeface="Source Serif 4"/>
              </a:rPr>
              <a:t>An update pooling 189 studies and about 249,000 students found engagement is part of the bridge between the relationship and achievement. The link between warm relationships and engagement was stronger in secondary school than in primary school.</a:t>
            </a:r>
          </a:p>
          <a:p>
            <a:pPr algn="l">
              <a:spcAft>
                <a:spcPts val="585"/>
              </a:spcAft>
            </a:pPr>
            <a:r>
              <a:rPr sz="1050" b="0" i="0">
                <a:solidFill>
                  <a:srgbClr val="5D5A54"/>
                </a:solidFill>
                <a:latin typeface="Inter Tight"/>
              </a:rPr>
              <a:t>Roorda, Jak, Zee, Oort and Koomen, School Psychology Review, 2017</a:t>
            </a:r>
          </a:p>
          <a:p>
            <a:pPr algn="l">
              <a:spcAft>
                <a:spcPts val="585"/>
              </a:spcAft>
            </a:pPr>
            <a:r>
              <a:rPr sz="1300" b="0" i="0">
                <a:solidFill>
                  <a:srgbClr val="1C1B19"/>
                </a:solidFill>
                <a:latin typeface="Source Serif 4"/>
              </a:rPr>
              <a:t>A meta-analysis of 119 studies and 355,325 students found learner-centered teacher qualities (warmth, empathy, encouraging thinking) correlated with student outcomes at r = .31, above average for educational practices, especially for engagement and behavior.</a:t>
            </a:r>
          </a:p>
          <a:p>
            <a:pPr algn="l">
              <a:spcAft>
                <a:spcPts val="585"/>
              </a:spcAft>
            </a:pPr>
            <a:r>
              <a:rPr sz="1050" b="0" i="0">
                <a:solidFill>
                  <a:srgbClr val="5D5A54"/>
                </a:solidFill>
                <a:latin typeface="Inter Tight"/>
              </a:rPr>
              <a:t>Cornelius-White, Review of Educational Research, 2007</a:t>
            </a:r>
          </a:p>
          <a:p>
            <a:pPr algn="l">
              <a:spcAft>
                <a:spcPts val="585"/>
              </a:spcAft>
            </a:pPr>
            <a:r>
              <a:rPr sz="1300" b="0" i="0">
                <a:solidFill>
                  <a:srgbClr val="1C1B19"/>
                </a:solidFill>
                <a:latin typeface="Source Serif 4"/>
              </a:rPr>
              <a:t>In a randomized trial of My Teaching Partner-Secondary, teachers got about twice-monthly coaching on their interactions with students (not their content). In the year after coaching, their students' achievement rose by the equivalent of moving from the 50th to the 59th percentile. About a third of teachers dropped out after randomization, so the What Works Clearinghouse rates it as meeting standards with reservations.</a:t>
            </a:r>
          </a:p>
          <a:p>
            <a:pPr algn="l">
              <a:spcAft>
                <a:spcPts val="585"/>
              </a:spcAft>
            </a:pPr>
            <a:r>
              <a:rPr sz="1050" b="0" i="0">
                <a:solidFill>
                  <a:srgbClr val="5D5A54"/>
                </a:solidFill>
                <a:latin typeface="Inter Tight"/>
              </a:rPr>
              <a:t>Allen, Pianta, Gregory, Mikami and Lun, Science, 2011</a:t>
            </a:r>
          </a:p>
          <a:p>
            <a:pPr algn="l">
              <a:spcAft>
                <a:spcPts val="585"/>
              </a:spcAft>
            </a:pPr>
            <a:r>
              <a:rPr sz="1300" b="0" i="0">
                <a:solidFill>
                  <a:srgbClr val="1C1B19"/>
                </a:solidFill>
                <a:latin typeface="Source Serif 4"/>
              </a:rPr>
              <a:t>In 86 secondary classrooms, teachers coached through My Teaching Partner had no significant gap in discipline referrals between Black students and their classmates, while control classrooms kept the gap.</a:t>
            </a:r>
          </a:p>
          <a:p>
            <a:pPr algn="l">
              <a:spcAft>
                <a:spcPts val="585"/>
              </a:spcAft>
            </a:pPr>
            <a:r>
              <a:rPr sz="1050" b="0" i="0">
                <a:solidFill>
                  <a:srgbClr val="5D5A54"/>
                </a:solidFill>
                <a:latin typeface="Inter Tight"/>
              </a:rPr>
              <a:t>Gregory, Hafen, Ruzek, Mikami, Allen and Pianta, School Psychology Review, 2016</a:t>
            </a:r>
          </a:p>
          <a:p>
            <a:pPr algn="l">
              <a:spcAft>
                <a:spcPts val="585"/>
              </a:spcAft>
            </a:pPr>
            <a:r>
              <a:rPr sz="1300" b="0" i="0">
                <a:solidFill>
                  <a:srgbClr val="1C1B19"/>
                </a:solidFill>
                <a:latin typeface="Source Serif 4"/>
              </a:rPr>
              <a:t>315 ninth graders and their 25 teachers filled out a get-to-know-you survey. When teachers learned five things they shared with specific students, they rated those relationships better, and those students earned higher course grades. The effects were largest for underserved students (one school; the authors call this part exploratory).</a:t>
            </a:r>
          </a:p>
          <a:p>
            <a:pPr algn="l">
              <a:spcAft>
                <a:spcPts val="585"/>
              </a:spcAft>
            </a:pPr>
            <a:r>
              <a:rPr sz="1050" b="0" i="0">
                <a:solidFill>
                  <a:srgbClr val="5D5A54"/>
                </a:solidFill>
                <a:latin typeface="Inter Tight"/>
              </a:rPr>
              <a:t>Gehlbach et al., Journal of Educational Psychology, 2016</a:t>
            </a:r>
          </a:p>
          <a:p>
            <a:pPr algn="l">
              <a:spcAft>
                <a:spcPts val="585"/>
              </a:spcAft>
            </a:pPr>
            <a:r>
              <a:rPr sz="1300" b="0" i="0">
                <a:solidFill>
                  <a:srgbClr val="1C1B19"/>
                </a:solidFill>
                <a:latin typeface="Source Serif 4"/>
              </a:rPr>
              <a:t>Following 2,079 high school students for a year, each additional positive relationship with a teacher went with more engagement, and the benefit of positive relationships outweighed the harm of negative ones.</a:t>
            </a:r>
          </a:p>
          <a:p>
            <a:pPr algn="l">
              <a:spcAft>
                <a:spcPts val="585"/>
              </a:spcAft>
            </a:pPr>
            <a:r>
              <a:rPr sz="1050" b="0" i="0">
                <a:solidFill>
                  <a:srgbClr val="5D5A54"/>
                </a:solidFill>
                <a:latin typeface="Inter Tight"/>
              </a:rPr>
              <a:t>Martin and Collie, Journal of Educational Psychology, 2019</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national sample of about 14,800 people, feeling connected to school as a teenager was linked to less emotional distress, suicidal thinking, violence and drug misuse in adulthood. Teens high in both school and family connectedness had 48 to 66 percent lower odds of these outcomes.</a:t>
            </a:r>
          </a:p>
          <a:p>
            <a:pPr algn="l">
              <a:spcAft>
                <a:spcPts val="585"/>
              </a:spcAft>
            </a:pPr>
            <a:r>
              <a:rPr sz="1050" b="0" i="0">
                <a:solidFill>
                  <a:srgbClr val="5D5A54"/>
                </a:solidFill>
                <a:latin typeface="Inter Tight"/>
              </a:rPr>
              <a:t>Steiner et al., Pediatrics, 2019 (Add Health data; associations, not proof of cause)</a:t>
            </a:r>
          </a:p>
          <a:p>
            <a:pPr algn="l">
              <a:spcAft>
                <a:spcPts val="585"/>
              </a:spcAft>
            </a:pPr>
            <a:r>
              <a:rPr sz="1300" b="0" i="0">
                <a:solidFill>
                  <a:srgbClr val="1C1B19"/>
                </a:solidFill>
                <a:latin typeface="Source Serif 4"/>
              </a:rPr>
              <a:t>Prevention programs that lecture often fail with teenagers because they clash with a stronger adolescent need for respect and status. Approaches that treat teens with respect and give them real standing do better.</a:t>
            </a:r>
          </a:p>
          <a:p>
            <a:pPr algn="l">
              <a:spcAft>
                <a:spcPts val="585"/>
              </a:spcAft>
            </a:pPr>
            <a:r>
              <a:rPr sz="1050" b="0" i="0">
                <a:solidFill>
                  <a:srgbClr val="5D5A54"/>
                </a:solidFill>
                <a:latin typeface="Inter Tight"/>
              </a:rPr>
              <a:t>Yeager, Dahl and Dweck, Perspectives on Psychological Science, 2018</a:t>
            </a:r>
          </a:p>
          <a:p>
            <a:pPr algn="l">
              <a:spcAft>
                <a:spcPts val="585"/>
              </a:spcAft>
            </a:pPr>
            <a:r>
              <a:rPr sz="1300" b="0" i="0">
                <a:solidFill>
                  <a:srgbClr val="1C1B19"/>
                </a:solidFill>
                <a:latin typeface="Source Serif 4"/>
              </a:rPr>
              <a:t>Discipline-referred high school students were more cooperative and less defiant with teachers who took a relational approach, and trust explained the link. A small, correlational study (32 teachers, 32 students).</a:t>
            </a:r>
          </a:p>
          <a:p>
            <a:pPr algn="l">
              <a:spcAft>
                <a:spcPts val="585"/>
              </a:spcAft>
            </a:pPr>
            <a:r>
              <a:rPr sz="1050" b="0" i="0">
                <a:solidFill>
                  <a:srgbClr val="5D5A54"/>
                </a:solidFill>
                <a:latin typeface="Inter Tight"/>
              </a:rPr>
              <a:t>Gregory and Ripski, School Psychology Review, 2008</a:t>
            </a:r>
          </a:p>
          <a:p>
            <a:pPr algn="l">
              <a:spcAft>
                <a:spcPts val="585"/>
              </a:spcAft>
            </a:pPr>
            <a:r>
              <a:rPr sz="1300" b="0" i="0">
                <a:solidFill>
                  <a:srgbClr val="1C1B19"/>
                </a:solidFill>
                <a:latin typeface="Source Serif 4"/>
              </a:rPr>
              <a:t>Establish-Maintain-Restore (build the relationship, keep it up, repair it after conflict) improved teacher-reported relationships, time on task and disruptive behavior in 4th and 5th grade classrooms. A high school pilot of an adapted version found no significant effects on motivation or engagement, so treat the repair step as sensible practice for teens rather than proven.</a:t>
            </a:r>
          </a:p>
          <a:p>
            <a:pPr algn="l">
              <a:spcAft>
                <a:spcPts val="585"/>
              </a:spcAft>
            </a:pPr>
            <a:r>
              <a:rPr sz="1050" b="0" i="0">
                <a:solidFill>
                  <a:srgbClr val="5D5A54"/>
                </a:solidFill>
                <a:latin typeface="Inter Tight"/>
              </a:rPr>
              <a:t>Cook et al., School Psychology Review, 2018; Equity-Explicit EMR pilot, 2022</a:t>
            </a:r>
          </a:p>
          <a:p>
            <a:pPr algn="l">
              <a:spcAft>
                <a:spcPts val="585"/>
              </a:spcAft>
            </a:pPr>
            <a:r>
              <a:rPr sz="1300" b="0" i="0">
                <a:solidFill>
                  <a:srgbClr val="1C1B19"/>
                </a:solidFill>
                <a:latin typeface="Source Serif 4"/>
              </a:rPr>
              <a:t>Warm demanders pair warmth with a firm expectation of effort and respect. The caring relationship is what lets them hold a high bar.</a:t>
            </a:r>
          </a:p>
          <a:p>
            <a:pPr algn="l">
              <a:spcAft>
                <a:spcPts val="585"/>
              </a:spcAft>
            </a:pPr>
            <a:r>
              <a:rPr sz="1050" b="0" i="0">
                <a:solidFill>
                  <a:srgbClr val="5D5A54"/>
                </a:solidFill>
                <a:latin typeface="Inter Tight"/>
              </a:rPr>
              <a:t>Bondy and Ross, Educational Leadership, 2008</a:t>
            </a:r>
          </a:p>
          <a:p>
            <a:pPr algn="l">
              <a:spcAft>
                <a:spcPts val="585"/>
              </a:spcAft>
            </a:pPr>
            <a:r>
              <a:rPr sz="1300" b="0" i="0">
                <a:solidFill>
                  <a:srgbClr val="1C1B19"/>
                </a:solidFill>
                <a:latin typeface="Source Serif 4"/>
              </a:rPr>
              <a:t>Interviews with 96 students in grades 3 to 10 found every group tied its best teacher relationships to teachers who were kind, caring, helpful or funny. Students with a history of disruptive behavior mostly remembered negative relationships, and up to a third couldn't recall a single positive one.</a:t>
            </a:r>
          </a:p>
          <a:p>
            <a:pPr algn="l">
              <a:spcAft>
                <a:spcPts val="585"/>
              </a:spcAft>
            </a:pPr>
            <a:r>
              <a:rPr sz="1050" b="0" i="0">
                <a:solidFill>
                  <a:srgbClr val="5D5A54"/>
                </a:solidFill>
                <a:latin typeface="Inter Tight"/>
              </a:rPr>
              <a:t>Van Bergen, Sweller and Graham, School Psychology Review, 2020</a:t>
            </a:r>
          </a:p>
          <a:p>
            <a:pPr algn="l">
              <a:spcAft>
                <a:spcPts val="585"/>
              </a:spcAft>
            </a:pPr>
            <a:r>
              <a:rPr sz="1300" b="0" i="0">
                <a:solidFill>
                  <a:srgbClr val="1C1B19"/>
                </a:solidFill>
                <a:latin typeface="Source Serif 4"/>
              </a:rPr>
              <a:t>Relationship mapping (staff list every student, mark the ones no adult knows well, and volunteer to reach out) is a free practice from Harvard's Making Caring Common. It's widely used; it hasn't been tested in a controlled trial.</a:t>
            </a:r>
          </a:p>
          <a:p>
            <a:pPr algn="l">
              <a:spcAft>
                <a:spcPts val="585"/>
              </a:spcAft>
            </a:pPr>
            <a:r>
              <a:rPr sz="1050" b="0" i="0">
                <a:solidFill>
                  <a:srgbClr val="5D5A54"/>
                </a:solidFill>
                <a:latin typeface="Inter Tight"/>
              </a:rPr>
              <a:t>Making Caring Common, Harvard Graduate School of Education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CONNECTION BEFORE CONTENT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Connection Before Content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Why the relationship carries the learning, and small ways to build it that have nothing to do with the schoolwork.</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Rick drafted this talk with help from AI, then reviewed and edited every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your favorite teacher from high school. What made them your favorite?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card. Write down what they did, as specifically as you can.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Roorda et al., 2011 and 2017  ·  Cornelius-White, 2007</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The relationship carries the learning.</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Across 99 studies, warm relationships went with more engagement and higher achievement; conflict went with less.</a:t>
            </a:r>
          </a:p>
          <a:p>
            <a:pPr algn="l">
              <a:spcAft>
                <a:spcPts val="855"/>
              </a:spcAft>
            </a:pPr>
            <a:r>
              <a:rPr sz="1900" b="0" i="0">
                <a:solidFill>
                  <a:srgbClr val="1C1B19"/>
                </a:solidFill>
                <a:latin typeface="Source Serif 4"/>
              </a:rPr>
              <a:t>•  An update of 189 studies found engagement is the bridge: kids lean in for teachers they trust, and the learning follows.</a:t>
            </a:r>
          </a:p>
          <a:p>
            <a:pPr algn="l">
              <a:spcAft>
                <a:spcPts val="855"/>
              </a:spcAft>
            </a:pPr>
            <a:r>
              <a:rPr sz="1900" b="0" i="0">
                <a:solidFill>
                  <a:srgbClr val="1C1B19"/>
                </a:solidFill>
                <a:latin typeface="Source Serif 4"/>
              </a:rPr>
              <a:t>•  That link between warmth and engagement was stronger in high school than in elementary school.</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Teenagers act like they've outgrown needing you. The data says they haven't.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Allen et al., 2011  ·  Gregory et al., 2016  ·  Gehlbach et al., 2016</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Change the relationship, and the results change.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Teachers coached only on how they interacted with students (not content) saw scores rise: 50th to 59th percentile.</a:t>
            </a:r>
          </a:p>
          <a:p>
            <a:pPr algn="l">
              <a:spcAft>
                <a:spcPts val="855"/>
              </a:spcAft>
            </a:pPr>
            <a:r>
              <a:rPr sz="1900" b="0" i="0">
                <a:solidFill>
                  <a:srgbClr val="1C1B19"/>
                </a:solidFill>
                <a:latin typeface="Source Serif 4"/>
              </a:rPr>
              <a:t>•  In those same coached classrooms, the gap in discipline referrals for Black students closed.</a:t>
            </a:r>
          </a:p>
          <a:p>
            <a:pPr algn="l">
              <a:spcAft>
                <a:spcPts val="855"/>
              </a:spcAft>
            </a:pPr>
            <a:r>
              <a:rPr sz="1900" b="0" i="0">
                <a:solidFill>
                  <a:srgbClr val="1C1B19"/>
                </a:solidFill>
                <a:latin typeface="Source Serif 4"/>
              </a:rPr>
              <a:t>•  When 9th grade teachers learned five things they shared with a student, those students earned higher grades.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Small, deliberate changes in how you treat students show up in grades and referrals.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REACHES PAST YOUR CLASS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Martin and Collie, 2019  ·  Steiner et al., 2019</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Every good relationship counts.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In 2,079 high schoolers, each extra good relationship with a teacher meant more engagement.</a:t>
            </a:r>
          </a:p>
          <a:p>
            <a:pPr algn="l">
              <a:spcAft>
                <a:spcPts val="855"/>
              </a:spcAft>
            </a:pPr>
            <a:r>
              <a:rPr sz="1900" b="0" i="0">
                <a:solidFill>
                  <a:srgbClr val="1C1B19"/>
                </a:solidFill>
                <a:latin typeface="Source Serif 4"/>
              </a:rPr>
              <a:t>•  The good relationships outweighed the bad ones.</a:t>
            </a:r>
          </a:p>
          <a:p>
            <a:pPr algn="l">
              <a:spcAft>
                <a:spcPts val="855"/>
              </a:spcAft>
            </a:pPr>
            <a:r>
              <a:rPr sz="1900" b="0" i="0">
                <a:solidFill>
                  <a:srgbClr val="1C1B19"/>
                </a:solidFill>
                <a:latin typeface="Source Serif 4"/>
              </a:rPr>
              <a:t>•  Teens who felt connected to school had less distress, suicidal thinking and drug misuse as adults.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 may be the one good relationship a student counts this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TEENAGERS ARE DIFFERENT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Respect is the way in.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PUSHES THEM AWAY</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Being lectured</a:t>
            </a:r>
          </a:p>
          <a:p>
            <a:pPr algn="l">
              <a:spcAft>
                <a:spcPts val="855"/>
              </a:spcAft>
            </a:pPr>
            <a:r>
              <a:rPr sz="1900" b="0" i="0">
                <a:solidFill>
                  <a:srgbClr val="1C1B19"/>
                </a:solidFill>
                <a:latin typeface="Source Serif 4"/>
              </a:rPr>
              <a:t>Being corrected in front of friends</a:t>
            </a:r>
          </a:p>
          <a:p>
            <a:pPr algn="l">
              <a:spcAft>
                <a:spcPts val="855"/>
              </a:spcAft>
            </a:pPr>
            <a:r>
              <a:rPr sz="1900" b="0" i="0">
                <a:solidFill>
                  <a:srgbClr val="1C1B19"/>
                </a:solidFill>
                <a:latin typeface="Source Serif 4"/>
              </a:rPr>
              <a:t>Questions that feel like a test</a:t>
            </a:r>
          </a:p>
          <a:p>
            <a:pPr algn="l">
              <a:spcAft>
                <a:spcPts val="855"/>
              </a:spcAft>
            </a:pPr>
            <a:r>
              <a:rPr sz="1900" b="0" i="0">
                <a:solidFill>
                  <a:srgbClr val="1C1B19"/>
                </a:solidFill>
                <a:latin typeface="Source Serif 4"/>
              </a:rPr>
              <a:t>Interest that's clearly fake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DRAWS THEM IN</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Being asked what they think</a:t>
            </a:r>
          </a:p>
          <a:p>
            <a:pPr algn="l">
              <a:spcAft>
                <a:spcPts val="855"/>
              </a:spcAft>
            </a:pPr>
            <a:r>
              <a:rPr sz="1900" b="0" i="0">
                <a:solidFill>
                  <a:srgbClr val="1C1B19"/>
                </a:solidFill>
                <a:latin typeface="Source Serif 4"/>
              </a:rPr>
              <a:t>Being trusted with something real</a:t>
            </a:r>
          </a:p>
          <a:p>
            <a:pPr algn="l">
              <a:spcAft>
                <a:spcPts val="855"/>
              </a:spcAft>
            </a:pPr>
            <a:r>
              <a:rPr sz="1900" b="0" i="0">
                <a:solidFill>
                  <a:srgbClr val="1C1B19"/>
                </a:solidFill>
                <a:latin typeface="Source Serif 4"/>
              </a:rPr>
              <a:t>A quiet word, in private</a:t>
            </a:r>
          </a:p>
          <a:p>
            <a:pPr algn="l">
              <a:spcAft>
                <a:spcPts val="855"/>
              </a:spcAft>
            </a:pPr>
            <a:r>
              <a:rPr sz="1900" b="0" i="0">
                <a:solidFill>
                  <a:srgbClr val="1C1B19"/>
                </a:solidFill>
                <a:latin typeface="Source Serif 4"/>
              </a:rPr>
              <a:t>An adult who remembers what they said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OUTSIDE THE SCHOOLWORK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Small and daily</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Say their name, right</a:t>
            </a:r>
          </a:p>
          <a:p>
            <a:pPr algn="l">
              <a:spcAft>
                <a:spcPts val="945"/>
              </a:spcAft>
            </a:pPr>
            <a:r>
              <a:rPr sz="1600" b="0" i="0">
                <a:solidFill>
                  <a:srgbClr val="5D5A54"/>
                </a:solidFill>
                <a:latin typeface="Source Serif 4"/>
              </a:rPr>
              <a:t>Ask how to say it. Practice it. Use it every day.</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Know one thing</a:t>
            </a:r>
          </a:p>
          <a:p>
            <a:pPr algn="l">
              <a:spcAft>
                <a:spcPts val="945"/>
              </a:spcAft>
            </a:pPr>
            <a:r>
              <a:rPr sz="1600" b="0" i="0">
                <a:solidFill>
                  <a:srgbClr val="5D5A54"/>
                </a:solidFill>
                <a:latin typeface="Source Serif 4"/>
              </a:rPr>
              <a:t>One thing each student cares about that isn't your class.</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Follow up</a:t>
            </a:r>
          </a:p>
          <a:p>
            <a:pPr algn="l">
              <a:spcAft>
                <a:spcPts val="945"/>
              </a:spcAft>
            </a:pPr>
            <a:r>
              <a:rPr sz="1600" b="0" i="0">
                <a:solidFill>
                  <a:srgbClr val="5D5A54"/>
                </a:solidFill>
                <a:latin typeface="Source Serif 4"/>
              </a:rPr>
              <a:t>"How'd the tournament go?" Remembering is the move.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Notice, out loud</a:t>
            </a:r>
          </a:p>
          <a:p>
            <a:pPr algn="l">
              <a:spcAft>
                <a:spcPts val="945"/>
              </a:spcAft>
            </a:pPr>
            <a:r>
              <a:rPr sz="1600" b="0" i="0">
                <a:solidFill>
                  <a:srgbClr val="5D5A54"/>
                </a:solidFill>
                <a:latin typeface="Source Serif 4"/>
              </a:rPr>
              <a:t>"New haircut." "You seem tired today." Then let it be.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Use the in-between minutes</a:t>
            </a:r>
          </a:p>
          <a:p>
            <a:pPr algn="l">
              <a:spcAft>
                <a:spcPts val="945"/>
              </a:spcAft>
            </a:pPr>
            <a:r>
              <a:rPr sz="1600" b="0" i="0">
                <a:solidFill>
                  <a:srgbClr val="5D5A54"/>
                </a:solidFill>
                <a:latin typeface="Source Serif 4"/>
              </a:rPr>
              <a:t>Passing time, the walk to lunch, the last two minutes of class.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OUTSIDE THE SCHOOLWORK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Once in a while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Show up once</a:t>
            </a:r>
          </a:p>
          <a:p>
            <a:pPr algn="l">
              <a:spcAft>
                <a:spcPts val="945"/>
              </a:spcAft>
            </a:pPr>
            <a:r>
              <a:rPr sz="1600" b="0" i="0">
                <a:solidFill>
                  <a:srgbClr val="5D5A54"/>
                </a:solidFill>
                <a:latin typeface="Source Serif 4"/>
              </a:rPr>
              <a:t>A game, a play, a robotics match. Tell them you were there.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Share a little of yourself</a:t>
            </a:r>
          </a:p>
          <a:p>
            <a:pPr algn="l">
              <a:spcAft>
                <a:spcPts val="945"/>
              </a:spcAft>
            </a:pPr>
            <a:r>
              <a:rPr sz="1600" b="0" i="0">
                <a:solidFill>
                  <a:srgbClr val="5D5A54"/>
                </a:solidFill>
                <a:latin typeface="Source Serif 4"/>
              </a:rPr>
              <a:t>A hobby, a small failure, what you were like at 16.</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their advice</a:t>
            </a:r>
          </a:p>
          <a:p>
            <a:pPr algn="l">
              <a:spcAft>
                <a:spcPts val="945"/>
              </a:spcAft>
            </a:pPr>
            <a:r>
              <a:rPr sz="1600" b="0" i="0">
                <a:solidFill>
                  <a:srgbClr val="5D5A54"/>
                </a:solidFill>
                <a:latin typeface="Source Serif 4"/>
              </a:rPr>
              <a:t>On music, a game, the best taco place. Let them be the expert.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Send a good word</a:t>
            </a:r>
          </a:p>
          <a:p>
            <a:pPr algn="l">
              <a:spcAft>
                <a:spcPts val="945"/>
              </a:spcAft>
            </a:pPr>
            <a:r>
              <a:rPr sz="1600" b="0" i="0">
                <a:solidFill>
                  <a:srgbClr val="5D5A54"/>
                </a:solidFill>
                <a:latin typeface="Source Serif 4"/>
              </a:rPr>
              <a:t>A note to them, or a quick message home that isn't about a problem.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THEY'VE CHECKED OUT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student who doesn't connect with the work</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Start with them, not the grade</a:t>
            </a:r>
          </a:p>
          <a:p>
            <a:pPr algn="l">
              <a:spcAft>
                <a:spcPts val="945"/>
              </a:spcAft>
            </a:pPr>
            <a:r>
              <a:rPr sz="1600" b="0" i="0">
                <a:solidFill>
                  <a:srgbClr val="5D5A54"/>
                </a:solidFill>
                <a:latin typeface="Source Serif 4"/>
              </a:rPr>
              <a:t>The first conversation isn't about the missing work.</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Build one bridge</a:t>
            </a:r>
          </a:p>
          <a:p>
            <a:pPr algn="l">
              <a:spcAft>
                <a:spcPts val="945"/>
              </a:spcAft>
            </a:pPr>
            <a:r>
              <a:rPr sz="1600" b="0" i="0">
                <a:solidFill>
                  <a:srgbClr val="5D5A54"/>
                </a:solidFill>
                <a:latin typeface="Source Serif 4"/>
              </a:rPr>
              <a:t>Link one assignment to the thing they care about.</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Give them a job</a:t>
            </a:r>
          </a:p>
          <a:p>
            <a:pPr algn="l">
              <a:spcAft>
                <a:spcPts val="945"/>
              </a:spcAft>
            </a:pPr>
            <a:r>
              <a:rPr sz="1600" b="0" i="0">
                <a:solidFill>
                  <a:srgbClr val="5D5A54"/>
                </a:solidFill>
                <a:latin typeface="Source Serif 4"/>
              </a:rPr>
              <a:t>A real role in the room, not busywork.</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Keep the bar, offer the hand</a:t>
            </a:r>
          </a:p>
          <a:p>
            <a:pPr algn="l">
              <a:spcAft>
                <a:spcPts val="945"/>
              </a:spcAft>
            </a:pPr>
            <a:r>
              <a:rPr sz="1600" b="0" i="0">
                <a:solidFill>
                  <a:srgbClr val="5D5A54"/>
                </a:solidFill>
                <a:latin typeface="Source Serif 4"/>
              </a:rPr>
              <a:t>"I'm pushing because I think you can do this."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IT GOES SIDEWAYS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Repair</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Go first</a:t>
            </a:r>
          </a:p>
          <a:p>
            <a:pPr algn="l">
              <a:spcAft>
                <a:spcPts val="945"/>
              </a:spcAft>
            </a:pPr>
            <a:r>
              <a:rPr sz="1600" b="0" i="0">
                <a:solidFill>
                  <a:srgbClr val="5D5A54"/>
                </a:solidFill>
                <a:latin typeface="Source Serif 4"/>
              </a:rPr>
              <a:t>Don't wait for the student to come to you.</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Own your part</a:t>
            </a:r>
          </a:p>
          <a:p>
            <a:pPr algn="l">
              <a:spcAft>
                <a:spcPts val="945"/>
              </a:spcAft>
            </a:pPr>
            <a:r>
              <a:rPr sz="1600" b="0" i="0">
                <a:solidFill>
                  <a:srgbClr val="5D5A54"/>
                </a:solidFill>
                <a:latin typeface="Source Serif 4"/>
              </a:rPr>
              <a:t>"I was sharper with you than I meant to be."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Keep the expectation</a:t>
            </a:r>
          </a:p>
          <a:p>
            <a:pPr algn="l">
              <a:spcAft>
                <a:spcPts val="945"/>
              </a:spcAft>
            </a:pPr>
            <a:r>
              <a:rPr sz="1600" b="0" i="0">
                <a:solidFill>
                  <a:srgbClr val="5D5A54"/>
                </a:solidFill>
                <a:latin typeface="Source Serif 4"/>
              </a:rPr>
              <a:t>The apology is for how, not for the rule.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Start clean</a:t>
            </a:r>
          </a:p>
          <a:p>
            <a:pPr algn="l">
              <a:spcAft>
                <a:spcPts val="945"/>
              </a:spcAft>
            </a:pPr>
            <a:r>
              <a:rPr sz="1600" b="0" i="0">
                <a:solidFill>
                  <a:srgbClr val="5D5A54"/>
                </a:solidFill>
                <a:latin typeface="Source Serif 4"/>
              </a:rPr>
              <a:t>Greet them tomorrow like it didn't follow you home.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WHO DO YOU KNOW?</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Open one class roster. Put a check next to every student you know one thing about outside your class.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Private. No one will see your list.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one move this week, outside the work?</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JORDAN, 10TH GRADE</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Hood up, earbuds in until the bell. Polite, does the minimum, never speaks unless called on.</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MEI, 12TH GRADE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Straight A's. Turns everything in early. You realize you've never had a conversation with her that wasn't about a grade.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ANDRÉS, 9TH GRADE</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New this year. Eats lunch in the library. Shows up to class early and leaves the second it ends.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Two or three names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your card: two or three students without a check, and one move outside the work for each this week.</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FACULTY QUICK REFERENCE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https://rmwtoolkit.github.io/bcds-toolkit/connection-before-content-faculty-card.html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