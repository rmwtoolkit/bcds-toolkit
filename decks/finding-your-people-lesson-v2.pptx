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"First year at a new school means a lot of people you say hi to and maybe nobody you'd call at 1am yet. That's normal. Today is about how friendships actually get built, because it's more learnable than people think."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one. Students stand for fact, stay seated for myth. Don't reveal answers yet, just notice where the room splits. Keep it quick and light. Interactive option: have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#3 surprises people: in a German university study, students randomly seated together on day one were more likely to be friends a year later. Where you keep showing up shapes who you end up close to. #4: the University of Virginia study followed teens from 15 to 25. A strong close friendship at 15 predicted better mental health in their mid-20s. Popularity didn't.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a line on the board marked 50, 90, 200. These are estimates from communication researcher Jeffrey Hall, who tracked new friendships in adults who had just moved and college first-years. Hours means time together talking or doing something, not just sitting in the same room, and the numbers vary a lot by person. Do the math with them: a class period a day for a few months adds up slowly. So if it's October and nobody feels close yet, you haven't failed. You haven't logged the hours. Ask: "Where do hours pile up fastest during a school week?" Expect: practice, the bus, lunch, rehearsal, a job or volunteering, walking home. Add the bigger picture: the U.S. Surgeon General reported in 2023 that young people's time in person with friends dropped by nearly 70% over about two decades. If almost everyone is under-connected, almost everyone is open to an invitation.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with the next slide. Across five studies, people who had just talked with someone new underestimated how much the other person liked them. In a study of college roommates, the gap lasted most of the school year. You replay your awkward moment. They didn't notice it. Then the second finding: strangers asked to talk about meaningful things found it less awkward and more connecting than they expected. Ask: "Why would both people walk away thinking the other one wasn't into it?" (Each is busy watching their own awkward moments.)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partners so nobody has to pick. Two minutes each way. Anyone can pass or use the easier question (the elective one). Then ask the room, by thumbs only: "Thumbs up if that went better than you expected." Usually most thumbs go up, which is the research happening live. Point out the follow-up question: asking one is one of the clearest signals you're interested. If a partner shares something heavy, they can keep it between the two of them; if anyone is worried about what they heard, they can come to you after.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Private. On an index card, students think of one person they'd like to know better (no names needed, initials are fine), check the rungs they've already done, and circle the next one. The card goes home with them. Talking points: aim for one person before a whole group. A friend group looks like a wall from outside, but up close it's a set of individual friendships, and individuals are easier to get to know. Specific plans work: "We should hang out sometime" almost never happens. "Want to get food after the game Friday?" does. A plan can be at school: sit together at lunch, study before the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Usually more than one answer works; the best one is the one they'll actually do. Amara: suggest studying together before the next test. It's specific, low pressure, and adds hours. Waiting for Diego to suggest it runs into the liking gap: he's probably waiting too. Kenji: "Anyone want to grab food after we close up?" turns assigned time into chosen time. Volunteer and work friends count. Sofia: put more hours into one teammate (bus rides, the cool-down, food after the meet) instead of trying to keep up with a whole group. She doesn't have to drop the old friends either. If a group answer drifts into "just forget them," ask what Sofia would lose.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For a lot of students the people who matter most are cousins, siblings, a faith community, teammates from a club, or friends from a neighborhood or an earlier school. That counts. Families also have different rules about rides, curfews, sleepovers, and who you spend time with, and none of those is the wrong way. Online friendships count too; they work best when some of them also have a voice, a call, or an in-person version, with the safety basics (public place, tell someone you trust, bring a friend). Nobody shares.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Students keep the card. Close with: "Almost everyone is open to an invitation right now. Someone has to go first." Share the take-home link (post it on your class page too). It has the hours, the ladder, openers, a private check-in, and who to talk to. Mention that counselors know about groups and programs students may not, and talking to one doesn't mean something is wrong with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Finding Your People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that close friendships take time (roughly 50, 90, then 200 hours) and that people like us more than we think, then pick one small step with one person. Bring index cards, assign partners so nobody is picked last, and keep every personal question private since lonely students are in the room.</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Point to repeat places that are free and fit inside family rules, and treat online friends and faith or language communities as real people of their own.</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(5), the clock (5), one of the three moments (7), one step and the link (3). The take-home sheet has the ladder and the openers.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FINDING YOUR PEOPLE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Finding Your People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Where you fit, and how long it takes.</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Friendship either clicks or it doesn't.</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they wanted to hang out, they'd ask.</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Where you sit can shape who your friends are.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More followers means more friends.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 people would rather stick to small talk.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Instant chemistry happens. Most close friendships are built over many hours.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They're probably waiting on you. Someone has to go first.</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Random seat assignments predicted friendships a year later.</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Popular and close are different things, with different effects.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People want to go deeper than they expect.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FRIENDSHIP RUNS ON A CLOCK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Rough hours it takes</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About 50 hours: casual friend.</a:t>
            </a:r>
          </a:p>
          <a:p>
            <a:pPr algn="l">
              <a:spcAft>
                <a:spcPts val="945"/>
              </a:spcAft>
            </a:pPr>
            <a:r>
              <a:rPr sz="1600" b="0" i="0">
                <a:solidFill>
                  <a:srgbClr val="5D5A54"/>
                </a:solidFill>
                <a:latin typeface="Source Serif 4"/>
              </a:rPr>
              <a:t>You'd sit together without a reason.</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About 90 hours: friend.</a:t>
            </a:r>
          </a:p>
          <a:p>
            <a:pPr algn="l">
              <a:spcAft>
                <a:spcPts val="945"/>
              </a:spcAft>
            </a:pPr>
            <a:r>
              <a:rPr sz="1600" b="0" i="0">
                <a:solidFill>
                  <a:srgbClr val="5D5A54"/>
                </a:solidFill>
                <a:latin typeface="Source Serif 4"/>
              </a:rPr>
              <a:t>You make plans on purpose.</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Over 200 hours: close friend.</a:t>
            </a:r>
          </a:p>
          <a:p>
            <a:pPr algn="l">
              <a:spcAft>
                <a:spcPts val="945"/>
              </a:spcAft>
            </a:pPr>
            <a:r>
              <a:rPr sz="1600" b="0" i="0">
                <a:solidFill>
                  <a:srgbClr val="5D5A54"/>
                </a:solidFill>
                <a:latin typeface="Source Serif 4"/>
              </a:rPr>
              <a:t>You can say the real thing to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LIKING GAP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They liked you more than you think.</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After talking with someone new, people underestimate how much the other person enjoyed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PAIR-SHARE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Ask your partner one question below small talk.</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"What made you pick that elective?" or "What's been the hardest part of this year so far?" Then ask one follow-up.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FIND YOUR RUNG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Pick one person. Where are you now?</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GETTING STARTED</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Said hi or nodded in passing</a:t>
            </a:r>
          </a:p>
          <a:p>
            <a:pPr algn="l">
              <a:spcAft>
                <a:spcPts val="855"/>
              </a:spcAft>
            </a:pPr>
            <a:r>
              <a:rPr sz="1900" b="0" i="0">
                <a:solidFill>
                  <a:srgbClr val="1C1B19"/>
                </a:solidFill>
                <a:latin typeface="Source Serif 4"/>
              </a:rPr>
              <a:t>Talked about class or practice</a:t>
            </a:r>
          </a:p>
          <a:p>
            <a:pPr algn="l">
              <a:spcAft>
                <a:spcPts val="855"/>
              </a:spcAft>
            </a:pPr>
            <a:r>
              <a:rPr sz="1900" b="0" i="0">
                <a:solidFill>
                  <a:srgbClr val="1C1B19"/>
                </a:solidFill>
                <a:latin typeface="Source Serif 4"/>
              </a:rPr>
              <a:t>Asked about something they care about</a:t>
            </a:r>
          </a:p>
          <a:p>
            <a:pPr algn="l">
              <a:spcAft>
                <a:spcPts val="855"/>
              </a:spcAft>
            </a:pPr>
            <a:r>
              <a:rPr sz="1900" b="0" i="0">
                <a:solidFill>
                  <a:srgbClr val="1C1B19"/>
                </a:solidFill>
                <a:latin typeface="Source Serif 4"/>
              </a:rPr>
              <a:t>Chose to sit or partner with them</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MOVING CLOSER</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Got their number or followed them</a:t>
            </a:r>
          </a:p>
          <a:p>
            <a:pPr algn="l">
              <a:spcAft>
                <a:spcPts val="855"/>
              </a:spcAft>
            </a:pPr>
            <a:r>
              <a:rPr sz="1900" b="0" i="0">
                <a:solidFill>
                  <a:srgbClr val="1C1B19"/>
                </a:solidFill>
                <a:latin typeface="Source Serif 4"/>
              </a:rPr>
              <a:t>Texted about something besides logistics</a:t>
            </a:r>
          </a:p>
          <a:p>
            <a:pPr algn="l">
              <a:spcAft>
                <a:spcPts val="855"/>
              </a:spcAft>
            </a:pPr>
            <a:r>
              <a:rPr sz="1900" b="0" i="0">
                <a:solidFill>
                  <a:srgbClr val="1C1B19"/>
                </a:solidFill>
                <a:latin typeface="Source Serif 4"/>
              </a:rPr>
              <a:t>Made a specific plan</a:t>
            </a:r>
          </a:p>
          <a:p>
            <a:pPr algn="l">
              <a:spcAft>
                <a:spcPts val="855"/>
              </a:spcAft>
            </a:pPr>
            <a:r>
              <a:rPr sz="1900" b="0" i="0">
                <a:solidFill>
                  <a:srgbClr val="1C1B19"/>
                </a:solidFill>
                <a:latin typeface="Source Serif 4"/>
              </a:rPr>
              <a:t>Your step: the next rung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the next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AMARA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Moved here this summer with her grandmother. She and her lab partner Diego joke every class, and that's it.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KENJI</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Volunteers Saturdays at a food pantry with three kids his age. They're funny on shift and gone when it ends.</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middle school friends all joined the fall play. She runs cross-country and feels like a guest at their lunch 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PEOPLE MIGHT NOT BE AT SCHOOL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Who are your people outside school?</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And what are the rules at home, and where is there room? Private. Write it for yourself.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step this week</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one person and one specific move. When will you do it?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https://rmwtoolkit.github.io/bcds-toolkit/finding-your-people-high-school.html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Finding Your People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close friendships take time (the hours estimate and the liking gap), find their next step with one person using the friendship ladder, and leave with one specific move for this week. Nobody should have to say out loud how connected they are.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ladder and the exit card</a:t>
            </a:r>
          </a:p>
          <a:p>
            <a:pPr algn="l">
              <a:spcAft>
                <a:spcPts val="675"/>
              </a:spcAft>
            </a:pPr>
            <a:r>
              <a:rPr sz="1500" b="0" i="0">
                <a:solidFill>
                  <a:srgbClr val="1C1B19"/>
                </a:solidFill>
                <a:latin typeface="Source Serif 4"/>
              </a:rPr>
              <a:t>A board to draw the hours scale</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Friendship runs on a clock</a:t>
            </a:r>
          </a:p>
          <a:p>
            <a:pPr algn="l">
              <a:spcAft>
                <a:spcPts val="630"/>
              </a:spcAft>
            </a:pPr>
            <a:r>
              <a:rPr sz="1300" b="1" i="0">
                <a:solidFill>
                  <a:srgbClr val="F47B20"/>
                </a:solidFill>
                <a:latin typeface="Inter Tight"/>
              </a:rPr>
              <a:t>7 min   </a:t>
            </a:r>
            <a:r>
              <a:rPr sz="1400" b="0" i="0">
                <a:solidFill>
                  <a:srgbClr val="1C1B19"/>
                </a:solidFill>
                <a:latin typeface="Source Serif 4"/>
              </a:rPr>
              <a:t>The liking gap, then one layer down (pair-share)</a:t>
            </a:r>
          </a:p>
          <a:p>
            <a:pPr algn="l">
              <a:spcAft>
                <a:spcPts val="630"/>
              </a:spcAft>
            </a:pPr>
            <a:r>
              <a:rPr sz="1300" b="1" i="0">
                <a:solidFill>
                  <a:srgbClr val="F47B20"/>
                </a:solidFill>
                <a:latin typeface="Inter Tight"/>
              </a:rPr>
              <a:t>7 min   </a:t>
            </a:r>
            <a:r>
              <a:rPr sz="1400" b="0" i="0">
                <a:solidFill>
                  <a:srgbClr val="1C1B19"/>
                </a:solidFill>
                <a:latin typeface="Source Serif 4"/>
              </a:rPr>
              <a:t>Find your rung (private card)</a:t>
            </a:r>
          </a:p>
          <a:p>
            <a:pPr algn="l">
              <a:spcAft>
                <a:spcPts val="630"/>
              </a:spcAft>
            </a:pPr>
            <a:r>
              <a:rPr sz="1300" b="1" i="0">
                <a:solidFill>
                  <a:srgbClr val="F47B20"/>
                </a:solidFill>
                <a:latin typeface="Inter Tight"/>
              </a:rPr>
              <a:t>10 min   </a:t>
            </a:r>
            <a:r>
              <a:rPr sz="1400" b="0" i="0">
                <a:solidFill>
                  <a:srgbClr val="1C1B19"/>
                </a:solidFill>
                <a:latin typeface="Source Serif 4"/>
              </a:rPr>
              <a:t>Three moments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Your people might not be at school (private reflection)</a:t>
            </a:r>
          </a:p>
          <a:p>
            <a:pPr algn="l">
              <a:spcAft>
                <a:spcPts val="630"/>
              </a:spcAft>
            </a:pPr>
            <a:r>
              <a:rPr sz="1300" b="1" i="0">
                <a:solidFill>
                  <a:srgbClr val="F47B20"/>
                </a:solidFill>
                <a:latin typeface="Inter Tight"/>
              </a:rPr>
              <a:t>3 min   </a:t>
            </a:r>
            <a:r>
              <a:rPr sz="1400" b="0" i="0">
                <a:solidFill>
                  <a:srgbClr val="1C1B19"/>
                </a:solidFill>
                <a:latin typeface="Source Serif 4"/>
              </a:rPr>
              <a:t>One step this week, and the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(5), the clock (5), one of the three moments (7), one step and the link (3). The take-home sheet has the ladder and the openers.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lonely students are in the room.</a:t>
            </a:r>
          </a:p>
          <a:p>
            <a:pPr algn="l">
              <a:spcAft>
                <a:spcPts val="585"/>
              </a:spcAft>
            </a:pPr>
            <a:r>
              <a:rPr sz="1300" b="0" i="0">
                <a:solidFill>
                  <a:srgbClr val="1C1B19"/>
                </a:solidFill>
                <a:latin typeface="Source Serif 4"/>
              </a:rPr>
              <a:t>Some 9th graders arrived knowing nobody, and some lost their middle school group over the summer. Never ask for a show of hands about who has friends, who sits alone, or who feels left out. Every personal question in this lesson is private.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Set up the pair-share so nobody gets picked last.</a:t>
            </a:r>
          </a:p>
          <a:p>
            <a:pPr algn="l">
              <a:spcAft>
                <a:spcPts val="585"/>
              </a:spcAft>
            </a:pPr>
            <a:r>
              <a:rPr sz="1300" b="0" i="0">
                <a:solidFill>
                  <a:srgbClr val="1C1B19"/>
                </a:solidFill>
                <a:latin typeface="Source Serif 4"/>
              </a:rPr>
              <a:t>Assign partners (count off, or pair by seat) so nobody has to find one. Give everyone a pass option and an easier question. A student who stays quiet is still taking part.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Being left out on purpose is a different conversation.</a:t>
            </a:r>
          </a:p>
          <a:p>
            <a:pPr algn="l">
              <a:spcAft>
                <a:spcPts val="585"/>
              </a:spcAft>
            </a:pPr>
            <a:r>
              <a:rPr sz="1300" b="0" i="0">
                <a:solidFill>
                  <a:srgbClr val="1C1B19"/>
                </a:solidFill>
                <a:latin typeface="Source Serif 4"/>
              </a:rPr>
              <a:t>If a student describes being excluded, picked on, or targeted, thank them and connect them with a counselor that day. Don't problem-solve it in front of the class.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Know the signs that loneliness needs more than a lesson.</a:t>
            </a:r>
          </a:p>
          <a:p>
            <a:pPr algn="l">
              <a:spcAft>
                <a:spcPts val="585"/>
              </a:spcAft>
            </a:pPr>
            <a:r>
              <a:rPr sz="1300" b="0" i="0">
                <a:solidFill>
                  <a:srgbClr val="1C1B19"/>
                </a:solidFill>
                <a:latin typeface="Source Serif 4"/>
              </a:rPr>
              <a:t>Feeling alone most days for a long time, skipping school or practice because of it, or seeming hopeless or down most of the time. Don't ask about any of this in class. If a student tells you something like this, or writes it on a card, follow up privately and bring in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Online friends come up. Respect them.</a:t>
            </a:r>
          </a:p>
          <a:p>
            <a:pPr algn="l">
              <a:spcAft>
                <a:spcPts val="585"/>
              </a:spcAft>
            </a:pPr>
            <a:r>
              <a:rPr sz="1300" b="0" i="0">
                <a:solidFill>
                  <a:srgbClr val="1C1B19"/>
                </a:solidFill>
                <a:latin typeface="Source Serif 4"/>
              </a:rPr>
              <a:t>Online friendships are real, especially for students who don't see themselves at school. Add the safety piece calmly: meet in public, tell someone you trust, bring a friend. An adult who wants a friendship kept secret is a red flag and a counselor conversation.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hours estimate honest.</a:t>
            </a:r>
          </a:p>
          <a:p>
            <a:pPr algn="l">
              <a:spcAft>
                <a:spcPts val="585"/>
              </a:spcAft>
            </a:pPr>
            <a:r>
              <a:rPr sz="1300" b="0" i="0">
                <a:solidFill>
                  <a:srgbClr val="1C1B19"/>
                </a:solidFill>
                <a:latin typeface="Source Serif 4"/>
              </a:rPr>
              <a:t>The 50, 90 and 200 hour numbers are one researcher's estimates and vary a lot by person. Present them as a rough map. The point is patience, so don't turn it into a quota.</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set different rules.</a:t>
            </a:r>
          </a:p>
          <a:p>
            <a:pPr algn="l">
              <a:spcAft>
                <a:spcPts val="585"/>
              </a:spcAft>
            </a:pPr>
            <a:r>
              <a:rPr sz="1300" b="0" i="0">
                <a:solidFill>
                  <a:srgbClr val="1C1B19"/>
                </a:solidFill>
                <a:latin typeface="Source Serif 4"/>
              </a:rPr>
              <a:t>Rides, curfews, sleepovers, and who students may spend time with vary from home to home. Name that openly and point to friendships that fit inside the rules: lunch, study groups, a program the family already trusts. "Make a specific plan" can be a plan at school.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adults at home vary too.</a:t>
            </a:r>
          </a:p>
          <a:p>
            <a:pPr algn="l">
              <a:spcAft>
                <a:spcPts val="585"/>
              </a:spcAft>
            </a:pPr>
            <a:r>
              <a:rPr sz="1300" b="0" i="0">
                <a:solidFill>
                  <a:srgbClr val="1C1B19"/>
                </a:solidFill>
                <a:latin typeface="Source Serif 4"/>
              </a:rPr>
              <a:t>Some students live with one parent, a grandparent, a foster family, or split weeks between two homes, which can cut into weekend time. Say "the adults at home" and let a plan be a lunch table or a study hall.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 may find their people elsewhere.</a:t>
            </a:r>
          </a:p>
          <a:p>
            <a:pPr algn="l">
              <a:spcAft>
                <a:spcPts val="585"/>
              </a:spcAft>
            </a:pPr>
            <a:r>
              <a:rPr sz="1300" b="0" i="0">
                <a:solidFill>
                  <a:srgbClr val="1C1B19"/>
                </a:solidFill>
                <a:latin typeface="Source Serif 4"/>
              </a:rPr>
              <a:t>Some students don't see themselves reflected at school and build their closest friendships online or through outside groups. Treat those as real friendships, and keep the safety steps the same for everyone.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Small talk and eye contact come harder for some students.</a:t>
            </a:r>
          </a:p>
          <a:p>
            <a:pPr algn="l">
              <a:spcAft>
                <a:spcPts val="585"/>
              </a:spcAft>
            </a:pPr>
            <a:r>
              <a:rPr sz="1300" b="0" i="0">
                <a:solidFill>
                  <a:srgbClr val="1C1B19"/>
                </a:solidFill>
                <a:latin typeface="Source Serif 4"/>
              </a:rPr>
              <a:t>Autistic students and students with social anxiety may find the pair-share draining. Let them write their answer instead of saying it. Never treat speaking up or eye contact as the sign of a good friend. Social anxiety that keeps a student from things they want to do is worth a counselor's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 repeat place doesn't have to cost money.</a:t>
            </a:r>
          </a:p>
          <a:p>
            <a:pPr algn="l">
              <a:spcAft>
                <a:spcPts val="585"/>
              </a:spcAft>
            </a:pPr>
            <a:r>
              <a:rPr sz="1300" b="0" i="0">
                <a:solidFill>
                  <a:srgbClr val="1C1B19"/>
                </a:solidFill>
                <a:latin typeface="Source Serif 4"/>
              </a:rPr>
              <a:t>Teams with fees, rides to practice, and food after the game assume money and time some students don't have. Point to free repeat places: a free club, the library, a volunteer shift, a youth group, a study group. Students who work or care for siblings at home are logging hours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and language communities count.</a:t>
            </a:r>
          </a:p>
          <a:p>
            <a:pPr algn="l">
              <a:spcAft>
                <a:spcPts val="585"/>
              </a:spcAft>
            </a:pPr>
            <a:r>
              <a:rPr sz="1300" b="0" i="0">
                <a:solidFill>
                  <a:srgbClr val="1C1B19"/>
                </a:solidFill>
                <a:latin typeface="Source Serif 4"/>
              </a:rPr>
              <a:t>For some students the people who matter most are at a mosque, church, temple, or other faith community; for others there are none. Some students new to the country keep their closest friends online in their first language. All of those count as their people.</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Adults who had just moved and college first-years took about 50 hours together to become casual friends, about 90 to become friends, and over 200 to become close friends. Estimates vary a lot by person.</a:t>
            </a:r>
          </a:p>
          <a:p>
            <a:pPr algn="l">
              <a:spcAft>
                <a:spcPts val="585"/>
              </a:spcAft>
            </a:pPr>
            <a:r>
              <a:rPr sz="1050" b="0" i="0">
                <a:solidFill>
                  <a:srgbClr val="5D5A54"/>
                </a:solidFill>
                <a:latin typeface="Inter Tight"/>
              </a:rPr>
              <a:t>Hall, Journal of Social and Personal Relationships, 2019</a:t>
            </a:r>
          </a:p>
          <a:p>
            <a:pPr algn="l">
              <a:spcAft>
                <a:spcPts val="585"/>
              </a:spcAft>
            </a:pPr>
            <a:r>
              <a:rPr sz="1300" b="0" i="0">
                <a:solidFill>
                  <a:srgbClr val="1C1B19"/>
                </a:solidFill>
                <a:latin typeface="Source Serif 4"/>
              </a:rPr>
              <a:t>University students randomly assigned seats on the first day were more likely to be friends a year later with the people who sat next to them or in the same row.</a:t>
            </a:r>
          </a:p>
          <a:p>
            <a:pPr algn="l">
              <a:spcAft>
                <a:spcPts val="585"/>
              </a:spcAft>
            </a:pPr>
            <a:r>
              <a:rPr sz="1050" b="0" i="0">
                <a:solidFill>
                  <a:srgbClr val="5D5A54"/>
                </a:solidFill>
                <a:latin typeface="Inter Tight"/>
              </a:rPr>
              <a:t>Back, Schmukle and Egloff, Psychological Science, 2008</a:t>
            </a:r>
          </a:p>
          <a:p>
            <a:pPr algn="l">
              <a:spcAft>
                <a:spcPts val="585"/>
              </a:spcAft>
            </a:pPr>
            <a:r>
              <a:rPr sz="1300" b="0" i="0">
                <a:solidFill>
                  <a:srgbClr val="1C1B19"/>
                </a:solidFill>
                <a:latin typeface="Source Serif 4"/>
              </a:rPr>
              <a:t>Across five studies, people who had just talked with someone new underestimated how much the other person liked them. Among college roommates, the gap lasted most of the school year.</a:t>
            </a:r>
          </a:p>
          <a:p>
            <a:pPr algn="l">
              <a:spcAft>
                <a:spcPts val="585"/>
              </a:spcAft>
            </a:pPr>
            <a:r>
              <a:rPr sz="1050" b="0" i="0">
                <a:solidFill>
                  <a:srgbClr val="5D5A54"/>
                </a:solidFill>
                <a:latin typeface="Inter Tight"/>
              </a:rPr>
              <a:t>Boothby et al., Psychological Science, 2018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Strangers asked to talk about meaningful things found it less awkward and more connecting than they expected. People assume others only want small talk.</a:t>
            </a:r>
          </a:p>
          <a:p>
            <a:pPr algn="l">
              <a:spcAft>
                <a:spcPts val="585"/>
              </a:spcAft>
            </a:pPr>
            <a:r>
              <a:rPr sz="1050" b="0" i="0">
                <a:solidFill>
                  <a:srgbClr val="5D5A54"/>
                </a:solidFill>
                <a:latin typeface="Inter Tight"/>
              </a:rPr>
              <a:t>Kardas, Kumar and Epley, Journal of Personality and Social Psychology, 2022</a:t>
            </a:r>
          </a:p>
          <a:p>
            <a:pPr algn="l">
              <a:spcAft>
                <a:spcPts val="585"/>
              </a:spcAft>
            </a:pPr>
            <a:r>
              <a:rPr sz="1300" b="0" i="0">
                <a:solidFill>
                  <a:srgbClr val="1C1B19"/>
                </a:solidFill>
                <a:latin typeface="Source Serif 4"/>
              </a:rPr>
              <a:t>169 teens followed from 15 to 25: a strong close friendship at 15 predicted more self-worth and less anxiety and depression by the mid-20s. Being popular with the broader group did not, and went with more social anxiety later. One study, a link and not proof of cause.</a:t>
            </a:r>
          </a:p>
          <a:p>
            <a:pPr algn="l">
              <a:spcAft>
                <a:spcPts val="585"/>
              </a:spcAft>
            </a:pPr>
            <a:r>
              <a:rPr sz="1050" b="0" i="0">
                <a:solidFill>
                  <a:srgbClr val="5D5A54"/>
                </a:solidFill>
                <a:latin typeface="Inter Tight"/>
              </a:rPr>
              <a:t>Narr et al., Child Development, 2019 (University of Virginia)</a:t>
            </a:r>
          </a:p>
          <a:p>
            <a:pPr algn="l">
              <a:spcAft>
                <a:spcPts val="585"/>
              </a:spcAft>
            </a:pPr>
            <a:r>
              <a:rPr sz="1300" b="0" i="0">
                <a:solidFill>
                  <a:srgbClr val="1C1B19"/>
                </a:solidFill>
                <a:latin typeface="Source Serif 4"/>
              </a:rPr>
              <a:t>Young people's time spent in person with friends dropped by nearly 70% over about two decades.</a:t>
            </a:r>
          </a:p>
          <a:p>
            <a:pPr algn="l">
              <a:spcAft>
                <a:spcPts val="585"/>
              </a:spcAft>
            </a:pPr>
            <a:r>
              <a:rPr sz="1050" b="0" i="0">
                <a:solidFill>
                  <a:srgbClr val="5D5A54"/>
                </a:solidFill>
                <a:latin typeface="Inter Tight"/>
              </a:rPr>
              <a:t>U.S. Surgeon General's Advisory on Loneliness and Isolation,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