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Something like: "You spend your whole day with teenagers. Every one of us also has a teenager inside, the one we were. This talk is about noticing when that kid shows up in how we treat a student." Say early: nothing today gets shared unless you want to share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Ninety seconds of quiet writing. Then ask only: "What was it like to go back there?" Take two or three answers. You'll hear things like "I could smell the cafeteria" or "I didn't expect to feel that much." That's the point: "That kid is closer than we think. Today is about when they show up at work." Don't ask anyone what they wrote.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The reminiscence bump is one of the most repeated findings in memory research: ask older adults for memories and they come disproportionately from adolescence and early adulthood. One explanation is that those are the years we were building an identity, so those memories got filed as "this is who I am." Lortie interviewed teachers and found their own schooling was their first and deepest training. Put together: teachers work every day inside the age that shaped them most, around people the age they were then. Old feelings get cued.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Phil Riley is an Australian researcher and psychologist. His idea: some of us came into teaching hoping, without knowing it, that students would give us something we missed. That makes a student's eye roll feel bigger than it is. Be honest about the evidence: these are snapshots, not studies that followed teachers over time, effects are small, and the motive is a hypothesis. Clinicians will recognize the idea as countertransference: an old relationship showing up in a new one. Kokko and Pörhölä is the hopeful and humbling one: being the bullied kid made teachers care more, and it didn't make them better at seeing it. Caring needs a second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Neither column is a bad teacher. The left column feels like caring, and often it is. It becomes a problem when the student turns into a stand-in for you, and you start meeting your needs instead of theirs. The right column is quieter and easier to miss: fewer second chances, a colder tone, a quicker referral. Ask the room, without hands: "Which column do you lean toward?" Most people know right away.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Say first: "These aren't problems to fix. They're the lenses we brought with us. Every one of them can help a student or get in the way, depending on whether we notice it." Read both columns slowly and let them sit. Most people find themselves in two or three, often one from each side. The right column catches people off guard: good experiences shape us as much as hard ones, and they come with blind spots. The teacher who loved high school can miss the student who's counting the days; the teacher for whom school came easy can read struggle as laziness; the former team captain can take a student quitting the team personally. Say: "There's no right answer, and you don't have to say it out loud." Others worth naming: perfect or nothing, a hard home, the kid mocked for who they were, the late bloomer, the student council kid who favors the students who speak up, the one with a great teacher they now copy whether it fits or not. Everyone has a teacher voice they inherited, and it shows up most when we're tired.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 minute of quiet writing on the card, then invite anyone who wants to say a word or two out loud. This one is lighter, so a few people will share; nobody has to. You'll hear coaches, a librarian, a friend's mom, a boss at a summer job, a teacher who let them eat lunch in the classroom. Then make the point: "The hard parts of high school come to work with us, and so does this. Most of us try to give students what we got, or what we wish we'd gotten. That's a gift. It's also worth knowing which students it reaches easily, and which ones need to be seen in a way you never were." If your school ran Connection Before Content, connect it lightly: that talk asked about a favorite teacher; this asks about anyone, anywhere, and what it did for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The tells are the clues; the questions are the move. You don't need to understand the whole history in the moment. Asking "How old do I feel?" is usually enough to put the adult back in the driver's seat. Be honest: these questions are adapted from how therapists check themselves in supervision. They haven't been tested in a classroom trial. The closest evidence is a small elementary study where teachers reflected on one difficult relationship and became more sensitive with that child (Spilt and colleagues, 2012), and a larger elementary trial where emotion regulation training warmed up classrooms (CARE, Jennings and colleagues, 2017). If your school ran Kids Do Well If They Can, these questions fit right before the in-the-moment moves from that talk.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Riley's data fits what many of us saw early in our careers: newer teachers were the least secure in close relationships, and experienced teachers more secure. It's a snapshot, so we don't know for sure that experience causes it, but it's a reason for newer teachers to be gentle with themselves. For newer teachers, the simplest guardrails: keep messages on school channels, keep the door open, don't join students' group chats or follow them on personal accounts, and never vent about a colleague to a student. Students want you on their side; they don't need another friend their age. For those further along: parents of teenagers often say the student who's the same age as their own kid is the hardest to see clearly.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4 MINUTES (cut these first if time is short). One card per small group. Ask two questions only: what might the teacher's high school self be doing, and what does this student need from an adult? Group chat: the pull to belong is real; the move is a warm no and a school channel for trip details. Lunch: the care is real, and the student may need help finding her people more than she needs one adult; bring in her advisor or counseling. Popular junior: he may be using confidence to cover something, and he still deserves the same warmth; the tell is being glad when he fails. Don't let groups diagnose the teacher; keep it light.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Invite, don't assign: "If it helps, keep it somewhere you'll see it, like your planner." Nobody collects anything. Close with: "The kid you were got you here. They can ride along. You're the adult in the room." Mention once more that if something heavy came up today, counseling is glad to talk, or a therapist of their own. Point to the faculty quick reference.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Session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Your High School Self</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Faculty professional development  ·  30 minutes, or 35 with the scenarios (20-minute version below)  ·  Led by counseling  ·  Upper School, any subject</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Teachers leave able to spot the moments when their own high school experience, hard or good, colors how they see and treat a student, with three quick questions to ask themselves in the moment, a reminder of where they themselves felt seen, and a private note on the part of their story most likely to color their day.</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teacher (they keep them)</a:t>
            </a:r>
          </a:p>
          <a:p>
            <a:pPr algn="l">
              <a:spcAft>
                <a:spcPts val="675"/>
              </a:spcAft>
            </a:pPr>
            <a:r>
              <a:rPr sz="1500" b="0" i="0">
                <a:solidFill>
                  <a:srgbClr val="1C1B19"/>
                </a:solidFill>
                <a:latin typeface="Source Serif 4"/>
              </a:rPr>
              <a:t>The faculty quick reference (last slide), printed or linked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4 min   </a:t>
            </a:r>
            <a:r>
              <a:rPr sz="1400" b="0" i="0">
                <a:solidFill>
                  <a:srgbClr val="1C1B19"/>
                </a:solidFill>
                <a:latin typeface="Source Serif 4"/>
              </a:rPr>
              <a:t>Opening: you at sixteen (private, nothing shared)</a:t>
            </a:r>
          </a:p>
          <a:p>
            <a:pPr algn="l">
              <a:spcAft>
                <a:spcPts val="630"/>
              </a:spcAft>
            </a:pPr>
            <a:r>
              <a:rPr sz="1300" b="1" i="0">
                <a:solidFill>
                  <a:srgbClr val="F47B20"/>
                </a:solidFill>
                <a:latin typeface="Inter Tight"/>
              </a:rPr>
              <a:t>6 min   </a:t>
            </a:r>
            <a:r>
              <a:rPr sz="1400" b="0" i="0">
                <a:solidFill>
                  <a:srgbClr val="1C1B19"/>
                </a:solidFill>
                <a:latin typeface="Source Serif 4"/>
              </a:rPr>
              <a:t>The research: why high school sticks, and how it shows up</a:t>
            </a:r>
          </a:p>
          <a:p>
            <a:pPr algn="l">
              <a:spcAft>
                <a:spcPts val="630"/>
              </a:spcAft>
            </a:pPr>
            <a:r>
              <a:rPr sz="1300" b="1" i="0">
                <a:solidFill>
                  <a:srgbClr val="F47B20"/>
                </a:solidFill>
                <a:latin typeface="Inter Tight"/>
              </a:rPr>
              <a:t>5 min   </a:t>
            </a:r>
            <a:r>
              <a:rPr sz="1400" b="0" i="0">
                <a:solidFill>
                  <a:srgbClr val="1C1B19"/>
                </a:solidFill>
                <a:latin typeface="Source Serif 4"/>
              </a:rPr>
              <a:t>Two ways it pops out, and what you brought with you</a:t>
            </a:r>
          </a:p>
          <a:p>
            <a:pPr algn="l">
              <a:spcAft>
                <a:spcPts val="630"/>
              </a:spcAft>
            </a:pPr>
            <a:r>
              <a:rPr sz="1300" b="1" i="0">
                <a:solidFill>
                  <a:srgbClr val="F47B20"/>
                </a:solidFill>
                <a:latin typeface="Inter Tight"/>
              </a:rPr>
              <a:t>3 min   </a:t>
            </a:r>
            <a:r>
              <a:rPr sz="1400" b="0" i="0">
                <a:solidFill>
                  <a:srgbClr val="1C1B19"/>
                </a:solidFill>
                <a:latin typeface="Source Serif 4"/>
              </a:rPr>
              <a:t>Where did you feel seen?</a:t>
            </a:r>
          </a:p>
          <a:p>
            <a:pPr algn="l">
              <a:spcAft>
                <a:spcPts val="630"/>
              </a:spcAft>
            </a:pPr>
            <a:r>
              <a:rPr sz="1300" b="1" i="0">
                <a:solidFill>
                  <a:srgbClr val="F47B20"/>
                </a:solidFill>
                <a:latin typeface="Inter Tight"/>
              </a:rPr>
              <a:t>5 min   </a:t>
            </a:r>
            <a:r>
              <a:rPr sz="1400" b="0" i="0">
                <a:solidFill>
                  <a:srgbClr val="1C1B19"/>
                </a:solidFill>
                <a:latin typeface="Source Serif 4"/>
              </a:rPr>
              <a:t>The tells, and three questions in the moment</a:t>
            </a:r>
          </a:p>
          <a:p>
            <a:pPr algn="l">
              <a:spcAft>
                <a:spcPts val="630"/>
              </a:spcAft>
            </a:pPr>
            <a:r>
              <a:rPr sz="1300" b="1" i="0">
                <a:solidFill>
                  <a:srgbClr val="F47B20"/>
                </a:solidFill>
                <a:latin typeface="Inter Tight"/>
              </a:rPr>
              <a:t>3 min   </a:t>
            </a:r>
            <a:r>
              <a:rPr sz="1400" b="0" i="0">
                <a:solidFill>
                  <a:srgbClr val="1C1B19"/>
                </a:solidFill>
                <a:latin typeface="Source Serif 4"/>
              </a:rPr>
              <a:t>Closer in age, and any age</a:t>
            </a:r>
          </a:p>
          <a:p>
            <a:pPr algn="l">
              <a:spcAft>
                <a:spcPts val="630"/>
              </a:spcAft>
            </a:pPr>
            <a:r>
              <a:rPr sz="1300" b="1" i="0">
                <a:solidFill>
                  <a:srgbClr val="F47B20"/>
                </a:solidFill>
                <a:latin typeface="Inter Tight"/>
              </a:rPr>
              <a:t>4 min   </a:t>
            </a:r>
            <a:r>
              <a:rPr sz="1400" b="0" i="0">
                <a:solidFill>
                  <a:srgbClr val="1C1B19"/>
                </a:solidFill>
                <a:latin typeface="Source Serif 4"/>
              </a:rPr>
              <a:t>Try it: three teachers (optional)</a:t>
            </a:r>
          </a:p>
          <a:p>
            <a:pPr algn="l">
              <a:spcAft>
                <a:spcPts val="630"/>
              </a:spcAft>
            </a:pPr>
            <a:r>
              <a:rPr sz="1300" b="1" i="0">
                <a:solidFill>
                  <a:srgbClr val="F47B20"/>
                </a:solidFill>
                <a:latin typeface="Inter Tight"/>
              </a:rPr>
              <a:t>3 min   </a:t>
            </a:r>
            <a:r>
              <a:rPr sz="1400" b="0" i="0">
                <a:solidFill>
                  <a:srgbClr val="1C1B19"/>
                </a:solidFill>
                <a:latin typeface="Source Serif 4"/>
              </a:rPr>
              <a:t>Just for you: your card</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Twenty minutes: the opening (2), the research, second slide only (4), two ways it pops out (4), where did you feel seen (2), the tells and three questions (5), your card (3). Skip the scenarios, or hand out the cards for later. Share the faculty quick reference afterward.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present</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present</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This is private.</a:t>
            </a:r>
          </a:p>
          <a:p>
            <a:pPr algn="l">
              <a:spcAft>
                <a:spcPts val="585"/>
              </a:spcAft>
            </a:pPr>
            <a:r>
              <a:rPr sz="1300" b="0" i="0">
                <a:solidFill>
                  <a:srgbClr val="1C1B19"/>
                </a:solidFill>
                <a:latin typeface="Source Serif 4"/>
              </a:rPr>
              <a:t>Nobody shares their high school memories in this room unless they want to. The opening and the closing card are for each teacher alone. When you take answers, ask what it was like to go back, never what they saw there.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It's a staff meeting, not therapy.</a:t>
            </a:r>
          </a:p>
          <a:p>
            <a:pPr algn="l">
              <a:spcAft>
                <a:spcPts val="585"/>
              </a:spcAft>
            </a:pPr>
            <a:r>
              <a:rPr sz="1300" b="0" i="0">
                <a:solidFill>
                  <a:srgbClr val="1C1B19"/>
                </a:solidFill>
                <a:latin typeface="Source Serif 4"/>
              </a:rPr>
              <a:t>Colleagues, supervisors and people who write evaluations are in the room. Keep the talk on patterns and moves. If someone starts telling a painful story, thank them warmly and offer to talk afterward.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memories are heavy.</a:t>
            </a:r>
          </a:p>
          <a:p>
            <a:pPr algn="l">
              <a:spcAft>
                <a:spcPts val="585"/>
              </a:spcAft>
            </a:pPr>
            <a:r>
              <a:rPr sz="1300" b="0" i="0">
                <a:solidFill>
                  <a:srgbClr val="1C1B19"/>
                </a:solidFill>
                <a:latin typeface="Source Serif 4"/>
              </a:rPr>
              <a:t>For some teachers, high school means bullying, abuse, a death, coming out or not being able to. Say early that if something heavy comes up, that's normal, and that counseling is glad to talk, or a therapist of their own if they'd like one. Don't promise follow-up you can't give.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Not a weapon.</a:t>
            </a:r>
          </a:p>
          <a:p>
            <a:pPr algn="l">
              <a:spcAft>
                <a:spcPts val="585"/>
              </a:spcAft>
            </a:pPr>
            <a:r>
              <a:rPr sz="1300" b="0" i="0">
                <a:solidFill>
                  <a:srgbClr val="1C1B19"/>
                </a:solidFill>
                <a:latin typeface="Source Serif 4"/>
              </a:rPr>
              <a:t>"That's your high school self talking" is a thing you say to yourself. Said to a colleague in the hallway, it's an insult. Name that out loud, with a smile.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Your history is a strength too.</a:t>
            </a:r>
          </a:p>
          <a:p>
            <a:pPr algn="l">
              <a:spcAft>
                <a:spcPts val="585"/>
              </a:spcAft>
            </a:pPr>
            <a:r>
              <a:rPr sz="1300" b="0" i="0">
                <a:solidFill>
                  <a:srgbClr val="1C1B19"/>
                </a:solidFill>
                <a:latin typeface="Source Serif 4"/>
              </a:rPr>
              <a:t>The teacher who was the lonely kid often sees the lonely kid first. The point is noticing when the old feeling is steering, not scrubbing it out.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Students don't need your whole story.</a:t>
            </a:r>
          </a:p>
          <a:p>
            <a:pPr algn="l">
              <a:spcAft>
                <a:spcPts val="585"/>
              </a:spcAft>
            </a:pPr>
            <a:r>
              <a:rPr sz="1300" b="0" i="0">
                <a:solidFill>
                  <a:srgbClr val="1C1B19"/>
                </a:solidFill>
                <a:latin typeface="Source Serif 4"/>
              </a:rPr>
              <a:t>A short, true line ("High school was hard for me too") can help. Your full story puts the student in the position of taking care of you. If you share, keep it brief and bring it back to them.</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Your high school isn't theirs.</a:t>
            </a:r>
          </a:p>
          <a:p>
            <a:pPr algn="l">
              <a:spcAft>
                <a:spcPts val="585"/>
              </a:spcAft>
            </a:pPr>
            <a:r>
              <a:rPr sz="1300" b="0" i="0">
                <a:solidFill>
                  <a:srgbClr val="1C1B19"/>
                </a:solidFill>
                <a:latin typeface="Source Serif 4"/>
              </a:rPr>
              <a:t>Different decade, maybe a different country, a different size school, a different income bracket, no phones or all phones. When a student's world doesn't match the one you remember, ask before you assume you know how it feels.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Being the only one.</a:t>
            </a:r>
          </a:p>
          <a:p>
            <a:pPr algn="l">
              <a:spcAft>
                <a:spcPts val="585"/>
              </a:spcAft>
            </a:pPr>
            <a:r>
              <a:rPr sz="1300" b="0" i="0">
                <a:solidFill>
                  <a:srgbClr val="1C1B19"/>
                </a:solidFill>
                <a:latin typeface="Source Serif 4"/>
              </a:rPr>
              <a:t>Teachers who were the only one of something in high school (race, religion, accent, money, body, being out or not) may feel a strong pull toward students in that spot now. That pull can be a gift. Check whether the student wants what you needed back then; they may want something different.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kids who'd have ignored you.</a:t>
            </a:r>
          </a:p>
          <a:p>
            <a:pPr algn="l">
              <a:spcAft>
                <a:spcPts val="585"/>
              </a:spcAft>
            </a:pPr>
            <a:r>
              <a:rPr sz="1300" b="0" i="0">
                <a:solidFill>
                  <a:srgbClr val="1C1B19"/>
                </a:solidFill>
                <a:latin typeface="Source Serif 4"/>
              </a:rPr>
              <a:t>Many of us still feel a flinch around the confident, popular, athletic or wealthy students. They're teenagers too, and they need adults who see them past the image. Notice if they get less warmth from you.</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Students who remind you of a group.</a:t>
            </a:r>
          </a:p>
          <a:p>
            <a:pPr algn="l">
              <a:spcAft>
                <a:spcPts val="585"/>
              </a:spcAft>
            </a:pPr>
            <a:r>
              <a:rPr sz="1300" b="0" i="0">
                <a:solidFill>
                  <a:srgbClr val="1C1B19"/>
                </a:solidFill>
                <a:latin typeface="Source Serif 4"/>
              </a:rPr>
              <a:t>Sometimes it isn't one person from your past; it's a type (the jocks, the rich kids, the kids from the other side of town). That's a short step from a stereotype. Bring it back to the student in front of you.</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Teachers who weren't safe to be themselves in high school, and teachers whose beliefs were shaped by their own school's culture, can both feel stirred by these students. Either way, the student needs the adult who is here now.</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Older adults recall more memories, more vivid memories and more important memories from ages 10 to 30 than from any other stretch of life. Their favorite music, books and films also come from those years. It's called the reminiscence bump, and it's one of the most repeated findings in memory research.</a:t>
            </a:r>
          </a:p>
          <a:p>
            <a:pPr algn="l">
              <a:spcAft>
                <a:spcPts val="585"/>
              </a:spcAft>
            </a:pPr>
            <a:r>
              <a:rPr sz="1050" b="0" i="0">
                <a:solidFill>
                  <a:srgbClr val="5D5A54"/>
                </a:solidFill>
                <a:latin typeface="Inter Tight"/>
              </a:rPr>
              <a:t>Rubin, Rahhal and Poon, Memory &amp; Cognition, 1998</a:t>
            </a:r>
          </a:p>
          <a:p>
            <a:pPr algn="l">
              <a:spcAft>
                <a:spcPts val="585"/>
              </a:spcAft>
            </a:pPr>
            <a:r>
              <a:rPr sz="1300" b="0" i="0">
                <a:solidFill>
                  <a:srgbClr val="1C1B19"/>
                </a:solidFill>
                <a:latin typeface="Source Serif 4"/>
              </a:rPr>
              <a:t>By the time teachers start, they've spent about 13,000 hours watching teachers from a student's seat. Lortie called it an "apprenticeship of observation": much of how we teach comes from how we were taught, and we often don't notice it.</a:t>
            </a:r>
          </a:p>
          <a:p>
            <a:pPr algn="l">
              <a:spcAft>
                <a:spcPts val="585"/>
              </a:spcAft>
            </a:pPr>
            <a:r>
              <a:rPr sz="1050" b="0" i="0">
                <a:solidFill>
                  <a:srgbClr val="5D5A54"/>
                </a:solidFill>
                <a:latin typeface="Inter Tight"/>
              </a:rPr>
              <a:t>Lortie, Schoolteacher, 1975</a:t>
            </a:r>
          </a:p>
          <a:p>
            <a:pPr algn="l">
              <a:spcAft>
                <a:spcPts val="585"/>
              </a:spcAft>
            </a:pPr>
            <a:r>
              <a:rPr sz="1300" b="0" i="0">
                <a:solidFill>
                  <a:srgbClr val="1C1B19"/>
                </a:solidFill>
                <a:latin typeface="Source Serif 4"/>
              </a:rPr>
              <a:t>Among 291 student teachers and experienced teachers, experienced teachers were more secure in close relationships than those just starting, and elementary teachers more secure than secondary teachers. Riley suggests some people choose teaching partly hoping for a "corrective emotional experience" from students, which leaves them more open to feeling rejected by students. The data are a single snapshot, some groups were small, and the motive is a hypothesis.</a:t>
            </a:r>
          </a:p>
          <a:p>
            <a:pPr algn="l">
              <a:spcAft>
                <a:spcPts val="585"/>
              </a:spcAft>
            </a:pPr>
            <a:r>
              <a:rPr sz="1050" b="0" i="0">
                <a:solidFill>
                  <a:srgbClr val="5D5A54"/>
                </a:solidFill>
                <a:latin typeface="Inter Tight"/>
              </a:rPr>
              <a:t>Riley, Teaching and Teacher Education, 2009</a:t>
            </a:r>
          </a:p>
          <a:p>
            <a:pPr algn="l">
              <a:spcAft>
                <a:spcPts val="585"/>
              </a:spcAft>
            </a:pPr>
            <a:r>
              <a:rPr sz="1300" b="0" i="0">
                <a:solidFill>
                  <a:srgbClr val="1C1B19"/>
                </a:solidFill>
                <a:latin typeface="Source Serif 4"/>
              </a:rPr>
              <a:t>In 750 student teachers, teachers and principals, student teachers reported the most relationship anxiety and avoidance, and principals the least. Secondary student teachers reported more anger at students during their practicum, and more relationship anxiety predicted more anger. The effect was small and many answers were missing.</a:t>
            </a:r>
          </a:p>
          <a:p>
            <a:pPr algn="l">
              <a:spcAft>
                <a:spcPts val="585"/>
              </a:spcAft>
            </a:pPr>
            <a:r>
              <a:rPr sz="1050" b="0" i="0">
                <a:solidFill>
                  <a:srgbClr val="5D5A54"/>
                </a:solidFill>
                <a:latin typeface="Inter Tight"/>
              </a:rPr>
              <a:t>Riley, Pastoral Care in Education, 2013 (conference version on ERIC)</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 teachers who had been bullied in school felt more empathy for victims than those who hadn't, but they were no better at spotting bullying or more committed to stopping it.</a:t>
            </a:r>
          </a:p>
          <a:p>
            <a:pPr algn="l">
              <a:spcAft>
                <a:spcPts val="585"/>
              </a:spcAft>
            </a:pPr>
            <a:r>
              <a:rPr sz="1050" b="0" i="0">
                <a:solidFill>
                  <a:srgbClr val="5D5A54"/>
                </a:solidFill>
                <a:latin typeface="Inter Tight"/>
              </a:rPr>
              <a:t>Kokko and Pörhölä, Teaching and Teacher Education, 2009</a:t>
            </a:r>
          </a:p>
          <a:p>
            <a:pPr algn="l">
              <a:spcAft>
                <a:spcPts val="585"/>
              </a:spcAft>
            </a:pPr>
            <a:r>
              <a:rPr sz="1300" b="0" i="0">
                <a:solidFill>
                  <a:srgbClr val="1C1B19"/>
                </a:solidFill>
                <a:latin typeface="Source Serif 4"/>
              </a:rPr>
              <a:t>In a randomized comparison with 32 elementary teachers, a program where teachers reflected in depth on their relationship with one difficult student raised observed teacher sensitivity and brought more closeness for about half the pairs. Small and early, with young children; nothing like it has been tested with high school teachers.</a:t>
            </a:r>
          </a:p>
          <a:p>
            <a:pPr algn="l">
              <a:spcAft>
                <a:spcPts val="585"/>
              </a:spcAft>
            </a:pPr>
            <a:r>
              <a:rPr sz="1050" b="0" i="0">
                <a:solidFill>
                  <a:srgbClr val="5D5A54"/>
                </a:solidFill>
                <a:latin typeface="Inter Tight"/>
              </a:rPr>
              <a:t>Spilt, Koomen, Thijs and van der Leij, Attachment &amp; Human Development, 2012</a:t>
            </a:r>
          </a:p>
          <a:p>
            <a:pPr algn="l">
              <a:spcAft>
                <a:spcPts val="585"/>
              </a:spcAft>
            </a:pPr>
            <a:r>
              <a:rPr sz="1300" b="0" i="0">
                <a:solidFill>
                  <a:srgbClr val="1C1B19"/>
                </a:solidFill>
                <a:latin typeface="Source Serif 4"/>
              </a:rPr>
              <a:t>In a randomized trial with 224 teachers in 36 elementary schools, 30 hours of training in mindfulness and emotion regulation (CARE) lowered teacher distress and raised observed emotional support in class. It's the strongest evidence that working on the teacher's inner life shows up in the classroom, but it's elementary and much longer than one talk.</a:t>
            </a:r>
          </a:p>
          <a:p>
            <a:pPr algn="l">
              <a:spcAft>
                <a:spcPts val="585"/>
              </a:spcAft>
            </a:pPr>
            <a:r>
              <a:rPr sz="1050" b="0" i="0">
                <a:solidFill>
                  <a:srgbClr val="5D5A54"/>
                </a:solidFill>
                <a:latin typeface="Inter Tight"/>
              </a:rPr>
              <a:t>Jennings et al., Journal of Educational Psychology, 2017</a:t>
            </a:r>
          </a:p>
          <a:p>
            <a:pPr algn="l">
              <a:spcAft>
                <a:spcPts val="585"/>
              </a:spcAft>
            </a:pPr>
            <a:r>
              <a:rPr sz="1300" b="0" i="0">
                <a:solidFill>
                  <a:srgbClr val="1C1B19"/>
                </a:solidFill>
                <a:latin typeface="Source Serif 4"/>
              </a:rPr>
              <a:t>Clinicians have a name for an old relationship showing up in a new one: countertransference. Writers on teaching have borrowed the idea for decades. The three questions on the card are adapted from how therapists check themselves in supervision. They are a practice, not a tested classroom program.</a:t>
            </a:r>
          </a:p>
          <a:p>
            <a:pPr algn="l">
              <a:spcAft>
                <a:spcPts val="585"/>
              </a:spcAft>
            </a:pPr>
            <a:r>
              <a:rPr sz="1050" b="0" i="0">
                <a:solidFill>
                  <a:srgbClr val="5D5A54"/>
                </a:solidFill>
                <a:latin typeface="Inter Tight"/>
              </a:rPr>
              <a:t>Siegel and Hartzell, Parenting from the Inside Out, 2003  ·  Britzman, The Very Thought of Education, 2009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HIGH SCHOOL SELF</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Your High School Self</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The teenager you were still comes to work. Most days that helps. Some days they grab the wheel.</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 Faculty professional development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 JUST FOR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Picture yourself at sixteen. Where do you sit at lunch? Who are you trying to impress? What are you hoping nobody notices?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a few words on your card. Nobody will collect it or ask you to read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Rubin, Rahhal and Poon, 1998  ·  Lortie, 1975</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High school sticks.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We remember the years from about 10 to 30 more vividly than any others. They hold our most important memories and our favorite songs.</a:t>
            </a:r>
          </a:p>
          <a:p>
            <a:pPr algn="l">
              <a:spcAft>
                <a:spcPts val="855"/>
              </a:spcAft>
            </a:pPr>
            <a:r>
              <a:rPr sz="1900" b="0" i="0">
                <a:solidFill>
                  <a:srgbClr val="1C1B19"/>
                </a:solidFill>
                <a:latin typeface="Source Serif 4"/>
              </a:rPr>
              <a:t>•  By the time we start teaching, we've spent about 13,000 hours watching teachers from a student's seat.</a:t>
            </a:r>
          </a:p>
          <a:p>
            <a:pPr algn="l">
              <a:spcAft>
                <a:spcPts val="855"/>
              </a:spcAft>
            </a:pPr>
            <a:r>
              <a:rPr sz="1900" b="0" i="0">
                <a:solidFill>
                  <a:srgbClr val="1C1B19"/>
                </a:solidFill>
                <a:latin typeface="Source Serif 4"/>
              </a:rPr>
              <a:t>•  Much of how we teach, and react, comes from that seat. We rarely notice it.</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 spend your workday in the stretch of life your memory holds tightest.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Riley, 2009 and 2013  ·  Kokko and Pörhölä, 2009</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It shows up in the relationship.</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Teachers just starting were less secure in close relationships than experienced ones, and high school teachers less secure than elementary teachers.</a:t>
            </a:r>
          </a:p>
          <a:p>
            <a:pPr algn="l">
              <a:spcAft>
                <a:spcPts val="855"/>
              </a:spcAft>
            </a:pPr>
            <a:r>
              <a:rPr sz="1900" b="0" i="0">
                <a:solidFill>
                  <a:srgbClr val="1C1B19"/>
                </a:solidFill>
                <a:latin typeface="Source Serif 4"/>
              </a:rPr>
              <a:t>•  Student teachers with more relationship anxiety reported more anger at students. Secondary student teachers reported the most.</a:t>
            </a:r>
          </a:p>
          <a:p>
            <a:pPr algn="l">
              <a:spcAft>
                <a:spcPts val="855"/>
              </a:spcAft>
            </a:pPr>
            <a:r>
              <a:rPr sz="1900" b="0" i="0">
                <a:solidFill>
                  <a:srgbClr val="1C1B19"/>
                </a:solidFill>
                <a:latin typeface="Source Serif 4"/>
              </a:rPr>
              <a:t>•  Teachers who'd been bullied felt more for victims, but were no better at spotting or stopping bullying.</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Your history gives you heart. It doesn't give you 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IT SHOWS UP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Two ways it pops out.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LEANING IN TOO FAR</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Rescuing the student who's a lot like you were</a:t>
            </a:r>
          </a:p>
          <a:p>
            <a:pPr algn="l">
              <a:spcAft>
                <a:spcPts val="855"/>
              </a:spcAft>
            </a:pPr>
            <a:r>
              <a:rPr sz="1900" b="0" i="0">
                <a:solidFill>
                  <a:srgbClr val="1C1B19"/>
                </a:solidFill>
                <a:latin typeface="Source Serif 4"/>
              </a:rPr>
              <a:t>Taking their side before you know what happened</a:t>
            </a:r>
          </a:p>
          <a:p>
            <a:pPr algn="l">
              <a:spcAft>
                <a:spcPts val="855"/>
              </a:spcAft>
            </a:pPr>
            <a:r>
              <a:rPr sz="1900" b="0" i="0">
                <a:solidFill>
                  <a:srgbClr val="1C1B19"/>
                </a:solidFill>
                <a:latin typeface="Source Serif 4"/>
              </a:rPr>
              <a:t>Needing them to like you</a:t>
            </a:r>
          </a:p>
          <a:p>
            <a:pPr algn="l">
              <a:spcAft>
                <a:spcPts val="855"/>
              </a:spcAft>
            </a:pPr>
            <a:r>
              <a:rPr sz="1900" b="0" i="0">
                <a:solidFill>
                  <a:srgbClr val="1C1B19"/>
                </a:solidFill>
                <a:latin typeface="Source Serif 4"/>
              </a:rPr>
              <a:t>Thinking about them at 11 at night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PULLING BACK TOO HARD</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Being sharper with the student who's like someone who made your life hard</a:t>
            </a:r>
          </a:p>
          <a:p>
            <a:pPr algn="l">
              <a:spcAft>
                <a:spcPts val="855"/>
              </a:spcAft>
            </a:pPr>
            <a:r>
              <a:rPr sz="1900" b="0" i="0">
                <a:solidFill>
                  <a:srgbClr val="1C1B19"/>
                </a:solidFill>
                <a:latin typeface="Source Serif 4"/>
              </a:rPr>
              <a:t>Less patience for the kid who's like the self you'd rather forget</a:t>
            </a:r>
          </a:p>
          <a:p>
            <a:pPr algn="l">
              <a:spcAft>
                <a:spcPts val="855"/>
              </a:spcAft>
            </a:pPr>
            <a:r>
              <a:rPr sz="1900" b="0" i="0">
                <a:solidFill>
                  <a:srgbClr val="1C1B19"/>
                </a:solidFill>
                <a:latin typeface="Source Serif 4"/>
              </a:rPr>
              <a:t>Feeling sixteen when a student rolls their eyes</a:t>
            </a:r>
          </a:p>
          <a:p>
            <a:pPr algn="l">
              <a:spcAft>
                <a:spcPts val="855"/>
              </a:spcAft>
            </a:pPr>
            <a:r>
              <a:rPr sz="1900" b="0" i="0">
                <a:solidFill>
                  <a:srgbClr val="1C1B19"/>
                </a:solidFill>
                <a:latin typeface="Source Serif 4"/>
              </a:rPr>
              <a:t>Still a little intimidated by the popular kids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YOU BROUGHT WITH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ones sound like you?</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IF IT WAS HARD</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Left out: a student eating alone hits harder than it should</a:t>
            </a:r>
          </a:p>
          <a:p>
            <a:pPr algn="l">
              <a:spcAft>
                <a:spcPts val="855"/>
              </a:spcAft>
            </a:pPr>
            <a:r>
              <a:rPr sz="1900" b="0" i="0">
                <a:solidFill>
                  <a:srgbClr val="1C1B19"/>
                </a:solidFill>
                <a:latin typeface="Source Serif 4"/>
              </a:rPr>
              <a:t>In trouble a lot: you side with the rule-breaker, or come down hard</a:t>
            </a:r>
          </a:p>
          <a:p>
            <a:pPr algn="l">
              <a:spcAft>
                <a:spcPts val="855"/>
              </a:spcAft>
            </a:pPr>
            <a:r>
              <a:rPr sz="1900" b="0" i="0">
                <a:solidFill>
                  <a:srgbClr val="1C1B19"/>
                </a:solidFill>
                <a:latin typeface="Source Serif 4"/>
              </a:rPr>
              <a:t>Invisible: you miss the quiet ones, or can't stop worrying</a:t>
            </a:r>
          </a:p>
          <a:p>
            <a:pPr algn="l">
              <a:spcAft>
                <a:spcPts val="855"/>
              </a:spcAft>
            </a:pPr>
            <a:r>
              <a:rPr sz="1900" b="0" i="0">
                <a:solidFill>
                  <a:srgbClr val="1C1B19"/>
                </a:solidFill>
                <a:latin typeface="Source Serif 4"/>
              </a:rPr>
              <a:t>Humiliated by a teacher: you hear their voice in yours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IF IT WENT WELL</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Popular: you don't notice the edge of the room</a:t>
            </a:r>
          </a:p>
          <a:p>
            <a:pPr algn="l">
              <a:spcAft>
                <a:spcPts val="855"/>
              </a:spcAft>
            </a:pPr>
            <a:r>
              <a:rPr sz="1900" b="0" i="0">
                <a:solidFill>
                  <a:srgbClr val="1C1B19"/>
                </a:solidFill>
                <a:latin typeface="Source Serif 4"/>
              </a:rPr>
              <a:t>Star athlete or lead: you can't understand the kid who quits</a:t>
            </a:r>
          </a:p>
          <a:p>
            <a:pPr algn="l">
              <a:spcAft>
                <a:spcPts val="855"/>
              </a:spcAft>
            </a:pPr>
            <a:r>
              <a:rPr sz="1900" b="0" i="0">
                <a:solidFill>
                  <a:srgbClr val="1C1B19"/>
                </a:solidFill>
                <a:latin typeface="Source Serif 4"/>
              </a:rPr>
              <a:t>School came easy: "Why can't you just do it?"</a:t>
            </a:r>
          </a:p>
          <a:p>
            <a:pPr algn="l">
              <a:spcAft>
                <a:spcPts val="855"/>
              </a:spcAft>
            </a:pPr>
            <a:r>
              <a:rPr sz="1900" b="0" i="0">
                <a:solidFill>
                  <a:srgbClr val="1C1B19"/>
                </a:solidFill>
                <a:latin typeface="Source Serif 4"/>
              </a:rPr>
              <a:t>Loved it: you forget it isn't great for everyone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OTHER SIDE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Where did you feel seen?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 person, a place, a team, a stage, a job, a back table in the art room. Who saw you before you were finished? What did they 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IN THE MOMENT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Your sixteen-year-old can ride along. They don't get the keys.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TELLS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Size: your reaction is bigger than the moment</a:t>
            </a:r>
          </a:p>
          <a:p>
            <a:pPr algn="l">
              <a:spcAft>
                <a:spcPts val="855"/>
              </a:spcAft>
            </a:pPr>
            <a:r>
              <a:rPr sz="1900" b="0" i="0">
                <a:solidFill>
                  <a:srgbClr val="1C1B19"/>
                </a:solidFill>
                <a:latin typeface="Source Serif 4"/>
              </a:rPr>
              <a:t>Age: you suddenly feel fifteen</a:t>
            </a:r>
          </a:p>
          <a:p>
            <a:pPr algn="l">
              <a:spcAft>
                <a:spcPts val="855"/>
              </a:spcAft>
            </a:pPr>
            <a:r>
              <a:rPr sz="1900" b="0" i="0">
                <a:solidFill>
                  <a:srgbClr val="1C1B19"/>
                </a:solidFill>
                <a:latin typeface="Source Serif 4"/>
              </a:rPr>
              <a:t>Replay: you're still arguing with a student at dinner</a:t>
            </a:r>
          </a:p>
          <a:p>
            <a:pPr algn="l">
              <a:spcAft>
                <a:spcPts val="855"/>
              </a:spcAft>
            </a:pPr>
            <a:r>
              <a:rPr sz="1900" b="0" i="0">
                <a:solidFill>
                  <a:srgbClr val="1C1B19"/>
                </a:solidFill>
                <a:latin typeface="Source Serif 4"/>
              </a:rPr>
              <a:t>Certainty: you know what's going on before they've said a word</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THREE QUESTIONS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How old do I feel right now?</a:t>
            </a:r>
          </a:p>
          <a:p>
            <a:pPr algn="l">
              <a:spcAft>
                <a:spcPts val="855"/>
              </a:spcAft>
            </a:pPr>
            <a:r>
              <a:rPr sz="1900" b="0" i="0">
                <a:solidFill>
                  <a:srgbClr val="1C1B19"/>
                </a:solidFill>
                <a:latin typeface="Source Serif 4"/>
              </a:rPr>
              <a:t>Who does this student remind me of?</a:t>
            </a:r>
          </a:p>
          <a:p>
            <a:pPr algn="l">
              <a:spcAft>
                <a:spcPts val="855"/>
              </a:spcAft>
            </a:pPr>
            <a:r>
              <a:rPr sz="1900" b="0" i="0">
                <a:solidFill>
                  <a:srgbClr val="1C1B19"/>
                </a:solidFill>
                <a:latin typeface="Source Serif 4"/>
              </a:rPr>
              <a:t>What does this student need from the adult in the room?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ANY AGE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It looks different at 24 and at 54.</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CLOSER IN AGE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 pull to be the cool one</a:t>
            </a:r>
          </a:p>
          <a:p>
            <a:pPr algn="l">
              <a:spcAft>
                <a:spcPts val="855"/>
              </a:spcAft>
            </a:pPr>
            <a:r>
              <a:rPr sz="1900" b="0" i="0">
                <a:solidFill>
                  <a:srgbClr val="1C1B19"/>
                </a:solidFill>
                <a:latin typeface="Source Serif 4"/>
              </a:rPr>
              <a:t>Students treating you like a peer, and liking it</a:t>
            </a:r>
          </a:p>
          <a:p>
            <a:pPr algn="l">
              <a:spcAft>
                <a:spcPts val="855"/>
              </a:spcAft>
            </a:pPr>
            <a:r>
              <a:rPr sz="1900" b="0" i="0">
                <a:solidFill>
                  <a:srgbClr val="1C1B19"/>
                </a:solidFill>
                <a:latin typeface="Source Serif 4"/>
              </a:rPr>
              <a:t>Laughing along when you should step in</a:t>
            </a:r>
          </a:p>
          <a:p>
            <a:pPr algn="l">
              <a:spcAft>
                <a:spcPts val="855"/>
              </a:spcAft>
            </a:pPr>
            <a:r>
              <a:rPr sz="1900" b="0" i="0">
                <a:solidFill>
                  <a:srgbClr val="1C1B19"/>
                </a:solidFill>
                <a:latin typeface="Source Serif 4"/>
              </a:rPr>
              <a:t>Venting about a colleague to a student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FURTHER ALONG</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student the age you were when something happened</a:t>
            </a:r>
          </a:p>
          <a:p>
            <a:pPr algn="l">
              <a:spcAft>
                <a:spcPts val="855"/>
              </a:spcAft>
            </a:pPr>
            <a:r>
              <a:rPr sz="1900" b="0" i="0">
                <a:solidFill>
                  <a:srgbClr val="1C1B19"/>
                </a:solidFill>
                <a:latin typeface="Source Serif 4"/>
              </a:rPr>
              <a:t>Your own teenager's story at home leaking in</a:t>
            </a:r>
          </a:p>
          <a:p>
            <a:pPr algn="l">
              <a:spcAft>
                <a:spcPts val="855"/>
              </a:spcAft>
            </a:pPr>
            <a:r>
              <a:rPr sz="1900" b="0" i="0">
                <a:solidFill>
                  <a:srgbClr val="1C1B19"/>
                </a:solidFill>
                <a:latin typeface="Source Serif 4"/>
              </a:rPr>
              <a:t>"Kids these days": judging them by your decade</a:t>
            </a:r>
          </a:p>
          <a:p>
            <a:pPr algn="l">
              <a:spcAft>
                <a:spcPts val="855"/>
              </a:spcAft>
            </a:pPr>
            <a:r>
              <a:rPr sz="1900" b="0" i="0">
                <a:solidFill>
                  <a:srgbClr val="1C1B19"/>
                </a:solidFill>
                <a:latin typeface="Source Serif 4"/>
              </a:rPr>
              <a:t>Old school rivalries replayed with colleagues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the high school self doing? What does the student need?</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SECOND-YEAR TEACHER, 24</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group of seniors adds you to their group chat "for the class trip." It feels great to be included.</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TWELVE YEARS IN</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9th grader eats alone every day. You've started skipping your own lunch to sit with her, and you think about her a lot.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TWENTY YEARS IN</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confident, popular junior talks over everyone. You notice you're sharper with him than with anyone else, and you're glad when he gets something wrong.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JUST FOR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Your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the back of your card: the part of your high school story most likely to color how you see a student, the tell you'd notice first, and one way you were seen that you can pass on.</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FACULTY QUICK REFERENCE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https://rmwtoolkit.github.io/bcds-toolkit/your-high-school-self-faculty-card.html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