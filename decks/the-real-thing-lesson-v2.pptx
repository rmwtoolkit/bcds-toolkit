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with the next slide. Hand out three cards each. Students fold one in half and write M on one side, R on the other. The second card is for questions any time today; the box stays open the whole class. Say early: "This is the class where everyone feels a little awkward, me included. That's fine."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them out, then ask: "Anything you'd add?" Take one if offered. If someone laughs at a classmate later, point back to rule two and keep moving.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Ninety seconds to write, as many notes as they want. Then everyone sticks theirs on the board line from "Wouldn't trust it" to "Would trust it." Read the wall out loud. You'll usually see friends, social media, TikTok, shows and porn near the untrusted end, with the most notes. Parents, doctors and health class sit nearer "trust" with fewer. Ask: "What do you notice?" The point: the sources we use most are often the ones we trust least. Good news to share: in a 2023 survey, more teens said they'd learned a lot from a trusted adult (47%) than from porn (27%).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with the answers. Read each one, count to three, everyone flips their card up at once so nobody copies. Glance at the room, then ask one student from each side to say why. Don't give the answer until all six are voted. Expect a split on 1 and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slow on number 3. Say it plainly: "A body can react to touch the way a knee reacts to a doctor's hammer. That's not a yes. If that ever happened to you, it wasn't consent, and it wasn't your fault." On number 6, add: "And if someone has already had sex, that's not a mark against them. Anyone can decide 'not again for now.'"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Take the vote and a couple of age guesses. Don't give answers yet. Remind them nobody is saying whether they've seen it, and students who never have are just as normal.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Compare with their guesses. Most rooms guess low on the number and high on the age. Read the last line on the slide out loud; it sets the tone for the rest. If someone asks what "violent" means, keep it general: hitting, choking, someone in pain. You'll come back to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Before you show the columns, ask: "How do you know pro wrestling is fake?" Write their answers on the board for one minute: the moves are planned, nobody's really hurt, it's for the crowd, the ref looks away on cue. Then show the slide. Their list will match the left column almost word for word. Ask: "So what would happen if someone learned how to fight from WWE?" Then: nobody should learn how to have sex from porn either.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Before you show the list: in pairs, sixty seconds, "What does a real, good moment between two people have that a camera would cut?" Take a few answers, then show the slide. Close with: "Everything on this list is what makes the real thing good."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Read each message alone first. Thumbs up if they've seen it in porn, shows, songs, memes or jokes. This is about what's out there, not what anyone watches. Then reveal the real version. On "No just means convince me": if they had Don't Scroll Past, ask "Remember Alex and Riley?" If not, use it: Riley said "I'm not ready," and Alex went quiet and said "I thought you actually liked me." Then say the one thing everyone should know, slowly: being rough or hurting someone isn't a normal part of sex because it shows up in porn. Saying yes to sex is never saying yes to being hurt, and anyone can say stop.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Say the line under it: silence isn't a yes, a body reacting isn't a yes, dating isn't a yes, and someone who is drunk, high or asleep can't say yes. Lightning round: read each moment, students hold up fingers for the missing letter (1 F, 2 R, 3 I, 4 E, 5 S). More than one answer can be right; ask one student why. (1) Jordan said yes after being asked eight times in one night. (F) (2) Sam said "actually, wait," and the other person kept going. (R) (3) Taylor agreed to hook up but didn't know the other person was filming. (I) (4) Casey didn't say no. Casey didn't say anything. (E) (5) They agreed to kiss, so he figured everything else was fine. (S) (6) Alex said, "I thought you actually liked me." (F: guilt is pressure.) (7) She'd had four drinks and could barely stand. Trick question: no letter fixes it. She can't say yes right now.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Quick hands before you show it: true or false? "You'd know if you had an STI." (False.) "The pill protects against STIs." (False.) "Condoms lower the risk of both." (True.) Then the slide. One number worth saying: people 15 to 24 account for about half of new STIs in the U.S. each year. In Massachusetts, teens can get STI testing and treatment on their own. Stick to the slide and send detailed questions to the nurse or a doctor.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Point back to the "what would a camera cut out" list. It's nearly the same list. Ask: "Which one of these is hardest to do, and why?" Take one or two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One quiet minute, nobody writes. Then say: "For most people your age, the honest answer is 'not yet.' That's a strong answer. And these questions still work later, and for anyone who's already had sex."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Counselors can explain up front what they'd have to share and with whom. If anything today brought up something that happened, RAINN is free and confidential any time at 1-800-656-4673.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Collect every card, including blanks, so nobody stands out. Answer the questions next class, after reading them first. Share the student page link. If your students get Scripted or Consent, Clearly later, those go deeper: how porn becomes a script when nobody else offers one, and the four checks for consent.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Real Thing</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health class</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sort where they learn about sex, vote on myths, take porn apart with the pro wrestling comparison, and practice FRIES and safer-sex basics. Before class, check that families got the school's usual sex-ed notice, fold an M/R card for each student, and if a student tells you someone hurt them or an adult showed them sexual content, thank them and walk them to a counselor that day.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Students arrive with very different family and faith rules about sex, different identities, and some have already had sex, wanted or not; keep every example open to any couple and never assume who is waiting or why.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Set the room (2), myth or reality (6), porn is pro wrestling (4), FRIES lightning round (6), exit card (2). Share the student page for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REAL THING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The Real Thing</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Sex, media, and respect.</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the-real-thing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WE'LL TALK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Four ground rules</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Keep it general.</a:t>
            </a:r>
          </a:p>
          <a:p>
            <a:pPr algn="l">
              <a:spcAft>
                <a:spcPts val="945"/>
              </a:spcAft>
            </a:pPr>
            <a:r>
              <a:rPr sz="1600" b="0" i="0">
                <a:solidFill>
                  <a:srgbClr val="5D5A54"/>
                </a:solidFill>
                <a:latin typeface="Source Serif 4"/>
              </a:rPr>
              <a:t>No stories about yourself or anyone else by name.</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Awkward is okay.</a:t>
            </a:r>
          </a:p>
          <a:p>
            <a:pPr algn="l">
              <a:spcAft>
                <a:spcPts val="945"/>
              </a:spcAft>
            </a:pPr>
            <a:r>
              <a:rPr sz="1600" b="0" i="0">
                <a:solidFill>
                  <a:srgbClr val="5D5A54"/>
                </a:solidFill>
                <a:latin typeface="Source Serif 4"/>
              </a:rPr>
              <a:t>Laugh when it's awkward. Never laugh at someone.</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Every question counts.</a:t>
            </a:r>
          </a:p>
          <a:p>
            <a:pPr algn="l">
              <a:spcAft>
                <a:spcPts val="945"/>
              </a:spcAft>
            </a:pPr>
            <a:r>
              <a:rPr sz="1600" b="0" i="0">
                <a:solidFill>
                  <a:srgbClr val="5D5A54"/>
                </a:solidFill>
                <a:latin typeface="Source Serif 4"/>
              </a:rPr>
              <a:t>The anonymous box is open the whole class.</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 can pass.</a:t>
            </a:r>
          </a:p>
          <a:p>
            <a:pPr algn="l">
              <a:spcAft>
                <a:spcPts val="945"/>
              </a:spcAft>
            </a:pPr>
            <a:r>
              <a:rPr sz="1600" b="0" i="0">
                <a:solidFill>
                  <a:srgbClr val="5D5A54"/>
                </a:solidFill>
                <a:latin typeface="Source Serif 4"/>
              </a:rPr>
              <a:t>Sit out any activity, no explanation needed.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STICKY NOTES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Where do people your age actually learn about sex?</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One source per note. Then stick each one on the line: would you trust it, or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REALITY?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Vote with your M/R card. Everyone at once.</a:t>
            </a:r>
          </a:p>
        </p:txBody>
      </p:sp>
      <p:sp>
        <p:nvSpPr>
          <p:cNvPr id="6" name="TextBox 5"/>
          <p:cNvSpPr txBox="1"/>
          <p:nvPr/>
        </p:nvSpPr>
        <p:spPr>
          <a:xfrm>
            <a:off x="822960" y="20574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Most high schoolers are having sex.</a:t>
            </a:r>
          </a:p>
        </p:txBody>
      </p:sp>
      <p:sp>
        <p:nvSpPr>
          <p:cNvPr id="8" name="TextBox 7"/>
          <p:cNvSpPr txBox="1"/>
          <p:nvPr/>
        </p:nvSpPr>
        <p:spPr>
          <a:xfrm>
            <a:off x="822960" y="272796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76453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Guys always want sex.</a:t>
            </a:r>
          </a:p>
        </p:txBody>
      </p:sp>
      <p:sp>
        <p:nvSpPr>
          <p:cNvPr id="10" name="TextBox 9"/>
          <p:cNvSpPr txBox="1"/>
          <p:nvPr/>
        </p:nvSpPr>
        <p:spPr>
          <a:xfrm>
            <a:off x="822960" y="339852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43509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If someone's body reacts, they've consented.</a:t>
            </a:r>
          </a:p>
        </p:txBody>
      </p:sp>
      <p:sp>
        <p:nvSpPr>
          <p:cNvPr id="12" name="TextBox 11"/>
          <p:cNvSpPr txBox="1"/>
          <p:nvPr/>
        </p:nvSpPr>
        <p:spPr>
          <a:xfrm>
            <a:off x="822960" y="406908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10565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Porn shows what sex is usually like.</a:t>
            </a:r>
          </a:p>
        </p:txBody>
      </p:sp>
      <p:sp>
        <p:nvSpPr>
          <p:cNvPr id="14" name="TextBox 13"/>
          <p:cNvSpPr txBox="1"/>
          <p:nvPr/>
        </p:nvSpPr>
        <p:spPr>
          <a:xfrm>
            <a:off x="822960" y="473964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477621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Once you've said yes, you can't take it back.</a:t>
            </a:r>
          </a:p>
        </p:txBody>
      </p:sp>
      <p:sp>
        <p:nvSpPr>
          <p:cNvPr id="16" name="TextBox 15"/>
          <p:cNvSpPr txBox="1"/>
          <p:nvPr/>
        </p:nvSpPr>
        <p:spPr>
          <a:xfrm>
            <a:off x="822960" y="54102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6</a:t>
            </a:r>
          </a:p>
        </p:txBody>
      </p:sp>
      <p:sp>
        <p:nvSpPr>
          <p:cNvPr id="17" name="TextBox 16"/>
          <p:cNvSpPr txBox="1"/>
          <p:nvPr/>
        </p:nvSpPr>
        <p:spPr>
          <a:xfrm>
            <a:off x="1463040" y="54467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Waiting is a common, respected choice.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ANSWERS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Five myths, one reality.</a:t>
            </a:r>
          </a:p>
        </p:txBody>
      </p:sp>
      <p:sp>
        <p:nvSpPr>
          <p:cNvPr id="6" name="TextBox 5"/>
          <p:cNvSpPr txBox="1"/>
          <p:nvPr/>
        </p:nvSpPr>
        <p:spPr>
          <a:xfrm>
            <a:off x="822960" y="20574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 most high schoolers are having sex.</a:t>
            </a:r>
          </a:p>
          <a:p>
            <a:pPr algn="l">
              <a:spcAft>
                <a:spcPts val="945"/>
              </a:spcAft>
            </a:pPr>
            <a:r>
              <a:rPr sz="1600" b="0" i="0">
                <a:solidFill>
                  <a:srgbClr val="5D5A54"/>
                </a:solidFill>
                <a:latin typeface="Source Serif 4"/>
              </a:rPr>
              <a:t>About 1 in 3 high schoolers ever has, and far fewer 9th graders.</a:t>
            </a:r>
          </a:p>
        </p:txBody>
      </p:sp>
      <p:sp>
        <p:nvSpPr>
          <p:cNvPr id="8" name="TextBox 7"/>
          <p:cNvSpPr txBox="1"/>
          <p:nvPr/>
        </p:nvSpPr>
        <p:spPr>
          <a:xfrm>
            <a:off x="822960" y="272796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76453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 guys always want sex.</a:t>
            </a:r>
          </a:p>
          <a:p>
            <a:pPr algn="l">
              <a:spcAft>
                <a:spcPts val="945"/>
              </a:spcAft>
            </a:pPr>
            <a:r>
              <a:rPr sz="1600" b="0" i="0">
                <a:solidFill>
                  <a:srgbClr val="5D5A54"/>
                </a:solidFill>
                <a:latin typeface="Source Serif 4"/>
              </a:rPr>
              <a:t>Desire varies for everyone. Many guys feel pressure to act like they always want it.</a:t>
            </a:r>
          </a:p>
        </p:txBody>
      </p:sp>
      <p:sp>
        <p:nvSpPr>
          <p:cNvPr id="10" name="TextBox 9"/>
          <p:cNvSpPr txBox="1"/>
          <p:nvPr/>
        </p:nvSpPr>
        <p:spPr>
          <a:xfrm>
            <a:off x="822960" y="339852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43509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 if someone's body reacts, they've consented.</a:t>
            </a:r>
          </a:p>
          <a:p>
            <a:pPr algn="l">
              <a:spcAft>
                <a:spcPts val="945"/>
              </a:spcAft>
            </a:pPr>
            <a:r>
              <a:rPr sz="1600" b="0" i="0">
                <a:solidFill>
                  <a:srgbClr val="5D5A54"/>
                </a:solidFill>
                <a:latin typeface="Source Serif 4"/>
              </a:rPr>
              <a:t>Bodies react on their own. Consent is a choice someone makes and says.</a:t>
            </a:r>
          </a:p>
        </p:txBody>
      </p:sp>
      <p:sp>
        <p:nvSpPr>
          <p:cNvPr id="12" name="TextBox 11"/>
          <p:cNvSpPr txBox="1"/>
          <p:nvPr/>
        </p:nvSpPr>
        <p:spPr>
          <a:xfrm>
            <a:off x="822960" y="406908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10565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 porn shows what sex is usually like.</a:t>
            </a:r>
          </a:p>
          <a:p>
            <a:pPr algn="l">
              <a:spcAft>
                <a:spcPts val="945"/>
              </a:spcAft>
            </a:pPr>
            <a:r>
              <a:rPr sz="1600" b="0" i="0">
                <a:solidFill>
                  <a:srgbClr val="5D5A54"/>
                </a:solidFill>
                <a:latin typeface="Source Serif 4"/>
              </a:rPr>
              <a:t>It's a staged performance. More on that next.</a:t>
            </a:r>
          </a:p>
        </p:txBody>
      </p:sp>
      <p:sp>
        <p:nvSpPr>
          <p:cNvPr id="14" name="TextBox 13"/>
          <p:cNvSpPr txBox="1"/>
          <p:nvPr/>
        </p:nvSpPr>
        <p:spPr>
          <a:xfrm>
            <a:off x="822960" y="473964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477621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 once you've said yes, you can't take it back.</a:t>
            </a:r>
          </a:p>
          <a:p>
            <a:pPr algn="l">
              <a:spcAft>
                <a:spcPts val="945"/>
              </a:spcAft>
            </a:pPr>
            <a:r>
              <a:rPr sz="1600" b="0" i="0">
                <a:solidFill>
                  <a:srgbClr val="5D5A54"/>
                </a:solidFill>
                <a:latin typeface="Source Serif 4"/>
              </a:rPr>
              <a:t>Anyone can change their mind at any point.</a:t>
            </a:r>
          </a:p>
        </p:txBody>
      </p:sp>
      <p:sp>
        <p:nvSpPr>
          <p:cNvPr id="16" name="TextBox 15"/>
          <p:cNvSpPr txBox="1"/>
          <p:nvPr/>
        </p:nvSpPr>
        <p:spPr>
          <a:xfrm>
            <a:off x="822960" y="54102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6</a:t>
            </a:r>
          </a:p>
        </p:txBody>
      </p:sp>
      <p:sp>
        <p:nvSpPr>
          <p:cNvPr id="17" name="TextBox 16"/>
          <p:cNvSpPr txBox="1"/>
          <p:nvPr/>
        </p:nvSpPr>
        <p:spPr>
          <a:xfrm>
            <a:off x="1463040" y="54467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Reality: waiting is a common, respected choice.</a:t>
            </a:r>
          </a:p>
          <a:p>
            <a:pPr algn="l">
              <a:spcAft>
                <a:spcPts val="945"/>
              </a:spcAft>
            </a:pPr>
            <a:r>
              <a:rPr sz="1600" b="0" i="0">
                <a:solidFill>
                  <a:srgbClr val="5D5A54"/>
                </a:solidFill>
                <a:latin typeface="Source Serif 4"/>
              </a:rPr>
              <a:t>It's what most people your age are doing.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GUESS FIRST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Out of every four teens ages 13 to 17, how many have seen porn online?</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Hold up one to four fingers. Then: at what age did most first see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TEENS ARE SEEING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Robb &amp; Mann, Common Sense Media, 2023  ·  Bridges et al., 2010</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Three out of four. Usually by 12. Often by accident.</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73% of teens 13 to 17 have seen porn online.</a:t>
            </a:r>
          </a:p>
          <a:p>
            <a:pPr algn="l">
              <a:spcAft>
                <a:spcPts val="855"/>
              </a:spcAft>
            </a:pPr>
            <a:r>
              <a:rPr sz="1900" b="0" i="0">
                <a:solidFill>
                  <a:srgbClr val="1C1B19"/>
                </a:solidFill>
                <a:latin typeface="Source Serif 4"/>
              </a:rPr>
              <a:t>•  The average age they first saw it was 12.</a:t>
            </a:r>
          </a:p>
          <a:p>
            <a:pPr algn="l">
              <a:spcAft>
                <a:spcPts val="855"/>
              </a:spcAft>
            </a:pPr>
            <a:r>
              <a:rPr sz="1900" b="0" i="0">
                <a:solidFill>
                  <a:srgbClr val="1C1B19"/>
                </a:solidFill>
                <a:latin typeface="Source Serif 4"/>
              </a:rPr>
              <a:t>•  More saw it by accident than on purpose.</a:t>
            </a:r>
          </a:p>
          <a:p>
            <a:pPr algn="l">
              <a:spcAft>
                <a:spcPts val="855"/>
              </a:spcAft>
            </a:pPr>
            <a:r>
              <a:rPr sz="1900" b="0" i="0">
                <a:solidFill>
                  <a:srgbClr val="1C1B19"/>
                </a:solidFill>
                <a:latin typeface="Source Serif 4"/>
              </a:rPr>
              <a:t>•  Over half of those who'd seen it had seen violent or aggressive porn.</a:t>
            </a:r>
          </a:p>
          <a:p>
            <a:pPr algn="l">
              <a:spcAft>
                <a:spcPts val="855"/>
              </a:spcAft>
            </a:pPr>
            <a:r>
              <a:rPr sz="1900" b="0" i="0">
                <a:solidFill>
                  <a:srgbClr val="1C1B19"/>
                </a:solidFill>
                <a:latin typeface="Source Serif 4"/>
              </a:rPr>
              <a:t>•  In popular porn, when someone is hurt, 95% of the time they're shown enjoying it or not reacting.</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Having seen porn doesn't make you a bad person. Questioning what it teaches makes you a smart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PORN IS PRO WRESTLING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Nobody learns how to fight from WWE.</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PRO WRESTLING</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Scripted storylines</a:t>
            </a:r>
          </a:p>
          <a:p>
            <a:pPr algn="l">
              <a:spcAft>
                <a:spcPts val="855"/>
              </a:spcAft>
            </a:pPr>
            <a:r>
              <a:rPr sz="1900" b="0" i="0">
                <a:solidFill>
                  <a:srgbClr val="1C1B19"/>
                </a:solidFill>
                <a:latin typeface="Source Serif 4"/>
              </a:rPr>
              <a:t>Trained performers doing stunts</a:t>
            </a:r>
          </a:p>
          <a:p>
            <a:pPr algn="l">
              <a:spcAft>
                <a:spcPts val="855"/>
              </a:spcAft>
            </a:pPr>
            <a:r>
              <a:rPr sz="1900" b="0" i="0">
                <a:solidFill>
                  <a:srgbClr val="1C1B19"/>
                </a:solidFill>
                <a:latin typeface="Source Serif 4"/>
              </a:rPr>
              <a:t>Camera angles and editing</a:t>
            </a:r>
          </a:p>
          <a:p>
            <a:pPr algn="l">
              <a:spcAft>
                <a:spcPts val="855"/>
              </a:spcAft>
            </a:pPr>
            <a:r>
              <a:rPr sz="1900" b="0" i="0">
                <a:solidFill>
                  <a:srgbClr val="1C1B19"/>
                </a:solidFill>
                <a:latin typeface="Source Serif 4"/>
              </a:rPr>
              <a:t>Made to entertain, not to teach</a:t>
            </a:r>
          </a:p>
          <a:p>
            <a:pPr algn="l">
              <a:spcAft>
                <a:spcPts val="855"/>
              </a:spcAft>
            </a:pPr>
            <a:r>
              <a:rPr sz="1900" b="0" i="0">
                <a:solidFill>
                  <a:srgbClr val="1C1B19"/>
                </a:solidFill>
                <a:latin typeface="Source Serif 4"/>
              </a:rPr>
              <a:t>Copy it at home and someone gets hurt</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PORN</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Scripted scenes</a:t>
            </a:r>
          </a:p>
          <a:p>
            <a:pPr algn="l">
              <a:spcAft>
                <a:spcPts val="855"/>
              </a:spcAft>
            </a:pPr>
            <a:r>
              <a:rPr sz="1900" b="0" i="0">
                <a:solidFill>
                  <a:srgbClr val="1C1B19"/>
                </a:solidFill>
                <a:latin typeface="Source Serif 4"/>
              </a:rPr>
              <a:t>Paid performers, often doing things they'd never do off camera</a:t>
            </a:r>
          </a:p>
          <a:p>
            <a:pPr algn="l">
              <a:spcAft>
                <a:spcPts val="855"/>
              </a:spcAft>
            </a:pPr>
            <a:r>
              <a:rPr sz="1900" b="0" i="0">
                <a:solidFill>
                  <a:srgbClr val="1C1B19"/>
                </a:solidFill>
                <a:latin typeface="Source Serif 4"/>
              </a:rPr>
              <a:t>Camera angles and editing</a:t>
            </a:r>
          </a:p>
          <a:p>
            <a:pPr algn="l">
              <a:spcAft>
                <a:spcPts val="855"/>
              </a:spcAft>
            </a:pPr>
            <a:r>
              <a:rPr sz="1900" b="0" i="0">
                <a:solidFill>
                  <a:srgbClr val="1C1B19"/>
                </a:solidFill>
                <a:latin typeface="Source Serif 4"/>
              </a:rPr>
              <a:t>Made to sell, not to teach</a:t>
            </a:r>
          </a:p>
          <a:p>
            <a:pPr algn="l">
              <a:spcAft>
                <a:spcPts val="855"/>
              </a:spcAft>
            </a:pPr>
            <a:r>
              <a:rPr sz="1900" b="0" i="0">
                <a:solidFill>
                  <a:srgbClr val="1C1B19"/>
                </a:solidFill>
                <a:latin typeface="Source Serif 4"/>
              </a:rPr>
              <a:t>Copy it in real life and someone gets hurt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PAIRS: 60 SECONDS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What would a camera cut out?</a:t>
            </a:r>
          </a:p>
        </p:txBody>
      </p:sp>
      <p:sp>
        <p:nvSpPr>
          <p:cNvPr id="6" name="TextBox 5"/>
          <p:cNvSpPr txBox="1"/>
          <p:nvPr/>
        </p:nvSpPr>
        <p:spPr>
          <a:xfrm>
            <a:off x="822960" y="20574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Asking and checking in</a:t>
            </a:r>
          </a:p>
        </p:txBody>
      </p:sp>
      <p:sp>
        <p:nvSpPr>
          <p:cNvPr id="8" name="TextBox 7"/>
          <p:cNvSpPr txBox="1"/>
          <p:nvPr/>
        </p:nvSpPr>
        <p:spPr>
          <a:xfrm>
            <a:off x="822960" y="272796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76453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Nerves and real feelings</a:t>
            </a:r>
          </a:p>
        </p:txBody>
      </p:sp>
      <p:sp>
        <p:nvSpPr>
          <p:cNvPr id="10" name="TextBox 9"/>
          <p:cNvSpPr txBox="1"/>
          <p:nvPr/>
        </p:nvSpPr>
        <p:spPr>
          <a:xfrm>
            <a:off x="822960" y="339852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43509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Laughing when it's awkward</a:t>
            </a:r>
          </a:p>
        </p:txBody>
      </p:sp>
      <p:sp>
        <p:nvSpPr>
          <p:cNvPr id="12" name="TextBox 11"/>
          <p:cNvSpPr txBox="1"/>
          <p:nvPr/>
        </p:nvSpPr>
        <p:spPr>
          <a:xfrm>
            <a:off x="822960" y="406908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10565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Stopping when someone isn't into it</a:t>
            </a:r>
          </a:p>
        </p:txBody>
      </p:sp>
      <p:sp>
        <p:nvSpPr>
          <p:cNvPr id="14" name="TextBox 13"/>
          <p:cNvSpPr txBox="1"/>
          <p:nvPr/>
        </p:nvSpPr>
        <p:spPr>
          <a:xfrm>
            <a:off x="822960" y="473964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477621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Ordinary, real bodies</a:t>
            </a:r>
          </a:p>
        </p:txBody>
      </p:sp>
      <p:sp>
        <p:nvSpPr>
          <p:cNvPr id="16" name="TextBox 15"/>
          <p:cNvSpPr txBox="1"/>
          <p:nvPr/>
        </p:nvSpPr>
        <p:spPr>
          <a:xfrm>
            <a:off x="822960" y="54102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7" name="TextBox 16"/>
          <p:cNvSpPr txBox="1"/>
          <p:nvPr/>
        </p:nvSpPr>
        <p:spPr>
          <a:xfrm>
            <a:off x="1463040" y="54467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Caring how the other person feels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IT TEACHES WITHOUT SAYING SO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Thumbs up if you've seen this message out there.</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"Rough means passionate."</a:t>
            </a:r>
          </a:p>
          <a:p>
            <a:pPr algn="l">
              <a:spcAft>
                <a:spcPts val="945"/>
              </a:spcAft>
            </a:pPr>
            <a:r>
              <a:rPr sz="1600" b="0" i="0">
                <a:solidFill>
                  <a:srgbClr val="5D5A54"/>
                </a:solidFill>
                <a:latin typeface="Source Serif 4"/>
              </a:rPr>
              <a:t>Aggression isn't the same as desire. Real partners check in.</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"No just means convince me."</a:t>
            </a:r>
          </a:p>
          <a:p>
            <a:pPr algn="l">
              <a:spcAft>
                <a:spcPts val="945"/>
              </a:spcAft>
            </a:pPr>
            <a:r>
              <a:rPr sz="1600" b="0" i="0">
                <a:solidFill>
                  <a:srgbClr val="5D5A54"/>
                </a:solidFill>
                <a:latin typeface="Source Serif 4"/>
              </a:rPr>
              <a:t>No means no. Pressure isn't persuasion.</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"Bodies are supposed to look like that."</a:t>
            </a:r>
          </a:p>
          <a:p>
            <a:pPr algn="l">
              <a:spcAft>
                <a:spcPts val="945"/>
              </a:spcAft>
            </a:pPr>
            <a:r>
              <a:rPr sz="1600" b="0" i="0">
                <a:solidFill>
                  <a:srgbClr val="5D5A54"/>
                </a:solidFill>
                <a:latin typeface="Source Serif 4"/>
              </a:rPr>
              <a:t>Performers are cast, lit and edited. Real bodies vary.</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"Sex is a performance to get right."</a:t>
            </a:r>
          </a:p>
          <a:p>
            <a:pPr algn="l">
              <a:spcAft>
                <a:spcPts val="945"/>
              </a:spcAft>
            </a:pPr>
            <a:r>
              <a:rPr sz="1600" b="0" i="0">
                <a:solidFill>
                  <a:srgbClr val="5D5A54"/>
                </a:solidFill>
                <a:latin typeface="Source Serif 4"/>
              </a:rPr>
              <a:t>Real intimacy is shared, not a show for someone to judge.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CONSENT IS FRIES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All five, every time.</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  ·  Freely given</a:t>
            </a:r>
          </a:p>
          <a:p>
            <a:pPr algn="l">
              <a:spcAft>
                <a:spcPts val="945"/>
              </a:spcAft>
            </a:pPr>
            <a:r>
              <a:rPr sz="1600" b="0" i="0">
                <a:solidFill>
                  <a:srgbClr val="5D5A54"/>
                </a:solidFill>
                <a:latin typeface="Source Serif 4"/>
              </a:rPr>
              <a:t>No pressure, guilt or threats.</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  ·  Reversible</a:t>
            </a:r>
          </a:p>
          <a:p>
            <a:pPr algn="l">
              <a:spcAft>
                <a:spcPts val="945"/>
              </a:spcAft>
            </a:pPr>
            <a:r>
              <a:rPr sz="1600" b="0" i="0">
                <a:solidFill>
                  <a:srgbClr val="5D5A54"/>
                </a:solidFill>
                <a:latin typeface="Source Serif 4"/>
              </a:rPr>
              <a:t>Anyone can change their mind, anytime.</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  ·  Informed</a:t>
            </a:r>
          </a:p>
          <a:p>
            <a:pPr algn="l">
              <a:spcAft>
                <a:spcPts val="945"/>
              </a:spcAft>
            </a:pPr>
            <a:r>
              <a:rPr sz="1600" b="0" i="0">
                <a:solidFill>
                  <a:srgbClr val="5D5A54"/>
                </a:solidFill>
                <a:latin typeface="Source Serif 4"/>
              </a:rPr>
              <a:t>Both people know what they're agreeing to.</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E  ·  Enthusiastic</a:t>
            </a:r>
          </a:p>
          <a:p>
            <a:pPr algn="l">
              <a:spcAft>
                <a:spcPts val="945"/>
              </a:spcAft>
            </a:pPr>
            <a:r>
              <a:rPr sz="1600" b="0" i="0">
                <a:solidFill>
                  <a:srgbClr val="5D5A54"/>
                </a:solidFill>
                <a:latin typeface="Source Serif 4"/>
              </a:rPr>
              <a:t>A real yes, not just the absence of a no.</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  ·  Specific</a:t>
            </a:r>
          </a:p>
          <a:p>
            <a:pPr algn="l">
              <a:spcAft>
                <a:spcPts val="945"/>
              </a:spcAft>
            </a:pPr>
            <a:r>
              <a:rPr sz="1600" b="0" i="0">
                <a:solidFill>
                  <a:srgbClr val="5D5A54"/>
                </a:solidFill>
                <a:latin typeface="Source Serif 4"/>
              </a:rPr>
              <a:t>Yes to one thing isn't yes to everything.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STIS AND SAFER SEX</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Talking about testing and protection first is part of respect.</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STIS: WHAT TO KNOW</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Many have no symptoms. Testing is the only way to know.</a:t>
            </a:r>
          </a:p>
          <a:p>
            <a:pPr algn="l">
              <a:spcAft>
                <a:spcPts val="855"/>
              </a:spcAft>
            </a:pPr>
            <a:r>
              <a:rPr sz="1900" b="0" i="0">
                <a:solidFill>
                  <a:srgbClr val="1C1B19"/>
                </a:solidFill>
                <a:latin typeface="Source Serif 4"/>
              </a:rPr>
              <a:t>Most are treatable, and all can be managed with care.</a:t>
            </a:r>
          </a:p>
          <a:p>
            <a:pPr algn="l">
              <a:spcAft>
                <a:spcPts val="855"/>
              </a:spcAft>
            </a:pPr>
            <a:r>
              <a:rPr sz="1900" b="0" i="0">
                <a:solidFill>
                  <a:srgbClr val="1C1B19"/>
                </a:solidFill>
                <a:latin typeface="Source Serif 4"/>
              </a:rPr>
              <a:t>They spread through oral, vaginal and anal sex, and some through skin contact.</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LOWERING THE RISK</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Not having sex is the only 100% protection.</a:t>
            </a:r>
          </a:p>
          <a:p>
            <a:pPr algn="l">
              <a:spcAft>
                <a:spcPts val="855"/>
              </a:spcAft>
            </a:pPr>
            <a:r>
              <a:rPr sz="1900" b="0" i="0">
                <a:solidFill>
                  <a:srgbClr val="1C1B19"/>
                </a:solidFill>
                <a:latin typeface="Source Serif 4"/>
              </a:rPr>
              <a:t>Condoms, used every time, lower the risk of STIs and pregnancy.</a:t>
            </a:r>
          </a:p>
          <a:p>
            <a:pPr algn="l">
              <a:spcAft>
                <a:spcPts val="855"/>
              </a:spcAft>
            </a:pPr>
            <a:r>
              <a:rPr sz="1900" b="0" i="0">
                <a:solidFill>
                  <a:srgbClr val="1C1B19"/>
                </a:solidFill>
                <a:latin typeface="Source Serif 4"/>
              </a:rPr>
              <a:t>The pill prevents pregnancy, not STIs.</a:t>
            </a:r>
          </a:p>
          <a:p>
            <a:pPr algn="l">
              <a:spcAft>
                <a:spcPts val="855"/>
              </a:spcAft>
            </a:pPr>
            <a:r>
              <a:rPr sz="1900" b="0" i="0">
                <a:solidFill>
                  <a:srgbClr val="1C1B19"/>
                </a:solidFill>
                <a:latin typeface="Source Serif 4"/>
              </a:rPr>
              <a:t>The HPV vaccine prevents several cancers.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REAL THING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Respect for yourself and the other person, at the same time.</a:t>
            </a:r>
          </a:p>
        </p:txBody>
      </p:sp>
      <p:sp>
        <p:nvSpPr>
          <p:cNvPr id="6" name="TextBox 5"/>
          <p:cNvSpPr txBox="1"/>
          <p:nvPr/>
        </p:nvSpPr>
        <p:spPr>
          <a:xfrm>
            <a:off x="822960" y="20574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Trust</a:t>
            </a:r>
          </a:p>
        </p:txBody>
      </p:sp>
      <p:sp>
        <p:nvSpPr>
          <p:cNvPr id="8" name="TextBox 7"/>
          <p:cNvSpPr txBox="1"/>
          <p:nvPr/>
        </p:nvSpPr>
        <p:spPr>
          <a:xfrm>
            <a:off x="822960" y="272796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76453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Talking openly, before and during</a:t>
            </a:r>
          </a:p>
        </p:txBody>
      </p:sp>
      <p:sp>
        <p:nvSpPr>
          <p:cNvPr id="10" name="TextBox 9"/>
          <p:cNvSpPr txBox="1"/>
          <p:nvPr/>
        </p:nvSpPr>
        <p:spPr>
          <a:xfrm>
            <a:off x="822960" y="339852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43509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Checking in, and meaning it</a:t>
            </a:r>
          </a:p>
        </p:txBody>
      </p:sp>
      <p:sp>
        <p:nvSpPr>
          <p:cNvPr id="12" name="TextBox 11"/>
          <p:cNvSpPr txBox="1"/>
          <p:nvPr/>
        </p:nvSpPr>
        <p:spPr>
          <a:xfrm>
            <a:off x="822960" y="406908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10565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Laughing when it's awkward</a:t>
            </a:r>
          </a:p>
        </p:txBody>
      </p:sp>
      <p:sp>
        <p:nvSpPr>
          <p:cNvPr id="14" name="TextBox 13"/>
          <p:cNvSpPr txBox="1"/>
          <p:nvPr/>
        </p:nvSpPr>
        <p:spPr>
          <a:xfrm>
            <a:off x="822960" y="473964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477621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Caring how the other person feels</a:t>
            </a:r>
          </a:p>
        </p:txBody>
      </p:sp>
      <p:sp>
        <p:nvSpPr>
          <p:cNvPr id="16" name="TextBox 15"/>
          <p:cNvSpPr txBox="1"/>
          <p:nvPr/>
        </p:nvSpPr>
        <p:spPr>
          <a:xfrm>
            <a:off x="822960" y="54102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7" name="TextBox 16"/>
          <p:cNvSpPr txBox="1"/>
          <p:nvPr/>
        </p:nvSpPr>
        <p:spPr>
          <a:xfrm>
            <a:off x="1463040" y="54467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Either person can stop anytime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AM I READY? (JUST FOR YOU)</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Nobody answers these out loud.</a:t>
            </a:r>
          </a:p>
        </p:txBody>
      </p:sp>
      <p:sp>
        <p:nvSpPr>
          <p:cNvPr id="6" name="TextBox 5"/>
          <p:cNvSpPr txBox="1"/>
          <p:nvPr/>
        </p:nvSpPr>
        <p:spPr>
          <a:xfrm>
            <a:off x="822960" y="20574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Is this something I want, or something I feel I'm supposed to want?</a:t>
            </a:r>
          </a:p>
        </p:txBody>
      </p:sp>
      <p:sp>
        <p:nvSpPr>
          <p:cNvPr id="8" name="TextBox 7"/>
          <p:cNvSpPr txBox="1"/>
          <p:nvPr/>
        </p:nvSpPr>
        <p:spPr>
          <a:xfrm>
            <a:off x="822960" y="272796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76453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Am I feeling pressure from a partner, friends, or myself?</a:t>
            </a:r>
          </a:p>
        </p:txBody>
      </p:sp>
      <p:sp>
        <p:nvSpPr>
          <p:cNvPr id="10" name="TextBox 9"/>
          <p:cNvSpPr txBox="1"/>
          <p:nvPr/>
        </p:nvSpPr>
        <p:spPr>
          <a:xfrm>
            <a:off x="822960" y="339852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43509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Could I talk openly with this person about boundaries?</a:t>
            </a:r>
          </a:p>
        </p:txBody>
      </p:sp>
      <p:sp>
        <p:nvSpPr>
          <p:cNvPr id="12" name="TextBox 11"/>
          <p:cNvSpPr txBox="1"/>
          <p:nvPr/>
        </p:nvSpPr>
        <p:spPr>
          <a:xfrm>
            <a:off x="822960" y="406908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10565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Would I feel okay saying no, or stopping partway?</a:t>
            </a:r>
          </a:p>
        </p:txBody>
      </p:sp>
      <p:sp>
        <p:nvSpPr>
          <p:cNvPr id="14" name="TextBox 13"/>
          <p:cNvSpPr txBox="1"/>
          <p:nvPr/>
        </p:nvSpPr>
        <p:spPr>
          <a:xfrm>
            <a:off x="822960" y="473964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477621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Does this fit my own values?</a:t>
            </a:r>
          </a:p>
        </p:txBody>
      </p:sp>
      <p:sp>
        <p:nvSpPr>
          <p:cNvPr id="16" name="TextBox 15"/>
          <p:cNvSpPr txBox="1"/>
          <p:nvPr/>
        </p:nvSpPr>
        <p:spPr>
          <a:xfrm>
            <a:off x="822960" y="54102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7" name="TextBox 16"/>
          <p:cNvSpPr txBox="1"/>
          <p:nvPr/>
        </p:nvSpPr>
        <p:spPr>
          <a:xfrm>
            <a:off x="1463040" y="54467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Am I getting my ideas from real life, or from a screen?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WHERE TO GO WITH QUESTIONS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You don't have to figure this out from a screen.</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 counseling office</a:t>
            </a:r>
          </a:p>
          <a:p>
            <a:pPr algn="l">
              <a:spcAft>
                <a:spcPts val="945"/>
              </a:spcAft>
            </a:pPr>
            <a:r>
              <a:rPr sz="1600" b="0" i="0">
                <a:solidFill>
                  <a:srgbClr val="5D5A54"/>
                </a:solidFill>
                <a:latin typeface="Source Serif 4"/>
              </a:rPr>
              <a:t>Private and no judgment. Come by today or anytime.</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Your doctor or the school nurse</a:t>
            </a:r>
          </a:p>
          <a:p>
            <a:pPr algn="l">
              <a:spcAft>
                <a:spcPts val="945"/>
              </a:spcAft>
            </a:pPr>
            <a:r>
              <a:rPr sz="1600" b="0" i="0">
                <a:solidFill>
                  <a:srgbClr val="5D5A54"/>
                </a:solidFill>
                <a:latin typeface="Source Serif 4"/>
              </a:rPr>
              <a:t>In Massachusetts, teens can get STI testing and treatment on their own.</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Sources you can trust</a:t>
            </a:r>
          </a:p>
          <a:p>
            <a:pPr algn="l">
              <a:spcAft>
                <a:spcPts val="945"/>
              </a:spcAft>
            </a:pPr>
            <a:r>
              <a:rPr sz="1600" b="0" i="0">
                <a:solidFill>
                  <a:srgbClr val="5D5A54"/>
                </a:solidFill>
                <a:latin typeface="Source Serif 4"/>
              </a:rPr>
              <a:t>amaze.org  ·  scarleteen.com  ·  Planned Parenthood's teen pages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the-real-thing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One thing you learned. One question you still have.</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Write both on your last card and drop it in the box. Blank cards go in too.</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https://rmwtoolkit.github.io/bcds-toolkit/the-real-thing-high-school.html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Real Thing</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health class</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sort where they learn about sex by how much to trust it, spot common myths, explain why porn is a staged show and what it leaves out, check any situation against FRIES, name the basics of STIs and safer sex, and know where to take a question.</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(three per student): one folded into an M/R voting card, one for questions any time, one for the exit card</a:t>
            </a:r>
          </a:p>
          <a:p>
            <a:pPr algn="l">
              <a:spcAft>
                <a:spcPts val="675"/>
              </a:spcAft>
            </a:pPr>
            <a:r>
              <a:rPr sz="1500" b="0" i="0">
                <a:solidFill>
                  <a:srgbClr val="1C1B19"/>
                </a:solidFill>
                <a:latin typeface="Source Serif 4"/>
              </a:rPr>
              <a:t>Sticky notes, and a line on the board from "Wouldn't trust it" to "Would trust it"</a:t>
            </a:r>
          </a:p>
          <a:p>
            <a:pPr algn="l">
              <a:spcAft>
                <a:spcPts val="675"/>
              </a:spcAft>
            </a:pPr>
            <a:r>
              <a:rPr sz="1500" b="0" i="0">
                <a:solidFill>
                  <a:srgbClr val="1C1B19"/>
                </a:solidFill>
                <a:latin typeface="Source Serif 4"/>
              </a:rPr>
              <a:t>A box for anonymous questions</a:t>
            </a:r>
          </a:p>
          <a:p>
            <a:pPr algn="l">
              <a:spcAft>
                <a:spcPts val="675"/>
              </a:spcAft>
            </a:pPr>
            <a:r>
              <a:rPr sz="1500" b="0" i="0">
                <a:solidFill>
                  <a:srgbClr val="1C1B19"/>
                </a:solidFill>
                <a:latin typeface="Source Serif 4"/>
              </a:rPr>
              <a:t>The student page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Set the room</a:t>
            </a:r>
          </a:p>
          <a:p>
            <a:pPr algn="l">
              <a:spcAft>
                <a:spcPts val="630"/>
              </a:spcAft>
            </a:pPr>
            <a:r>
              <a:rPr sz="1300" b="1" i="0">
                <a:solidFill>
                  <a:srgbClr val="F47B20"/>
                </a:solidFill>
                <a:latin typeface="Inter Tight"/>
              </a:rPr>
              <a:t>4 min   </a:t>
            </a:r>
            <a:r>
              <a:rPr sz="1400" b="0" i="0">
                <a:solidFill>
                  <a:srgbClr val="1C1B19"/>
                </a:solidFill>
                <a:latin typeface="Source Serif 4"/>
              </a:rPr>
              <a:t>Where people learn about it (sticky notes)</a:t>
            </a:r>
          </a:p>
          <a:p>
            <a:pPr algn="l">
              <a:spcAft>
                <a:spcPts val="630"/>
              </a:spcAft>
            </a:pPr>
            <a:r>
              <a:rPr sz="1300" b="1" i="0">
                <a:solidFill>
                  <a:srgbClr val="F47B20"/>
                </a:solidFill>
                <a:latin typeface="Inter Tight"/>
              </a:rPr>
              <a:t>7 min   </a:t>
            </a:r>
            <a:r>
              <a:rPr sz="1400" b="0" i="0">
                <a:solidFill>
                  <a:srgbClr val="1C1B19"/>
                </a:solidFill>
                <a:latin typeface="Source Serif 4"/>
              </a:rPr>
              <a:t>Myth or reality? (everyone votes)</a:t>
            </a:r>
          </a:p>
          <a:p>
            <a:pPr algn="l">
              <a:spcAft>
                <a:spcPts val="630"/>
              </a:spcAft>
            </a:pPr>
            <a:r>
              <a:rPr sz="1300" b="1" i="0">
                <a:solidFill>
                  <a:srgbClr val="F47B20"/>
                </a:solidFill>
                <a:latin typeface="Inter Tight"/>
              </a:rPr>
              <a:t>4 min   </a:t>
            </a:r>
            <a:r>
              <a:rPr sz="1400" b="0" i="0">
                <a:solidFill>
                  <a:srgbClr val="1C1B19"/>
                </a:solidFill>
                <a:latin typeface="Source Serif 4"/>
              </a:rPr>
              <a:t>Guess the number, then the reveal</a:t>
            </a:r>
          </a:p>
          <a:p>
            <a:pPr algn="l">
              <a:spcAft>
                <a:spcPts val="630"/>
              </a:spcAft>
            </a:pPr>
            <a:r>
              <a:rPr sz="1300" b="1" i="0">
                <a:solidFill>
                  <a:srgbClr val="F47B20"/>
                </a:solidFill>
                <a:latin typeface="Inter Tight"/>
              </a:rPr>
              <a:t>4 min   </a:t>
            </a:r>
            <a:r>
              <a:rPr sz="1400" b="0" i="0">
                <a:solidFill>
                  <a:srgbClr val="1C1B19"/>
                </a:solidFill>
                <a:latin typeface="Source Serif 4"/>
              </a:rPr>
              <a:t>Porn is pro wrestling</a:t>
            </a:r>
          </a:p>
          <a:p>
            <a:pPr algn="l">
              <a:spcAft>
                <a:spcPts val="630"/>
              </a:spcAft>
            </a:pPr>
            <a:r>
              <a:rPr sz="1300" b="1" i="0">
                <a:solidFill>
                  <a:srgbClr val="F47B20"/>
                </a:solidFill>
                <a:latin typeface="Inter Tight"/>
              </a:rPr>
              <a:t>3 min   </a:t>
            </a:r>
            <a:r>
              <a:rPr sz="1400" b="0" i="0">
                <a:solidFill>
                  <a:srgbClr val="1C1B19"/>
                </a:solidFill>
                <a:latin typeface="Source Serif 4"/>
              </a:rPr>
              <a:t>What porn leaves out (pairs)</a:t>
            </a:r>
          </a:p>
          <a:p>
            <a:pPr algn="l">
              <a:spcAft>
                <a:spcPts val="630"/>
              </a:spcAft>
            </a:pPr>
            <a:r>
              <a:rPr sz="1300" b="1" i="0">
                <a:solidFill>
                  <a:srgbClr val="F47B20"/>
                </a:solidFill>
                <a:latin typeface="Inter Tight"/>
              </a:rPr>
              <a:t>4 min   </a:t>
            </a:r>
            <a:r>
              <a:rPr sz="1400" b="0" i="0">
                <a:solidFill>
                  <a:srgbClr val="1C1B19"/>
                </a:solidFill>
                <a:latin typeface="Source Serif 4"/>
              </a:rPr>
              <a:t>What it teaches without saying so</a:t>
            </a:r>
          </a:p>
          <a:p>
            <a:pPr algn="l">
              <a:spcAft>
                <a:spcPts val="630"/>
              </a:spcAft>
            </a:pPr>
            <a:r>
              <a:rPr sz="1300" b="1" i="0">
                <a:solidFill>
                  <a:srgbClr val="F47B20"/>
                </a:solidFill>
                <a:latin typeface="Inter Tight"/>
              </a:rPr>
              <a:t>7 min   </a:t>
            </a:r>
            <a:r>
              <a:rPr sz="1400" b="0" i="0">
                <a:solidFill>
                  <a:srgbClr val="1C1B19"/>
                </a:solidFill>
                <a:latin typeface="Source Serif 4"/>
              </a:rPr>
              <a:t>Consent is FRIES: lightning round</a:t>
            </a:r>
          </a:p>
          <a:p>
            <a:pPr algn="l">
              <a:spcAft>
                <a:spcPts val="630"/>
              </a:spcAft>
            </a:pPr>
            <a:r>
              <a:rPr sz="1300" b="1" i="0">
                <a:solidFill>
                  <a:srgbClr val="F47B20"/>
                </a:solidFill>
                <a:latin typeface="Inter Tight"/>
              </a:rPr>
              <a:t>4 min   </a:t>
            </a:r>
            <a:r>
              <a:rPr sz="1400" b="0" i="0">
                <a:solidFill>
                  <a:srgbClr val="1C1B19"/>
                </a:solidFill>
                <a:latin typeface="Source Serif 4"/>
              </a:rPr>
              <a:t>STIs and safer sex</a:t>
            </a:r>
          </a:p>
          <a:p>
            <a:pPr algn="l">
              <a:spcAft>
                <a:spcPts val="630"/>
              </a:spcAft>
            </a:pPr>
            <a:r>
              <a:rPr sz="1300" b="1" i="0">
                <a:solidFill>
                  <a:srgbClr val="F47B20"/>
                </a:solidFill>
                <a:latin typeface="Inter Tight"/>
              </a:rPr>
              <a:t>3 min   </a:t>
            </a:r>
            <a:r>
              <a:rPr sz="1400" b="0" i="0">
                <a:solidFill>
                  <a:srgbClr val="1C1B19"/>
                </a:solidFill>
                <a:latin typeface="Source Serif 4"/>
              </a:rPr>
              <a:t>The real thing, and "Am I ready?" (just for you)</a:t>
            </a:r>
          </a:p>
          <a:p>
            <a:pPr algn="l">
              <a:spcAft>
                <a:spcPts val="630"/>
              </a:spcAft>
            </a:pPr>
            <a:r>
              <a:rPr sz="1300" b="1" i="0">
                <a:solidFill>
                  <a:srgbClr val="F47B20"/>
                </a:solidFill>
                <a:latin typeface="Inter Tight"/>
              </a:rPr>
              <a:t>2 min   </a:t>
            </a:r>
            <a:r>
              <a:rPr sz="1400" b="0" i="0">
                <a:solidFill>
                  <a:srgbClr val="1C1B19"/>
                </a:solidFill>
                <a:latin typeface="Source Serif 4"/>
              </a:rPr>
              <a:t>Where to go, and exit card</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Set the room (2), myth or reality (6), porn is pro wrestling (4), FRIES lightning round (6), exit card (2). Share the student page for the rest.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Assume someone in the room has lived this.</a:t>
            </a:r>
          </a:p>
          <a:p>
            <a:pPr algn="l">
              <a:spcAft>
                <a:spcPts val="585"/>
              </a:spcAft>
            </a:pPr>
            <a:r>
              <a:rPr sz="1300" b="0" i="0">
                <a:solidFill>
                  <a:srgbClr val="1C1B19"/>
                </a:solidFill>
                <a:latin typeface="Source Serif 4"/>
              </a:rPr>
              <a:t>Someone may have been pressured, touched without asking, or shown porn by an older kid or an adult. Say at the start that nobody shares their own story and anyone can step out. When you reach "a body reacting isn't a yes," say it slowly. For a survivor, that line can lift years of confusion.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it shame-free.</a:t>
            </a:r>
          </a:p>
          <a:p>
            <a:pPr algn="l">
              <a:spcAft>
                <a:spcPts val="585"/>
              </a:spcAft>
            </a:pPr>
            <a:r>
              <a:rPr sz="1300" b="0" i="0">
                <a:solidFill>
                  <a:srgbClr val="1C1B19"/>
                </a:solidFill>
                <a:latin typeface="Source Serif 4"/>
              </a:rPr>
              <a:t>Seeing porn doesn't make anyone gross, and neither does curiosity. Shame shuts the room down. This line works: "Having seen porn doesn't make you a bad person. Questioning what it teaches makes you a smart one."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Waiting and not waiting both get respect.</a:t>
            </a:r>
          </a:p>
          <a:p>
            <a:pPr algn="l">
              <a:spcAft>
                <a:spcPts val="585"/>
              </a:spcAft>
            </a:pPr>
            <a:r>
              <a:rPr sz="1300" b="0" i="0">
                <a:solidFill>
                  <a:srgbClr val="1C1B19"/>
                </a:solidFill>
                <a:latin typeface="Source Serif 4"/>
              </a:rPr>
              <a:t>"Not yet" is a strong answer for most 9th graders, and the lesson says so. Some students have already had sex. Don't let the waiting message turn into a judgment of them. Anyone can decide "not again for now."</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Be plain about rough sex and choking.</a:t>
            </a:r>
          </a:p>
          <a:p>
            <a:pPr algn="l">
              <a:spcAft>
                <a:spcPts val="585"/>
              </a:spcAft>
            </a:pPr>
            <a:r>
              <a:rPr sz="1300" b="0" i="0">
                <a:solidFill>
                  <a:srgbClr val="1C1B19"/>
                </a:solidFill>
                <a:latin typeface="Source Serif 4"/>
              </a:rPr>
              <a:t>If it comes up, answer it straight and once: pressure on the neck can cut off blood to the brain within seconds, and there's no safe way to do it. Doing it without asking is never okay, and students can tell someone.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Read every card before you answer.</a:t>
            </a:r>
          </a:p>
          <a:p>
            <a:pPr algn="l">
              <a:spcAft>
                <a:spcPts val="585"/>
              </a:spcAft>
            </a:pPr>
            <a:r>
              <a:rPr sz="1300" b="0" i="0">
                <a:solidFill>
                  <a:srgbClr val="1C1B19"/>
                </a:solidFill>
                <a:latin typeface="Source Serif 4"/>
              </a:rPr>
              <a:t>Ninth graders ask more on a card than out loud. Skip any that name a real person. If a card worries you, take it to a counselor. If you don't know an answer, say you'll find out, and do.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Stay inside your school's rules.</a:t>
            </a:r>
          </a:p>
          <a:p>
            <a:pPr algn="l">
              <a:spcAft>
                <a:spcPts val="585"/>
              </a:spcAft>
            </a:pPr>
            <a:r>
              <a:rPr sz="1300" b="0" i="0">
                <a:solidFill>
                  <a:srgbClr val="1C1B19"/>
                </a:solidFill>
                <a:latin typeface="Source Serif 4"/>
              </a:rPr>
              <a:t>Some schools set limits on contraception talk or demonstrations. Stick to the facts on the slides and send detailed questions to the nurse or a doctor.</a:t>
            </a:r>
          </a:p>
          <a:p>
            <a:pPr algn="l">
              <a:spcAft>
                <a:spcPts val="585"/>
              </a:spcAft>
            </a:pPr>
            <a:r>
              <a:rPr sz="1300" b="0" i="0">
                <a:solidFill>
                  <a:srgbClr val="1C1B19"/>
                </a:solidFill>
                <a:latin typeface="Source Serif 4"/>
              </a:rPr>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Faith and family values.</a:t>
            </a:r>
          </a:p>
          <a:p>
            <a:pPr algn="l">
              <a:spcAft>
                <a:spcPts val="585"/>
              </a:spcAft>
            </a:pPr>
            <a:r>
              <a:rPr sz="1300" b="0" i="0">
                <a:solidFill>
                  <a:srgbClr val="1C1B19"/>
                </a:solidFill>
                <a:latin typeface="Source Serif 4"/>
              </a:rPr>
              <a:t>Some students come from families or faiths where sex waits for marriage, or where it's never talked about. Waiting is presented as a respected choice, not a lecture. Point to a parent, older cousin, faith leader, doctor or counselor as people a student might ask, and let each student pick who fits.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LGBTQ+ students.</a:t>
            </a:r>
          </a:p>
          <a:p>
            <a:pPr algn="l">
              <a:spcAft>
                <a:spcPts val="585"/>
              </a:spcAft>
            </a:pPr>
            <a:r>
              <a:rPr sz="1300" b="0" i="0">
                <a:solidFill>
                  <a:srgbClr val="1C1B19"/>
                </a:solidFill>
                <a:latin typeface="Source Serif 4"/>
              </a:rPr>
              <a:t>Every example in the deck works for any couple. Keep it that way if you add your own. STI facts apply to everyone, including oral and anal sex, and the pill line is about pregnancy only. Some LGBTQ+ students first saw people like them in porn; say that makes sense, and that real relationships take the same trust and talking.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Every gender.</a:t>
            </a:r>
          </a:p>
          <a:p>
            <a:pPr algn="l">
              <a:spcAft>
                <a:spcPts val="585"/>
              </a:spcAft>
            </a:pPr>
            <a:r>
              <a:rPr sz="1300" b="0" i="0">
                <a:solidFill>
                  <a:srgbClr val="1C1B19"/>
                </a:solidFill>
                <a:latin typeface="Source Serif 4"/>
              </a:rPr>
              <a:t>"Guys always want sex" is on the myth list on purpose. Guys get pressured too and are less likely to say so. Don't assign roles by gender in the FRIES round; the names are mixed on purpose.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Students who don't want sex at all.</a:t>
            </a:r>
          </a:p>
          <a:p>
            <a:pPr algn="l">
              <a:spcAft>
                <a:spcPts val="585"/>
              </a:spcAft>
            </a:pPr>
            <a:r>
              <a:rPr sz="1300" b="0" i="0">
                <a:solidFill>
                  <a:srgbClr val="1C1B19"/>
                </a:solidFill>
                <a:latin typeface="Source Serif 4"/>
              </a:rPr>
              <a:t>Some students aren't interested, now or ever, and that's a real and normal way to be. "Not yet" and "not for me" are both full answers.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Race and bodies.</a:t>
            </a:r>
          </a:p>
          <a:p>
            <a:pPr algn="l">
              <a:spcAft>
                <a:spcPts val="585"/>
              </a:spcAft>
            </a:pPr>
            <a:r>
              <a:rPr sz="1300" b="0" i="0">
                <a:solidFill>
                  <a:srgbClr val="1C1B19"/>
                </a:solidFill>
                <a:latin typeface="Source Serif 4"/>
              </a:rPr>
              <a:t>Porn sells stereotypes about race and about bodies. Over half of teens who'd seen porn saw Black people shown in stereotyped ways. If you discuss "bodies are supposed to look like that," say plainly that the screen is a casting call, and that includes skin color, size and disability.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Disability and neurodivergence.</a:t>
            </a:r>
          </a:p>
          <a:p>
            <a:pPr algn="l">
              <a:spcAft>
                <a:spcPts val="585"/>
              </a:spcAft>
            </a:pPr>
            <a:r>
              <a:rPr sz="1300" b="0" i="0">
                <a:solidFill>
                  <a:srgbClr val="1C1B19"/>
                </a:solidFill>
                <a:latin typeface="Source Serif 4"/>
              </a:rPr>
              <a:t>Students who read social cues differently benefit from the clear words in FRIES: a real yes, out loud, and anyone can stop. A disability never takes away someone's right to say yes or no, or to learn this.</a:t>
            </a:r>
          </a:p>
          <a:p>
            <a:pPr algn="l">
              <a:spcAft>
                <a:spcPts val="585"/>
              </a:spcAft>
            </a:pPr>
            <a:r>
              <a:rPr sz="1300" b="0" i="0">
                <a:solidFill>
                  <a:srgbClr val="1C1B19"/>
                </a:solidFill>
                <a:latin typeface="Source Serif 4"/>
              </a:rPr>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About 1 in 3 U.S. high school students has ever had sex. In 9th grade the share is much lower.</a:t>
            </a:r>
          </a:p>
          <a:p>
            <a:pPr algn="l">
              <a:spcAft>
                <a:spcPts val="585"/>
              </a:spcAft>
            </a:pPr>
            <a:r>
              <a:rPr sz="1050" b="0" i="0">
                <a:solidFill>
                  <a:srgbClr val="5D5A54"/>
                </a:solidFill>
                <a:latin typeface="Inter Tight"/>
              </a:rPr>
              <a:t>CDC Youth Risk Behavior Survey, 2023</a:t>
            </a:r>
          </a:p>
          <a:p>
            <a:pPr algn="l">
              <a:spcAft>
                <a:spcPts val="585"/>
              </a:spcAft>
            </a:pPr>
            <a:r>
              <a:rPr sz="1300" b="0" i="0">
                <a:solidFill>
                  <a:srgbClr val="1C1B19"/>
                </a:solidFill>
                <a:latin typeface="Source Serif 4"/>
              </a:rPr>
              <a:t>73% of teens 13 to 17 had seen porn online; the average age they first saw it was 12, and more had seen it by accident than on purpose. Over half of those who'd seen it had seen violent or aggressive porn.</a:t>
            </a:r>
          </a:p>
          <a:p>
            <a:pPr algn="l">
              <a:spcAft>
                <a:spcPts val="585"/>
              </a:spcAft>
            </a:pPr>
            <a:r>
              <a:rPr sz="1050" b="0" i="0">
                <a:solidFill>
                  <a:srgbClr val="5D5A54"/>
                </a:solidFill>
                <a:latin typeface="Inter Tight"/>
              </a:rPr>
              <a:t>Robb and Mann, Teens and Pornography, Common Sense Media, 2023</a:t>
            </a:r>
          </a:p>
          <a:p>
            <a:pPr algn="l">
              <a:spcAft>
                <a:spcPts val="585"/>
              </a:spcAft>
            </a:pPr>
            <a:r>
              <a:rPr sz="1300" b="0" i="0">
                <a:solidFill>
                  <a:srgbClr val="1C1B19"/>
                </a:solidFill>
                <a:latin typeface="Source Serif 4"/>
              </a:rPr>
              <a:t>More teens said they'd learned a lot about sex from a trusted adult (47%) than from porn (27%). Only 33% of teens who'd seen porn had ever seen anyone in it ask for consent.</a:t>
            </a:r>
          </a:p>
          <a:p>
            <a:pPr algn="l">
              <a:spcAft>
                <a:spcPts val="585"/>
              </a:spcAft>
            </a:pPr>
            <a:r>
              <a:rPr sz="1050" b="0" i="0">
                <a:solidFill>
                  <a:srgbClr val="5D5A54"/>
                </a:solidFill>
                <a:latin typeface="Inter Tight"/>
              </a:rPr>
              <a:t>Robb and Mann, Common Sense Media, 2023</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304 scenes from best-selling porn videos, 88% included physical aggression, and the person on the receiving end was shown enjoying it or not reacting 95% of the time.</a:t>
            </a:r>
          </a:p>
          <a:p>
            <a:pPr algn="l">
              <a:spcAft>
                <a:spcPts val="585"/>
              </a:spcAft>
            </a:pPr>
            <a:r>
              <a:rPr sz="1050" b="0" i="0">
                <a:solidFill>
                  <a:srgbClr val="5D5A54"/>
                </a:solidFill>
                <a:latin typeface="Inter Tight"/>
              </a:rPr>
              <a:t>Bridges et al., Violence Against Women, 2010</a:t>
            </a:r>
          </a:p>
          <a:p>
            <a:pPr algn="l">
              <a:spcAft>
                <a:spcPts val="585"/>
              </a:spcAft>
            </a:pPr>
            <a:r>
              <a:rPr sz="1300" b="0" i="0">
                <a:solidFill>
                  <a:srgbClr val="1C1B19"/>
                </a:solidFill>
                <a:latin typeface="Source Serif 4"/>
              </a:rPr>
              <a:t>People ages 15 to 24 account for about half of new STIs in the U.S. each year, and many infections have no symptoms.</a:t>
            </a:r>
          </a:p>
          <a:p>
            <a:pPr algn="l">
              <a:spcAft>
                <a:spcPts val="585"/>
              </a:spcAft>
            </a:pPr>
            <a:r>
              <a:rPr sz="1050" b="0" i="0">
                <a:solidFill>
                  <a:srgbClr val="5D5A54"/>
                </a:solidFill>
                <a:latin typeface="Inter Tight"/>
              </a:rPr>
              <a:t>Centers for Disease Control and Prevention, STI surveillance</a:t>
            </a:r>
          </a:p>
          <a:p>
            <a:pPr algn="l">
              <a:spcAft>
                <a:spcPts val="585"/>
              </a:spcAft>
            </a:pPr>
            <a:r>
              <a:rPr sz="1300" b="0" i="0">
                <a:solidFill>
                  <a:srgbClr val="1C1B19"/>
                </a:solidFill>
                <a:latin typeface="Source Serif 4"/>
              </a:rPr>
              <a:t>FRIES (freely given, reversible, informed, enthusiastic, specific) is Planned Parenthood's framework. It maps onto the four checks in Consent, Clearly.</a:t>
            </a:r>
          </a:p>
          <a:p>
            <a:pPr algn="l">
              <a:spcAft>
                <a:spcPts val="585"/>
              </a:spcAft>
            </a:pPr>
            <a:r>
              <a:rPr sz="1050" b="0" i="0">
                <a:solidFill>
                  <a:srgbClr val="5D5A54"/>
                </a:solidFill>
                <a:latin typeface="Inter Tight"/>
              </a:rPr>
              <a:t>Planned Parenthood, "What is sexual consent?"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