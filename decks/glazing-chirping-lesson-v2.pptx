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Something like: "Today's about chirping. Nobody's in trouble, and I'm not here to tell you to stop. Some of the best friendships run on it." If anyone asks: glazing is over-the-top praise, which is mostly the thing guys get roasted for. Say this is for everyone in the room, whatever their gender: everyone plays to some kind of audience.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Students write a few words, then a few volunteers share. Answers usually land in the same place: he shows up when it counts, he's there after a bad game, he'd defend me to anyone else. Say: "So the chirp isn't the friendship. It rides on top of something else." That's the idea the rest of the lesson builds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Read both columns, then ask: "The same chirp can land in either column. What changes?" Let them find it. The usual answer is the audience: alone it's a joke between two friends; in front of the team it's a show. Add the research quietly: teasing usually comes with signals that it's play, like a grin or a nickname, and among friends it often brings people closer. It hurts when those signals drop out or one guy is always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Psychologist Niobe Way followed boys for years, mostly Black, Latino and Asian American teens in New York City public schools, so this isn't a story about one kind of guy. Early on they talked about best friends the way you'd talk about family. Later many said those friendships had faded, and they often named the fear of seeming gay. Say plainly: "There's nothing wrong with being gay. The word gets used as a fence, and it fences in every guy." The last point comes from a survey of young men in three countries: far more said society expects guys to act tough and never ask for help than said they believed it. For the teacher only: in 2021, 15% of American men said they had no close friends, up from 3% in 1990. Use it if your group is older or asks why this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Students can answer to themselves or out loud; the question works for anyone, whatever their gender. Take a few answers: being scared, being sad, being excited about something nerdy, saying you missed someone, liking poetry or theater or your little sister. Don't push for personal ones. Then say: "Chirping can be how guys keep the script running. Nobody has to say anything real, because the next joke is already coming." If a student pushes back that toughness matters, agree: strength and holding it together for your people are real. The question is whether you ever get to put it down.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Everyone writes two things, whatever their gender: what they think most guys feel, and what's true for them. Collect, shuffle, and read a handful or tally both out loud. In most rooms more people say yes for themselves than guessed for everyone else. That gap is the point: lots of guys are performing for a crowd that wants the same thing they do. If your tally doesn't show it, say so honestly and ask why someone might keep up the act anyway.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Pairs pick one card, then a few share. The question for each: what's one small move that keeps the fun and lets him be a person? Group chat: keep the roast going and Jordan learns not to say real things there. A side text works: "Hey, that's a lot. You good?" Bus: a quick "nah, he did" or a fist bump later says plenty. The text: "Missed you, man" is enough. No disclaimer needed, and the friend will probably be glad. Close with: "You don't have to give up chirping. Just make sure it's not the only thing you've got."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Students write for themselves; nobody shares. Say that "one person" can be anyone: a teammate, a sibling, a cousin, a parent, a coach. Share the student page link; it has the research and some small moves to try. If a card or a moment showed you a student who's the regular target or seems alone, check in privately and walk him to a counselor that 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Glazing, Chirping, and the Real You</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look at chirping as something that can bring guys closer or keep them alone, and think about who gets the real them. Bring scraps of paper, keep the talk on situations and never on students in the room, and nobody shares the closing card.</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Treat chirping as something guys mostly do out of affection, and never let a slide or a joke make gay, bi or trans students the example of what guys are afraid of being called (slide 4 and the moments).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GLAZING, CHIRPING, AND THE REAL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Glazing, Chirping, and the Real You</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Who's the chirp really for?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WRITE A FEW WORDS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friend who chirps you all the time.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How do you know he actually likes you?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SAME WORDS, DIFFERENT LANDING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Bonds or buries?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BONDS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You both laugh</a:t>
            </a:r>
          </a:p>
          <a:p>
            <a:pPr algn="l">
              <a:spcAft>
                <a:spcPts val="855"/>
              </a:spcAft>
            </a:pPr>
            <a:r>
              <a:rPr sz="1900" b="0" i="0">
                <a:solidFill>
                  <a:srgbClr val="1C1B19"/>
                </a:solidFill>
                <a:latin typeface="Source Serif 4"/>
              </a:rPr>
              <a:t>It's about something you did</a:t>
            </a:r>
          </a:p>
          <a:p>
            <a:pPr algn="l">
              <a:spcAft>
                <a:spcPts val="855"/>
              </a:spcAft>
            </a:pPr>
            <a:r>
              <a:rPr sz="1900" b="0" i="0">
                <a:solidFill>
                  <a:srgbClr val="1C1B19"/>
                </a:solidFill>
                <a:latin typeface="Source Serif 4"/>
              </a:rPr>
              <a:t>It stops when he's having a bad day</a:t>
            </a:r>
          </a:p>
          <a:p>
            <a:pPr algn="l">
              <a:spcAft>
                <a:spcPts val="855"/>
              </a:spcAft>
            </a:pPr>
            <a:r>
              <a:rPr sz="1900" b="0" i="0">
                <a:solidFill>
                  <a:srgbClr val="1C1B19"/>
                </a:solidFill>
                <a:latin typeface="Source Serif 4"/>
              </a:rPr>
              <a:t>You'd say it with nobody watching</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BURIES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One of you goes quiet</a:t>
            </a:r>
          </a:p>
          <a:p>
            <a:pPr algn="l">
              <a:spcAft>
                <a:spcPts val="855"/>
              </a:spcAft>
            </a:pPr>
            <a:r>
              <a:rPr sz="1900" b="0" i="0">
                <a:solidFill>
                  <a:srgbClr val="1C1B19"/>
                </a:solidFill>
                <a:latin typeface="Source Serif 4"/>
              </a:rPr>
              <a:t>It's about who you are: body, race, money, who you like</a:t>
            </a:r>
          </a:p>
          <a:p>
            <a:pPr algn="l">
              <a:spcAft>
                <a:spcPts val="855"/>
              </a:spcAft>
            </a:pPr>
            <a:r>
              <a:rPr sz="1900" b="0" i="0">
                <a:solidFill>
                  <a:srgbClr val="1C1B19"/>
                </a:solidFill>
                <a:latin typeface="Source Serif 4"/>
              </a:rPr>
              <a:t>It gets louder with a crowd</a:t>
            </a:r>
          </a:p>
          <a:p>
            <a:pPr algn="l">
              <a:spcAft>
                <a:spcPts val="855"/>
              </a:spcAft>
            </a:pPr>
            <a:r>
              <a:rPr sz="1900" b="0" i="0">
                <a:solidFill>
                  <a:srgbClr val="1C1B19"/>
                </a:solidFill>
                <a:latin typeface="Source Serif 4"/>
              </a:rPr>
              <a:t>It's the only way you two ever talk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HAPPENS TO GUYS' FRIENDSHIPS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Way, 2011  ·  Heilman, Barker &amp; Harrison, 2017</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Lots of guys lose their closest friends by 17.</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At 12 and 13, many boys described a best friend they told everything.</a:t>
            </a:r>
          </a:p>
          <a:p>
            <a:pPr algn="l">
              <a:spcAft>
                <a:spcPts val="855"/>
              </a:spcAft>
            </a:pPr>
            <a:r>
              <a:rPr sz="1900" b="0" i="0">
                <a:solidFill>
                  <a:srgbClr val="1C1B19"/>
                </a:solidFill>
                <a:latin typeface="Source Serif 4"/>
              </a:rPr>
              <a:t>•  By 16 and 17, many said those friends were gone.</a:t>
            </a:r>
          </a:p>
          <a:p>
            <a:pPr algn="l">
              <a:spcAft>
                <a:spcPts val="855"/>
              </a:spcAft>
            </a:pPr>
            <a:r>
              <a:rPr sz="1900" b="0" i="0">
                <a:solidFill>
                  <a:srgbClr val="1C1B19"/>
                </a:solidFill>
                <a:latin typeface="Source Serif 4"/>
              </a:rPr>
              <a:t>•  A common reason: not wanting to seem gay or "soft."</a:t>
            </a:r>
          </a:p>
          <a:p>
            <a:pPr algn="l">
              <a:spcAft>
                <a:spcPts val="855"/>
              </a:spcAft>
            </a:pPr>
            <a:r>
              <a:rPr sz="1900" b="0" i="0">
                <a:solidFill>
                  <a:srgbClr val="1C1B19"/>
                </a:solidFill>
                <a:latin typeface="Source Serif 4"/>
              </a:rPr>
              <a:t>•  Most guys believe in the tough-guy rules less than they think other guys do.</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Nobody decided this. It happens one chirp at a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SCRIPT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Tough. Unbothered. Never soft.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The writer bell hooks said boys are asked to cut off parts of themselves to be accepted as men. What did you give up to play the part?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ANONYMOUS CARDS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"Most guys here wish they had a friend they could be completely real with."</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agree or disagree. Then write what you think about yourself. Fold it. No names.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GROUP CHAT</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Jordan posts that his parents are splitting up, then adds "lol." The chat starts roasting his haircut.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BUS HOME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After a tough loss, Sam says he worked really hard for this one. Someone says "bro's glazing himself" and the bus laughs.</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TEXT</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 want to tell a friend you missed him this summer. You type it, add "no homo," delete the whole thing, and stare at the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Who gets the real you?</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Privately: who gets you without the audience? Is there one more person you'd want on that list?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https://rmwtoolkit.github.io/bcds-toolkit/glazing-chirping-high-school.html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Glazing, Chirping, and the Real You</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tell a chirp that brings friends closer from one that keeps them at arm's length, notice who the audience is, and name one person who gets the real them. Chirping is treated as a real part of how friends connect; nobody is told to stop.</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Scraps of paper for the warm-up and the anonymous cards</a:t>
            </a:r>
          </a:p>
          <a:p>
            <a:pPr algn="l">
              <a:spcAft>
                <a:spcPts val="675"/>
              </a:spcAft>
            </a:pPr>
            <a:r>
              <a:rPr sz="1500" b="0" i="0">
                <a:solidFill>
                  <a:srgbClr val="1C1B19"/>
                </a:solidFill>
                <a:latin typeface="Source Serif 4"/>
              </a:rPr>
              <a:t>Index cards or notebooks for the private closing question</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2 min   </a:t>
            </a:r>
            <a:r>
              <a:rPr sz="1400" b="0" i="0">
                <a:solidFill>
                  <a:srgbClr val="1C1B19"/>
                </a:solidFill>
                <a:latin typeface="Source Serif 4"/>
              </a:rPr>
              <a:t>Open: nobody's in trouble</a:t>
            </a:r>
          </a:p>
          <a:p>
            <a:pPr algn="l">
              <a:spcAft>
                <a:spcPts val="630"/>
              </a:spcAft>
            </a:pPr>
            <a:r>
              <a:rPr sz="1300" b="1" i="0">
                <a:solidFill>
                  <a:srgbClr val="F47B20"/>
                </a:solidFill>
                <a:latin typeface="Inter Tight"/>
              </a:rPr>
              <a:t>2 min   </a:t>
            </a:r>
            <a:r>
              <a:rPr sz="1400" b="0" i="0">
                <a:solidFill>
                  <a:srgbClr val="1C1B19"/>
                </a:solidFill>
                <a:latin typeface="Source Serif 4"/>
              </a:rPr>
              <a:t>How do you know he likes you? (written)</a:t>
            </a:r>
          </a:p>
          <a:p>
            <a:pPr algn="l">
              <a:spcAft>
                <a:spcPts val="630"/>
              </a:spcAft>
            </a:pPr>
            <a:r>
              <a:rPr sz="1300" b="1" i="0">
                <a:solidFill>
                  <a:srgbClr val="F47B20"/>
                </a:solidFill>
                <a:latin typeface="Inter Tight"/>
              </a:rPr>
              <a:t>3 min   </a:t>
            </a:r>
            <a:r>
              <a:rPr sz="1400" b="0" i="0">
                <a:solidFill>
                  <a:srgbClr val="1C1B19"/>
                </a:solidFill>
                <a:latin typeface="Source Serif 4"/>
              </a:rPr>
              <a:t>Bonds or buries</a:t>
            </a:r>
          </a:p>
          <a:p>
            <a:pPr algn="l">
              <a:spcAft>
                <a:spcPts val="630"/>
              </a:spcAft>
            </a:pPr>
            <a:r>
              <a:rPr sz="1300" b="1" i="0">
                <a:solidFill>
                  <a:srgbClr val="F47B20"/>
                </a:solidFill>
                <a:latin typeface="Inter Tight"/>
              </a:rPr>
              <a:t>3 min   </a:t>
            </a:r>
            <a:r>
              <a:rPr sz="1400" b="0" i="0">
                <a:solidFill>
                  <a:srgbClr val="1C1B19"/>
                </a:solidFill>
                <a:latin typeface="Source Serif 4"/>
              </a:rPr>
              <a:t>What happens to guys' friendships</a:t>
            </a:r>
          </a:p>
          <a:p>
            <a:pPr algn="l">
              <a:spcAft>
                <a:spcPts val="630"/>
              </a:spcAft>
            </a:pPr>
            <a:r>
              <a:rPr sz="1300" b="1" i="0">
                <a:solidFill>
                  <a:srgbClr val="F47B20"/>
                </a:solidFill>
                <a:latin typeface="Inter Tight"/>
              </a:rPr>
              <a:t>2 min   </a:t>
            </a:r>
            <a:r>
              <a:rPr sz="1400" b="0" i="0">
                <a:solidFill>
                  <a:srgbClr val="1C1B19"/>
                </a:solidFill>
                <a:latin typeface="Source Serif 4"/>
              </a:rPr>
              <a:t>The script</a:t>
            </a:r>
          </a:p>
          <a:p>
            <a:pPr algn="l">
              <a:spcAft>
                <a:spcPts val="630"/>
              </a:spcAft>
            </a:pPr>
            <a:r>
              <a:rPr sz="1300" b="1" i="0">
                <a:solidFill>
                  <a:srgbClr val="F47B20"/>
                </a:solidFill>
                <a:latin typeface="Inter Tight"/>
              </a:rPr>
              <a:t>3 min   </a:t>
            </a:r>
            <a:r>
              <a:rPr sz="1400" b="0" i="0">
                <a:solidFill>
                  <a:srgbClr val="1C1B19"/>
                </a:solidFill>
                <a:latin typeface="Source Serif 4"/>
              </a:rPr>
              <a:t>Anonymous cards</a:t>
            </a:r>
          </a:p>
          <a:p>
            <a:pPr algn="l">
              <a:spcAft>
                <a:spcPts val="630"/>
              </a:spcAft>
            </a:pPr>
            <a:r>
              <a:rPr sz="1300" b="1" i="0">
                <a:solidFill>
                  <a:srgbClr val="F47B20"/>
                </a:solidFill>
                <a:latin typeface="Inter Tight"/>
              </a:rPr>
              <a:t>4 min   </a:t>
            </a:r>
            <a:r>
              <a:rPr sz="1400" b="0" i="0">
                <a:solidFill>
                  <a:srgbClr val="1C1B19"/>
                </a:solidFill>
                <a:latin typeface="Source Serif 4"/>
              </a:rPr>
              <a:t>Three moments (pairs)</a:t>
            </a:r>
          </a:p>
          <a:p>
            <a:pPr algn="l">
              <a:spcAft>
                <a:spcPts val="630"/>
              </a:spcAft>
            </a:pPr>
            <a:r>
              <a:rPr sz="1300" b="1" i="0">
                <a:solidFill>
                  <a:srgbClr val="F47B20"/>
                </a:solidFill>
                <a:latin typeface="Inter Tight"/>
              </a:rPr>
              <a:t>1 min   </a:t>
            </a:r>
            <a:r>
              <a:rPr sz="1400" b="0" i="0">
                <a:solidFill>
                  <a:srgbClr val="1C1B19"/>
                </a:solidFill>
                <a:latin typeface="Source Serif 4"/>
              </a:rPr>
              <a:t>Who gets the real you? (private)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Bonds or buries (3), the anonymous cards (3), one of the three moments in pairs (3), the student page link (1). The student page has the research and the small moves.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Don't make chirping the villain.</a:t>
            </a:r>
          </a:p>
          <a:p>
            <a:pPr algn="l">
              <a:spcAft>
                <a:spcPts val="585"/>
              </a:spcAft>
            </a:pPr>
            <a:r>
              <a:rPr sz="1300" b="0" i="0">
                <a:solidFill>
                  <a:srgbClr val="1C1B19"/>
                </a:solidFill>
                <a:latin typeface="Source Serif 4"/>
              </a:rPr>
              <a:t>Most chirping is affection in disguise, and students will tune out fast if this sounds like "stop roasting each other." Say it early and mean it: "Some of the best friendships run on this." The question for the whole lesson is narrower: is it the only way you ever talk?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about situations.</a:t>
            </a:r>
          </a:p>
          <a:p>
            <a:pPr algn="l">
              <a:spcAft>
                <a:spcPts val="585"/>
              </a:spcAft>
            </a:pPr>
            <a:r>
              <a:rPr sz="1300" b="0" i="0">
                <a:solidFill>
                  <a:srgbClr val="1C1B19"/>
                </a:solidFill>
                <a:latin typeface="Source Serif 4"/>
              </a:rPr>
              <a:t>Never use a real chirp from your class or a student's name, even as a joke. If a student starts telling a story about someone in the room, redirect: "Let's keep it to made-up guys today."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a little chirping during the lesson.</a:t>
            </a:r>
          </a:p>
          <a:p>
            <a:pPr algn="l">
              <a:spcAft>
                <a:spcPts val="585"/>
              </a:spcAft>
            </a:pPr>
            <a:r>
              <a:rPr sz="1300" b="0" i="0">
                <a:solidFill>
                  <a:srgbClr val="1C1B19"/>
                </a:solidFill>
                <a:latin typeface="Source Serif 4"/>
              </a:rPr>
              <a:t>Someone will roast a friend's answer. That's fine and kind of perfect. Laugh, then ask lightly, "Bonds or buries?" Don't make an example of anyone.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Girls and nonbinary students are part of this.</a:t>
            </a:r>
          </a:p>
          <a:p>
            <a:pPr algn="l">
              <a:spcAft>
                <a:spcPts val="585"/>
              </a:spcAft>
            </a:pPr>
            <a:r>
              <a:rPr sz="1300" b="0" i="0">
                <a:solidFill>
                  <a:srgbClr val="1C1B19"/>
                </a:solidFill>
                <a:latin typeface="Source Serif 4"/>
              </a:rPr>
              <a:t>Everyone plays to some audience, and everyone has watched a friend get roasted into silence. Don't ask girls to explain what guys are like, and don't make them the audience the guys perform for.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the student who's the target.</a:t>
            </a:r>
          </a:p>
          <a:p>
            <a:pPr algn="l">
              <a:spcAft>
                <a:spcPts val="585"/>
              </a:spcAft>
            </a:pPr>
            <a:r>
              <a:rPr sz="1300" b="0" i="0">
                <a:solidFill>
                  <a:srgbClr val="1C1B19"/>
                </a:solidFill>
                <a:latin typeface="Source Serif 4"/>
              </a:rPr>
              <a:t>If one student seems to be the regular punchline, or writes something on a card that sounds like real bullying or being alone, check in privately after and walk him to a counselor that day. Don't ask about it in the circle.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Respect the families.</a:t>
            </a:r>
          </a:p>
          <a:p>
            <a:pPr algn="l">
              <a:spcAft>
                <a:spcPts val="585"/>
              </a:spcAft>
            </a:pPr>
            <a:r>
              <a:rPr sz="1300" b="0" i="0">
                <a:solidFill>
                  <a:srgbClr val="1C1B19"/>
                </a:solidFill>
                <a:latin typeface="Source Serif 4"/>
              </a:rPr>
              <a:t>Many families, cultures and faiths value toughness, respect and keeping private things private. That's no flaw, and plenty of students admire men who live that way. Keep the question on friendship: does every friend get only the act?</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Not only straight boys.</a:t>
            </a:r>
          </a:p>
          <a:p>
            <a:pPr algn="l">
              <a:spcAft>
                <a:spcPts val="585"/>
              </a:spcAft>
            </a:pPr>
            <a:r>
              <a:rPr sz="1300" b="0" i="0">
                <a:solidFill>
                  <a:srgbClr val="1C1B19"/>
                </a:solidFill>
                <a:latin typeface="Source Serif 4"/>
              </a:rPr>
              <a:t>Gay, bi, trans and questioning students are in most rooms. "That's gay" and "no homo" are the words doing the policing in this lesson, so name them as pressure on every guy, never as a joke. No scenario turns on a gay character as the punchline. Know where to point students: a counselor and The Trevor Project (call 1-866-488-7386 or text START to 678-678).</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research isn't about one kind of boy.</a:t>
            </a:r>
          </a:p>
          <a:p>
            <a:pPr algn="l">
              <a:spcAft>
                <a:spcPts val="585"/>
              </a:spcAft>
            </a:pPr>
            <a:r>
              <a:rPr sz="1300" b="0" i="0">
                <a:solidFill>
                  <a:srgbClr val="1C1B19"/>
                </a:solidFill>
                <a:latin typeface="Source Serif 4"/>
              </a:rPr>
              <a:t>Niobe Way's boys were mostly Black, Latino and Asian American teens in New York City public schools, and they described the same loss of close friends. Say so; it keeps students from hearing this as a story about rich white kids or about one culture.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Girls and nonbinary students get the same questions.</a:t>
            </a:r>
          </a:p>
          <a:p>
            <a:pPr algn="l">
              <a:spcAft>
                <a:spcPts val="585"/>
              </a:spcAft>
            </a:pPr>
            <a:r>
              <a:rPr sz="1300" b="0" i="0">
                <a:solidFill>
                  <a:srgbClr val="1C1B19"/>
                </a:solidFill>
                <a:latin typeface="Source Serif 4"/>
              </a:rPr>
              <a:t>Everyone answers the warm-up and the cards. Girls have their own versions of performing for a group (the Inner Circle lesson covers some of it). Nobody speaks for their gender.</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culture and faith shape how closeness shows up.</a:t>
            </a:r>
          </a:p>
          <a:p>
            <a:pPr algn="l">
              <a:spcAft>
                <a:spcPts val="585"/>
              </a:spcAft>
            </a:pPr>
            <a:r>
              <a:rPr sz="1300" b="0" i="0">
                <a:solidFill>
                  <a:srgbClr val="1C1B19"/>
                </a:solidFill>
                <a:latin typeface="Source Serif 4"/>
              </a:rPr>
              <a:t>In some families affection is loud and physical, in others it's shown by showing up, fixing things or working side by side. All of that counts. Avoid "In X families" generalizations, and leave room for students to admire the men who raised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student has a man at home, or close friends yet.</a:t>
            </a:r>
          </a:p>
          <a:p>
            <a:pPr algn="l">
              <a:spcAft>
                <a:spcPts val="585"/>
              </a:spcAft>
            </a:pPr>
            <a:r>
              <a:rPr sz="1300" b="0" i="0">
                <a:solidFill>
                  <a:srgbClr val="1C1B19"/>
                </a:solidFill>
                <a:latin typeface="Source Serif 4"/>
              </a:rPr>
              <a:t>Some students are raised by moms, grandparents, two moms or in kinship care, and some are new or between friend groups. The closing question is private and "one person" can be anyone: a sibling, a cousin, a coach, a teammate, a parent.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students read the bit differently.</a:t>
            </a:r>
          </a:p>
          <a:p>
            <a:pPr algn="l">
              <a:spcAft>
                <a:spcPts val="585"/>
              </a:spcAft>
            </a:pPr>
            <a:r>
              <a:rPr sz="1300" b="0" i="0">
                <a:solidFill>
                  <a:srgbClr val="1C1B19"/>
                </a:solidFill>
                <a:latin typeface="Source Serif 4"/>
              </a:rPr>
              <a:t>Some autistic students, and students still learning English or the local slang, may have trouble telling a chirp from an insult, and may be the target more often. Treat "I couldn't tell if he was joking" as a fair answer, not a missed cue. Let students vote with a thumb from their seat if standing or speaking up is hard.</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Psychologist Niobe Way followed boys through adolescence. In early adolescence many described best friends they shared secrets with and couldn't live without. By late adolescence many said those friendships were gone, and a common reason was not wanting to seem gay or "soft."</a:t>
            </a:r>
          </a:p>
          <a:p>
            <a:pPr algn="l">
              <a:spcAft>
                <a:spcPts val="585"/>
              </a:spcAft>
            </a:pPr>
            <a:r>
              <a:rPr sz="1050" b="0" i="0">
                <a:solidFill>
                  <a:srgbClr val="5D5A54"/>
                </a:solidFill>
                <a:latin typeface="Inter Tight"/>
              </a:rPr>
              <a:t>Way, Deep Secrets, Harvard University Press, 2011</a:t>
            </a:r>
          </a:p>
          <a:p>
            <a:pPr algn="l">
              <a:spcAft>
                <a:spcPts val="585"/>
              </a:spcAft>
            </a:pPr>
            <a:r>
              <a:rPr sz="1300" b="0" i="0">
                <a:solidFill>
                  <a:srgbClr val="1C1B19"/>
                </a:solidFill>
                <a:latin typeface="Source Serif 4"/>
              </a:rPr>
              <a:t>Way's boys were mostly Black, Latino and Asian American teens from working-class and poor families in New York City public schools.</a:t>
            </a:r>
          </a:p>
          <a:p>
            <a:pPr algn="l">
              <a:spcAft>
                <a:spcPts val="585"/>
              </a:spcAft>
            </a:pPr>
            <a:r>
              <a:rPr sz="1050" b="0" i="0">
                <a:solidFill>
                  <a:srgbClr val="5D5A54"/>
                </a:solidFill>
                <a:latin typeface="Inter Tight"/>
              </a:rPr>
              <a:t>Way, 2011</a:t>
            </a:r>
          </a:p>
          <a:p>
            <a:pPr algn="l">
              <a:spcAft>
                <a:spcPts val="585"/>
              </a:spcAft>
            </a:pPr>
            <a:r>
              <a:rPr sz="1300" b="0" i="0">
                <a:solidFill>
                  <a:srgbClr val="1C1B19"/>
                </a:solidFill>
                <a:latin typeface="Source Serif 4"/>
              </a:rPr>
              <a:t>Teasing usually mixes a small jab with signals that it's play: a grin, an exaggerated voice, a nickname. Among friends it often brings people closer. It hurts when those signals drop out or one person is always the target.</a:t>
            </a:r>
          </a:p>
          <a:p>
            <a:pPr algn="l">
              <a:spcAft>
                <a:spcPts val="585"/>
              </a:spcAft>
            </a:pPr>
            <a:r>
              <a:rPr sz="1050" b="0" i="0">
                <a:solidFill>
                  <a:srgbClr val="5D5A54"/>
                </a:solidFill>
                <a:latin typeface="Inter Tight"/>
              </a:rPr>
              <a:t>Keltner, Capps, Kring, Young and Heerey, Psychological Bulletin, 2001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survey of young men in the U.S., U.K. and Mexico, many more said society expects guys to act tough, never ask for help and hide being scared than said they believed it themselves.</a:t>
            </a:r>
          </a:p>
          <a:p>
            <a:pPr algn="l">
              <a:spcAft>
                <a:spcPts val="585"/>
              </a:spcAft>
            </a:pPr>
            <a:r>
              <a:rPr sz="1050" b="0" i="0">
                <a:solidFill>
                  <a:srgbClr val="5D5A54"/>
                </a:solidFill>
                <a:latin typeface="Inter Tight"/>
              </a:rPr>
              <a:t>Heilman, Barker and Harrison, The Man Box, Promundo, 2017</a:t>
            </a:r>
          </a:p>
          <a:p>
            <a:pPr algn="l">
              <a:spcAft>
                <a:spcPts val="585"/>
              </a:spcAft>
            </a:pPr>
            <a:r>
              <a:rPr sz="1300" b="0" i="0">
                <a:solidFill>
                  <a:srgbClr val="1C1B19"/>
                </a:solidFill>
                <a:latin typeface="Source Serif 4"/>
              </a:rPr>
              <a:t>In a 2021 national survey, 15% of American men said they had no close friends, up from 3% in 1990.</a:t>
            </a:r>
          </a:p>
          <a:p>
            <a:pPr algn="l">
              <a:spcAft>
                <a:spcPts val="585"/>
              </a:spcAft>
            </a:pPr>
            <a:r>
              <a:rPr sz="1050" b="0" i="0">
                <a:solidFill>
                  <a:srgbClr val="5D5A54"/>
                </a:solidFill>
                <a:latin typeface="Inter Tight"/>
              </a:rPr>
              <a:t>Cox, Survey Center on American Life, 2021</a:t>
            </a:r>
          </a:p>
          <a:p>
            <a:pPr algn="l">
              <a:spcAft>
                <a:spcPts val="585"/>
              </a:spcAft>
            </a:pPr>
            <a:r>
              <a:rPr sz="1300" b="0" i="0">
                <a:solidFill>
                  <a:srgbClr val="1C1B19"/>
                </a:solidFill>
                <a:latin typeface="Source Serif 4"/>
              </a:rPr>
              <a:t>The author bell hooks wrote that boys are pushed to cut off feelings to be accepted as men, and that the cost shows up later as loneliness.</a:t>
            </a:r>
          </a:p>
          <a:p>
            <a:pPr algn="l">
              <a:spcAft>
                <a:spcPts val="585"/>
              </a:spcAft>
            </a:pPr>
            <a:r>
              <a:rPr sz="1050" b="0" i="0">
                <a:solidFill>
                  <a:srgbClr val="5D5A54"/>
                </a:solidFill>
                <a:latin typeface="Inter Tight"/>
              </a:rPr>
              <a:t>hooks, The Will to Change, 2004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