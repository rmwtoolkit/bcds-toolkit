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"Most of you aren't dating, and that's common. Everything today also fits friendships, teams and families." Then: "The hard part isn't knowing what a red flag is. It's seeing a pattern when each piece seems small and the same person also makes you feel great."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Students show a thumb for each: up for fine, sideways for unsure, down for a problem. Expect the first to split the room; leave it unresolved for now and come back during the phones slide. Point out that each one alone can be explained away. That's how the pattern hides.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Draw it as a staircase. 1, constant contact: texting all day, wanting every free minute. It feels flattering. 2, guilt: sulking when you see friends or family, "I just miss you." 3, monitoring: checking your phone, location, who you follow. 4, rules: who you see, what you post, what you wear. 5, fear: threats, explosions, threats to share photos or to hurt themselves. Ask: "Why is step 1 so hard to see as a warning?" (Because it feels like being wanted.) Not every relationship follows this path.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The middle category matters. Many relationships have unhealthy stretches that can improve. Abuse is different: one person uses control, fear or harm to get their way. It isn't a communication problem. Since 2024, Massachusetts law counts coercive control as abuse when someone seeks a protective order, and people can seek an abuse prevention order against a dating partner.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Go back to the location card from the start. Plenty of families and friends share locations, and in some families that's simply expected. The line isn't the app. It's whether you could turn it off without being punished, and whether it gets used to question you. Test for any request: could I say no without being afraid of what happens next?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MINUTES. Students move to the color they choose, then one person from each spot explains. Inés: yellow heading red; guilt is shrinking her world. Theo: red; love is being used as pressure, even if it's "mutual." Nadia: green; that's a pause, not a punishment, and she comes back to it. Jordan: red. He doesn't have to stay. He tells a trusted adult, and the partner can call or text 988. Say this one calmly and clearly. Close: real situations are rarely all green or all red. Watch the direction things are moving.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Private reflection: "Think of one relationship in your life, any kind. Ask yourself these three. Don't write it down." Then the steps if the answers worry someone: write down what happened and when; get one outside view, since isolation is how control works; if you're afraid, plan before leaving (tell someone first, end it in public or by phone, change passwords, turn off location). And check yourself: jealousy and checking a phone are easy to slide into, and noticing it is the first step to stopping.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anonymously and read a few aloud next class. Share the take-home link on the slide. It has the private self-check, the three questions, and love is respect (text LOVEIS to 22522, or call 1-866-331-9474), plus who to talk to at school.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Green Flags, Red Flags</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how control builds in small steps, the difference between unhealthy and abusive, and three questions that cut through a confusing relationship. Clear space for Green, Yellow and Red spots, say early that the patterns fit friendships and families too, and if a student says they're afraid of someone, walk them to a counselor that day.</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Many students aren't dating and some are in relationships they keep private, including LGBTQ+ students; frame every pattern so it fits friendships, teams and families as well as partners, in relationships of every kind.</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How control builds (6), gray areas with two cards (8), three questions (3), exit card (3). Share the take-home link so students get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GREEN FLAGS, RED FLAGS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Green Flags, Red Flags</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Spotting a pattern from inside it.</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EACH THING SEEMS SMALL</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Thumbs up, sideways or down?</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They want your location "so I know you're safe."</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Most fights end with you apologizing.</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You've stopped seeing certain friends to avoid an argument.</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They say nobody else would put up with you.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HOW CONTROL BUILDS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It rarely shows up all at once.</a:t>
            </a:r>
          </a:p>
        </p:txBody>
      </p:sp>
      <p:sp>
        <p:nvSpPr>
          <p:cNvPr id="6" name="Rectangle 5"/>
          <p:cNvSpPr/>
          <p:nvPr/>
        </p:nvSpPr>
        <p:spPr>
          <a:xfrm>
            <a:off x="82296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Constant contact</a:t>
            </a:r>
          </a:p>
        </p:txBody>
      </p:sp>
      <p:cxnSp>
        <p:nvCxnSpPr>
          <p:cNvPr id="8" name="Connector 7"/>
          <p:cNvCxnSpPr/>
          <p:nvPr/>
        </p:nvCxnSpPr>
        <p:spPr>
          <a:xfrm>
            <a:off x="2752344" y="3246120"/>
            <a:ext cx="176021"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983229"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3229"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Guilt about your time</a:t>
            </a:r>
          </a:p>
        </p:txBody>
      </p:sp>
      <p:cxnSp>
        <p:nvCxnSpPr>
          <p:cNvPr id="11" name="Connector 10"/>
          <p:cNvCxnSpPr/>
          <p:nvPr/>
        </p:nvCxnSpPr>
        <p:spPr>
          <a:xfrm>
            <a:off x="491261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14350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350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Monitoring</a:t>
            </a:r>
          </a:p>
        </p:txBody>
      </p:sp>
      <p:cxnSp>
        <p:nvCxnSpPr>
          <p:cNvPr id="14" name="Connector 13"/>
          <p:cNvCxnSpPr/>
          <p:nvPr/>
        </p:nvCxnSpPr>
        <p:spPr>
          <a:xfrm>
            <a:off x="7072883" y="3246120"/>
            <a:ext cx="176023"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30377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0377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Rules</a:t>
            </a:r>
          </a:p>
        </p:txBody>
      </p:sp>
      <p:cxnSp>
        <p:nvCxnSpPr>
          <p:cNvPr id="17" name="Connector 16"/>
          <p:cNvCxnSpPr/>
          <p:nvPr/>
        </p:nvCxnSpPr>
        <p:spPr>
          <a:xfrm>
            <a:off x="923315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46404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Fear</a:t>
            </a:r>
          </a:p>
        </p:txBody>
      </p:sp>
      <p:sp>
        <p:nvSpPr>
          <p:cNvPr id="20" name="TextBox 19"/>
          <p:cNvSpPr txBox="1"/>
          <p:nvPr/>
        </p:nvSpPr>
        <p:spPr>
          <a:xfrm>
            <a:off x="822960" y="4160520"/>
            <a:ext cx="10515600" cy="457200"/>
          </a:xfrm>
          <a:prstGeom prst="rect">
            <a:avLst/>
          </a:prstGeom>
          <a:noFill/>
        </p:spPr>
        <p:txBody>
          <a:bodyPr wrap="square" anchor="t" lIns="0" rIns="0" tIns="0" bIns="0">
            <a:spAutoFit/>
          </a:bodyPr>
          <a:lstStyle/>
          <a:p>
            <a:pPr algn="ctr">
              <a:spcAft>
                <a:spcPts val="810"/>
              </a:spcAft>
            </a:pPr>
            <a:r>
              <a:rPr sz="1800" b="1" i="0">
                <a:solidFill>
                  <a:srgbClr val="F47B20"/>
                </a:solidFill>
                <a:latin typeface="Inter Tight"/>
              </a:rPr>
              <a:t/>
            </a:r>
          </a:p>
        </p:txBody>
      </p:sp>
      <p:sp>
        <p:nvSpPr>
          <p:cNvPr id="21" name="TextBox 20"/>
          <p:cNvSpPr txBox="1"/>
          <p:nvPr/>
        </p:nvSpPr>
        <p:spPr>
          <a:xfrm>
            <a:off x="822960" y="4846320"/>
            <a:ext cx="10515600" cy="1188720"/>
          </a:xfrm>
          <a:prstGeom prst="rect">
            <a:avLst/>
          </a:prstGeom>
          <a:noFill/>
        </p:spPr>
        <p:txBody>
          <a:bodyPr wrap="square" anchor="t" lIns="0" rIns="0" tIns="0" bIns="0">
            <a:spAutoFit/>
          </a:bodyPr>
          <a:lstStyle/>
          <a:p>
            <a:pPr algn="ctr">
              <a:spcAft>
                <a:spcPts val="900"/>
              </a:spcAft>
            </a:pPr>
            <a:r>
              <a:rPr sz="2000" b="0" i="1">
                <a:solidFill>
                  <a:srgbClr val="5D5A54"/>
                </a:solidFill>
                <a:latin typeface="Source Serif 4"/>
              </a:rPr>
              <a:t>An illustration, not data. You don't need to reach the last step for it to count.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KINDS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Healthy, unhealthy, abusive</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HEALTHY</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Your own friends, plans, privacy</a:t>
            </a:r>
          </a:p>
          <a:p>
            <a:pPr algn="l">
              <a:spcAft>
                <a:spcPts val="855"/>
              </a:spcAft>
            </a:pPr>
            <a:r>
              <a:rPr sz="1900" b="0" i="0">
                <a:solidFill>
                  <a:srgbClr val="1C1B19"/>
                </a:solidFill>
                <a:latin typeface="Source Serif 4"/>
              </a:rPr>
              <a:t>You can disagree without fear</a:t>
            </a:r>
          </a:p>
          <a:p>
            <a:pPr algn="l">
              <a:spcAft>
                <a:spcPts val="855"/>
              </a:spcAft>
            </a:pPr>
            <a:r>
              <a:rPr sz="1900" b="0" i="0">
                <a:solidFill>
                  <a:srgbClr val="1C1B19"/>
                </a:solidFill>
                <a:latin typeface="Source Serif 4"/>
              </a:rPr>
              <a:t>Pauses, not punishments</a:t>
            </a:r>
          </a:p>
          <a:p>
            <a:pPr algn="l">
              <a:spcAft>
                <a:spcPts val="855"/>
              </a:spcAft>
            </a:pPr>
            <a:r>
              <a:rPr sz="1900" b="0" i="0">
                <a:solidFill>
                  <a:srgbClr val="1C1B19"/>
                </a:solidFill>
                <a:latin typeface="Source Serif 4"/>
              </a:rPr>
              <a:t>Your world gets bigger</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UNHEALTHY VS. ABUSIVE</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Unhealthy: jealousy runs the mood</a:t>
            </a:r>
          </a:p>
          <a:p>
            <a:pPr algn="l">
              <a:spcAft>
                <a:spcPts val="855"/>
              </a:spcAft>
            </a:pPr>
            <a:r>
              <a:rPr sz="1900" b="0" i="0">
                <a:solidFill>
                  <a:srgbClr val="1C1B19"/>
                </a:solidFill>
                <a:latin typeface="Source Serif 4"/>
              </a:rPr>
              <a:t>Can change if both people work on it</a:t>
            </a:r>
          </a:p>
          <a:p>
            <a:pPr algn="l">
              <a:spcAft>
                <a:spcPts val="855"/>
              </a:spcAft>
            </a:pPr>
            <a:r>
              <a:rPr sz="1900" b="0" i="0">
                <a:solidFill>
                  <a:srgbClr val="1C1B19"/>
                </a:solidFill>
                <a:latin typeface="Source Serif 4"/>
              </a:rPr>
              <a:t>Abusive: control, fear or harm</a:t>
            </a:r>
          </a:p>
          <a:p>
            <a:pPr algn="l">
              <a:spcAft>
                <a:spcPts val="855"/>
              </a:spcAft>
            </a:pPr>
            <a:r>
              <a:rPr sz="1900" b="0" i="0">
                <a:solidFill>
                  <a:srgbClr val="1C1B19"/>
                </a:solidFill>
                <a:latin typeface="Source Serif 4"/>
              </a:rPr>
              <a:t>Trying harder won't fix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CDC, 2021  ·  Pew Research Center, 2015  ·  Zweig et al., 2013  ·  Exner-Cortens et al., 2013</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Teen relationships count. So does what goes wrong.</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About 1 in 12 students who dated faced physical dating violence.</a:t>
            </a:r>
          </a:p>
          <a:p>
            <a:pPr algn="l">
              <a:spcAft>
                <a:spcPts val="855"/>
              </a:spcAft>
            </a:pPr>
            <a:r>
              <a:rPr sz="1900" b="0" i="0">
                <a:solidFill>
                  <a:srgbClr val="1C1B19"/>
                </a:solidFill>
                <a:latin typeface="Source Serif 4"/>
              </a:rPr>
              <a:t>•  31% had a partner check up on them several times a day.</a:t>
            </a:r>
          </a:p>
          <a:p>
            <a:pPr algn="l">
              <a:spcAft>
                <a:spcPts val="855"/>
              </a:spcAft>
            </a:pPr>
            <a:r>
              <a:rPr sz="1900" b="0" i="0">
                <a:solidFill>
                  <a:srgbClr val="1C1B19"/>
                </a:solidFill>
                <a:latin typeface="Source Serif 4"/>
              </a:rPr>
              <a:t>•  About 1 in 4 faced cyber dating abuse in a year.</a:t>
            </a:r>
          </a:p>
          <a:p>
            <a:pPr algn="l">
              <a:spcAft>
                <a:spcPts val="855"/>
              </a:spcAft>
            </a:pPr>
            <a:r>
              <a:rPr sz="1900" b="0" i="0">
                <a:solidFill>
                  <a:srgbClr val="1C1B19"/>
                </a:solidFill>
                <a:latin typeface="Source Serif 4"/>
              </a:rPr>
              <a:t>•  It follows people into later relationships.</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If turning off your location would start a fight, it isn't about safety.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GRAY AREAS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Green, yellow or red? Move to a color.</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Inés</a:t>
            </a:r>
          </a:p>
          <a:p>
            <a:pPr algn="l">
              <a:spcAft>
                <a:spcPts val="945"/>
              </a:spcAft>
            </a:pPr>
            <a:r>
              <a:rPr sz="1600" b="0" i="0">
                <a:solidFill>
                  <a:srgbClr val="5D5A54"/>
                </a:solidFill>
                <a:latin typeface="Source Serif 4"/>
              </a:rPr>
              <a:t>Her boyfriend sulks after every family event: "I just miss you."</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Theo</a:t>
            </a:r>
          </a:p>
          <a:p>
            <a:pPr algn="l">
              <a:spcAft>
                <a:spcPts val="945"/>
              </a:spcAft>
            </a:pPr>
            <a:r>
              <a:rPr sz="1600" b="0" i="0">
                <a:solidFill>
                  <a:srgbClr val="5D5A54"/>
                </a:solidFill>
                <a:latin typeface="Source Serif 4"/>
              </a:rPr>
              <a:t>"If you really loved me, you'd give me your password."</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Nadia</a:t>
            </a:r>
          </a:p>
          <a:p>
            <a:pPr algn="l">
              <a:spcAft>
                <a:spcPts val="945"/>
              </a:spcAft>
            </a:pPr>
            <a:r>
              <a:rPr sz="1600" b="0" i="0">
                <a:solidFill>
                  <a:srgbClr val="5D5A54"/>
                </a:solidFill>
                <a:latin typeface="Source Serif 4"/>
              </a:rPr>
              <a:t>Her girlfriend: "I'm too annoyed to talk well. Tomorrow?" And does.</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Jordan</a:t>
            </a:r>
          </a:p>
          <a:p>
            <a:pPr algn="l">
              <a:spcAft>
                <a:spcPts val="945"/>
              </a:spcAft>
            </a:pPr>
            <a:r>
              <a:rPr sz="1600" b="0" i="0">
                <a:solidFill>
                  <a:srgbClr val="5D5A54"/>
                </a:solidFill>
                <a:latin typeface="Source Serif 4"/>
              </a:rPr>
              <a:t>Wants to break up. His partner: "If you leave, I'll hurt myself."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WHEN YOU CAN'T TELL</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Three questions that cut through it</a:t>
            </a:r>
          </a:p>
        </p:txBody>
      </p:sp>
      <p:sp>
        <p:nvSpPr>
          <p:cNvPr id="6" name="TextBox 5"/>
          <p:cNvSpPr txBox="1"/>
          <p:nvPr/>
        </p:nvSpPr>
        <p:spPr>
          <a:xfrm>
            <a:off x="822960" y="219456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Can I say no without paying for it?</a:t>
            </a:r>
          </a:p>
          <a:p>
            <a:pPr algn="l">
              <a:spcAft>
                <a:spcPts val="945"/>
              </a:spcAft>
            </a:pPr>
            <a:r>
              <a:rPr sz="1600" b="0" i="0">
                <a:solidFill>
                  <a:srgbClr val="5D5A54"/>
                </a:solidFill>
                <a:latin typeface="Source Serif 4"/>
              </a:rPr>
              <a:t>Sulking, punishment, fear, or nothing?</a:t>
            </a:r>
          </a:p>
        </p:txBody>
      </p:sp>
      <p:sp>
        <p:nvSpPr>
          <p:cNvPr id="8" name="TextBox 7"/>
          <p:cNvSpPr txBox="1"/>
          <p:nvPr/>
        </p:nvSpPr>
        <p:spPr>
          <a:xfrm>
            <a:off x="822960" y="324612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8269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Is my world getting bigger or smaller?</a:t>
            </a:r>
          </a:p>
          <a:p>
            <a:pPr algn="l">
              <a:spcAft>
                <a:spcPts val="945"/>
              </a:spcAft>
            </a:pPr>
            <a:r>
              <a:rPr sz="1600" b="0" i="0">
                <a:solidFill>
                  <a:srgbClr val="5D5A54"/>
                </a:solidFill>
                <a:latin typeface="Source Serif 4"/>
              </a:rPr>
              <a:t>Friends, family, activities, grades.</a:t>
            </a:r>
          </a:p>
        </p:txBody>
      </p:sp>
      <p:sp>
        <p:nvSpPr>
          <p:cNvPr id="10" name="TextBox 9"/>
          <p:cNvSpPr txBox="1"/>
          <p:nvPr/>
        </p:nvSpPr>
        <p:spPr>
          <a:xfrm>
            <a:off x="822960" y="4297679"/>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334255"/>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Do I feel more like myself?</a:t>
            </a:r>
          </a:p>
          <a:p>
            <a:pPr algn="l">
              <a:spcAft>
                <a:spcPts val="945"/>
              </a:spcAft>
            </a:pPr>
            <a:r>
              <a:rPr sz="1600" b="0" i="0">
                <a:solidFill>
                  <a:srgbClr val="5D5A54"/>
                </a:solidFill>
                <a:latin typeface="Source Serif 4"/>
              </a:rPr>
              <a:t>Or am I managing their moods?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Write one green flag you'd want in any relationship, friend or partner.</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https://rmwtoolkit.github.io/bcds-toolkit/green-flags-red-flags-high-school.html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Green Flags, Red Flags</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tell healthy, unhealthy and abusive relationships apart, spot how control builds one small step at a time, and use three questions to check any relationship: a partner, a friend, a team, or family. Students who aren't dating should see the lesson fits them too.</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Three signs or board spots: Green, Yellow, Red</a:t>
            </a:r>
          </a:p>
          <a:p>
            <a:pPr algn="l">
              <a:spcAft>
                <a:spcPts val="675"/>
              </a:spcAft>
            </a:pPr>
            <a:r>
              <a:rPr sz="1500" b="0" i="0">
                <a:solidFill>
                  <a:srgbClr val="1C1B19"/>
                </a:solidFill>
                <a:latin typeface="Source Serif 4"/>
              </a:rPr>
              <a:t>Index cards for the exit card</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Each thing seems small (quick sort)</a:t>
            </a:r>
          </a:p>
          <a:p>
            <a:pPr algn="l">
              <a:spcAft>
                <a:spcPts val="630"/>
              </a:spcAft>
            </a:pPr>
            <a:r>
              <a:rPr sz="1300" b="1" i="0">
                <a:solidFill>
                  <a:srgbClr val="F47B20"/>
                </a:solidFill>
                <a:latin typeface="Inter Tight"/>
              </a:rPr>
              <a:t>8 min   </a:t>
            </a:r>
            <a:r>
              <a:rPr sz="1400" b="0" i="0">
                <a:solidFill>
                  <a:srgbClr val="1C1B19"/>
                </a:solidFill>
                <a:latin typeface="Source Serif 4"/>
              </a:rPr>
              <a:t>How control builds</a:t>
            </a:r>
          </a:p>
          <a:p>
            <a:pPr algn="l">
              <a:spcAft>
                <a:spcPts val="630"/>
              </a:spcAft>
            </a:pPr>
            <a:r>
              <a:rPr sz="1300" b="1" i="0">
                <a:solidFill>
                  <a:srgbClr val="F47B20"/>
                </a:solidFill>
                <a:latin typeface="Inter Tight"/>
              </a:rPr>
              <a:t>5 min   </a:t>
            </a:r>
            <a:r>
              <a:rPr sz="1400" b="0" i="0">
                <a:solidFill>
                  <a:srgbClr val="1C1B19"/>
                </a:solidFill>
                <a:latin typeface="Source Serif 4"/>
              </a:rPr>
              <a:t>Healthy, unhealthy, abusive</a:t>
            </a:r>
          </a:p>
          <a:p>
            <a:pPr algn="l">
              <a:spcAft>
                <a:spcPts val="630"/>
              </a:spcAft>
            </a:pPr>
            <a:r>
              <a:rPr sz="1300" b="1" i="0">
                <a:solidFill>
                  <a:srgbClr val="F47B20"/>
                </a:solidFill>
                <a:latin typeface="Inter Tight"/>
              </a:rPr>
              <a:t>5 min   </a:t>
            </a:r>
            <a:r>
              <a:rPr sz="1400" b="0" i="0">
                <a:solidFill>
                  <a:srgbClr val="1C1B19"/>
                </a:solidFill>
                <a:latin typeface="Source Serif 4"/>
              </a:rPr>
              <a:t>The research, and phones</a:t>
            </a:r>
          </a:p>
          <a:p>
            <a:pPr algn="l">
              <a:spcAft>
                <a:spcPts val="630"/>
              </a:spcAft>
            </a:pPr>
            <a:r>
              <a:rPr sz="1300" b="1" i="0">
                <a:solidFill>
                  <a:srgbClr val="F47B20"/>
                </a:solidFill>
                <a:latin typeface="Inter Tight"/>
              </a:rPr>
              <a:t>12 min   </a:t>
            </a:r>
            <a:r>
              <a:rPr sz="1400" b="0" i="0">
                <a:solidFill>
                  <a:srgbClr val="1C1B19"/>
                </a:solidFill>
                <a:latin typeface="Source Serif 4"/>
              </a:rPr>
              <a:t>Gray areas (move to a color)</a:t>
            </a:r>
          </a:p>
          <a:p>
            <a:pPr algn="l">
              <a:spcAft>
                <a:spcPts val="630"/>
              </a:spcAft>
            </a:pPr>
            <a:r>
              <a:rPr sz="1300" b="1" i="0">
                <a:solidFill>
                  <a:srgbClr val="F47B20"/>
                </a:solidFill>
                <a:latin typeface="Inter Tight"/>
              </a:rPr>
              <a:t>5 min   </a:t>
            </a:r>
            <a:r>
              <a:rPr sz="1400" b="0" i="0">
                <a:solidFill>
                  <a:srgbClr val="1C1B19"/>
                </a:solidFill>
                <a:latin typeface="Source Serif 4"/>
              </a:rPr>
              <a:t>Three questions that cut through it</a:t>
            </a:r>
          </a:p>
          <a:p>
            <a:pPr algn="l">
              <a:spcAft>
                <a:spcPts val="630"/>
              </a:spcAft>
            </a:pPr>
            <a:r>
              <a:rPr sz="1300" b="1" i="0">
                <a:solidFill>
                  <a:srgbClr val="F47B20"/>
                </a:solidFill>
                <a:latin typeface="Inter Tight"/>
              </a:rPr>
              <a:t>5 min   </a:t>
            </a:r>
            <a:r>
              <a:rPr sz="1400" b="0" i="0">
                <a:solidFill>
                  <a:srgbClr val="1C1B19"/>
                </a:solidFill>
                <a:latin typeface="Source Serif 4"/>
              </a:rPr>
              <a:t>Exit card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How control builds (6), gray areas with two cards (8), three questions (3), exit card (3). Share the take-home link so students get the rest.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Make the lesson fit students who aren't dating.</a:t>
            </a:r>
          </a:p>
          <a:p>
            <a:pPr algn="l">
              <a:spcAft>
                <a:spcPts val="585"/>
              </a:spcAft>
            </a:pPr>
            <a:r>
              <a:rPr sz="1300" b="0" i="0">
                <a:solidFill>
                  <a:srgbClr val="1C1B19"/>
                </a:solidFill>
                <a:latin typeface="Source Serif 4"/>
              </a:rPr>
              <a:t>Say early: most of you aren't dating, and that's common. These patterns show up in friendships, teams and families too. That keeps everyone in the room engaged.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Some students are living this now.</a:t>
            </a:r>
          </a:p>
          <a:p>
            <a:pPr algn="l">
              <a:spcAft>
                <a:spcPts val="585"/>
              </a:spcAft>
            </a:pPr>
            <a:r>
              <a:rPr sz="1300" b="0" i="0">
                <a:solidFill>
                  <a:srgbClr val="1C1B19"/>
                </a:solidFill>
                <a:latin typeface="Source Serif 4"/>
              </a:rPr>
              <a:t>Keep every example about the characters. Never ask anyone to describe their own relationship. The private self-check on the take-home page is where students can do that safely.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a student says they're afraid.</a:t>
            </a:r>
          </a:p>
          <a:p>
            <a:pPr algn="l">
              <a:spcAft>
                <a:spcPts val="585"/>
              </a:spcAft>
            </a:pPr>
            <a:r>
              <a:rPr sz="1300" b="0" i="0">
                <a:solidFill>
                  <a:srgbClr val="1C1B19"/>
                </a:solidFill>
                <a:latin typeface="Source Serif 4"/>
              </a:rPr>
              <a:t>Thank them, take it seriously, and walk them to a counselor that day. love is respect is free and confidential for young people: text LOVEIS to 22522.</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Handle the self-harm threat carefully.</a:t>
            </a:r>
          </a:p>
          <a:p>
            <a:pPr algn="l">
              <a:spcAft>
                <a:spcPts val="585"/>
              </a:spcAft>
            </a:pPr>
            <a:r>
              <a:rPr sz="1300" b="0" i="0">
                <a:solidFill>
                  <a:srgbClr val="1C1B19"/>
                </a:solidFill>
                <a:latin typeface="Source Serif 4"/>
              </a:rPr>
              <a:t>In the Jordan card, a partner threatens to hurt themselves. The answer: Jordan doesn't have to stay, tells a trusted adult, and points the partner to 988. Say it plainly and calmly.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Unhealthy can change. Abusive is different.</a:t>
            </a:r>
          </a:p>
          <a:p>
            <a:pPr algn="l">
              <a:spcAft>
                <a:spcPts val="585"/>
              </a:spcAft>
            </a:pPr>
            <a:r>
              <a:rPr sz="1300" b="0" i="0">
                <a:solidFill>
                  <a:srgbClr val="1C1B19"/>
                </a:solidFill>
                <a:latin typeface="Source Serif 4"/>
              </a:rPr>
              <a:t>Keep the line clear. Unhealthy patterns can sometimes improve when both people work on them. Abuse is one person using control or fear, and trying harder won't fix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Expect the location-sharing debate.</a:t>
            </a:r>
          </a:p>
          <a:p>
            <a:pPr algn="l">
              <a:spcAft>
                <a:spcPts val="585"/>
              </a:spcAft>
            </a:pPr>
            <a:r>
              <a:rPr sz="1300" b="0" i="0">
                <a:solidFill>
                  <a:srgbClr val="1C1B19"/>
                </a:solidFill>
                <a:latin typeface="Source Serif 4"/>
              </a:rPr>
              <a:t>Many students share location with friends and family. The test is whether they could turn it off without being punished, and whether it gets used to question them.</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LGBTQ+ relationships.</a:t>
            </a:r>
          </a:p>
          <a:p>
            <a:pPr algn="l">
              <a:spcAft>
                <a:spcPts val="585"/>
              </a:spcAft>
            </a:pPr>
            <a:r>
              <a:rPr sz="1300" b="0" i="0">
                <a:solidFill>
                  <a:srgbClr val="1C1B19"/>
                </a:solidFill>
                <a:latin typeface="Source Serif 4"/>
              </a:rPr>
              <a:t>Use same-gender couples in examples alongside others. Threatening to out someone is a form of control. LGBTQ+ teens deserve the same help, and may have fewer adults they feel safe telling.</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Every gender.</a:t>
            </a:r>
          </a:p>
          <a:p>
            <a:pPr algn="l">
              <a:spcAft>
                <a:spcPts val="585"/>
              </a:spcAft>
            </a:pPr>
            <a:r>
              <a:rPr sz="1300" b="0" i="0">
                <a:solidFill>
                  <a:srgbClr val="1C1B19"/>
                </a:solidFill>
                <a:latin typeface="Source Serif 4"/>
              </a:rPr>
              <a:t>Boys can be on the receiving end of control and abuse and are often less likely to say so. Include "this only happens to girls" in the myths and answer it directly.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Family norms on location and phones.</a:t>
            </a:r>
          </a:p>
          <a:p>
            <a:pPr algn="l">
              <a:spcAft>
                <a:spcPts val="585"/>
              </a:spcAft>
            </a:pPr>
            <a:r>
              <a:rPr sz="1300" b="0" i="0">
                <a:solidFill>
                  <a:srgbClr val="1C1B19"/>
                </a:solidFill>
                <a:latin typeface="Source Serif 4"/>
              </a:rPr>
              <a:t>In some families location sharing is simply expected, and parents check phones. Don't make that sound like abuse. The question is fear and punishment, not the app.</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Private relationships.</a:t>
            </a:r>
          </a:p>
          <a:p>
            <a:pPr algn="l">
              <a:spcAft>
                <a:spcPts val="585"/>
              </a:spcAft>
            </a:pPr>
            <a:r>
              <a:rPr sz="1300" b="0" i="0">
                <a:solidFill>
                  <a:srgbClr val="1C1B19"/>
                </a:solidFill>
                <a:latin typeface="Source Serif 4"/>
              </a:rPr>
              <a:t>Some students keep relationships hidden from family because of faith, culture or safety. Make clear that a counselor or a hotline can help without involving family first.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Family structure.</a:t>
            </a:r>
          </a:p>
          <a:p>
            <a:pPr algn="l">
              <a:spcAft>
                <a:spcPts val="585"/>
              </a:spcAft>
            </a:pPr>
            <a:r>
              <a:rPr sz="1300" b="0" i="0">
                <a:solidFill>
                  <a:srgbClr val="1C1B19"/>
                </a:solidFill>
                <a:latin typeface="Source Serif 4"/>
              </a:rPr>
              <a:t>"Tell a trusted adult" might mean a grandparent, aunt, coach or older cousin. Let students choose.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Disability.</a:t>
            </a:r>
          </a:p>
          <a:p>
            <a:pPr algn="l">
              <a:spcAft>
                <a:spcPts val="585"/>
              </a:spcAft>
            </a:pPr>
            <a:r>
              <a:rPr sz="1300" b="0" i="0">
                <a:solidFill>
                  <a:srgbClr val="1C1B19"/>
                </a:solidFill>
                <a:latin typeface="Source Serif 4"/>
              </a:rPr>
              <a:t>Students with disabilities can face control through help they rely on, like rides or devices. Mention that controlling someone's access to what they need is control too.</a:t>
            </a:r>
          </a:p>
          <a:p>
            <a:pPr algn="l">
              <a:spcAft>
                <a:spcPts val="585"/>
              </a:spcAft>
            </a:pPr>
            <a:r>
              <a:rPr sz="1300" b="0" i="0">
                <a:solidFill>
                  <a:srgbClr val="1C1B19"/>
                </a:solidFill>
                <a:latin typeface="Source Serif 4"/>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About 1 in 12 high school students who dated in the past year experienced physical dating violence, and about 1 in 10 experienced sexual dating violence.</a:t>
            </a:r>
          </a:p>
          <a:p>
            <a:pPr algn="l">
              <a:spcAft>
                <a:spcPts val="585"/>
              </a:spcAft>
            </a:pPr>
            <a:r>
              <a:rPr sz="1050" b="0" i="0">
                <a:solidFill>
                  <a:srgbClr val="5D5A54"/>
                </a:solidFill>
                <a:latin typeface="Inter Tight"/>
              </a:rPr>
              <a:t>CDC, Youth Risk Behavior Survey, 2021</a:t>
            </a:r>
          </a:p>
          <a:p>
            <a:pPr algn="l">
              <a:spcAft>
                <a:spcPts val="585"/>
              </a:spcAft>
            </a:pPr>
            <a:r>
              <a:rPr sz="1300" b="0" i="0">
                <a:solidFill>
                  <a:srgbClr val="1C1B19"/>
                </a:solidFill>
                <a:latin typeface="Source Serif 4"/>
              </a:rPr>
              <a:t>Among teens with dating experience, 31% said a partner checked up on them several times a day, 21% had a partner read their texts without permission, and 13% had a partner demand their passwords.</a:t>
            </a:r>
          </a:p>
          <a:p>
            <a:pPr algn="l">
              <a:spcAft>
                <a:spcPts val="585"/>
              </a:spcAft>
            </a:pPr>
            <a:r>
              <a:rPr sz="1050" b="0" i="0">
                <a:solidFill>
                  <a:srgbClr val="5D5A54"/>
                </a:solidFill>
                <a:latin typeface="Inter Tight"/>
              </a:rPr>
              <a:t>Lenhart, Smith and Anderson, Pew Research Center, 2015</a:t>
            </a:r>
          </a:p>
          <a:p>
            <a:pPr algn="l">
              <a:spcAft>
                <a:spcPts val="585"/>
              </a:spcAft>
            </a:pPr>
            <a:r>
              <a:rPr sz="1300" b="0" i="0">
                <a:solidFill>
                  <a:srgbClr val="1C1B19"/>
                </a:solidFill>
                <a:latin typeface="Source Serif 4"/>
              </a:rPr>
              <a:t>About 1 in 4 of 3,745 teens in relationships had experienced cyber dating abuse in the past year.</a:t>
            </a:r>
          </a:p>
          <a:p>
            <a:pPr algn="l">
              <a:spcAft>
                <a:spcPts val="585"/>
              </a:spcAft>
            </a:pPr>
            <a:r>
              <a:rPr sz="1050" b="0" i="0">
                <a:solidFill>
                  <a:srgbClr val="5D5A54"/>
                </a:solidFill>
                <a:latin typeface="Inter Tight"/>
              </a:rPr>
              <a:t>Zweig et al., Journal of Youth and Adolescence, 2013</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5,681 teens tracked for about five years: those who experienced dating violence were more likely as young adults to have suicidal thoughts and to end up in violent relationships again.</a:t>
            </a:r>
          </a:p>
          <a:p>
            <a:pPr algn="l">
              <a:spcAft>
                <a:spcPts val="585"/>
              </a:spcAft>
            </a:pPr>
            <a:r>
              <a:rPr sz="1050" b="0" i="0">
                <a:solidFill>
                  <a:srgbClr val="5D5A54"/>
                </a:solidFill>
                <a:latin typeface="Inter Tight"/>
              </a:rPr>
              <a:t>Exner-Cortens, Eckenrode and Rothman, Pediatrics, 2013</a:t>
            </a:r>
          </a:p>
          <a:p>
            <a:pPr algn="l">
              <a:spcAft>
                <a:spcPts val="585"/>
              </a:spcAft>
            </a:pPr>
            <a:r>
              <a:rPr sz="1300" b="0" i="0">
                <a:solidFill>
                  <a:srgbClr val="1C1B19"/>
                </a:solidFill>
                <a:latin typeface="Source Serif 4"/>
              </a:rPr>
              <a:t>In Massachusetts, people can seek an abuse prevention order against a dating partner, not only a spouse or family member.</a:t>
            </a:r>
          </a:p>
          <a:p>
            <a:pPr algn="l">
              <a:spcAft>
                <a:spcPts val="585"/>
              </a:spcAft>
            </a:pPr>
            <a:r>
              <a:rPr sz="1050" b="0" i="0">
                <a:solidFill>
                  <a:srgbClr val="5D5A54"/>
                </a:solidFill>
                <a:latin typeface="Inter Tight"/>
              </a:rPr>
              <a:t>Massachusetts General Laws c. 209A § 1</a:t>
            </a:r>
          </a:p>
          <a:p>
            <a:pPr algn="l">
              <a:spcAft>
                <a:spcPts val="585"/>
              </a:spcAft>
            </a:pPr>
            <a:r>
              <a:rPr sz="1300" b="0" i="0">
                <a:solidFill>
                  <a:srgbClr val="1C1B19"/>
                </a:solidFill>
                <a:latin typeface="Source Serif 4"/>
              </a:rPr>
              <a:t>Since 2024, Massachusetts law counts coercive control (a pattern of threatening, isolating or controlling someone) as abuse when a person seeks a protective order.</a:t>
            </a:r>
          </a:p>
          <a:p>
            <a:pPr algn="l">
              <a:spcAft>
                <a:spcPts val="585"/>
              </a:spcAft>
            </a:pPr>
            <a:r>
              <a:rPr sz="1050" b="0" i="0">
                <a:solidFill>
                  <a:srgbClr val="5D5A54"/>
                </a:solidFill>
                <a:latin typeface="Inter Tight"/>
              </a:rPr>
              <a:t>Massachusetts General Laws c. 209A § 1, as amended by St. 2024, c. 118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