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page is hidden and skipped when you present. The full plan, care notes and research are on the hidden pages at the end of the deck, if you want them.</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plainly. Something like: "This is your year for licenses, later nights and bigger choices. Today is about where your brain actually is right now, and what you want steering when it counts. Nobody will be asked what they've done."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 MINUTES. Hands up for each. Most will say 25; they've heard it. Then: "Brains keep changing your whole life, so 5 is closest. But one part finishes a lot earlier than you've been told, and that's good news for you."</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 MINUTES. Like that poster of the galaxy with the tiny "you are here" arrow. Two lanes. Thinking it through (planning, reasoning, weighing pros and cons) is paved by about 16. A big study of more than 5,000 people in 11 countries found the same thing everywhere. Brakes under pressure (holding back when you're excited, angry, or being watched) is still under construction into your 20s. Point at the pin: "You're right here. Great thinking, brakes still being built. That's normal, not a flaw." Point at the hard hat: "Sorry for the delay."</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 MINUTES. Tell a short, true story of your own: a plan you made calmly that fell apart in the moment with friends around. Keep it light and a little embarrassing, not dangerous or graphic. End on what you wish you'd decided ahead of time. Students remember a real story from the person in front of them far longer than a statistic.</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 MINUTES. Read the two bubbles out loud; let them laugh. Say: "Same brain. On Tuesday, the thinking lane is driving. On Saturday, with friends watching and the clock ticking, the brakes get tested." Ask for hands: "Who's ever made a Tuesday plan that didn't survive Saturday?" Hands only, no stories.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 MINUTES. The study: teens, college students and adults played a driving game, alone or with two friends watching. Only the teens changed, and brain scans later showed their reward system lighting up when friends watched. Ask first: "Why do you think the passenger rule exists?" Then: "It isn't about you being reckless. Friends in the car turn up every 16-year-old's reward system."</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 MINUTES. Turn to the person next to you and pick one. Two questions: what would make it hard to say something, and what could you actually say or do? Give them three minutes, then take two or three answers from the room. Listen for real-sounding lines ("I'll text my mom, she'll come"), and say them back. No one has to share their own story.</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 MINUTES. In one study, teens gave more to a group when peers were watching (van Hoorn et al., 2016). Say: "Your friends aren't the problem. The volume on the reward system is turned up at your age. You get to choose what it rewards."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 MINUTES. Read the hands out loud. Ask: "What else grabs the wheel?" Take a few call-outs. Then: "All of those are real, and none of them is you. So what do you want steering instead?"</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 MINUTES. The hottest moment there is: Olympic final, teammates counting on her, millions watching. She had the "twisties," losing track of herself in the air, which is dangerous. She steered by what she valued (her safety, her health, her team getting the best lineup) even though people criticized her. Ask: "What made that so hard? What did she have to know about herself first?"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 MINUTES. Bryan, Yeager and colleagues, 2016 and 2019. Say it with a smile: "So we're not going to give you rules. We're going to ask what you care about."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 MINUTES. Hand out the values cards. The 24 values: Family, Loyalty, Honesty, Faith, Health, Freedom, Being trusted, Fun, Respect, Kindness, Fairness, Courage, Achievement, Adventure, Friendship, Community, Culture and heritage, Independence, Humor, Creativity, Calm, Making my family proud, Standing up for others, Being myself. Two quiet minutes. Say that family, faith and community are values at the wheel, not someone else driving.</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6 MINUTES. With your partner, pick one. Each of you: what would your star value do here, and what's the exact line you'd say? Three minutes, then hear a few lines. Celebrate the funny, realistic ones ("Can't, my mom tracks my phone like the FBI"). Point out that blaming a parent, a game tomorrow, or a curfew are all real moves.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 MINUTES. If-then plans work because the hot moment only has to remember one line (Gollwitzer &amp; Sheeran, 2006). A code word works best when the adult on the other end has agreed to it ahead of time: tonight is a good night to set one up.</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 MINUTES. Suggest a wallet, phone case or car visor. Say: "You made that plan in a cold moment. That's the version of you who should be driving."</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MINUTE. Share the student page link. Close with: "Thinking: paved. Brakes: under construction. Decide in the calm moments, and let that drive." Advisors: the follow-up lessons use the values card, so ask students to keep it.</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you want more: this page and the next three are hidden and skipped when you present.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show="0">
  <p:cSld>
    <p:bg>
      <p:bgPr>
        <a:solidFill>
          <a:srgbClr val="EEEBE4"/>
        </a:solidFill>
        <a:effectLst/>
      </p:bgPr>
    </p:bg>
    <p:spTree>
      <p:nvGrpSpPr>
        <p:cNvPr id="1" name=""/>
        <p:cNvGrpSpPr/>
        <p:nvPr/>
      </p:nvGrpSpPr>
      <p:grpSpPr/>
      <p:sp>
        <p:nvSpPr>
          <p:cNvPr id="2" name="Rectangle 1"/>
          <p:cNvSpPr/>
          <p:nvPr/>
        </p:nvSpPr>
        <p:spPr>
          <a:xfrm>
            <a:off x="0" y="0"/>
            <a:ext cx="12191695" cy="384048"/>
          </a:xfrm>
          <a:prstGeom prst="rect">
            <a:avLst/>
          </a:prstGeom>
          <a:solidFill>
            <a:srgbClr val="0B2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0584"/>
            <a:ext cx="10972800" cy="274320"/>
          </a:xfrm>
          <a:prstGeom prst="rect">
            <a:avLst/>
          </a:prstGeom>
          <a:noFill/>
        </p:spPr>
        <p:txBody>
          <a:bodyPr wrap="square" anchor="t" lIns="0" rIns="0" tIns="0" bIns="0">
            <a:spAutoFit/>
          </a:bodyPr>
          <a:lstStyle/>
          <a:p>
            <a:pPr algn="l">
              <a:spcAft>
                <a:spcPts val="495"/>
              </a:spcAft>
            </a:pPr>
            <a:r>
              <a:rPr sz="1100" b="1" i="0">
                <a:solidFill>
                  <a:srgbClr val="FFFFFF"/>
                </a:solidFill>
                <a:latin typeface="Inter Tight"/>
              </a:rPr>
              <a:t>TEACHER PAGE  ·  skipped when you present  ·  Before you start</a:t>
            </a:r>
          </a:p>
        </p:txBody>
      </p:sp>
      <p:sp>
        <p:nvSpPr>
          <p:cNvPr id="4" name="TextBox 3"/>
          <p:cNvSpPr txBox="1"/>
          <p:nvPr/>
        </p:nvSpPr>
        <p:spPr>
          <a:xfrm>
            <a:off x="548640" y="685800"/>
            <a:ext cx="10972800" cy="731520"/>
          </a:xfrm>
          <a:prstGeom prst="rect">
            <a:avLst/>
          </a:prstGeom>
          <a:noFill/>
        </p:spPr>
        <p:txBody>
          <a:bodyPr wrap="square" anchor="t" lIns="0" rIns="0" tIns="0" bIns="0">
            <a:spAutoFit/>
          </a:bodyPr>
          <a:lstStyle/>
          <a:p>
            <a:pPr algn="l">
              <a:spcAft>
                <a:spcPts val="1530"/>
              </a:spcAft>
            </a:pPr>
            <a:r>
              <a:rPr sz="3400" b="1" i="0">
                <a:solidFill>
                  <a:srgbClr val="1C1B19"/>
                </a:solidFill>
                <a:latin typeface="Source Serif 4"/>
              </a:rPr>
              <a:t>Who's Driving?</a:t>
            </a:r>
          </a:p>
        </p:txBody>
      </p:sp>
      <p:sp>
        <p:nvSpPr>
          <p:cNvPr id="5" name="TextBox 4"/>
          <p:cNvSpPr txBox="1"/>
          <p:nvPr/>
        </p:nvSpPr>
        <p:spPr>
          <a:xfrm>
            <a:off x="548640" y="1325880"/>
            <a:ext cx="10972800" cy="365760"/>
          </a:xfrm>
          <a:prstGeom prst="rect">
            <a:avLst/>
          </a:prstGeom>
          <a:noFill/>
        </p:spPr>
        <p:txBody>
          <a:bodyPr wrap="square" anchor="t" lIns="0" rIns="0" tIns="0" bIns="0">
            <a:spAutoFit/>
          </a:bodyPr>
          <a:lstStyle/>
          <a:p>
            <a:pPr algn="l">
              <a:spcAft>
                <a:spcPts val="630"/>
              </a:spcAft>
            </a:pPr>
            <a:r>
              <a:rPr sz="1400" b="0" i="0">
                <a:solidFill>
                  <a:srgbClr val="5D5A54"/>
                </a:solidFill>
                <a:latin typeface="Inter Tight"/>
              </a:rPr>
              <a:t>Upper School  ·  45 minutes, built for a 10th-grade meeting (20-minute advisory version below)  ·  10th grade, first weeks of school</a:t>
            </a:r>
          </a:p>
        </p:txBody>
      </p:sp>
      <p:sp>
        <p:nvSpPr>
          <p:cNvPr id="6" name="TextBox 5"/>
          <p:cNvSpPr txBox="1"/>
          <p:nvPr/>
        </p:nvSpPr>
        <p:spPr>
          <a:xfrm>
            <a:off x="548640" y="2011680"/>
            <a:ext cx="11064240" cy="4206240"/>
          </a:xfrm>
          <a:prstGeom prst="rect">
            <a:avLst/>
          </a:prstGeom>
          <a:noFill/>
        </p:spPr>
        <p:txBody>
          <a:bodyPr wrap="square" anchor="t" lIns="0" rIns="0" tIns="0" bIns="0">
            <a:spAutoFit/>
          </a:bodyPr>
          <a:lstStyle/>
          <a:p>
            <a:pPr algn="l">
              <a:spcAft>
                <a:spcPts val="810"/>
              </a:spcAft>
            </a:pPr>
            <a:r>
              <a:rPr sz="1200" b="1" i="0">
                <a:solidFill>
                  <a:srgbClr val="0B2D5B"/>
                </a:solidFill>
                <a:latin typeface="Inter Tight"/>
              </a:rPr>
              <a:t>BEFORE YOU START</a:t>
            </a:r>
          </a:p>
          <a:p>
            <a:pPr algn="l">
              <a:spcAft>
                <a:spcPts val="810"/>
              </a:spcAft>
            </a:pPr>
            <a:r>
              <a:rPr sz="1800" b="0" i="0">
                <a:solidFill>
                  <a:srgbClr val="1C1B19"/>
                </a:solidFill>
                <a:latin typeface="Source Serif 4"/>
              </a:rPr>
              <a:t>Students see where a 16-year-old brain is (adult-level reasoning when calm, brakes still building under pressure) and pick the values they want steering. Print a values card per student, and keep the driving talk general: not everyone drives or has a car, and nobody shares what they've done.</a:t>
            </a:r>
          </a:p>
          <a:p>
            <a:pPr algn="l">
              <a:spcAft>
                <a:spcPts val="810"/>
              </a:spcAft>
            </a:pPr>
            <a:r>
              <a:rPr sz="1800" b="0" i="0">
                <a:solidFill>
                  <a:srgbClr val="1C1B19"/>
                </a:solidFill>
                <a:latin typeface="Source Serif 4"/>
              </a:rPr>
              <a:t/>
            </a:r>
          </a:p>
          <a:p>
            <a:pPr algn="l">
              <a:spcAft>
                <a:spcPts val="810"/>
              </a:spcAft>
            </a:pPr>
            <a:r>
              <a:rPr sz="1200" b="1" i="0">
                <a:solidFill>
                  <a:srgbClr val="0B2D5B"/>
                </a:solidFill>
                <a:latin typeface="Inter Tight"/>
              </a:rPr>
              <a:t>EVERY STUDENT IN THE ROOM</a:t>
            </a:r>
          </a:p>
          <a:p>
            <a:pPr algn="l">
              <a:spcAft>
                <a:spcPts val="810"/>
              </a:spcAft>
            </a:pPr>
            <a:r>
              <a:rPr sz="1800" b="0" i="0">
                <a:solidFill>
                  <a:srgbClr val="1C1B19"/>
                </a:solidFill>
                <a:latin typeface="Source Serif 4"/>
              </a:rPr>
              <a:t>Family, faith, loyalty and community count as values at the wheel just as much as independence; say so when students pick five.</a:t>
            </a:r>
          </a:p>
          <a:p>
            <a:pPr algn="l">
              <a:spcAft>
                <a:spcPts val="810"/>
              </a:spcAft>
            </a:pPr>
            <a:r>
              <a:rPr sz="1800" b="0" i="0">
                <a:solidFill>
                  <a:srgbClr val="1C1B19"/>
                </a:solidFill>
                <a:latin typeface="Source Serif 4"/>
              </a:rPr>
              <a:t/>
            </a:r>
          </a:p>
          <a:p>
            <a:pPr algn="l">
              <a:spcAft>
                <a:spcPts val="810"/>
              </a:spcAft>
            </a:pPr>
            <a:r>
              <a:rPr sz="1200" b="1" i="0">
                <a:solidFill>
                  <a:srgbClr val="0B2D5B"/>
                </a:solidFill>
                <a:latin typeface="Inter Tight"/>
              </a:rPr>
              <a:t>SHORT ON TIME (20-MINUTE ADVISORY)</a:t>
            </a:r>
          </a:p>
          <a:p>
            <a:pPr algn="l">
              <a:spcAft>
                <a:spcPts val="810"/>
              </a:spcAft>
            </a:pPr>
            <a:r>
              <a:rPr sz="1800" b="0" i="0">
                <a:solidFill>
                  <a:srgbClr val="1C1B19"/>
                </a:solidFill>
                <a:latin typeface="Source Serif 4"/>
              </a:rPr>
              <a:t>Quick vote (2), the road-work and two-speeds cartoons (5), one turn-and-talk (5), pick five (4), one if-then plan (4). Share the student page for the rest.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B2D5B"/>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WHO'S DRIVING?</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TextBox 4"/>
          <p:cNvSpPr txBox="1"/>
          <p:nvPr/>
        </p:nvSpPr>
        <p:spPr>
          <a:xfrm>
            <a:off x="822960" y="2011680"/>
            <a:ext cx="10515600" cy="1463040"/>
          </a:xfrm>
          <a:prstGeom prst="rect">
            <a:avLst/>
          </a:prstGeom>
          <a:noFill/>
        </p:spPr>
        <p:txBody>
          <a:bodyPr wrap="square" anchor="b" lIns="0" rIns="0" tIns="0" bIns="0">
            <a:spAutoFit/>
          </a:bodyPr>
          <a:lstStyle/>
          <a:p>
            <a:pPr algn="l">
              <a:spcAft>
                <a:spcPts val="2700"/>
              </a:spcAft>
            </a:pPr>
            <a:r>
              <a:rPr sz="6000" b="1" i="0">
                <a:solidFill>
                  <a:srgbClr val="FFFFFF"/>
                </a:solidFill>
                <a:latin typeface="Source Serif 4"/>
              </a:rPr>
              <a:t>Who's Driving?</a:t>
            </a:r>
          </a:p>
        </p:txBody>
      </p:sp>
      <p:sp>
        <p:nvSpPr>
          <p:cNvPr id="6" name="TextBox 5"/>
          <p:cNvSpPr txBox="1"/>
          <p:nvPr/>
        </p:nvSpPr>
        <p:spPr>
          <a:xfrm>
            <a:off x="822960" y="3611880"/>
            <a:ext cx="10515600" cy="914400"/>
          </a:xfrm>
          <a:prstGeom prst="rect">
            <a:avLst/>
          </a:prstGeom>
          <a:noFill/>
        </p:spPr>
        <p:txBody>
          <a:bodyPr wrap="square" anchor="t" lIns="0" rIns="0" tIns="0" bIns="0">
            <a:spAutoFit/>
          </a:bodyPr>
          <a:lstStyle/>
          <a:p>
            <a:pPr algn="l">
              <a:spcAft>
                <a:spcPts val="1080"/>
              </a:spcAft>
            </a:pPr>
            <a:r>
              <a:rPr sz="2400" b="0" i="1">
                <a:solidFill>
                  <a:srgbClr val="E8E4DA"/>
                </a:solidFill>
                <a:latin typeface="Source Serif 4"/>
              </a:rPr>
              <a:t>Your brain at 16, your values, and who's really at the wheel.</a:t>
            </a:r>
          </a:p>
        </p:txBody>
      </p:sp>
      <p:sp>
        <p:nvSpPr>
          <p:cNvPr id="7" name="TextBox 6"/>
          <p:cNvSpPr txBox="1"/>
          <p:nvPr/>
        </p:nvSpPr>
        <p:spPr>
          <a:xfrm>
            <a:off x="822960" y="6035040"/>
            <a:ext cx="7315200" cy="365760"/>
          </a:xfrm>
          <a:prstGeom prst="rect">
            <a:avLst/>
          </a:prstGeom>
          <a:noFill/>
        </p:spPr>
        <p:txBody>
          <a:bodyPr wrap="square" anchor="t" lIns="0" rIns="0" tIns="0" bIns="0">
            <a:spAutoFit/>
          </a:bodyPr>
          <a:lstStyle/>
          <a:p>
            <a:pPr algn="l">
              <a:spcAft>
                <a:spcPts val="585"/>
              </a:spcAft>
            </a:pPr>
            <a:r>
              <a:rPr sz="1300" b="0" i="0">
                <a:solidFill>
                  <a:srgbClr val="E8E4DA"/>
                </a:solidFill>
                <a:latin typeface="Inter Tight"/>
              </a:rPr>
              <a:t>Beaver Upper School · Counseling</a:t>
            </a:r>
          </a:p>
        </p:txBody>
      </p:sp>
      <p:sp>
        <p:nvSpPr>
          <p:cNvPr id="8" name="TextBox 7"/>
          <p:cNvSpPr txBox="1"/>
          <p:nvPr/>
        </p:nvSpPr>
        <p:spPr>
          <a:xfrm>
            <a:off x="6766560" y="5897880"/>
            <a:ext cx="4846320" cy="640080"/>
          </a:xfrm>
          <a:prstGeom prst="rect">
            <a:avLst/>
          </a:prstGeom>
          <a:noFill/>
        </p:spPr>
        <p:txBody>
          <a:bodyPr wrap="square" anchor="t" lIns="0" rIns="0" tIns="0" bIns="0">
            <a:spAutoFit/>
          </a:bodyPr>
          <a:lstStyle/>
          <a:p>
            <a:pPr algn="r">
              <a:spcAft>
                <a:spcPts val="495"/>
              </a:spcAft>
            </a:pPr>
            <a:r>
              <a:rPr sz="1100" b="0" i="0">
                <a:solidFill>
                  <a:srgbClr val="E8E4DA"/>
                </a:solidFill>
                <a:latin typeface="Inter Tight"/>
              </a:rPr>
              <a:t>Written by Dr. Rick Wilson, with AI-assisted drafting. Every lesson is reviewed and edited by Dr. Wilson.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QUICK VOTE</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TextBox 4"/>
          <p:cNvSpPr txBox="1"/>
          <p:nvPr/>
        </p:nvSpPr>
        <p:spPr>
          <a:xfrm>
            <a:off x="822960" y="1005840"/>
            <a:ext cx="10515600" cy="1097280"/>
          </a:xfrm>
          <a:prstGeom prst="rect">
            <a:avLst/>
          </a:prstGeom>
          <a:noFill/>
        </p:spPr>
        <p:txBody>
          <a:bodyPr wrap="square" anchor="t" lIns="0" rIns="0" tIns="0" bIns="0">
            <a:spAutoFit/>
          </a:bodyPr>
          <a:lstStyle/>
          <a:p>
            <a:pPr algn="l">
              <a:spcAft>
                <a:spcPts val="1620"/>
              </a:spcAft>
            </a:pPr>
            <a:r>
              <a:rPr sz="3600" b="1" i="0">
                <a:solidFill>
                  <a:srgbClr val="1C1B19"/>
                </a:solidFill>
                <a:latin typeface="Source Serif 4"/>
              </a:rPr>
              <a:t>At what age is your brain done?</a:t>
            </a:r>
          </a:p>
        </p:txBody>
      </p:sp>
      <p:sp>
        <p:nvSpPr>
          <p:cNvPr id="6" name="TextBox 5"/>
          <p:cNvSpPr txBox="1"/>
          <p:nvPr/>
        </p:nvSpPr>
        <p:spPr>
          <a:xfrm>
            <a:off x="822960" y="2057400"/>
            <a:ext cx="548640" cy="804672"/>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1</a:t>
            </a:r>
          </a:p>
        </p:txBody>
      </p:sp>
      <p:sp>
        <p:nvSpPr>
          <p:cNvPr id="7" name="TextBox 6"/>
          <p:cNvSpPr txBox="1"/>
          <p:nvPr/>
        </p:nvSpPr>
        <p:spPr>
          <a:xfrm>
            <a:off x="1463040" y="2093976"/>
            <a:ext cx="9875520" cy="804672"/>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16</a:t>
            </a:r>
          </a:p>
        </p:txBody>
      </p:sp>
      <p:sp>
        <p:nvSpPr>
          <p:cNvPr id="8" name="TextBox 7"/>
          <p:cNvSpPr txBox="1"/>
          <p:nvPr/>
        </p:nvSpPr>
        <p:spPr>
          <a:xfrm>
            <a:off x="822960" y="2862072"/>
            <a:ext cx="548640" cy="804672"/>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2</a:t>
            </a:r>
          </a:p>
        </p:txBody>
      </p:sp>
      <p:sp>
        <p:nvSpPr>
          <p:cNvPr id="9" name="TextBox 8"/>
          <p:cNvSpPr txBox="1"/>
          <p:nvPr/>
        </p:nvSpPr>
        <p:spPr>
          <a:xfrm>
            <a:off x="1463040" y="2898648"/>
            <a:ext cx="9875520" cy="804672"/>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18</a:t>
            </a:r>
          </a:p>
        </p:txBody>
      </p:sp>
      <p:sp>
        <p:nvSpPr>
          <p:cNvPr id="10" name="TextBox 9"/>
          <p:cNvSpPr txBox="1"/>
          <p:nvPr/>
        </p:nvSpPr>
        <p:spPr>
          <a:xfrm>
            <a:off x="822960" y="3666744"/>
            <a:ext cx="548640" cy="804672"/>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3</a:t>
            </a:r>
          </a:p>
        </p:txBody>
      </p:sp>
      <p:sp>
        <p:nvSpPr>
          <p:cNvPr id="11" name="TextBox 10"/>
          <p:cNvSpPr txBox="1"/>
          <p:nvPr/>
        </p:nvSpPr>
        <p:spPr>
          <a:xfrm>
            <a:off x="1463040" y="3703320"/>
            <a:ext cx="9875520" cy="804672"/>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21</a:t>
            </a:r>
          </a:p>
        </p:txBody>
      </p:sp>
      <p:sp>
        <p:nvSpPr>
          <p:cNvPr id="12" name="TextBox 11"/>
          <p:cNvSpPr txBox="1"/>
          <p:nvPr/>
        </p:nvSpPr>
        <p:spPr>
          <a:xfrm>
            <a:off x="822960" y="4471416"/>
            <a:ext cx="548640" cy="804672"/>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4</a:t>
            </a:r>
          </a:p>
        </p:txBody>
      </p:sp>
      <p:sp>
        <p:nvSpPr>
          <p:cNvPr id="13" name="TextBox 12"/>
          <p:cNvSpPr txBox="1"/>
          <p:nvPr/>
        </p:nvSpPr>
        <p:spPr>
          <a:xfrm>
            <a:off x="1463040" y="4507992"/>
            <a:ext cx="9875520" cy="804672"/>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25</a:t>
            </a:r>
          </a:p>
        </p:txBody>
      </p:sp>
      <p:sp>
        <p:nvSpPr>
          <p:cNvPr id="14" name="TextBox 13"/>
          <p:cNvSpPr txBox="1"/>
          <p:nvPr/>
        </p:nvSpPr>
        <p:spPr>
          <a:xfrm>
            <a:off x="822960" y="5276088"/>
            <a:ext cx="548640" cy="804672"/>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5</a:t>
            </a:r>
          </a:p>
        </p:txBody>
      </p:sp>
      <p:sp>
        <p:nvSpPr>
          <p:cNvPr id="15" name="TextBox 14"/>
          <p:cNvSpPr txBox="1"/>
          <p:nvPr/>
        </p:nvSpPr>
        <p:spPr>
          <a:xfrm>
            <a:off x="1463040" y="5312664"/>
            <a:ext cx="9875520" cy="804672"/>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It's never done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YOU ARE HERE</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pic>
        <p:nvPicPr>
          <p:cNvPr id="5" name="Picture 4" descr="whos-driving-toon-1.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A TRUE STORY</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Rectangle 4"/>
          <p:cNvSpPr/>
          <p:nvPr/>
        </p:nvSpPr>
        <p:spPr>
          <a:xfrm>
            <a:off x="822960" y="1371600"/>
            <a:ext cx="73152" cy="3566160"/>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88720" y="1371600"/>
            <a:ext cx="10058400" cy="3566160"/>
          </a:xfrm>
          <a:prstGeom prst="rect">
            <a:avLst/>
          </a:prstGeom>
          <a:noFill/>
        </p:spPr>
        <p:txBody>
          <a:bodyPr wrap="square" anchor="ctr" lIns="0" rIns="0" tIns="0" bIns="0">
            <a:spAutoFit/>
          </a:bodyPr>
          <a:lstStyle/>
          <a:p>
            <a:pPr algn="l">
              <a:spcAft>
                <a:spcPts val="1800"/>
              </a:spcAft>
            </a:pPr>
            <a:r>
              <a:rPr sz="4000" b="0" i="1">
                <a:solidFill>
                  <a:srgbClr val="1C1B19"/>
                </a:solidFill>
                <a:latin typeface="Source Serif 4"/>
              </a:rPr>
              <a:t>A Tuesday promise and a Saturday night</a:t>
            </a:r>
          </a:p>
        </p:txBody>
      </p:sp>
      <p:sp>
        <p:nvSpPr>
          <p:cNvPr id="7" name="TextBox 6"/>
          <p:cNvSpPr txBox="1"/>
          <p:nvPr/>
        </p:nvSpPr>
        <p:spPr>
          <a:xfrm>
            <a:off x="1188720" y="5120640"/>
            <a:ext cx="10058400" cy="914400"/>
          </a:xfrm>
          <a:prstGeom prst="rect">
            <a:avLst/>
          </a:prstGeom>
          <a:noFill/>
        </p:spPr>
        <p:txBody>
          <a:bodyPr wrap="square" anchor="t" lIns="0" rIns="0" tIns="0" bIns="0">
            <a:spAutoFit/>
          </a:bodyPr>
          <a:lstStyle/>
          <a:p>
            <a:pPr algn="l">
              <a:spcAft>
                <a:spcPts val="810"/>
              </a:spcAft>
            </a:pPr>
            <a:r>
              <a:rPr sz="1800" b="0" i="0">
                <a:solidFill>
                  <a:srgbClr val="5D5A54"/>
                </a:solidFill>
                <a:latin typeface="Inter Tight"/>
              </a:rPr>
              <a:t>Your presenter's story, from when they were about your age.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SAME BRAIN, TWO SPEEDS</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pic>
        <p:nvPicPr>
          <p:cNvPr id="5" name="Picture 4" descr="whos-driving-toon-2.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THE DRIVING GAME</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TextBox 4"/>
          <p:cNvSpPr txBox="1"/>
          <p:nvPr/>
        </p:nvSpPr>
        <p:spPr>
          <a:xfrm>
            <a:off x="822960" y="1463040"/>
            <a:ext cx="10515600" cy="3291840"/>
          </a:xfrm>
          <a:prstGeom prst="rect">
            <a:avLst/>
          </a:prstGeom>
          <a:noFill/>
        </p:spPr>
        <p:txBody>
          <a:bodyPr wrap="square" anchor="ctr" lIns="0" rIns="0" tIns="0" bIns="0">
            <a:spAutoFit/>
          </a:bodyPr>
          <a:lstStyle/>
          <a:p>
            <a:pPr algn="l">
              <a:spcAft>
                <a:spcPts val="2070"/>
              </a:spcAft>
            </a:pPr>
            <a:r>
              <a:rPr sz="4600" b="1" i="0">
                <a:solidFill>
                  <a:srgbClr val="1C1B19"/>
                </a:solidFill>
                <a:latin typeface="Source Serif 4"/>
              </a:rPr>
              <a:t>With friends watching, teens took more risks. Adults didn't.</a:t>
            </a:r>
          </a:p>
        </p:txBody>
      </p:sp>
      <p:sp>
        <p:nvSpPr>
          <p:cNvPr id="6" name="TextBox 5"/>
          <p:cNvSpPr txBox="1"/>
          <p:nvPr/>
        </p:nvSpPr>
        <p:spPr>
          <a:xfrm>
            <a:off x="822960" y="4846320"/>
            <a:ext cx="10515600" cy="1097280"/>
          </a:xfrm>
          <a:prstGeom prst="rect">
            <a:avLst/>
          </a:prstGeom>
          <a:noFill/>
        </p:spPr>
        <p:txBody>
          <a:bodyPr wrap="square" anchor="t" lIns="0" rIns="0" tIns="0" bIns="0">
            <a:spAutoFit/>
          </a:bodyPr>
          <a:lstStyle/>
          <a:p>
            <a:pPr algn="l">
              <a:spcAft>
                <a:spcPts val="990"/>
              </a:spcAft>
            </a:pPr>
            <a:r>
              <a:rPr sz="2200" b="0" i="1">
                <a:solidFill>
                  <a:srgbClr val="5D5A54"/>
                </a:solidFill>
                <a:latin typeface="Source Serif 4"/>
              </a:rPr>
              <a:t>Alone, everyone drove about the same. It's one reason new Massachusetts drivers can't carry friends for six months.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TURN AND TALK</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TextBox 4"/>
          <p:cNvSpPr txBox="1"/>
          <p:nvPr/>
        </p:nvSpPr>
        <p:spPr>
          <a:xfrm>
            <a:off x="822960" y="1005840"/>
            <a:ext cx="10515600" cy="914400"/>
          </a:xfrm>
          <a:prstGeom prst="rect">
            <a:avLst/>
          </a:prstGeom>
          <a:noFill/>
        </p:spPr>
        <p:txBody>
          <a:bodyPr wrap="square" anchor="t" lIns="0" rIns="0" tIns="0" bIns="0">
            <a:spAutoFit/>
          </a:bodyPr>
          <a:lstStyle/>
          <a:p>
            <a:pPr algn="l">
              <a:spcAft>
                <a:spcPts val="1530"/>
              </a:spcAft>
            </a:pPr>
            <a:r>
              <a:rPr sz="3400" b="1" i="0">
                <a:solidFill>
                  <a:srgbClr val="1C1B19"/>
                </a:solidFill>
                <a:latin typeface="Source Serif 4"/>
              </a:rPr>
              <a:t>What would you do?</a:t>
            </a:r>
          </a:p>
        </p:txBody>
      </p:sp>
      <p:sp>
        <p:nvSpPr>
          <p:cNvPr id="6" name="Rectangle 5"/>
          <p:cNvSpPr/>
          <p:nvPr/>
        </p:nvSpPr>
        <p:spPr>
          <a:xfrm>
            <a:off x="822960" y="2103120"/>
            <a:ext cx="5120640" cy="3840480"/>
          </a:xfrm>
          <a:prstGeom prst="rect">
            <a:avLst/>
          </a:prstGeom>
          <a:solidFill>
            <a:srgbClr val="FFFFFF"/>
          </a:solidFill>
          <a:ln w="15875">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51560" y="2286000"/>
            <a:ext cx="4663440" cy="365760"/>
          </a:xfrm>
          <a:prstGeom prst="rect">
            <a:avLst/>
          </a:prstGeom>
          <a:noFill/>
        </p:spPr>
        <p:txBody>
          <a:bodyPr wrap="square" anchor="t" lIns="0" rIns="0" tIns="0" bIns="0">
            <a:spAutoFit/>
          </a:bodyPr>
          <a:lstStyle/>
          <a:p>
            <a:pPr algn="l">
              <a:spcAft>
                <a:spcPts val="585"/>
              </a:spcAft>
            </a:pPr>
            <a:r>
              <a:rPr sz="1300" b="1" i="0">
                <a:solidFill>
                  <a:srgbClr val="0B2D5B"/>
                </a:solidFill>
                <a:latin typeface="Inter Tight"/>
              </a:rPr>
              <a:t>THE RIDE HOME</a:t>
            </a:r>
          </a:p>
        </p:txBody>
      </p:sp>
      <p:sp>
        <p:nvSpPr>
          <p:cNvPr id="8" name="TextBox 7"/>
          <p:cNvSpPr txBox="1"/>
          <p:nvPr/>
        </p:nvSpPr>
        <p:spPr>
          <a:xfrm>
            <a:off x="1051560" y="2743200"/>
            <a:ext cx="4663440" cy="3017520"/>
          </a:xfrm>
          <a:prstGeom prst="rect">
            <a:avLst/>
          </a:prstGeom>
          <a:noFill/>
        </p:spPr>
        <p:txBody>
          <a:bodyPr wrap="square" anchor="t" lIns="0" rIns="0" tIns="0" bIns="0">
            <a:spAutoFit/>
          </a:bodyPr>
          <a:lstStyle/>
          <a:p>
            <a:pPr algn="l">
              <a:spcAft>
                <a:spcPts val="810"/>
              </a:spcAft>
            </a:pPr>
            <a:r>
              <a:rPr sz="1800" b="0" i="0">
                <a:solidFill>
                  <a:srgbClr val="1C1B19"/>
                </a:solidFill>
                <a:latin typeface="Source Serif 4"/>
              </a:rPr>
              <a:t>Jordan got their license two weeks ago. After the big win, Jordan offers you and three friends a ride. Everyone's hyped, the music's up.</a:t>
            </a:r>
          </a:p>
        </p:txBody>
      </p:sp>
      <p:sp>
        <p:nvSpPr>
          <p:cNvPr id="9" name="Rectangle 8"/>
          <p:cNvSpPr/>
          <p:nvPr/>
        </p:nvSpPr>
        <p:spPr>
          <a:xfrm>
            <a:off x="6217920" y="2103120"/>
            <a:ext cx="5120640" cy="3840480"/>
          </a:xfrm>
          <a:prstGeom prst="rect">
            <a:avLst/>
          </a:prstGeom>
          <a:solidFill>
            <a:srgbClr val="FFFFFF"/>
          </a:solidFill>
          <a:ln w="15875">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46520" y="2286000"/>
            <a:ext cx="4663440" cy="365760"/>
          </a:xfrm>
          <a:prstGeom prst="rect">
            <a:avLst/>
          </a:prstGeom>
          <a:noFill/>
        </p:spPr>
        <p:txBody>
          <a:bodyPr wrap="square" anchor="t" lIns="0" rIns="0" tIns="0" bIns="0">
            <a:spAutoFit/>
          </a:bodyPr>
          <a:lstStyle/>
          <a:p>
            <a:pPr algn="l">
              <a:spcAft>
                <a:spcPts val="585"/>
              </a:spcAft>
            </a:pPr>
            <a:r>
              <a:rPr sz="1300" b="1" i="0">
                <a:solidFill>
                  <a:srgbClr val="0B2D5B"/>
                </a:solidFill>
                <a:latin typeface="Inter Tight"/>
              </a:rPr>
              <a:t>11:14</a:t>
            </a:r>
          </a:p>
        </p:txBody>
      </p:sp>
      <p:sp>
        <p:nvSpPr>
          <p:cNvPr id="11" name="TextBox 10"/>
          <p:cNvSpPr txBox="1"/>
          <p:nvPr/>
        </p:nvSpPr>
        <p:spPr>
          <a:xfrm>
            <a:off x="6446520" y="2743200"/>
            <a:ext cx="4663440" cy="3017520"/>
          </a:xfrm>
          <a:prstGeom prst="rect">
            <a:avLst/>
          </a:prstGeom>
          <a:noFill/>
        </p:spPr>
        <p:txBody>
          <a:bodyPr wrap="square" anchor="t" lIns="0" rIns="0" tIns="0" bIns="0">
            <a:spAutoFit/>
          </a:bodyPr>
          <a:lstStyle/>
          <a:p>
            <a:pPr algn="l">
              <a:spcAft>
                <a:spcPts val="810"/>
              </a:spcAft>
            </a:pPr>
            <a:r>
              <a:rPr sz="1800" b="0" i="0">
                <a:solidFill>
                  <a:srgbClr val="1C1B19"/>
                </a:solidFill>
                <a:latin typeface="Source Serif 4"/>
              </a:rPr>
              <a:t>Your curfew is 11:30. Your ride says they're staying till 1. The party just got good.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THE GOOD NEWS</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TextBox 4"/>
          <p:cNvSpPr txBox="1"/>
          <p:nvPr/>
        </p:nvSpPr>
        <p:spPr>
          <a:xfrm>
            <a:off x="822960" y="1463040"/>
            <a:ext cx="10515600" cy="3291840"/>
          </a:xfrm>
          <a:prstGeom prst="rect">
            <a:avLst/>
          </a:prstGeom>
          <a:noFill/>
        </p:spPr>
        <p:txBody>
          <a:bodyPr wrap="square" anchor="ctr" lIns="0" rIns="0" tIns="0" bIns="0">
            <a:spAutoFit/>
          </a:bodyPr>
          <a:lstStyle/>
          <a:p>
            <a:pPr algn="l">
              <a:spcAft>
                <a:spcPts val="2070"/>
              </a:spcAft>
            </a:pPr>
            <a:r>
              <a:rPr sz="4600" b="1" i="0">
                <a:solidFill>
                  <a:srgbClr val="1C1B19"/>
                </a:solidFill>
                <a:latin typeface="Source Serif 4"/>
              </a:rPr>
              <a:t>The same boost works for good risks.</a:t>
            </a:r>
          </a:p>
        </p:txBody>
      </p:sp>
      <p:sp>
        <p:nvSpPr>
          <p:cNvPr id="6" name="TextBox 5"/>
          <p:cNvSpPr txBox="1"/>
          <p:nvPr/>
        </p:nvSpPr>
        <p:spPr>
          <a:xfrm>
            <a:off x="822960" y="4846320"/>
            <a:ext cx="10515600" cy="1097280"/>
          </a:xfrm>
          <a:prstGeom prst="rect">
            <a:avLst/>
          </a:prstGeom>
          <a:noFill/>
        </p:spPr>
        <p:txBody>
          <a:bodyPr wrap="square" anchor="t" lIns="0" rIns="0" tIns="0" bIns="0">
            <a:spAutoFit/>
          </a:bodyPr>
          <a:lstStyle/>
          <a:p>
            <a:pPr algn="l">
              <a:spcAft>
                <a:spcPts val="990"/>
              </a:spcAft>
            </a:pPr>
            <a:r>
              <a:rPr sz="2200" b="0" i="1">
                <a:solidFill>
                  <a:srgbClr val="5D5A54"/>
                </a:solidFill>
                <a:latin typeface="Source Serif 4"/>
              </a:rPr>
              <a:t>Trying out, speaking up, sitting with someone new. Friends watching makes those easier too.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WHO'S DRIVING?</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pic>
        <p:nvPicPr>
          <p:cNvPr id="5" name="Picture 4" descr="whos-driving-toon-3.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A REAL STORY</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TextBox 4"/>
          <p:cNvSpPr txBox="1"/>
          <p:nvPr/>
        </p:nvSpPr>
        <p:spPr>
          <a:xfrm>
            <a:off x="822960" y="1463040"/>
            <a:ext cx="10515600" cy="3291840"/>
          </a:xfrm>
          <a:prstGeom prst="rect">
            <a:avLst/>
          </a:prstGeom>
          <a:noFill/>
        </p:spPr>
        <p:txBody>
          <a:bodyPr wrap="square" anchor="ctr" lIns="0" rIns="0" tIns="0" bIns="0">
            <a:spAutoFit/>
          </a:bodyPr>
          <a:lstStyle/>
          <a:p>
            <a:pPr algn="l">
              <a:spcAft>
                <a:spcPts val="2070"/>
              </a:spcAft>
            </a:pPr>
            <a:r>
              <a:rPr sz="4600" b="1" i="0">
                <a:solidFill>
                  <a:srgbClr val="1C1B19"/>
                </a:solidFill>
                <a:latin typeface="Source Serif 4"/>
              </a:rPr>
              <a:t>Tokyo, 2021. The whole world watching.</a:t>
            </a:r>
          </a:p>
        </p:txBody>
      </p:sp>
      <p:sp>
        <p:nvSpPr>
          <p:cNvPr id="6" name="TextBox 5"/>
          <p:cNvSpPr txBox="1"/>
          <p:nvPr/>
        </p:nvSpPr>
        <p:spPr>
          <a:xfrm>
            <a:off x="822960" y="4846320"/>
            <a:ext cx="10515600" cy="1097280"/>
          </a:xfrm>
          <a:prstGeom prst="rect">
            <a:avLst/>
          </a:prstGeom>
          <a:noFill/>
        </p:spPr>
        <p:txBody>
          <a:bodyPr wrap="square" anchor="t" lIns="0" rIns="0" tIns="0" bIns="0">
            <a:spAutoFit/>
          </a:bodyPr>
          <a:lstStyle/>
          <a:p>
            <a:pPr algn="l">
              <a:spcAft>
                <a:spcPts val="990"/>
              </a:spcAft>
            </a:pPr>
            <a:r>
              <a:rPr sz="2200" b="0" i="1">
                <a:solidFill>
                  <a:srgbClr val="5D5A54"/>
                </a:solidFill>
                <a:latin typeface="Source Serif 4"/>
              </a:rPr>
              <a:t>Simone Biles stopped in the middle of the Olympic team final to protect her safety and her mental health. A week later she came back and won bronze on the beam.</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THE RESEARCH</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TextBox 4"/>
          <p:cNvSpPr txBox="1"/>
          <p:nvPr/>
        </p:nvSpPr>
        <p:spPr>
          <a:xfrm>
            <a:off x="822960" y="1463040"/>
            <a:ext cx="10515600" cy="3291840"/>
          </a:xfrm>
          <a:prstGeom prst="rect">
            <a:avLst/>
          </a:prstGeom>
          <a:noFill/>
        </p:spPr>
        <p:txBody>
          <a:bodyPr wrap="square" anchor="ctr" lIns="0" rIns="0" tIns="0" bIns="0">
            <a:spAutoFit/>
          </a:bodyPr>
          <a:lstStyle/>
          <a:p>
            <a:pPr algn="l">
              <a:spcAft>
                <a:spcPts val="2070"/>
              </a:spcAft>
            </a:pPr>
            <a:r>
              <a:rPr sz="4600" b="1" i="0">
                <a:solidFill>
                  <a:srgbClr val="1C1B19"/>
                </a:solidFill>
                <a:latin typeface="Source Serif 4"/>
              </a:rPr>
              <a:t>Teens tune out warnings. They don't like being played.</a:t>
            </a:r>
          </a:p>
        </p:txBody>
      </p:sp>
      <p:sp>
        <p:nvSpPr>
          <p:cNvPr id="6" name="TextBox 5"/>
          <p:cNvSpPr txBox="1"/>
          <p:nvPr/>
        </p:nvSpPr>
        <p:spPr>
          <a:xfrm>
            <a:off x="822960" y="4846320"/>
            <a:ext cx="10515600" cy="1097280"/>
          </a:xfrm>
          <a:prstGeom prst="rect">
            <a:avLst/>
          </a:prstGeom>
          <a:noFill/>
        </p:spPr>
        <p:txBody>
          <a:bodyPr wrap="square" anchor="t" lIns="0" rIns="0" tIns="0" bIns="0">
            <a:spAutoFit/>
          </a:bodyPr>
          <a:lstStyle/>
          <a:p>
            <a:pPr algn="l">
              <a:spcAft>
                <a:spcPts val="990"/>
              </a:spcAft>
            </a:pPr>
            <a:r>
              <a:rPr sz="2200" b="0" i="1">
                <a:solidFill>
                  <a:srgbClr val="5D5A54"/>
                </a:solidFill>
                <a:latin typeface="Source Serif 4"/>
              </a:rPr>
              <a:t>When 8th graders learned how junk-food ads try to manipulate teens, they chose fewer junk snacks, for months. Health warnings didn't do that.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PICK FIVE</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Rectangle 4"/>
          <p:cNvSpPr/>
          <p:nvPr/>
        </p:nvSpPr>
        <p:spPr>
          <a:xfrm>
            <a:off x="822960" y="1371600"/>
            <a:ext cx="73152" cy="3566160"/>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88720" y="1371600"/>
            <a:ext cx="10058400" cy="3566160"/>
          </a:xfrm>
          <a:prstGeom prst="rect">
            <a:avLst/>
          </a:prstGeom>
          <a:noFill/>
        </p:spPr>
        <p:txBody>
          <a:bodyPr wrap="square" anchor="ctr" lIns="0" rIns="0" tIns="0" bIns="0">
            <a:spAutoFit/>
          </a:bodyPr>
          <a:lstStyle/>
          <a:p>
            <a:pPr algn="l">
              <a:spcAft>
                <a:spcPts val="1800"/>
              </a:spcAft>
            </a:pPr>
            <a:r>
              <a:rPr sz="4000" b="0" i="1">
                <a:solidFill>
                  <a:srgbClr val="1C1B19"/>
                </a:solidFill>
                <a:latin typeface="Source Serif 4"/>
              </a:rPr>
              <a:t>What do you want at the wheel?</a:t>
            </a:r>
          </a:p>
        </p:txBody>
      </p:sp>
      <p:sp>
        <p:nvSpPr>
          <p:cNvPr id="7" name="TextBox 6"/>
          <p:cNvSpPr txBox="1"/>
          <p:nvPr/>
        </p:nvSpPr>
        <p:spPr>
          <a:xfrm>
            <a:off x="1188720" y="5120640"/>
            <a:ext cx="10058400" cy="914400"/>
          </a:xfrm>
          <a:prstGeom prst="rect">
            <a:avLst/>
          </a:prstGeom>
          <a:noFill/>
        </p:spPr>
        <p:txBody>
          <a:bodyPr wrap="square" anchor="t" lIns="0" rIns="0" tIns="0" bIns="0">
            <a:spAutoFit/>
          </a:bodyPr>
          <a:lstStyle/>
          <a:p>
            <a:pPr algn="l">
              <a:spcAft>
                <a:spcPts val="810"/>
              </a:spcAft>
            </a:pPr>
            <a:r>
              <a:rPr sz="1800" b="0" i="0">
                <a:solidFill>
                  <a:srgbClr val="5D5A54"/>
                </a:solidFill>
                <a:latin typeface="Inter Tight"/>
              </a:rPr>
              <a:t>Circle five on your card. Star the one you'd keep if you could only keep one.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TURN AND TALK</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TextBox 4"/>
          <p:cNvSpPr txBox="1"/>
          <p:nvPr/>
        </p:nvSpPr>
        <p:spPr>
          <a:xfrm>
            <a:off x="822960" y="1005840"/>
            <a:ext cx="10515600" cy="914400"/>
          </a:xfrm>
          <a:prstGeom prst="rect">
            <a:avLst/>
          </a:prstGeom>
          <a:noFill/>
        </p:spPr>
        <p:txBody>
          <a:bodyPr wrap="square" anchor="t" lIns="0" rIns="0" tIns="0" bIns="0">
            <a:spAutoFit/>
          </a:bodyPr>
          <a:lstStyle/>
          <a:p>
            <a:pPr algn="l">
              <a:spcAft>
                <a:spcPts val="1530"/>
              </a:spcAft>
            </a:pPr>
            <a:r>
              <a:rPr sz="3400" b="1" i="0">
                <a:solidFill>
                  <a:srgbClr val="1C1B19"/>
                </a:solidFill>
                <a:latin typeface="Source Serif 4"/>
              </a:rPr>
              <a:t>Your star value takes the wheel.</a:t>
            </a:r>
          </a:p>
        </p:txBody>
      </p:sp>
      <p:sp>
        <p:nvSpPr>
          <p:cNvPr id="6" name="Rectangle 5"/>
          <p:cNvSpPr/>
          <p:nvPr/>
        </p:nvSpPr>
        <p:spPr>
          <a:xfrm>
            <a:off x="822960" y="2103120"/>
            <a:ext cx="3322320" cy="3840480"/>
          </a:xfrm>
          <a:prstGeom prst="rect">
            <a:avLst/>
          </a:prstGeom>
          <a:solidFill>
            <a:srgbClr val="FFFFFF"/>
          </a:solidFill>
          <a:ln w="15875">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51560" y="2286000"/>
            <a:ext cx="2865120" cy="365760"/>
          </a:xfrm>
          <a:prstGeom prst="rect">
            <a:avLst/>
          </a:prstGeom>
          <a:noFill/>
        </p:spPr>
        <p:txBody>
          <a:bodyPr wrap="square" anchor="t" lIns="0" rIns="0" tIns="0" bIns="0">
            <a:spAutoFit/>
          </a:bodyPr>
          <a:lstStyle/>
          <a:p>
            <a:pPr algn="l">
              <a:spcAft>
                <a:spcPts val="585"/>
              </a:spcAft>
            </a:pPr>
            <a:r>
              <a:rPr sz="1300" b="1" i="0">
                <a:solidFill>
                  <a:srgbClr val="0B2D5B"/>
                </a:solidFill>
                <a:latin typeface="Inter Tight"/>
              </a:rPr>
              <a:t>THE VAPE</a:t>
            </a:r>
          </a:p>
        </p:txBody>
      </p:sp>
      <p:sp>
        <p:nvSpPr>
          <p:cNvPr id="8" name="TextBox 7"/>
          <p:cNvSpPr txBox="1"/>
          <p:nvPr/>
        </p:nvSpPr>
        <p:spPr>
          <a:xfrm>
            <a:off x="1051560" y="2743200"/>
            <a:ext cx="2865120" cy="3017520"/>
          </a:xfrm>
          <a:prstGeom prst="rect">
            <a:avLst/>
          </a:prstGeom>
          <a:noFill/>
        </p:spPr>
        <p:txBody>
          <a:bodyPr wrap="square" anchor="t" lIns="0" rIns="0" tIns="0" bIns="0">
            <a:spAutoFit/>
          </a:bodyPr>
          <a:lstStyle/>
          <a:p>
            <a:pPr algn="l">
              <a:spcAft>
                <a:spcPts val="810"/>
              </a:spcAft>
            </a:pPr>
            <a:r>
              <a:rPr sz="1800" b="0" i="0">
                <a:solidFill>
                  <a:srgbClr val="1C1B19"/>
                </a:solidFill>
                <a:latin typeface="Source Serif 4"/>
              </a:rPr>
              <a:t>At a party, someone holds one out to you. "Everyone's watching, just hit it."</a:t>
            </a:r>
          </a:p>
        </p:txBody>
      </p:sp>
      <p:sp>
        <p:nvSpPr>
          <p:cNvPr id="9" name="Rectangle 8"/>
          <p:cNvSpPr/>
          <p:nvPr/>
        </p:nvSpPr>
        <p:spPr>
          <a:xfrm>
            <a:off x="4419600" y="2103120"/>
            <a:ext cx="3322320" cy="3840480"/>
          </a:xfrm>
          <a:prstGeom prst="rect">
            <a:avLst/>
          </a:prstGeom>
          <a:solidFill>
            <a:srgbClr val="FFFFFF"/>
          </a:solidFill>
          <a:ln w="15875">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648200" y="2286000"/>
            <a:ext cx="2865120" cy="365760"/>
          </a:xfrm>
          <a:prstGeom prst="rect">
            <a:avLst/>
          </a:prstGeom>
          <a:noFill/>
        </p:spPr>
        <p:txBody>
          <a:bodyPr wrap="square" anchor="t" lIns="0" rIns="0" tIns="0" bIns="0">
            <a:spAutoFit/>
          </a:bodyPr>
          <a:lstStyle/>
          <a:p>
            <a:pPr algn="l">
              <a:spcAft>
                <a:spcPts val="585"/>
              </a:spcAft>
            </a:pPr>
            <a:r>
              <a:rPr sz="1300" b="1" i="0">
                <a:solidFill>
                  <a:srgbClr val="0B2D5B"/>
                </a:solidFill>
                <a:latin typeface="Inter Tight"/>
              </a:rPr>
              <a:t>THE DARE</a:t>
            </a:r>
          </a:p>
        </p:txBody>
      </p:sp>
      <p:sp>
        <p:nvSpPr>
          <p:cNvPr id="11" name="TextBox 10"/>
          <p:cNvSpPr txBox="1"/>
          <p:nvPr/>
        </p:nvSpPr>
        <p:spPr>
          <a:xfrm>
            <a:off x="4648200" y="2743200"/>
            <a:ext cx="2865120" cy="3017520"/>
          </a:xfrm>
          <a:prstGeom prst="rect">
            <a:avLst/>
          </a:prstGeom>
          <a:noFill/>
        </p:spPr>
        <p:txBody>
          <a:bodyPr wrap="square" anchor="t" lIns="0" rIns="0" tIns="0" bIns="0">
            <a:spAutoFit/>
          </a:bodyPr>
          <a:lstStyle/>
          <a:p>
            <a:pPr algn="l">
              <a:spcAft>
                <a:spcPts val="810"/>
              </a:spcAft>
            </a:pPr>
            <a:r>
              <a:rPr sz="1800" b="0" i="0">
                <a:solidFill>
                  <a:srgbClr val="1C1B19"/>
                </a:solidFill>
                <a:latin typeface="Source Serif 4"/>
              </a:rPr>
              <a:t>The group chat is planning to TP a teacher's house at midnight. "You in?"</a:t>
            </a:r>
          </a:p>
        </p:txBody>
      </p:sp>
      <p:sp>
        <p:nvSpPr>
          <p:cNvPr id="12" name="Rectangle 11"/>
          <p:cNvSpPr/>
          <p:nvPr/>
        </p:nvSpPr>
        <p:spPr>
          <a:xfrm>
            <a:off x="8016239" y="2103120"/>
            <a:ext cx="3322320" cy="3840480"/>
          </a:xfrm>
          <a:prstGeom prst="rect">
            <a:avLst/>
          </a:prstGeom>
          <a:solidFill>
            <a:srgbClr val="FFFFFF"/>
          </a:solidFill>
          <a:ln w="15875">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44839" y="2286000"/>
            <a:ext cx="2865120" cy="365760"/>
          </a:xfrm>
          <a:prstGeom prst="rect">
            <a:avLst/>
          </a:prstGeom>
          <a:noFill/>
        </p:spPr>
        <p:txBody>
          <a:bodyPr wrap="square" anchor="t" lIns="0" rIns="0" tIns="0" bIns="0">
            <a:spAutoFit/>
          </a:bodyPr>
          <a:lstStyle/>
          <a:p>
            <a:pPr algn="l">
              <a:spcAft>
                <a:spcPts val="585"/>
              </a:spcAft>
            </a:pPr>
            <a:r>
              <a:rPr sz="1300" b="1" i="0">
                <a:solidFill>
                  <a:srgbClr val="0B2D5B"/>
                </a:solidFill>
                <a:latin typeface="Inter Tight"/>
              </a:rPr>
              <a:t>JUST ONE</a:t>
            </a:r>
          </a:p>
        </p:txBody>
      </p:sp>
      <p:sp>
        <p:nvSpPr>
          <p:cNvPr id="14" name="TextBox 13"/>
          <p:cNvSpPr txBox="1"/>
          <p:nvPr/>
        </p:nvSpPr>
        <p:spPr>
          <a:xfrm>
            <a:off x="8244839" y="2743200"/>
            <a:ext cx="2865120" cy="3017520"/>
          </a:xfrm>
          <a:prstGeom prst="rect">
            <a:avLst/>
          </a:prstGeom>
          <a:noFill/>
        </p:spPr>
        <p:txBody>
          <a:bodyPr wrap="square" anchor="t" lIns="0" rIns="0" tIns="0" bIns="0">
            <a:spAutoFit/>
          </a:bodyPr>
          <a:lstStyle/>
          <a:p>
            <a:pPr algn="l">
              <a:spcAft>
                <a:spcPts val="810"/>
              </a:spcAft>
            </a:pPr>
            <a:r>
              <a:rPr sz="1800" b="0" i="0">
                <a:solidFill>
                  <a:srgbClr val="1C1B19"/>
                </a:solidFill>
                <a:latin typeface="Source Serif 4"/>
              </a:rPr>
              <a:t>Before the game, an older friend offers you a drink. "It's one. Relax."</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DECIDE COLD, USE HOT</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TextBox 4"/>
          <p:cNvSpPr txBox="1"/>
          <p:nvPr/>
        </p:nvSpPr>
        <p:spPr>
          <a:xfrm>
            <a:off x="822960" y="1005840"/>
            <a:ext cx="10515600" cy="914400"/>
          </a:xfrm>
          <a:prstGeom prst="rect">
            <a:avLst/>
          </a:prstGeom>
          <a:noFill/>
        </p:spPr>
        <p:txBody>
          <a:bodyPr wrap="square" anchor="t" lIns="0" rIns="0" tIns="0" bIns="0">
            <a:spAutoFit/>
          </a:bodyPr>
          <a:lstStyle/>
          <a:p>
            <a:pPr algn="l">
              <a:spcAft>
                <a:spcPts val="1530"/>
              </a:spcAft>
            </a:pPr>
            <a:r>
              <a:rPr sz="3400" b="1" i="0">
                <a:solidFill>
                  <a:srgbClr val="1C1B19"/>
                </a:solidFill>
                <a:latin typeface="Source Serif 4"/>
              </a:rPr>
              <a:t>Make the call before you're in the car.</a:t>
            </a:r>
          </a:p>
        </p:txBody>
      </p:sp>
      <p:sp>
        <p:nvSpPr>
          <p:cNvPr id="6" name="Rectangle 5"/>
          <p:cNvSpPr/>
          <p:nvPr/>
        </p:nvSpPr>
        <p:spPr>
          <a:xfrm>
            <a:off x="822960" y="2103120"/>
            <a:ext cx="5120640" cy="3931920"/>
          </a:xfrm>
          <a:prstGeom prst="rect">
            <a:avLst/>
          </a:prstGeom>
          <a:solidFill>
            <a:srgbClr val="FFFFFF"/>
          </a:solidFill>
          <a:ln w="15875">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 y="2286000"/>
            <a:ext cx="4572000" cy="457200"/>
          </a:xfrm>
          <a:prstGeom prst="rect">
            <a:avLst/>
          </a:prstGeom>
          <a:noFill/>
        </p:spPr>
        <p:txBody>
          <a:bodyPr wrap="square" anchor="t" lIns="0" rIns="0" tIns="0" bIns="0">
            <a:spAutoFit/>
          </a:bodyPr>
          <a:lstStyle/>
          <a:p>
            <a:pPr algn="l">
              <a:spcAft>
                <a:spcPts val="585"/>
              </a:spcAft>
            </a:pPr>
            <a:r>
              <a:rPr sz="1300" b="1" i="0">
                <a:solidFill>
                  <a:srgbClr val="0B2D5B"/>
                </a:solidFill>
                <a:latin typeface="Inter Tight"/>
              </a:rPr>
              <a:t>IF…</a:t>
            </a:r>
          </a:p>
        </p:txBody>
      </p:sp>
      <p:sp>
        <p:nvSpPr>
          <p:cNvPr id="8" name="TextBox 7"/>
          <p:cNvSpPr txBox="1"/>
          <p:nvPr/>
        </p:nvSpPr>
        <p:spPr>
          <a:xfrm>
            <a:off x="1097280" y="2788920"/>
            <a:ext cx="4572000" cy="3108960"/>
          </a:xfrm>
          <a:prstGeom prst="rect">
            <a:avLst/>
          </a:prstGeom>
          <a:noFill/>
        </p:spPr>
        <p:txBody>
          <a:bodyPr wrap="square" anchor="t" lIns="0" rIns="0" tIns="0" bIns="0">
            <a:spAutoFit/>
          </a:bodyPr>
          <a:lstStyle/>
          <a:p>
            <a:pPr algn="l">
              <a:spcAft>
                <a:spcPts val="855"/>
              </a:spcAft>
            </a:pPr>
            <a:r>
              <a:rPr sz="1900" b="0" i="0">
                <a:solidFill>
                  <a:srgbClr val="1C1B19"/>
                </a:solidFill>
                <a:latin typeface="Source Serif 4"/>
              </a:rPr>
              <a:t>the driver has been drinking or smoking</a:t>
            </a:r>
          </a:p>
          <a:p>
            <a:pPr algn="l">
              <a:spcAft>
                <a:spcPts val="855"/>
              </a:spcAft>
            </a:pPr>
            <a:r>
              <a:rPr sz="1900" b="0" i="0">
                <a:solidFill>
                  <a:srgbClr val="1C1B19"/>
                </a:solidFill>
                <a:latin typeface="Source Serif 4"/>
              </a:rPr>
              <a:t>someone hands me a vape</a:t>
            </a:r>
          </a:p>
          <a:p>
            <a:pPr algn="l">
              <a:spcAft>
                <a:spcPts val="855"/>
              </a:spcAft>
            </a:pPr>
            <a:r>
              <a:rPr sz="1900" b="0" i="0">
                <a:solidFill>
                  <a:srgbClr val="1C1B19"/>
                </a:solidFill>
                <a:latin typeface="Source Serif 4"/>
              </a:rPr>
              <a:t>the group wants to go where I don't</a:t>
            </a:r>
          </a:p>
          <a:p>
            <a:pPr algn="l">
              <a:spcAft>
                <a:spcPts val="855"/>
              </a:spcAft>
            </a:pPr>
            <a:r>
              <a:rPr sz="1900" b="0" i="0">
                <a:solidFill>
                  <a:srgbClr val="1C1B19"/>
                </a:solidFill>
                <a:latin typeface="Source Serif 4"/>
              </a:rPr>
              <a:t>it's 11:14 and I want out</a:t>
            </a:r>
          </a:p>
        </p:txBody>
      </p:sp>
      <p:sp>
        <p:nvSpPr>
          <p:cNvPr id="9" name="Rectangle 8"/>
          <p:cNvSpPr/>
          <p:nvPr/>
        </p:nvSpPr>
        <p:spPr>
          <a:xfrm>
            <a:off x="6309360" y="2103120"/>
            <a:ext cx="5120640" cy="3931920"/>
          </a:xfrm>
          <a:prstGeom prst="rect">
            <a:avLst/>
          </a:prstGeom>
          <a:solidFill>
            <a:srgbClr val="FFFFFF"/>
          </a:solidFill>
          <a:ln w="15875">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0" y="2286000"/>
            <a:ext cx="4572000" cy="457200"/>
          </a:xfrm>
          <a:prstGeom prst="rect">
            <a:avLst/>
          </a:prstGeom>
          <a:noFill/>
        </p:spPr>
        <p:txBody>
          <a:bodyPr wrap="square" anchor="t" lIns="0" rIns="0" tIns="0" bIns="0">
            <a:spAutoFit/>
          </a:bodyPr>
          <a:lstStyle/>
          <a:p>
            <a:pPr algn="l">
              <a:spcAft>
                <a:spcPts val="585"/>
              </a:spcAft>
            </a:pPr>
            <a:r>
              <a:rPr sz="1300" b="1" i="0">
                <a:solidFill>
                  <a:srgbClr val="0B2D5B"/>
                </a:solidFill>
                <a:latin typeface="Inter Tight"/>
              </a:rPr>
              <a:t>…THEN I'LL</a:t>
            </a:r>
          </a:p>
        </p:txBody>
      </p:sp>
      <p:sp>
        <p:nvSpPr>
          <p:cNvPr id="11" name="TextBox 10"/>
          <p:cNvSpPr txBox="1"/>
          <p:nvPr/>
        </p:nvSpPr>
        <p:spPr>
          <a:xfrm>
            <a:off x="6583680" y="2788920"/>
            <a:ext cx="4572000" cy="3108960"/>
          </a:xfrm>
          <a:prstGeom prst="rect">
            <a:avLst/>
          </a:prstGeom>
          <a:noFill/>
        </p:spPr>
        <p:txBody>
          <a:bodyPr wrap="square" anchor="t" lIns="0" rIns="0" tIns="0" bIns="0">
            <a:spAutoFit/>
          </a:bodyPr>
          <a:lstStyle/>
          <a:p>
            <a:pPr algn="l">
              <a:spcAft>
                <a:spcPts val="855"/>
              </a:spcAft>
            </a:pPr>
            <a:r>
              <a:rPr sz="1900" b="0" i="0">
                <a:solidFill>
                  <a:srgbClr val="1C1B19"/>
                </a:solidFill>
                <a:latin typeface="Source Serif 4"/>
              </a:rPr>
              <a:t>text my code word for a pickup</a:t>
            </a:r>
          </a:p>
          <a:p>
            <a:pPr algn="l">
              <a:spcAft>
                <a:spcPts val="855"/>
              </a:spcAft>
            </a:pPr>
            <a:r>
              <a:rPr sz="1900" b="0" i="0">
                <a:solidFill>
                  <a:srgbClr val="1C1B19"/>
                </a:solidFill>
                <a:latin typeface="Source Serif 4"/>
              </a:rPr>
              <a:t>say "I'm good, I've got practice"</a:t>
            </a:r>
          </a:p>
          <a:p>
            <a:pPr algn="l">
              <a:spcAft>
                <a:spcPts val="855"/>
              </a:spcAft>
            </a:pPr>
            <a:r>
              <a:rPr sz="1900" b="0" i="0">
                <a:solidFill>
                  <a:srgbClr val="1C1B19"/>
                </a:solidFill>
                <a:latin typeface="Source Serif 4"/>
              </a:rPr>
              <a:t>blame my parents: "I have to be home"</a:t>
            </a:r>
          </a:p>
          <a:p>
            <a:pPr algn="l">
              <a:spcAft>
                <a:spcPts val="855"/>
              </a:spcAft>
            </a:pPr>
            <a:r>
              <a:rPr sz="1900" b="0" i="0">
                <a:solidFill>
                  <a:srgbClr val="1C1B19"/>
                </a:solidFill>
                <a:latin typeface="Source Serif 4"/>
              </a:rPr>
              <a:t>call the person I'd call first</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YOUR PLAN</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Rectangle 4"/>
          <p:cNvSpPr/>
          <p:nvPr/>
        </p:nvSpPr>
        <p:spPr>
          <a:xfrm>
            <a:off x="822960" y="1371600"/>
            <a:ext cx="73152" cy="3566160"/>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88720" y="1371600"/>
            <a:ext cx="10058400" cy="3566160"/>
          </a:xfrm>
          <a:prstGeom prst="rect">
            <a:avLst/>
          </a:prstGeom>
          <a:noFill/>
        </p:spPr>
        <p:txBody>
          <a:bodyPr wrap="square" anchor="ctr" lIns="0" rIns="0" tIns="0" bIns="0">
            <a:spAutoFit/>
          </a:bodyPr>
          <a:lstStyle/>
          <a:p>
            <a:pPr algn="l">
              <a:spcAft>
                <a:spcPts val="1800"/>
              </a:spcAft>
            </a:pPr>
            <a:r>
              <a:rPr sz="4000" b="0" i="1">
                <a:solidFill>
                  <a:srgbClr val="1C1B19"/>
                </a:solidFill>
                <a:latin typeface="Source Serif 4"/>
              </a:rPr>
              <a:t>On the back of your card: If ___, then I'll ___.</a:t>
            </a:r>
          </a:p>
        </p:txBody>
      </p:sp>
      <p:sp>
        <p:nvSpPr>
          <p:cNvPr id="7" name="TextBox 6"/>
          <p:cNvSpPr txBox="1"/>
          <p:nvPr/>
        </p:nvSpPr>
        <p:spPr>
          <a:xfrm>
            <a:off x="1188720" y="5120640"/>
            <a:ext cx="10058400" cy="914400"/>
          </a:xfrm>
          <a:prstGeom prst="rect">
            <a:avLst/>
          </a:prstGeom>
          <a:noFill/>
        </p:spPr>
        <p:txBody>
          <a:bodyPr wrap="square" anchor="t" lIns="0" rIns="0" tIns="0" bIns="0">
            <a:spAutoFit/>
          </a:bodyPr>
          <a:lstStyle/>
          <a:p>
            <a:pPr algn="l">
              <a:spcAft>
                <a:spcPts val="810"/>
              </a:spcAft>
            </a:pPr>
            <a:r>
              <a:rPr sz="1800" b="0" i="0">
                <a:solidFill>
                  <a:srgbClr val="5D5A54"/>
                </a:solidFill>
                <a:latin typeface="Inter Tight"/>
              </a:rPr>
              <a:t>Keep it. Nobody collects it.</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THIS YEAR</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TextBox 4"/>
          <p:cNvSpPr txBox="1"/>
          <p:nvPr/>
        </p:nvSpPr>
        <p:spPr>
          <a:xfrm>
            <a:off x="822960" y="1188720"/>
            <a:ext cx="10515600" cy="914400"/>
          </a:xfrm>
          <a:prstGeom prst="rect">
            <a:avLst/>
          </a:prstGeom>
          <a:noFill/>
        </p:spPr>
        <p:txBody>
          <a:bodyPr wrap="square" anchor="t" lIns="0" rIns="0" tIns="0" bIns="0">
            <a:spAutoFit/>
          </a:bodyPr>
          <a:lstStyle/>
          <a:p>
            <a:pPr algn="l">
              <a:spcAft>
                <a:spcPts val="1620"/>
              </a:spcAft>
            </a:pPr>
            <a:r>
              <a:rPr sz="3600" b="1" i="0">
                <a:solidFill>
                  <a:srgbClr val="1C1B19"/>
                </a:solidFill>
                <a:latin typeface="Source Serif 4"/>
              </a:rPr>
              <a:t>Who's driving? You are.</a:t>
            </a:r>
          </a:p>
        </p:txBody>
      </p:sp>
      <p:sp>
        <p:nvSpPr>
          <p:cNvPr id="6" name="TextBox 5"/>
          <p:cNvSpPr txBox="1"/>
          <p:nvPr/>
        </p:nvSpPr>
        <p:spPr>
          <a:xfrm>
            <a:off x="822960" y="2286000"/>
            <a:ext cx="10515600" cy="1463040"/>
          </a:xfrm>
          <a:prstGeom prst="rect">
            <a:avLst/>
          </a:prstGeom>
          <a:noFill/>
        </p:spPr>
        <p:txBody>
          <a:bodyPr wrap="square" anchor="t" lIns="0" rIns="0" tIns="0" bIns="0">
            <a:spAutoFit/>
          </a:bodyPr>
          <a:lstStyle/>
          <a:p>
            <a:pPr algn="l">
              <a:spcAft>
                <a:spcPts val="1080"/>
              </a:spcAft>
            </a:pPr>
            <a:r>
              <a:rPr sz="2400" b="0" i="0">
                <a:solidFill>
                  <a:srgbClr val="1C1B19"/>
                </a:solidFill>
                <a:latin typeface="Source Serif 4"/>
              </a:rPr>
              <a:t>Next in advisory: Under Construction and Saying No. In October: The Drinking Game.</a:t>
            </a:r>
          </a:p>
        </p:txBody>
      </p:sp>
      <p:sp>
        <p:nvSpPr>
          <p:cNvPr id="7" name="Rectangle 6"/>
          <p:cNvSpPr/>
          <p:nvPr/>
        </p:nvSpPr>
        <p:spPr>
          <a:xfrm>
            <a:off x="822960" y="4023360"/>
            <a:ext cx="10515600" cy="1371600"/>
          </a:xfrm>
          <a:prstGeom prst="rect">
            <a:avLst/>
          </a:prstGeom>
          <a:solidFill>
            <a:srgbClr val="FFFFFF"/>
          </a:solidFill>
          <a:ln w="15875">
            <a:solidFill>
              <a:srgbClr val="1C1B1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4206240"/>
            <a:ext cx="10058400" cy="365760"/>
          </a:xfrm>
          <a:prstGeom prst="rect">
            <a:avLst/>
          </a:prstGeom>
          <a:noFill/>
        </p:spPr>
        <p:txBody>
          <a:bodyPr wrap="square" anchor="t" lIns="0" rIns="0" tIns="0" bIns="0">
            <a:spAutoFit/>
          </a:bodyPr>
          <a:lstStyle/>
          <a:p>
            <a:pPr algn="l">
              <a:spcAft>
                <a:spcPts val="540"/>
              </a:spcAft>
            </a:pPr>
            <a:r>
              <a:rPr sz="1200" b="1" i="0">
                <a:solidFill>
                  <a:srgbClr val="0B2D5B"/>
                </a:solidFill>
                <a:latin typeface="Inter Tight"/>
              </a:rPr>
              <a:t>STUDENT PAGE</a:t>
            </a:r>
          </a:p>
        </p:txBody>
      </p:sp>
      <p:sp>
        <p:nvSpPr>
          <p:cNvPr id="9" name="TextBox 8"/>
          <p:cNvSpPr txBox="1"/>
          <p:nvPr/>
        </p:nvSpPr>
        <p:spPr>
          <a:xfrm>
            <a:off x="1097280" y="4617720"/>
            <a:ext cx="10058400" cy="640080"/>
          </a:xfrm>
          <a:prstGeom prst="rect">
            <a:avLst/>
          </a:prstGeom>
          <a:noFill/>
        </p:spPr>
        <p:txBody>
          <a:bodyPr wrap="square" anchor="t" lIns="0" rIns="0" tIns="0" bIns="0">
            <a:spAutoFit/>
          </a:bodyPr>
          <a:lstStyle/>
          <a:p>
            <a:pPr algn="l">
              <a:spcAft>
                <a:spcPts val="900"/>
              </a:spcAft>
            </a:pPr>
            <a:r>
              <a:rPr sz="2000" b="0" i="0">
                <a:solidFill>
                  <a:srgbClr val="1C1B19"/>
                </a:solidFill>
                <a:latin typeface="Inter Tight"/>
              </a:rPr>
              <a:t>https://rmwtoolkit.github.io/bcds-toolkit/whos-driving-high-school.html</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show="0">
  <p:cSld>
    <p:bg>
      <p:bgPr>
        <a:solidFill>
          <a:srgbClr val="EEEBE4"/>
        </a:solidFill>
        <a:effectLst/>
      </p:bgPr>
    </p:bg>
    <p:spTree>
      <p:nvGrpSpPr>
        <p:cNvPr id="1" name=""/>
        <p:cNvGrpSpPr/>
        <p:nvPr/>
      </p:nvGrpSpPr>
      <p:grpSpPr/>
      <p:sp>
        <p:nvSpPr>
          <p:cNvPr id="2" name="Rectangle 1"/>
          <p:cNvSpPr/>
          <p:nvPr/>
        </p:nvSpPr>
        <p:spPr>
          <a:xfrm>
            <a:off x="0" y="0"/>
            <a:ext cx="12191695" cy="384048"/>
          </a:xfrm>
          <a:prstGeom prst="rect">
            <a:avLst/>
          </a:prstGeom>
          <a:solidFill>
            <a:srgbClr val="0B2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0584"/>
            <a:ext cx="10972800" cy="274320"/>
          </a:xfrm>
          <a:prstGeom prst="rect">
            <a:avLst/>
          </a:prstGeom>
          <a:noFill/>
        </p:spPr>
        <p:txBody>
          <a:bodyPr wrap="square" anchor="t" lIns="0" rIns="0" tIns="0" bIns="0">
            <a:spAutoFit/>
          </a:bodyPr>
          <a:lstStyle/>
          <a:p>
            <a:pPr algn="l">
              <a:spcAft>
                <a:spcPts val="495"/>
              </a:spcAft>
            </a:pPr>
            <a:r>
              <a:rPr sz="1100" b="1" i="0">
                <a:solidFill>
                  <a:srgbClr val="FFFFFF"/>
                </a:solidFill>
                <a:latin typeface="Inter Tight"/>
              </a:rPr>
              <a:t>TEACHER PAGE  ·  skipped when you present  ·  Lesson plan</a:t>
            </a:r>
          </a:p>
        </p:txBody>
      </p:sp>
      <p:sp>
        <p:nvSpPr>
          <p:cNvPr id="4" name="TextBox 3"/>
          <p:cNvSpPr txBox="1"/>
          <p:nvPr/>
        </p:nvSpPr>
        <p:spPr>
          <a:xfrm>
            <a:off x="548640" y="685800"/>
            <a:ext cx="10972800" cy="731520"/>
          </a:xfrm>
          <a:prstGeom prst="rect">
            <a:avLst/>
          </a:prstGeom>
          <a:noFill/>
        </p:spPr>
        <p:txBody>
          <a:bodyPr wrap="square" anchor="t" lIns="0" rIns="0" tIns="0" bIns="0">
            <a:spAutoFit/>
          </a:bodyPr>
          <a:lstStyle/>
          <a:p>
            <a:pPr algn="l">
              <a:spcAft>
                <a:spcPts val="1530"/>
              </a:spcAft>
            </a:pPr>
            <a:r>
              <a:rPr sz="3400" b="1" i="0">
                <a:solidFill>
                  <a:srgbClr val="1C1B19"/>
                </a:solidFill>
                <a:latin typeface="Source Serif 4"/>
              </a:rPr>
              <a:t>Who's Driving?</a:t>
            </a:r>
          </a:p>
        </p:txBody>
      </p:sp>
      <p:sp>
        <p:nvSpPr>
          <p:cNvPr id="5" name="TextBox 4"/>
          <p:cNvSpPr txBox="1"/>
          <p:nvPr/>
        </p:nvSpPr>
        <p:spPr>
          <a:xfrm>
            <a:off x="548640" y="1325880"/>
            <a:ext cx="10972800" cy="365760"/>
          </a:xfrm>
          <a:prstGeom prst="rect">
            <a:avLst/>
          </a:prstGeom>
          <a:noFill/>
        </p:spPr>
        <p:txBody>
          <a:bodyPr wrap="square" anchor="t" lIns="0" rIns="0" tIns="0" bIns="0">
            <a:spAutoFit/>
          </a:bodyPr>
          <a:lstStyle/>
          <a:p>
            <a:pPr algn="l">
              <a:spcAft>
                <a:spcPts val="630"/>
              </a:spcAft>
            </a:pPr>
            <a:r>
              <a:rPr sz="1400" b="0" i="0">
                <a:solidFill>
                  <a:srgbClr val="5D5A54"/>
                </a:solidFill>
                <a:latin typeface="Inter Tight"/>
              </a:rPr>
              <a:t>Upper School  ·  45 minutes, built for a 10th-grade meeting (20-minute advisory version below)  ·  10th grade, first weeks of school</a:t>
            </a:r>
          </a:p>
        </p:txBody>
      </p:sp>
      <p:sp>
        <p:nvSpPr>
          <p:cNvPr id="6" name="TextBox 5"/>
          <p:cNvSpPr txBox="1"/>
          <p:nvPr/>
        </p:nvSpPr>
        <p:spPr>
          <a:xfrm>
            <a:off x="548640" y="1828800"/>
            <a:ext cx="5120640" cy="4389120"/>
          </a:xfrm>
          <a:prstGeom prst="rect">
            <a:avLst/>
          </a:prstGeom>
          <a:noFill/>
        </p:spPr>
        <p:txBody>
          <a:bodyPr wrap="square" anchor="t" lIns="0" rIns="0" tIns="0" bIns="0">
            <a:spAutoFit/>
          </a:bodyPr>
          <a:lstStyle/>
          <a:p>
            <a:pPr algn="l">
              <a:spcAft>
                <a:spcPts val="675"/>
              </a:spcAft>
            </a:pPr>
            <a:r>
              <a:rPr sz="1100" b="1" i="0">
                <a:solidFill>
                  <a:srgbClr val="0B2D5B"/>
                </a:solidFill>
                <a:latin typeface="Inter Tight"/>
              </a:rPr>
              <a:t>GOAL</a:t>
            </a:r>
          </a:p>
          <a:p>
            <a:pPr algn="l">
              <a:spcAft>
                <a:spcPts val="675"/>
              </a:spcAft>
            </a:pPr>
            <a:r>
              <a:rPr sz="1500" b="0" i="0">
                <a:solidFill>
                  <a:srgbClr val="1C1B19"/>
                </a:solidFill>
                <a:latin typeface="Source Serif 4"/>
              </a:rPr>
              <a:t>Students can say where a 16-year-old brain is (adult-level reasoning when things are calm, brakes for heated moments still being built), explain why friends watching changes teen choices, name the five values they want steering, and write one if-then plan made in a calm moment for a heated one. Nobody is asked what they've done.</a:t>
            </a:r>
          </a:p>
          <a:p>
            <a:pPr algn="l">
              <a:spcAft>
                <a:spcPts val="675"/>
              </a:spcAft>
            </a:pPr>
            <a:r>
              <a:rPr sz="1500" b="0" i="0">
                <a:solidFill>
                  <a:srgbClr val="1C1B19"/>
                </a:solidFill>
                <a:latin typeface="Source Serif 4"/>
              </a:rPr>
              <a:t/>
            </a:r>
          </a:p>
          <a:p>
            <a:pPr algn="l">
              <a:spcAft>
                <a:spcPts val="675"/>
              </a:spcAft>
            </a:pPr>
            <a:r>
              <a:rPr sz="1100" b="1" i="0">
                <a:solidFill>
                  <a:srgbClr val="0B2D5B"/>
                </a:solidFill>
                <a:latin typeface="Inter Tight"/>
              </a:rPr>
              <a:t>MATERIALS</a:t>
            </a:r>
          </a:p>
          <a:p>
            <a:pPr algn="l">
              <a:spcAft>
                <a:spcPts val="675"/>
              </a:spcAft>
            </a:pPr>
            <a:r>
              <a:rPr sz="1500" b="0" i="0">
                <a:solidFill>
                  <a:srgbClr val="1C1B19"/>
                </a:solidFill>
                <a:latin typeface="Source Serif 4"/>
              </a:rPr>
              <a:t>A values card for every student: 24 values on the front, "If ___, then I'll ___" on the back (list in the notes for slide 12)</a:t>
            </a:r>
          </a:p>
          <a:p>
            <a:pPr algn="l">
              <a:spcAft>
                <a:spcPts val="675"/>
              </a:spcAft>
            </a:pPr>
            <a:r>
              <a:rPr sz="1500" b="0" i="0">
                <a:solidFill>
                  <a:srgbClr val="1C1B19"/>
                </a:solidFill>
                <a:latin typeface="Source Serif 4"/>
              </a:rPr>
              <a:t>Pens or pencils</a:t>
            </a:r>
          </a:p>
          <a:p>
            <a:pPr algn="l">
              <a:spcAft>
                <a:spcPts val="675"/>
              </a:spcAft>
            </a:pPr>
            <a:r>
              <a:rPr sz="1500" b="0" i="0">
                <a:solidFill>
                  <a:srgbClr val="1C1B19"/>
                </a:solidFill>
                <a:latin typeface="Source Serif 4"/>
              </a:rPr>
              <a:t>The student page link (last slide) to share afterward</a:t>
            </a:r>
          </a:p>
        </p:txBody>
      </p:sp>
      <p:sp>
        <p:nvSpPr>
          <p:cNvPr id="7" name="TextBox 6"/>
          <p:cNvSpPr txBox="1"/>
          <p:nvPr/>
        </p:nvSpPr>
        <p:spPr>
          <a:xfrm>
            <a:off x="6126480" y="1828800"/>
            <a:ext cx="5486400" cy="4389120"/>
          </a:xfrm>
          <a:prstGeom prst="rect">
            <a:avLst/>
          </a:prstGeom>
          <a:noFill/>
        </p:spPr>
        <p:txBody>
          <a:bodyPr wrap="square" anchor="t" lIns="0" rIns="0" tIns="0" bIns="0">
            <a:spAutoFit/>
          </a:bodyPr>
          <a:lstStyle/>
          <a:p>
            <a:pPr algn="l">
              <a:spcAft>
                <a:spcPts val="630"/>
              </a:spcAft>
            </a:pPr>
            <a:r>
              <a:rPr sz="1100" b="1" i="0">
                <a:solidFill>
                  <a:srgbClr val="0B2D5B"/>
                </a:solidFill>
                <a:latin typeface="Inter Tight"/>
              </a:rPr>
              <a:t>FLOW</a:t>
            </a:r>
          </a:p>
          <a:p>
            <a:pPr algn="l">
              <a:spcAft>
                <a:spcPts val="630"/>
              </a:spcAft>
            </a:pPr>
            <a:r>
              <a:rPr sz="1300" b="1" i="0">
                <a:solidFill>
                  <a:srgbClr val="F47B20"/>
                </a:solidFill>
                <a:latin typeface="Inter Tight"/>
              </a:rPr>
              <a:t>2 min   </a:t>
            </a:r>
            <a:r>
              <a:rPr sz="1400" b="0" i="0">
                <a:solidFill>
                  <a:srgbClr val="1C1B19"/>
                </a:solidFill>
                <a:latin typeface="Source Serif 4"/>
              </a:rPr>
              <a:t>Quick vote: when is a brain done?</a:t>
            </a:r>
          </a:p>
          <a:p>
            <a:pPr algn="l">
              <a:spcAft>
                <a:spcPts val="630"/>
              </a:spcAft>
            </a:pPr>
            <a:r>
              <a:rPr sz="1300" b="1" i="0">
                <a:solidFill>
                  <a:srgbClr val="F47B20"/>
                </a:solidFill>
                <a:latin typeface="Inter Tight"/>
              </a:rPr>
              <a:t>7 min   </a:t>
            </a:r>
            <a:r>
              <a:rPr sz="1400" b="0" i="0">
                <a:solidFill>
                  <a:srgbClr val="1C1B19"/>
                </a:solidFill>
                <a:latin typeface="Source Serif 4"/>
              </a:rPr>
              <a:t>You are here (cartoon), then your own true story</a:t>
            </a:r>
          </a:p>
          <a:p>
            <a:pPr algn="l">
              <a:spcAft>
                <a:spcPts val="630"/>
              </a:spcAft>
            </a:pPr>
            <a:r>
              <a:rPr sz="1300" b="1" i="0">
                <a:solidFill>
                  <a:srgbClr val="F47B20"/>
                </a:solidFill>
                <a:latin typeface="Inter Tight"/>
              </a:rPr>
              <a:t>6 min   </a:t>
            </a:r>
            <a:r>
              <a:rPr sz="1400" b="0" i="0">
                <a:solidFill>
                  <a:srgbClr val="1C1B19"/>
                </a:solidFill>
                <a:latin typeface="Source Serif 4"/>
              </a:rPr>
              <a:t>Two speeds, and the driving game</a:t>
            </a:r>
          </a:p>
          <a:p>
            <a:pPr algn="l">
              <a:spcAft>
                <a:spcPts val="630"/>
              </a:spcAft>
            </a:pPr>
            <a:r>
              <a:rPr sz="1300" b="1" i="0">
                <a:solidFill>
                  <a:srgbClr val="F47B20"/>
                </a:solidFill>
                <a:latin typeface="Inter Tight"/>
              </a:rPr>
              <a:t>5 min   </a:t>
            </a:r>
            <a:r>
              <a:rPr sz="1400" b="0" i="0">
                <a:solidFill>
                  <a:srgbClr val="1C1B19"/>
                </a:solidFill>
                <a:latin typeface="Source Serif 4"/>
              </a:rPr>
              <a:t>Turn and talk: the ride home, or 11:14</a:t>
            </a:r>
          </a:p>
          <a:p>
            <a:pPr algn="l">
              <a:spcAft>
                <a:spcPts val="630"/>
              </a:spcAft>
            </a:pPr>
            <a:r>
              <a:rPr sz="1300" b="1" i="0">
                <a:solidFill>
                  <a:srgbClr val="F47B20"/>
                </a:solidFill>
                <a:latin typeface="Inter Tight"/>
              </a:rPr>
              <a:t>5 min   </a:t>
            </a:r>
            <a:r>
              <a:rPr sz="1400" b="0" i="0">
                <a:solidFill>
                  <a:srgbClr val="1C1B19"/>
                </a:solidFill>
                <a:latin typeface="Source Serif 4"/>
              </a:rPr>
              <a:t>Good risks, and who's grabbing the wheel</a:t>
            </a:r>
          </a:p>
          <a:p>
            <a:pPr algn="l">
              <a:spcAft>
                <a:spcPts val="630"/>
              </a:spcAft>
            </a:pPr>
            <a:r>
              <a:rPr sz="1300" b="1" i="0">
                <a:solidFill>
                  <a:srgbClr val="F47B20"/>
                </a:solidFill>
                <a:latin typeface="Inter Tight"/>
              </a:rPr>
              <a:t>5 min   </a:t>
            </a:r>
            <a:r>
              <a:rPr sz="1400" b="0" i="0">
                <a:solidFill>
                  <a:srgbClr val="1C1B19"/>
                </a:solidFill>
                <a:latin typeface="Source Serif 4"/>
              </a:rPr>
              <a:t>A real story (Simone Biles) and what the research says about values</a:t>
            </a:r>
          </a:p>
          <a:p>
            <a:pPr algn="l">
              <a:spcAft>
                <a:spcPts val="630"/>
              </a:spcAft>
            </a:pPr>
            <a:r>
              <a:rPr sz="1300" b="1" i="0">
                <a:solidFill>
                  <a:srgbClr val="F47B20"/>
                </a:solidFill>
                <a:latin typeface="Inter Tight"/>
              </a:rPr>
              <a:t>4 min   </a:t>
            </a:r>
            <a:r>
              <a:rPr sz="1400" b="0" i="0">
                <a:solidFill>
                  <a:srgbClr val="1C1B19"/>
                </a:solidFill>
                <a:latin typeface="Source Serif 4"/>
              </a:rPr>
              <a:t>Pick five</a:t>
            </a:r>
          </a:p>
          <a:p>
            <a:pPr algn="l">
              <a:spcAft>
                <a:spcPts val="630"/>
              </a:spcAft>
            </a:pPr>
            <a:r>
              <a:rPr sz="1300" b="1" i="0">
                <a:solidFill>
                  <a:srgbClr val="F47B20"/>
                </a:solidFill>
                <a:latin typeface="Inter Tight"/>
              </a:rPr>
              <a:t>6 min   </a:t>
            </a:r>
            <a:r>
              <a:rPr sz="1400" b="0" i="0">
                <a:solidFill>
                  <a:srgbClr val="1C1B19"/>
                </a:solidFill>
                <a:latin typeface="Source Serif 4"/>
              </a:rPr>
              <a:t>Turn and talk: your star value takes the wheel</a:t>
            </a:r>
          </a:p>
          <a:p>
            <a:pPr algn="l">
              <a:spcAft>
                <a:spcPts val="630"/>
              </a:spcAft>
            </a:pPr>
            <a:r>
              <a:rPr sz="1300" b="1" i="0">
                <a:solidFill>
                  <a:srgbClr val="F47B20"/>
                </a:solidFill>
                <a:latin typeface="Inter Tight"/>
              </a:rPr>
              <a:t>5 min   </a:t>
            </a:r>
            <a:r>
              <a:rPr sz="1400" b="0" i="0">
                <a:solidFill>
                  <a:srgbClr val="1C1B19"/>
                </a:solidFill>
                <a:latin typeface="Source Serif 4"/>
              </a:rPr>
              <a:t>If-then plans, your plan, and what's next</a:t>
            </a:r>
          </a:p>
          <a:p>
            <a:pPr algn="l">
              <a:spcAft>
                <a:spcPts val="630"/>
              </a:spcAft>
            </a:pPr>
            <a:r>
              <a:rPr sz="1400" b="0" i="0">
                <a:solidFill>
                  <a:srgbClr val="1C1B19"/>
                </a:solidFill>
                <a:latin typeface="Source Serif 4"/>
              </a:rPr>
              <a:t/>
            </a:r>
          </a:p>
          <a:p>
            <a:pPr algn="l">
              <a:spcAft>
                <a:spcPts val="630"/>
              </a:spcAft>
            </a:pPr>
            <a:r>
              <a:rPr sz="1100" b="1" i="0">
                <a:solidFill>
                  <a:srgbClr val="0B2D5B"/>
                </a:solidFill>
                <a:latin typeface="Inter Tight"/>
              </a:rPr>
              <a:t>SHORT ON TIME (20-MINUTE ADVISORY)</a:t>
            </a:r>
          </a:p>
          <a:p>
            <a:pPr algn="l">
              <a:spcAft>
                <a:spcPts val="630"/>
              </a:spcAft>
            </a:pPr>
            <a:r>
              <a:rPr sz="1400" b="0" i="0">
                <a:solidFill>
                  <a:srgbClr val="1C1B19"/>
                </a:solidFill>
                <a:latin typeface="Source Serif 4"/>
              </a:rPr>
              <a:t>Quick vote (2), the road-work and two-speeds cartoons (5), one turn-and-talk (5), pick five (4), one if-then plan (4). Share the student page for the rest.</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show="0">
  <p:cSld>
    <p:bg>
      <p:bgPr>
        <a:solidFill>
          <a:srgbClr val="EEEBE4"/>
        </a:solidFill>
        <a:effectLst/>
      </p:bgPr>
    </p:bg>
    <p:spTree>
      <p:nvGrpSpPr>
        <p:cNvPr id="1" name=""/>
        <p:cNvGrpSpPr/>
        <p:nvPr/>
      </p:nvGrpSpPr>
      <p:grpSpPr/>
      <p:sp>
        <p:nvSpPr>
          <p:cNvPr id="2" name="Rectangle 1"/>
          <p:cNvSpPr/>
          <p:nvPr/>
        </p:nvSpPr>
        <p:spPr>
          <a:xfrm>
            <a:off x="0" y="0"/>
            <a:ext cx="12191695" cy="384048"/>
          </a:xfrm>
          <a:prstGeom prst="rect">
            <a:avLst/>
          </a:prstGeom>
          <a:solidFill>
            <a:srgbClr val="0B2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0584"/>
            <a:ext cx="10972800" cy="274320"/>
          </a:xfrm>
          <a:prstGeom prst="rect">
            <a:avLst/>
          </a:prstGeom>
          <a:noFill/>
        </p:spPr>
        <p:txBody>
          <a:bodyPr wrap="square" anchor="t" lIns="0" rIns="0" tIns="0" bIns="0">
            <a:spAutoFit/>
          </a:bodyPr>
          <a:lstStyle/>
          <a:p>
            <a:pPr algn="l">
              <a:spcAft>
                <a:spcPts val="495"/>
              </a:spcAft>
            </a:pPr>
            <a:r>
              <a:rPr sz="1100" b="1" i="0">
                <a:solidFill>
                  <a:srgbClr val="FFFFFF"/>
                </a:solidFill>
                <a:latin typeface="Inter Tight"/>
              </a:rPr>
              <a:t>TEACHER PAGE  ·  skipped when you present  ·  Before you teach</a:t>
            </a:r>
          </a:p>
        </p:txBody>
      </p:sp>
      <p:sp>
        <p:nvSpPr>
          <p:cNvPr id="4" name="TextBox 3"/>
          <p:cNvSpPr txBox="1"/>
          <p:nvPr/>
        </p:nvSpPr>
        <p:spPr>
          <a:xfrm>
            <a:off x="548640" y="685800"/>
            <a:ext cx="10972800" cy="640080"/>
          </a:xfrm>
          <a:prstGeom prst="rect">
            <a:avLst/>
          </a:prstGeom>
          <a:noFill/>
        </p:spPr>
        <p:txBody>
          <a:bodyPr wrap="square" anchor="t" lIns="0" rIns="0" tIns="0" bIns="0">
            <a:spAutoFit/>
          </a:bodyPr>
          <a:lstStyle/>
          <a:p>
            <a:pPr algn="l">
              <a:spcAft>
                <a:spcPts val="1350"/>
              </a:spcAft>
            </a:pPr>
            <a:r>
              <a:rPr sz="3000" b="1" i="0">
                <a:solidFill>
                  <a:srgbClr val="1C1B19"/>
                </a:solidFill>
                <a:latin typeface="Source Serif 4"/>
              </a:rPr>
              <a:t>Before you teach</a:t>
            </a:r>
          </a:p>
        </p:txBody>
      </p:sp>
      <p:sp>
        <p:nvSpPr>
          <p:cNvPr id="5" name="TextBox 4"/>
          <p:cNvSpPr txBox="1"/>
          <p:nvPr/>
        </p:nvSpPr>
        <p:spPr>
          <a:xfrm>
            <a:off x="548640" y="1463040"/>
            <a:ext cx="5394960" cy="4937760"/>
          </a:xfrm>
          <a:prstGeom prst="rect">
            <a:avLst/>
          </a:prstGeom>
          <a:noFill/>
        </p:spPr>
        <p:txBody>
          <a:bodyPr wrap="square" anchor="t" lIns="0" rIns="0" tIns="0" bIns="0">
            <a:spAutoFit/>
          </a:bodyPr>
          <a:lstStyle/>
          <a:p>
            <a:pPr algn="l">
              <a:spcAft>
                <a:spcPts val="585"/>
              </a:spcAft>
            </a:pPr>
            <a:r>
              <a:rPr sz="1500" b="1" i="0">
                <a:solidFill>
                  <a:srgbClr val="1C1B19"/>
                </a:solidFill>
                <a:latin typeface="Source Serif 4"/>
              </a:rPr>
              <a:t>Skip "your brain is broken."</a:t>
            </a:r>
          </a:p>
          <a:p>
            <a:pPr algn="l">
              <a:spcAft>
                <a:spcPts val="585"/>
              </a:spcAft>
            </a:pPr>
            <a:r>
              <a:rPr sz="1300" b="0" i="0">
                <a:solidFill>
                  <a:srgbClr val="1C1B19"/>
                </a:solidFill>
                <a:latin typeface="Source Serif 4"/>
              </a:rPr>
              <a:t>Teens hear "your brain isn't done until 25" as an insult or an excuse. The research gives better news: when it's calm, a 16-year-old reasons as well as an adult. Keep coming back to that.</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The 25 number is softer than it sounds.</a:t>
            </a:r>
          </a:p>
          <a:p>
            <a:pPr algn="l">
              <a:spcAft>
                <a:spcPts val="585"/>
              </a:spcAft>
            </a:pPr>
            <a:r>
              <a:rPr sz="1300" b="0" i="0">
                <a:solidFill>
                  <a:srgbClr val="1C1B19"/>
                </a:solidFill>
                <a:latin typeface="Source Serif 4"/>
              </a:rPr>
              <a:t>It comes from scan studies where change slowed in the mid-20s. Brains keep changing for life. Say "into your mid-20s," not "done at 25."</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Keep it in the car on the slide.</a:t>
            </a:r>
          </a:p>
          <a:p>
            <a:pPr algn="l">
              <a:spcAft>
                <a:spcPts val="585"/>
              </a:spcAft>
            </a:pPr>
            <a:r>
              <a:rPr sz="1300" b="0" i="0">
                <a:solidFill>
                  <a:srgbClr val="1C1B19"/>
                </a:solidFill>
                <a:latin typeface="Source Serif 4"/>
              </a:rPr>
              <a:t>The car at 11:14 is made up. Don't ask who has been in that car or what happened there.</a:t>
            </a:r>
          </a:p>
          <a:p>
            <a:pPr algn="l">
              <a:spcAft>
                <a:spcPts val="585"/>
              </a:spcAft>
            </a:pPr>
            <a:r>
              <a:rPr sz="1300" b="0" i="0">
                <a:solidFill>
                  <a:srgbClr val="1C1B19"/>
                </a:solidFill>
                <a:latin typeface="Source Serif 4"/>
              </a:rPr>
              <a:t/>
            </a:r>
          </a:p>
        </p:txBody>
      </p:sp>
      <p:sp>
        <p:nvSpPr>
          <p:cNvPr id="6" name="TextBox 5"/>
          <p:cNvSpPr txBox="1"/>
          <p:nvPr/>
        </p:nvSpPr>
        <p:spPr>
          <a:xfrm>
            <a:off x="6217920" y="1463040"/>
            <a:ext cx="5394960" cy="4937760"/>
          </a:xfrm>
          <a:prstGeom prst="rect">
            <a:avLst/>
          </a:prstGeom>
          <a:noFill/>
        </p:spPr>
        <p:txBody>
          <a:bodyPr wrap="square" anchor="t" lIns="0" rIns="0" tIns="0" bIns="0">
            <a:spAutoFit/>
          </a:bodyPr>
          <a:lstStyle/>
          <a:p>
            <a:pPr algn="l">
              <a:spcAft>
                <a:spcPts val="585"/>
              </a:spcAft>
            </a:pPr>
            <a:r>
              <a:rPr sz="1500" b="1" i="0">
                <a:solidFill>
                  <a:srgbClr val="1C1B19"/>
                </a:solidFill>
                <a:latin typeface="Source Serif 4"/>
              </a:rPr>
              <a:t>Not everyone drives.</a:t>
            </a:r>
          </a:p>
          <a:p>
            <a:pPr algn="l">
              <a:spcAft>
                <a:spcPts val="585"/>
              </a:spcAft>
            </a:pPr>
            <a:r>
              <a:rPr sz="1300" b="0" i="0">
                <a:solidFill>
                  <a:srgbClr val="1C1B19"/>
                </a:solidFill>
                <a:latin typeface="Source Serif 4"/>
              </a:rPr>
              <a:t>Some students won't get a license this year for money, family or other reasons. The passenger seat counts. The driver's seat in this talk means who decides.</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Big room, small moves.</a:t>
            </a:r>
          </a:p>
          <a:p>
            <a:pPr algn="l">
              <a:spcAft>
                <a:spcPts val="585"/>
              </a:spcAft>
            </a:pPr>
            <a:r>
              <a:rPr sz="1300" b="0" i="0">
                <a:solidFill>
                  <a:srgbClr val="1C1B19"/>
                </a:solidFill>
                <a:latin typeface="Source Serif 4"/>
              </a:rPr>
              <a:t>In a grade meeting, keep participation low-risk: hands, cards, standing up. Nobody talks into a microphone about themselves.</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If someone tells you something.</a:t>
            </a:r>
          </a:p>
          <a:p>
            <a:pPr algn="l">
              <a:spcAft>
                <a:spcPts val="585"/>
              </a:spcAft>
            </a:pPr>
            <a:r>
              <a:rPr sz="1300" b="0" i="0">
                <a:solidFill>
                  <a:srgbClr val="1C1B19"/>
                </a:solidFill>
                <a:latin typeface="Source Serif 4"/>
              </a:rPr>
              <a:t>If a student mentions riding with an impaired driver, or anything worse, thank them and follow up one on one that day.</a:t>
            </a:r>
          </a:p>
          <a:p>
            <a:pPr algn="l">
              <a:spcAft>
                <a:spcPts val="585"/>
              </a:spcAft>
            </a:pPr>
            <a:r>
              <a:rPr sz="1300" b="0" i="0">
                <a:solidFill>
                  <a:srgbClr val="1C1B19"/>
                </a:solidFill>
                <a:latin typeface="Source Serif 4"/>
              </a:rPr>
              <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show="0">
  <p:cSld>
    <p:bg>
      <p:bgPr>
        <a:solidFill>
          <a:srgbClr val="EEEBE4"/>
        </a:solidFill>
        <a:effectLst/>
      </p:bgPr>
    </p:bg>
    <p:spTree>
      <p:nvGrpSpPr>
        <p:cNvPr id="1" name=""/>
        <p:cNvGrpSpPr/>
        <p:nvPr/>
      </p:nvGrpSpPr>
      <p:grpSpPr/>
      <p:sp>
        <p:nvSpPr>
          <p:cNvPr id="2" name="Rectangle 1"/>
          <p:cNvSpPr/>
          <p:nvPr/>
        </p:nvSpPr>
        <p:spPr>
          <a:xfrm>
            <a:off x="0" y="0"/>
            <a:ext cx="12191695" cy="384048"/>
          </a:xfrm>
          <a:prstGeom prst="rect">
            <a:avLst/>
          </a:prstGeom>
          <a:solidFill>
            <a:srgbClr val="0B2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0584"/>
            <a:ext cx="10972800" cy="274320"/>
          </a:xfrm>
          <a:prstGeom prst="rect">
            <a:avLst/>
          </a:prstGeom>
          <a:noFill/>
        </p:spPr>
        <p:txBody>
          <a:bodyPr wrap="square" anchor="t" lIns="0" rIns="0" tIns="0" bIns="0">
            <a:spAutoFit/>
          </a:bodyPr>
          <a:lstStyle/>
          <a:p>
            <a:pPr algn="l">
              <a:spcAft>
                <a:spcPts val="495"/>
              </a:spcAft>
            </a:pPr>
            <a:r>
              <a:rPr sz="1100" b="1" i="0">
                <a:solidFill>
                  <a:srgbClr val="FFFFFF"/>
                </a:solidFill>
                <a:latin typeface="Inter Tight"/>
              </a:rPr>
              <a:t>TEACHER PAGE  ·  skipped when you present  ·  Every student in the room</a:t>
            </a:r>
          </a:p>
        </p:txBody>
      </p:sp>
      <p:sp>
        <p:nvSpPr>
          <p:cNvPr id="4" name="TextBox 3"/>
          <p:cNvSpPr txBox="1"/>
          <p:nvPr/>
        </p:nvSpPr>
        <p:spPr>
          <a:xfrm>
            <a:off x="548640" y="685800"/>
            <a:ext cx="10972800" cy="640080"/>
          </a:xfrm>
          <a:prstGeom prst="rect">
            <a:avLst/>
          </a:prstGeom>
          <a:noFill/>
        </p:spPr>
        <p:txBody>
          <a:bodyPr wrap="square" anchor="t" lIns="0" rIns="0" tIns="0" bIns="0">
            <a:spAutoFit/>
          </a:bodyPr>
          <a:lstStyle/>
          <a:p>
            <a:pPr algn="l">
              <a:spcAft>
                <a:spcPts val="1350"/>
              </a:spcAft>
            </a:pPr>
            <a:r>
              <a:rPr sz="3000" b="1" i="0">
                <a:solidFill>
                  <a:srgbClr val="1C1B19"/>
                </a:solidFill>
                <a:latin typeface="Source Serif 4"/>
              </a:rPr>
              <a:t>Every student in the room</a:t>
            </a:r>
          </a:p>
        </p:txBody>
      </p:sp>
      <p:sp>
        <p:nvSpPr>
          <p:cNvPr id="5" name="TextBox 4"/>
          <p:cNvSpPr txBox="1"/>
          <p:nvPr/>
        </p:nvSpPr>
        <p:spPr>
          <a:xfrm>
            <a:off x="548640" y="1325880"/>
            <a:ext cx="10972800" cy="365760"/>
          </a:xfrm>
          <a:prstGeom prst="rect">
            <a:avLst/>
          </a:prstGeom>
          <a:noFill/>
        </p:spPr>
        <p:txBody>
          <a:bodyPr wrap="square" anchor="t" lIns="0" rIns="0" tIns="0" bIns="0">
            <a:spAutoFit/>
          </a:bodyPr>
          <a:lstStyle/>
          <a:p>
            <a:pPr algn="l">
              <a:spcAft>
                <a:spcPts val="630"/>
              </a:spcAft>
            </a:pPr>
            <a:r>
              <a:rPr sz="1400" b="0" i="0">
                <a:solidFill>
                  <a:srgbClr val="5D5A54"/>
                </a:solidFill>
                <a:latin typeface="Inter Tight"/>
              </a:rPr>
              <a:t>Culture, family, identity, ability and money: what to keep in mind for this topic.</a:t>
            </a:r>
          </a:p>
        </p:txBody>
      </p:sp>
      <p:sp>
        <p:nvSpPr>
          <p:cNvPr id="6" name="TextBox 5"/>
          <p:cNvSpPr txBox="1"/>
          <p:nvPr/>
        </p:nvSpPr>
        <p:spPr>
          <a:xfrm>
            <a:off x="548640" y="1828800"/>
            <a:ext cx="5394960" cy="4572000"/>
          </a:xfrm>
          <a:prstGeom prst="rect">
            <a:avLst/>
          </a:prstGeom>
          <a:noFill/>
        </p:spPr>
        <p:txBody>
          <a:bodyPr wrap="square" anchor="t" lIns="0" rIns="0" tIns="0" bIns="0">
            <a:spAutoFit/>
          </a:bodyPr>
          <a:lstStyle/>
          <a:p>
            <a:pPr algn="l">
              <a:spcAft>
                <a:spcPts val="585"/>
              </a:spcAft>
            </a:pPr>
            <a:r>
              <a:rPr sz="1500" b="1" i="0">
                <a:solidFill>
                  <a:srgbClr val="1C1B19"/>
                </a:solidFill>
                <a:latin typeface="Source Serif 4"/>
              </a:rPr>
              <a:t>Values aren't only individual.</a:t>
            </a:r>
          </a:p>
          <a:p>
            <a:pPr algn="l">
              <a:spcAft>
                <a:spcPts val="585"/>
              </a:spcAft>
            </a:pPr>
            <a:r>
              <a:rPr sz="1300" b="0" i="0">
                <a:solidFill>
                  <a:srgbClr val="1C1B19"/>
                </a:solidFill>
                <a:latin typeface="Source Serif 4"/>
              </a:rPr>
              <a:t>Many students come from families and cultures where duty, family honor, faith and community come first. Those are values at the wheel, not someone else driving.</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Independence means different things.</a:t>
            </a:r>
          </a:p>
          <a:p>
            <a:pPr algn="l">
              <a:spcAft>
                <a:spcPts val="585"/>
              </a:spcAft>
            </a:pPr>
            <a:r>
              <a:rPr sz="1300" b="0" i="0">
                <a:solidFill>
                  <a:srgbClr val="1C1B19"/>
                </a:solidFill>
                <a:latin typeface="Source Serif 4"/>
              </a:rPr>
              <a:t>The research framed healthy choices as not being manipulated by people selling you something. That's different from going against your family. Say so out loud.</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A license costs money.</a:t>
            </a:r>
          </a:p>
          <a:p>
            <a:pPr algn="l">
              <a:spcAft>
                <a:spcPts val="585"/>
              </a:spcAft>
            </a:pPr>
            <a:r>
              <a:rPr sz="1300" b="0" i="0">
                <a:solidFill>
                  <a:srgbClr val="1C1B19"/>
                </a:solidFill>
                <a:latin typeface="Source Serif 4"/>
              </a:rPr>
              <a:t>Driver's ed, a car and insurance aren't equally available. Use the car as a picture of who decides, and never as a status marker.</a:t>
            </a:r>
          </a:p>
          <a:p>
            <a:pPr algn="l">
              <a:spcAft>
                <a:spcPts val="585"/>
              </a:spcAft>
            </a:pPr>
            <a:r>
              <a:rPr sz="1300" b="0" i="0">
                <a:solidFill>
                  <a:srgbClr val="1C1B19"/>
                </a:solidFill>
                <a:latin typeface="Source Serif 4"/>
              </a:rPr>
              <a:t/>
            </a:r>
          </a:p>
        </p:txBody>
      </p:sp>
      <p:sp>
        <p:nvSpPr>
          <p:cNvPr id="7" name="TextBox 6"/>
          <p:cNvSpPr txBox="1"/>
          <p:nvPr/>
        </p:nvSpPr>
        <p:spPr>
          <a:xfrm>
            <a:off x="6217920" y="1828800"/>
            <a:ext cx="5394960" cy="4572000"/>
          </a:xfrm>
          <a:prstGeom prst="rect">
            <a:avLst/>
          </a:prstGeom>
          <a:noFill/>
        </p:spPr>
        <p:txBody>
          <a:bodyPr wrap="square" anchor="t" lIns="0" rIns="0" tIns="0" bIns="0">
            <a:spAutoFit/>
          </a:bodyPr>
          <a:lstStyle/>
          <a:p>
            <a:pPr algn="l">
              <a:spcAft>
                <a:spcPts val="585"/>
              </a:spcAft>
            </a:pPr>
            <a:r>
              <a:rPr sz="1500" b="1" i="0">
                <a:solidFill>
                  <a:srgbClr val="1C1B19"/>
                </a:solidFill>
                <a:latin typeface="Source Serif 4"/>
              </a:rPr>
              <a:t>Police and the 911 call.</a:t>
            </a:r>
          </a:p>
          <a:p>
            <a:pPr algn="l">
              <a:spcAft>
                <a:spcPts val="585"/>
              </a:spcAft>
            </a:pPr>
            <a:r>
              <a:rPr sz="1300" b="0" i="0">
                <a:solidFill>
                  <a:srgbClr val="1C1B19"/>
                </a:solidFill>
                <a:latin typeface="Source Serif 4"/>
              </a:rPr>
              <a:t>Some students fear what police contact could mean for them or their family. A code word, a trusted adult's pickup, or a friend's parent are full options, not the backup plan.</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Brains differ.</a:t>
            </a:r>
          </a:p>
          <a:p>
            <a:pPr algn="l">
              <a:spcAft>
                <a:spcPts val="585"/>
              </a:spcAft>
            </a:pPr>
            <a:r>
              <a:rPr sz="1300" b="0" i="0">
                <a:solidFill>
                  <a:srgbClr val="1C1B19"/>
                </a:solidFill>
                <a:latin typeface="Source Serif 4"/>
              </a:rPr>
              <a:t>ADHD and other differences change how the brakes feel. Impulsivity isn't a character flaw. Avoid "just think first."</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Every gender, every friend group.</a:t>
            </a:r>
          </a:p>
          <a:p>
            <a:pPr algn="l">
              <a:spcAft>
                <a:spcPts val="585"/>
              </a:spcAft>
            </a:pPr>
            <a:r>
              <a:rPr sz="1300" b="0" i="0">
                <a:solidFill>
                  <a:srgbClr val="1C1B19"/>
                </a:solidFill>
                <a:latin typeface="Source Serif 4"/>
              </a:rPr>
              <a:t>Pressure isn't only boys daring boys. It shows up in group chats, on teams, in quiet friend groups. Use varied names and examples.</a:t>
            </a:r>
          </a:p>
          <a:p>
            <a:pPr algn="l">
              <a:spcAft>
                <a:spcPts val="585"/>
              </a:spcAft>
            </a:pPr>
            <a:r>
              <a:rPr sz="1300" b="0" i="0">
                <a:solidFill>
                  <a:srgbClr val="1C1B19"/>
                </a:solidFill>
                <a:latin typeface="Source Serif 4"/>
              </a:rPr>
              <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show="0">
  <p:cSld>
    <p:bg>
      <p:bgPr>
        <a:solidFill>
          <a:srgbClr val="EEEBE4"/>
        </a:solidFill>
        <a:effectLst/>
      </p:bgPr>
    </p:bg>
    <p:spTree>
      <p:nvGrpSpPr>
        <p:cNvPr id="1" name=""/>
        <p:cNvGrpSpPr/>
        <p:nvPr/>
      </p:nvGrpSpPr>
      <p:grpSpPr/>
      <p:sp>
        <p:nvSpPr>
          <p:cNvPr id="2" name="Rectangle 1"/>
          <p:cNvSpPr/>
          <p:nvPr/>
        </p:nvSpPr>
        <p:spPr>
          <a:xfrm>
            <a:off x="0" y="0"/>
            <a:ext cx="12191695" cy="384048"/>
          </a:xfrm>
          <a:prstGeom prst="rect">
            <a:avLst/>
          </a:prstGeom>
          <a:solidFill>
            <a:srgbClr val="0B2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0584"/>
            <a:ext cx="10972800" cy="274320"/>
          </a:xfrm>
          <a:prstGeom prst="rect">
            <a:avLst/>
          </a:prstGeom>
          <a:noFill/>
        </p:spPr>
        <p:txBody>
          <a:bodyPr wrap="square" anchor="t" lIns="0" rIns="0" tIns="0" bIns="0">
            <a:spAutoFit/>
          </a:bodyPr>
          <a:lstStyle/>
          <a:p>
            <a:pPr algn="l">
              <a:spcAft>
                <a:spcPts val="495"/>
              </a:spcAft>
            </a:pPr>
            <a:r>
              <a:rPr sz="1100" b="1" i="0">
                <a:solidFill>
                  <a:srgbClr val="FFFFFF"/>
                </a:solidFill>
                <a:latin typeface="Inter Tight"/>
              </a:rPr>
              <a:t>TEACHER PAGE  ·  skipped when you present  ·  Background</a:t>
            </a:r>
          </a:p>
        </p:txBody>
      </p:sp>
      <p:sp>
        <p:nvSpPr>
          <p:cNvPr id="4" name="TextBox 3"/>
          <p:cNvSpPr txBox="1"/>
          <p:nvPr/>
        </p:nvSpPr>
        <p:spPr>
          <a:xfrm>
            <a:off x="548640" y="685800"/>
            <a:ext cx="10972800" cy="640080"/>
          </a:xfrm>
          <a:prstGeom prst="rect">
            <a:avLst/>
          </a:prstGeom>
          <a:noFill/>
        </p:spPr>
        <p:txBody>
          <a:bodyPr wrap="square" anchor="t" lIns="0" rIns="0" tIns="0" bIns="0">
            <a:spAutoFit/>
          </a:bodyPr>
          <a:lstStyle/>
          <a:p>
            <a:pPr algn="l">
              <a:spcAft>
                <a:spcPts val="1350"/>
              </a:spcAft>
            </a:pPr>
            <a:r>
              <a:rPr sz="3000" b="1" i="0">
                <a:solidFill>
                  <a:srgbClr val="1C1B19"/>
                </a:solidFill>
                <a:latin typeface="Source Serif 4"/>
              </a:rPr>
              <a:t>What the research says</a:t>
            </a:r>
          </a:p>
        </p:txBody>
      </p:sp>
      <p:sp>
        <p:nvSpPr>
          <p:cNvPr id="5" name="TextBox 4"/>
          <p:cNvSpPr txBox="1"/>
          <p:nvPr/>
        </p:nvSpPr>
        <p:spPr>
          <a:xfrm>
            <a:off x="548640" y="1463040"/>
            <a:ext cx="5394960" cy="4937760"/>
          </a:xfrm>
          <a:prstGeom prst="rect">
            <a:avLst/>
          </a:prstGeom>
          <a:noFill/>
        </p:spPr>
        <p:txBody>
          <a:bodyPr wrap="square" anchor="t" lIns="0" rIns="0" tIns="0" bIns="0">
            <a:spAutoFit/>
          </a:bodyPr>
          <a:lstStyle/>
          <a:p>
            <a:pPr algn="l">
              <a:spcAft>
                <a:spcPts val="585"/>
              </a:spcAft>
            </a:pPr>
            <a:r>
              <a:rPr sz="1300" b="0" i="0">
                <a:solidFill>
                  <a:srgbClr val="1C1B19"/>
                </a:solidFill>
                <a:latin typeface="Source Serif 4"/>
              </a:rPr>
              <a:t>Across 5,227 people ages 10 to 30 in 11 countries, reasoning and planning (cognitive capacity) leveled off at adult levels around 16. The ability to hold back when excited or pressured (psychosocial maturity) kept developing past 18 and into the 20s. The authors call the difference a "maturity gap."</a:t>
            </a:r>
          </a:p>
          <a:p>
            <a:pPr algn="l">
              <a:spcAft>
                <a:spcPts val="585"/>
              </a:spcAft>
            </a:pPr>
            <a:r>
              <a:rPr sz="1050" b="0" i="0">
                <a:solidFill>
                  <a:srgbClr val="5D5A54"/>
                </a:solidFill>
                <a:latin typeface="Inter Tight"/>
              </a:rPr>
              <a:t>Icenogle et al., Law and Human Behavior, 2019</a:t>
            </a:r>
          </a:p>
          <a:p>
            <a:pPr algn="l">
              <a:spcAft>
                <a:spcPts val="585"/>
              </a:spcAft>
            </a:pPr>
            <a:r>
              <a:rPr sz="1300" b="0" i="0">
                <a:solidFill>
                  <a:srgbClr val="1C1B19"/>
                </a:solidFill>
                <a:latin typeface="Source Serif 4"/>
              </a:rPr>
              <a:t>Teens, college students and adults played a driving game alone or with two friends watching. Alone, the groups drove much the same. With friends watching, teens took more risks, college students somewhat more, and adults no more than alone.</a:t>
            </a:r>
          </a:p>
          <a:p>
            <a:pPr algn="l">
              <a:spcAft>
                <a:spcPts val="585"/>
              </a:spcAft>
            </a:pPr>
            <a:r>
              <a:rPr sz="1050" b="0" i="0">
                <a:solidFill>
                  <a:srgbClr val="5D5A54"/>
                </a:solidFill>
                <a:latin typeface="Inter Tight"/>
              </a:rPr>
              <a:t>Gardner &amp; Steinberg, Developmental Psychology, 2005</a:t>
            </a:r>
          </a:p>
          <a:p>
            <a:pPr algn="l">
              <a:spcAft>
                <a:spcPts val="585"/>
              </a:spcAft>
            </a:pPr>
            <a:r>
              <a:rPr sz="1300" b="0" i="0">
                <a:solidFill>
                  <a:srgbClr val="1C1B19"/>
                </a:solidFill>
                <a:latin typeface="Source Serif 4"/>
              </a:rPr>
              <a:t>In brain scans during the same kind of driving game, reward regions were more active in teens when they knew friends were watching. Adults showed no such change.</a:t>
            </a:r>
          </a:p>
          <a:p>
            <a:pPr algn="l">
              <a:spcAft>
                <a:spcPts val="585"/>
              </a:spcAft>
            </a:pPr>
            <a:r>
              <a:rPr sz="1050" b="0" i="0">
                <a:solidFill>
                  <a:srgbClr val="5D5A54"/>
                </a:solidFill>
                <a:latin typeface="Inter Tight"/>
              </a:rPr>
              <a:t>Chein, Albert, O'Brien, Uckert &amp; Steinberg, Developmental Science, 2011</a:t>
            </a:r>
          </a:p>
          <a:p>
            <a:pPr algn="l">
              <a:spcAft>
                <a:spcPts val="585"/>
              </a:spcAft>
            </a:pPr>
            <a:r>
              <a:rPr sz="1300" b="0" i="0">
                <a:solidFill>
                  <a:srgbClr val="1C1B19"/>
                </a:solidFill>
                <a:latin typeface="Source Serif 4"/>
              </a:rPr>
              <a:t>Peers push the other way too: 12- to 16-year-olds gave more to a group in a public goods game when same-age peers were watching, and more again when peers approved of giving.</a:t>
            </a:r>
          </a:p>
          <a:p>
            <a:pPr algn="l">
              <a:spcAft>
                <a:spcPts val="585"/>
              </a:spcAft>
            </a:pPr>
            <a:r>
              <a:rPr sz="1050" b="0" i="0">
                <a:solidFill>
                  <a:srgbClr val="5D5A54"/>
                </a:solidFill>
                <a:latin typeface="Inter Tight"/>
              </a:rPr>
              <a:t>van Hoorn et al., Social Cognitive and Affective Neuroscience, 2016</a:t>
            </a:r>
          </a:p>
        </p:txBody>
      </p:sp>
      <p:sp>
        <p:nvSpPr>
          <p:cNvPr id="6" name="TextBox 5"/>
          <p:cNvSpPr txBox="1"/>
          <p:nvPr/>
        </p:nvSpPr>
        <p:spPr>
          <a:xfrm>
            <a:off x="6217920" y="1463040"/>
            <a:ext cx="5394960" cy="4937760"/>
          </a:xfrm>
          <a:prstGeom prst="rect">
            <a:avLst/>
          </a:prstGeom>
          <a:noFill/>
        </p:spPr>
        <p:txBody>
          <a:bodyPr wrap="square" anchor="t" lIns="0" rIns="0" tIns="0" bIns="0">
            <a:spAutoFit/>
          </a:bodyPr>
          <a:lstStyle/>
          <a:p>
            <a:pPr algn="l">
              <a:spcAft>
                <a:spcPts val="585"/>
              </a:spcAft>
            </a:pPr>
            <a:r>
              <a:rPr sz="1300" b="0" i="0">
                <a:solidFill>
                  <a:srgbClr val="1C1B19"/>
                </a:solidFill>
                <a:latin typeface="Source Serif 4"/>
              </a:rPr>
              <a:t>In a randomized study of 536 eighth graders, standard health lessons did little. A lesson exposing how food marketers try to manipulate teens, framed around independence and fairness, led students to choose fewer sugary snacks and drinks. A follow-up found boys cut junk-food purchases by about a third for the rest of the semester.</a:t>
            </a:r>
          </a:p>
          <a:p>
            <a:pPr algn="l">
              <a:spcAft>
                <a:spcPts val="585"/>
              </a:spcAft>
            </a:pPr>
            <a:r>
              <a:rPr sz="1050" b="0" i="0">
                <a:solidFill>
                  <a:srgbClr val="5D5A54"/>
                </a:solidFill>
                <a:latin typeface="Inter Tight"/>
              </a:rPr>
              <a:t>Bryan, Yeager et al., PNAS, 2016; Bryan et al., Nature Human Behaviour, 2019</a:t>
            </a:r>
          </a:p>
          <a:p>
            <a:pPr algn="l">
              <a:spcAft>
                <a:spcPts val="585"/>
              </a:spcAft>
            </a:pPr>
            <a:r>
              <a:rPr sz="1300" b="0" i="0">
                <a:solidFill>
                  <a:srgbClr val="1C1B19"/>
                </a:solidFill>
                <a:latin typeface="Source Serif 4"/>
              </a:rPr>
              <a:t>Across 94 studies, people who made if-then plans ("If X happens, I'll do Y") followed through on goals much more often than people who only set the goal.</a:t>
            </a:r>
          </a:p>
          <a:p>
            <a:pPr algn="l">
              <a:spcAft>
                <a:spcPts val="585"/>
              </a:spcAft>
            </a:pPr>
            <a:r>
              <a:rPr sz="1050" b="0" i="0">
                <a:solidFill>
                  <a:srgbClr val="5D5A54"/>
                </a:solidFill>
                <a:latin typeface="Inter Tight"/>
              </a:rPr>
              <a:t>Gollwitzer &amp; Sheeran, Advances in Experimental Social Psychology, 2006</a:t>
            </a:r>
          </a:p>
          <a:p>
            <a:pPr algn="l">
              <a:spcAft>
                <a:spcPts val="585"/>
              </a:spcAft>
            </a:pPr>
            <a:r>
              <a:rPr sz="1300" b="0" i="0">
                <a:solidFill>
                  <a:srgbClr val="1C1B19"/>
                </a:solidFill>
                <a:latin typeface="Source Serif 4"/>
              </a:rPr>
              <a:t>At the Tokyo Olympics (held in 2021), Simone Biles withdrew from the women's team final after one vault, citing the "twisties" and her mental health, and later withdrew from other finals. She returned to win bronze on the balance beam.</a:t>
            </a:r>
          </a:p>
          <a:p>
            <a:pPr algn="l">
              <a:spcAft>
                <a:spcPts val="585"/>
              </a:spcAft>
            </a:pPr>
            <a:r>
              <a:rPr sz="1050" b="0" i="0">
                <a:solidFill>
                  <a:srgbClr val="5D5A54"/>
                </a:solidFill>
                <a:latin typeface="Inter Tight"/>
              </a:rPr>
              <a:t>Widely reported, July and August 2021</a:t>
            </a:r>
          </a:p>
          <a:p>
            <a:pPr algn="l">
              <a:spcAft>
                <a:spcPts val="585"/>
              </a:spcAft>
            </a:pPr>
            <a:r>
              <a:rPr sz="1300" b="0" i="0">
                <a:solidFill>
                  <a:srgbClr val="1C1B19"/>
                </a:solidFill>
                <a:latin typeface="Source Serif 4"/>
              </a:rPr>
              <a:t>In Massachusetts, a junior operator can't drive with passengers under 18 (other than immediate family) for the first six months, or drive between 12:30 and 5 a.m. without a parent.</a:t>
            </a:r>
          </a:p>
          <a:p>
            <a:pPr algn="l">
              <a:spcAft>
                <a:spcPts val="585"/>
              </a:spcAft>
            </a:pPr>
            <a:r>
              <a:rPr sz="1050" b="0" i="0">
                <a:solidFill>
                  <a:srgbClr val="5D5A54"/>
                </a:solidFill>
                <a:latin typeface="Inter Tight"/>
              </a:rPr>
              <a:t>Massachusetts General Laws c.90 §8; mass.gov Teen Drivers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