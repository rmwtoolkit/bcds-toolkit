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Keep it light: "Today is about something almost everyone does without thinking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Go first with your own example. Then invite a few students. Expect laughs, slang, a home language, a nickname only family uses. Point out that everyone just showed a skill: reading a room and adjusting.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Students make a private tally mark on their card for each one that fits. Don't collect cards and don't ask anyone to share which. Then: "Hands up if you made at least one mark." Most hands go up. Say: "So this is normal. Let's talk about when it helps and when it costs." Money often gets the quietest marks. If it fits your group, name it: trips over break, phones and clothes, eating out, who drives and who takes the bus, who works or cares for siblings. Both are real, and nobody owes anyone their bank balance.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Use the sports frame: road games aren't bad, and good teams win them. But a team that only plays away games gets worn down. Ask: "What makes a place feel like a home game?" Collect a few answers on the board (people who get it, no explaining, food, music, language). If a student says they don't have one, note it gently and check in afterward.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Keep it to the big ideas. The 83-study review found bicultural people, those who blend two cultures instead of choosing one, tend to have better well-being and adjustment. Research on racial code switching found it can make people seem more professional to others, and it also costs effort and can feel inauthentic. Then say plainly: if someone switches because they're treated differently for who they are, that unfairness is on the people doing it, not on them. Students can switch and still be angry they have 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writing; no sharing required. Share the student page link. Mention that if switching wears them out most days, or someone treats them differently because of who they are, a counselor is a good person to talk to, and the student page lists who.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Code Switching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describe code switching as a normal skill, name what it can protect and what it can cost, and identify one place where they get to be all the way themselves. Nobody is asked to name their race, culture, religion, gender, sexuality or disability, or to share what they switch.</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A board or chart paper</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Three rooms: how do you talk in each?</a:t>
            </a:r>
          </a:p>
          <a:p>
            <a:pPr algn="l">
              <a:spcAft>
                <a:spcPts val="630"/>
              </a:spcAft>
            </a:pPr>
            <a:r>
              <a:rPr sz="1300" b="1" i="0">
                <a:solidFill>
                  <a:srgbClr val="F47B20"/>
                </a:solidFill>
                <a:latin typeface="Inter Tight"/>
              </a:rPr>
              <a:t>4 min   </a:t>
            </a:r>
            <a:r>
              <a:rPr sz="1400" b="0" i="0">
                <a:solidFill>
                  <a:srgbClr val="1C1B19"/>
                </a:solidFill>
                <a:latin typeface="Source Serif 4"/>
              </a:rPr>
              <a:t>What people switch (private tally)</a:t>
            </a:r>
          </a:p>
          <a:p>
            <a:pPr algn="l">
              <a:spcAft>
                <a:spcPts val="630"/>
              </a:spcAft>
            </a:pPr>
            <a:r>
              <a:rPr sz="1300" b="1" i="0">
                <a:solidFill>
                  <a:srgbClr val="F47B20"/>
                </a:solidFill>
                <a:latin typeface="Inter Tight"/>
              </a:rPr>
              <a:t>5 min   </a:t>
            </a:r>
            <a:r>
              <a:rPr sz="1400" b="0" i="0">
                <a:solidFill>
                  <a:srgbClr val="1C1B19"/>
                </a:solidFill>
                <a:latin typeface="Source Serif 4"/>
              </a:rPr>
              <a:t>Home games and away games</a:t>
            </a:r>
          </a:p>
          <a:p>
            <a:pPr algn="l">
              <a:spcAft>
                <a:spcPts val="630"/>
              </a:spcAft>
            </a:pPr>
            <a:r>
              <a:rPr sz="1300" b="1" i="0">
                <a:solidFill>
                  <a:srgbClr val="F47B20"/>
                </a:solidFill>
                <a:latin typeface="Inter Tight"/>
              </a:rPr>
              <a:t>5 min   </a:t>
            </a:r>
            <a:r>
              <a:rPr sz="1400" b="0" i="0">
                <a:solidFill>
                  <a:srgbClr val="1C1B19"/>
                </a:solidFill>
                <a:latin typeface="Source Serif 4"/>
              </a:rPr>
              <a:t>What it gives, what it costs</a:t>
            </a:r>
          </a:p>
          <a:p>
            <a:pPr algn="l">
              <a:spcAft>
                <a:spcPts val="630"/>
              </a:spcAft>
            </a:pPr>
            <a:r>
              <a:rPr sz="1300" b="1" i="0">
                <a:solidFill>
                  <a:srgbClr val="F47B20"/>
                </a:solidFill>
                <a:latin typeface="Inter Tight"/>
              </a:rPr>
              <a:t>3 min   </a:t>
            </a:r>
            <a:r>
              <a:rPr sz="1400" b="0" i="0">
                <a:solidFill>
                  <a:srgbClr val="1C1B19"/>
                </a:solidFill>
                <a:latin typeface="Source Serif 4"/>
              </a:rPr>
              <a:t>Your home game, privately,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Three rooms prompt (2), home games and away games (4), find one home game, privately (3), share the link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Go first, lightly.</a:t>
            </a:r>
          </a:p>
          <a:p>
            <a:pPr algn="l">
              <a:spcAft>
                <a:spcPts val="585"/>
              </a:spcAft>
            </a:pPr>
            <a:r>
              <a:rPr sz="1300" b="0" i="0">
                <a:solidFill>
                  <a:srgbClr val="1C1B19"/>
                </a:solidFill>
                <a:latin typeface="Source Serif 4"/>
              </a:rPr>
              <a:t>Share a low-stakes example of your own: how you talk on the phone with your grandmother versus a parent-teacher conference, or the voice you use with a coach. It shows everyone switches, including adults, and keeps the room from turning toward any one student.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Never ask a student to speak for a group.</a:t>
            </a:r>
          </a:p>
          <a:p>
            <a:pPr algn="l">
              <a:spcAft>
                <a:spcPts val="585"/>
              </a:spcAft>
            </a:pPr>
            <a:r>
              <a:rPr sz="1300" b="0" i="0">
                <a:solidFill>
                  <a:srgbClr val="1C1B19"/>
                </a:solidFill>
                <a:latin typeface="Source Serif 4"/>
              </a:rPr>
              <a:t>Don't call on the one student of a background to explain what switching is like for "their" community. Students choose what they share, and passing is always fine.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Switching isn't fake, and it isn't wrong.</a:t>
            </a:r>
          </a:p>
          <a:p>
            <a:pPr algn="l">
              <a:spcAft>
                <a:spcPts val="585"/>
              </a:spcAft>
            </a:pPr>
            <a:r>
              <a:rPr sz="1300" b="0" i="0">
                <a:solidFill>
                  <a:srgbClr val="1C1B19"/>
                </a:solidFill>
                <a:latin typeface="Source Serif 4"/>
              </a:rPr>
              <a:t>Avoid framing one way of talking as "proper" and another as "slang." Every dialect and home language has its own rules. Linguists call Black English, for example, a full language variety with consistent grammar.</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Unfairness is real. Name it without a lecture.</a:t>
            </a:r>
          </a:p>
          <a:p>
            <a:pPr algn="l">
              <a:spcAft>
                <a:spcPts val="585"/>
              </a:spcAft>
            </a:pPr>
            <a:r>
              <a:rPr sz="1300" b="0" i="0">
                <a:solidFill>
                  <a:srgbClr val="1C1B19"/>
                </a:solidFill>
                <a:latin typeface="Source Serif 4"/>
              </a:rPr>
              <a:t>Some students switch to stay safe from bias. Say plainly that's on the people treating them differently, not on them. You don't need to resolve it in 20 minutes.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Coming out is the student's call.</a:t>
            </a:r>
          </a:p>
          <a:p>
            <a:pPr algn="l">
              <a:spcAft>
                <a:spcPts val="585"/>
              </a:spcAft>
            </a:pPr>
            <a:r>
              <a:rPr sz="1300" b="0" i="0">
                <a:solidFill>
                  <a:srgbClr val="1C1B19"/>
                </a:solidFill>
                <a:latin typeface="Source Serif 4"/>
              </a:rPr>
              <a:t>Gender and sexuality come up on the student page as things people sometimes hide. Never guess, never out anyone, and don't ask students to say whether this applies to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switches too, in a lot of ways.</a:t>
            </a:r>
          </a:p>
          <a:p>
            <a:pPr algn="l">
              <a:spcAft>
                <a:spcPts val="585"/>
              </a:spcAft>
            </a:pPr>
            <a:r>
              <a:rPr sz="1300" b="0" i="0">
                <a:solidFill>
                  <a:srgbClr val="1C1B19"/>
                </a:solidFill>
                <a:latin typeface="Source Serif 4"/>
              </a:rPr>
              <a:t>At an independent school, money comes up constantly: trips over break, phones and clothes, eating out, camps, birthday plans, who drives and who takes the bus, who works after school or cares for siblings, who's on financial aid. In your own check-ins, ask "What was one good part of your break?" rather than "Where did you go?", keep plans that cost money optional, and never ask students to compare.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students carrying a lot.</a:t>
            </a:r>
          </a:p>
          <a:p>
            <a:pPr algn="l">
              <a:spcAft>
                <a:spcPts val="585"/>
              </a:spcAft>
            </a:pPr>
            <a:r>
              <a:rPr sz="1300" b="0" i="0">
                <a:solidFill>
                  <a:srgbClr val="1C1B19"/>
                </a:solidFill>
                <a:latin typeface="Source Serif 4"/>
              </a:rPr>
              <a:t>A student who says they can't be themselves anywhere, or who describes being targeted for who they are, is worth a quiet check-in after advisory and a same-day note to a counselor.</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Language at home.</a:t>
            </a:r>
          </a:p>
          <a:p>
            <a:pPr algn="l">
              <a:spcAft>
                <a:spcPts val="585"/>
              </a:spcAft>
            </a:pPr>
            <a:r>
              <a:rPr sz="1300" b="0" i="0">
                <a:solidFill>
                  <a:srgbClr val="1C1B19"/>
                </a:solidFill>
                <a:latin typeface="Source Serif 4"/>
              </a:rPr>
              <a:t>Some students speak another language at home, translate for parents, or are told they're losing their home language. Treat all of it as an asset, not a gap.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Race and ethnicity.</a:t>
            </a:r>
          </a:p>
          <a:p>
            <a:pPr algn="l">
              <a:spcAft>
                <a:spcPts val="585"/>
              </a:spcAft>
            </a:pPr>
            <a:r>
              <a:rPr sz="1300" b="0" i="0">
                <a:solidFill>
                  <a:srgbClr val="1C1B19"/>
                </a:solidFill>
                <a:latin typeface="Source Serif 4"/>
              </a:rPr>
              <a:t>Research on racial code switching mostly involves Black students and adults, and it applies to many others too. Keep examples broad and let students connect them to their own lives if they want.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Neurodivergence.</a:t>
            </a:r>
          </a:p>
          <a:p>
            <a:pPr algn="l">
              <a:spcAft>
                <a:spcPts val="585"/>
              </a:spcAft>
            </a:pPr>
            <a:r>
              <a:rPr sz="1300" b="0" i="0">
                <a:solidFill>
                  <a:srgbClr val="1C1B19"/>
                </a:solidFill>
                <a:latin typeface="Source Serif 4"/>
              </a:rPr>
              <a:t>Autistic students and students with ADHD often describe "masking": hiding traits to fit in, which can be exhausting. The home games idea fits them too.</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Some students switch how they show their gender or who they like, depending on who's around. Safety comes first; the lesson never asks anyone to be more out than they choose.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class.</a:t>
            </a:r>
          </a:p>
          <a:p>
            <a:pPr algn="l">
              <a:spcAft>
                <a:spcPts val="585"/>
              </a:spcAft>
            </a:pPr>
            <a:r>
              <a:rPr sz="1300" b="0" i="0">
                <a:solidFill>
                  <a:srgbClr val="1C1B19"/>
                </a:solidFill>
                <a:latin typeface="Source Serif 4"/>
              </a:rPr>
              <a:t>Students switch around money: what they say they did over break, where they live, what they can afford, whether they're on financial aid. Some students spend breaks working or caring for siblings. Keep examples free of brand names and trips, and treat family responsibilities as strengths.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a:t>
            </a:r>
          </a:p>
          <a:p>
            <a:pPr algn="l">
              <a:spcAft>
                <a:spcPts val="585"/>
              </a:spcAft>
            </a:pPr>
            <a:r>
              <a:rPr sz="1300" b="0" i="0">
                <a:solidFill>
                  <a:srgbClr val="1C1B19"/>
                </a:solidFill>
                <a:latin typeface="Source Serif 4"/>
              </a:rPr>
              <a:t>Some students tone down their faith at school, or tone down school at home. Both are worth respecting.</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Linguists have studied code switching for decades and describe it as a skilled, rule-governed way people use language to signal identity and fit a setting.</a:t>
            </a:r>
          </a:p>
          <a:p>
            <a:pPr algn="l">
              <a:spcAft>
                <a:spcPts val="585"/>
              </a:spcAft>
            </a:pPr>
            <a:r>
              <a:rPr sz="1050" b="0" i="0">
                <a:solidFill>
                  <a:srgbClr val="5D5A54"/>
                </a:solidFill>
                <a:latin typeface="Inter Tight"/>
              </a:rPr>
              <a:t>Gumperz, Discourse Strategies, 1982</a:t>
            </a:r>
          </a:p>
          <a:p>
            <a:pPr algn="l">
              <a:spcAft>
                <a:spcPts val="585"/>
              </a:spcAft>
            </a:pPr>
            <a:r>
              <a:rPr sz="1300" b="0" i="0">
                <a:solidFill>
                  <a:srgbClr val="1C1B19"/>
                </a:solidFill>
                <a:latin typeface="Source Serif 4"/>
              </a:rPr>
              <a:t>A meta-analysis of 83 studies (more than 23,000 people) found that being bicultural, holding two cultures rather than choosing one, was linked to better psychological and social adjustment.</a:t>
            </a:r>
          </a:p>
          <a:p>
            <a:pPr algn="l">
              <a:spcAft>
                <a:spcPts val="585"/>
              </a:spcAft>
            </a:pPr>
            <a:r>
              <a:rPr sz="1050" b="0" i="0">
                <a:solidFill>
                  <a:srgbClr val="5D5A54"/>
                </a:solidFill>
                <a:latin typeface="Inter Tight"/>
              </a:rPr>
              <a:t>Nguyen &amp; Benet-Martínez, Journal of Cross-Cultural Psychology, 2013</a:t>
            </a:r>
          </a:p>
          <a:p>
            <a:pPr algn="l">
              <a:spcAft>
                <a:spcPts val="585"/>
              </a:spcAft>
            </a:pPr>
            <a:r>
              <a:rPr sz="1300" b="0" i="0">
                <a:solidFill>
                  <a:srgbClr val="1C1B19"/>
                </a:solidFill>
                <a:latin typeface="Source Serif 4"/>
              </a:rPr>
              <a:t>Black professionals who code switched were seen as more professional by others, which shows why people switch, and the researchers also describe its costs in effort and authenticity.</a:t>
            </a:r>
          </a:p>
          <a:p>
            <a:pPr algn="l">
              <a:spcAft>
                <a:spcPts val="585"/>
              </a:spcAft>
            </a:pPr>
            <a:r>
              <a:rPr sz="1050" b="0" i="0">
                <a:solidFill>
                  <a:srgbClr val="5D5A54"/>
                </a:solidFill>
                <a:latin typeface="Inter Tight"/>
              </a:rPr>
              <a:t>McCluney et al., Journal of Experimental Social Psychology, 2021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Among Black college students, being accused of "acting White" was linked to their mental health, and the link depended on how they felt about their own racial identity.</a:t>
            </a:r>
          </a:p>
          <a:p>
            <a:pPr algn="l">
              <a:spcAft>
                <a:spcPts val="585"/>
              </a:spcAft>
            </a:pPr>
            <a:r>
              <a:rPr sz="1050" b="0" i="0">
                <a:solidFill>
                  <a:srgbClr val="5D5A54"/>
                </a:solidFill>
                <a:latin typeface="Inter Tight"/>
              </a:rPr>
              <a:t>Durkee &amp; Williams, Journal of Black Psychology, 2015</a:t>
            </a:r>
          </a:p>
          <a:p>
            <a:pPr algn="l">
              <a:spcAft>
                <a:spcPts val="585"/>
              </a:spcAft>
            </a:pPr>
            <a:r>
              <a:rPr sz="1300" b="0" i="0">
                <a:solidFill>
                  <a:srgbClr val="1C1B19"/>
                </a:solidFill>
                <a:latin typeface="Source Serif 4"/>
              </a:rPr>
              <a:t>In a national survey, 61% of employees said they hide or downplay some part of their identity at work, a pattern called covering.</a:t>
            </a:r>
          </a:p>
          <a:p>
            <a:pPr algn="l">
              <a:spcAft>
                <a:spcPts val="585"/>
              </a:spcAft>
            </a:pPr>
            <a:r>
              <a:rPr sz="1050" b="0" i="0">
                <a:solidFill>
                  <a:srgbClr val="5D5A54"/>
                </a:solidFill>
                <a:latin typeface="Inter Tight"/>
              </a:rPr>
              <a:t>Yoshino &amp; Smith, Deloitte, 2013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CODE SWITCHING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Code Switching</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Being a little different in every room, and finding the rooms where you don't have to be.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ROOMS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do you talk with your friends, with a teacher, and at home?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Think of one word or phrase you'd only use in one of them. Keep it or share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PEOPLE SWITCH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of these do you change, depending on the room?</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How you talk, your accent, or which language</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clothes, your hair, your name</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How loud you are, what music you say you like</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faith, how you show your gender, who you like</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Hiding ADHD, autism or a disability</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Money: break plans, phones, clothes, where you live, rides, jobs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HOME GAMES AND AWAY GAMES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Teams play differently on the road.</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AWAY GAMES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Their crowd, their rules</a:t>
            </a:r>
          </a:p>
          <a:p>
            <a:pPr algn="l">
              <a:spcAft>
                <a:spcPts val="855"/>
              </a:spcAft>
            </a:pPr>
            <a:r>
              <a:rPr sz="1900" b="0" i="0">
                <a:solidFill>
                  <a:srgbClr val="1C1B19"/>
                </a:solidFill>
                <a:latin typeface="Source Serif 4"/>
              </a:rPr>
              <a:t>You adjust, and that's a skill</a:t>
            </a:r>
          </a:p>
          <a:p>
            <a:pPr algn="l">
              <a:spcAft>
                <a:spcPts val="855"/>
              </a:spcAft>
            </a:pPr>
            <a:r>
              <a:rPr sz="1900" b="0" i="0">
                <a:solidFill>
                  <a:srgbClr val="1C1B19"/>
                </a:solidFill>
                <a:latin typeface="Source Serif 4"/>
              </a:rPr>
              <a:t>Class, a new team, a job</a:t>
            </a:r>
          </a:p>
          <a:p>
            <a:pPr algn="l">
              <a:spcAft>
                <a:spcPts val="855"/>
              </a:spcAft>
            </a:pPr>
            <a:r>
              <a:rPr sz="1900" b="0" i="0">
                <a:solidFill>
                  <a:srgbClr val="1C1B19"/>
                </a:solidFill>
                <a:latin typeface="Source Serif 4"/>
              </a:rPr>
              <a:t>Can wear you out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HOME GAMES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Places you get to be all the way you</a:t>
            </a:r>
          </a:p>
          <a:p>
            <a:pPr algn="l">
              <a:spcAft>
                <a:spcPts val="855"/>
              </a:spcAft>
            </a:pPr>
            <a:r>
              <a:rPr sz="1900" b="0" i="0">
                <a:solidFill>
                  <a:srgbClr val="1C1B19"/>
                </a:solidFill>
                <a:latin typeface="Source Serif 4"/>
              </a:rPr>
              <a:t>Friends who get it</a:t>
            </a:r>
          </a:p>
          <a:p>
            <a:pPr algn="l">
              <a:spcAft>
                <a:spcPts val="855"/>
              </a:spcAft>
            </a:pPr>
            <a:r>
              <a:rPr sz="1900" b="0" i="0">
                <a:solidFill>
                  <a:srgbClr val="1C1B19"/>
                </a:solidFill>
                <a:latin typeface="Source Serif 4"/>
              </a:rPr>
              <a:t>Music, food, a language that's yours</a:t>
            </a:r>
          </a:p>
          <a:p>
            <a:pPr algn="l">
              <a:spcAft>
                <a:spcPts val="855"/>
              </a:spcAft>
            </a:pPr>
            <a:r>
              <a:rPr sz="1900" b="0" i="0">
                <a:solidFill>
                  <a:srgbClr val="1C1B19"/>
                </a:solidFill>
                <a:latin typeface="Source Serif 4"/>
              </a:rPr>
              <a:t>Where you recharge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THE RESEARCH SAYS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Nguyen &amp; Benet-Martínez, 2013  ·  McCluney et al., 2021  ·  Durkee &amp; Williams, 2015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Switching helps. It can also cost.</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Switching can help how others see you.</a:t>
            </a:r>
          </a:p>
          <a:p>
            <a:pPr algn="l">
              <a:spcAft>
                <a:spcPts val="855"/>
              </a:spcAft>
            </a:pPr>
            <a:r>
              <a:rPr sz="1900" b="0" i="0">
                <a:solidFill>
                  <a:srgbClr val="1C1B19"/>
                </a:solidFill>
                <a:latin typeface="Source Serif 4"/>
              </a:rPr>
              <a:t>•  Watching yourself all day takes energy.</a:t>
            </a:r>
          </a:p>
          <a:p>
            <a:pPr algn="l">
              <a:spcAft>
                <a:spcPts val="855"/>
              </a:spcAft>
            </a:pPr>
            <a:r>
              <a:rPr sz="1900" b="0" i="0">
                <a:solidFill>
                  <a:srgbClr val="1C1B19"/>
                </a:solidFill>
                <a:latin typeface="Source Serif 4"/>
              </a:rPr>
              <a:t>•  Being called "fake" or told "you've changed" adds stress.</a:t>
            </a:r>
          </a:p>
          <a:p>
            <a:pPr algn="l">
              <a:spcAft>
                <a:spcPts val="855"/>
              </a:spcAft>
            </a:pPr>
            <a:r>
              <a:rPr sz="1900" b="0" i="0">
                <a:solidFill>
                  <a:srgbClr val="1C1B19"/>
                </a:solidFill>
                <a:latin typeface="Source Serif 4"/>
              </a:rPr>
              <a:t>•  People who hold two cultures together tend to do better.</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Both versions of you can be real. You can choose where each one shows 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Name one home game.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A person, a place, a group, a song. Write it on your card and keep it.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https://rmwtoolkit.github.io/bcds-toolkit/code-switching-high-school.html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