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Something like: "Nobody's going to ask where you applied or what you heard back. Today is about the pressure, and what the research says about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Popcorn answers; write a few on the board. You'll hear "Where are you applying?", "You should apply to...", "It doesn't matter where you go", "These are the most important months of your life." Laugh with them. Then: "Let's see which of these the research backs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Ask first: "Guess how many four-year colleges admit fewer than 1 in 10 applicants." Take guesses, then reveal 17. Decision-day posts come mostly from those 17. The stress students feel is real; it's shaped by a narrow slice that gets most of the attention.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Dale and Krueger compared students admitted to similar schools who chose differently; the average earnings gap mostly vanished. The exception: students whose families had fewer networks got a real boost. Chetty and colleagues found Ivy-Plus schools raise the odds of the very top jobs, with much smaller effects on average earnings. Gallup-Purdue: 30,000 graduates, and the experience mattered more than the type of school. Ask: "Which of these surprised you?" Let a skeptic push back; both columns are true.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One card per small group, two minutes, then each group shares one move. Camila: congratulate her friend, say she needs a day, celebrate when she's ready; rereading the portal every night doesn't change anything. Darnell: run the net price calculators together and bring in his counselor; the money talk is part of fit, not a betrayal. Some families value staying close, and that's a real choice. Hana: drop one commitment, protect sleep, bring back the art. A few commitments you care about say more than a long 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LAST 3 MINUTES. On their card, privately: one thing from the right column they'll stop checking, and what they'll do instead. Nobody shares. Luthar's research on high-achieving schools fits here: the students who do best have adults and friends who value them apart from their achievements.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 student page link. Close with: "Your counselor can help with both sides of this, the logistics and the stress. If worry about next year is affecting your sleep, eating or mood most days, come talk to 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College Process Without Losing Your Mind</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that most colleges admit most applicants, that where you go matters less than what you do there for most people, and they sort what's in their control. Bring index cards, and never ask where anyone applied, got in, or got deferred.</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Darnell card, say plainly that staying close to home, community college, a gap year and the trades are real plans, and that families talk about money very differently.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COLLEGE PROCESS WITHOUT LOSING YOUR MIND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The College Process Without Losing Your Mind</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the research says about the name on the sweatshirt, and how to keep the process from taking over.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EVERYONE TELLS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What's the most annoying thing an adult has said to you about college?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No names. Just the 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WHOLE PICTURE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DeSilver, Pew Research Center, 2019</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Most colleges admit most of the people who apply.</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Pew looked at 1,364 four-year colleges.</a:t>
            </a:r>
          </a:p>
          <a:p>
            <a:pPr algn="l">
              <a:spcAft>
                <a:spcPts val="855"/>
              </a:spcAft>
            </a:pPr>
            <a:r>
              <a:rPr sz="1900" b="0" i="0">
                <a:solidFill>
                  <a:srgbClr val="1C1B19"/>
                </a:solidFill>
                <a:latin typeface="Source Serif 4"/>
              </a:rPr>
              <a:t>•  More than half admitted at least two-thirds of applicants.</a:t>
            </a:r>
          </a:p>
          <a:p>
            <a:pPr algn="l">
              <a:spcAft>
                <a:spcPts val="855"/>
              </a:spcAft>
            </a:pPr>
            <a:r>
              <a:rPr sz="1900" b="0" i="0">
                <a:solidFill>
                  <a:srgbClr val="1C1B19"/>
                </a:solidFill>
                <a:latin typeface="Source Serif 4"/>
              </a:rPr>
              <a:t>•  Only 17 admitted fewer than 10%.</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Your feed in December is built from a very small slice of schools.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DOES THE NAME PAY OFF?</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Less than people think, with real exceptions.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FOR MOST STUDENTS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Similar students did about as well wherever they went</a:t>
            </a:r>
          </a:p>
          <a:p>
            <a:pPr algn="l">
              <a:spcAft>
                <a:spcPts val="855"/>
              </a:spcAft>
            </a:pPr>
            <a:r>
              <a:rPr sz="1900" b="0" i="0">
                <a:solidFill>
                  <a:srgbClr val="1C1B19"/>
                </a:solidFill>
                <a:latin typeface="Source Serif 4"/>
              </a:rPr>
              <a:t>What you do there predicts more than where</a:t>
            </a:r>
          </a:p>
          <a:p>
            <a:pPr algn="l">
              <a:spcAft>
                <a:spcPts val="855"/>
              </a:spcAft>
            </a:pPr>
            <a:r>
              <a:rPr sz="1900" b="0" i="0">
                <a:solidFill>
                  <a:srgbClr val="1C1B19"/>
                </a:solidFill>
                <a:latin typeface="Source Serif 4"/>
              </a:rPr>
              <a:t>A professor who cares doubles the odds of thriving</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WHERE IT MATTERS MORE</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First-generation students</a:t>
            </a:r>
          </a:p>
          <a:p>
            <a:pPr algn="l">
              <a:spcAft>
                <a:spcPts val="855"/>
              </a:spcAft>
            </a:pPr>
            <a:r>
              <a:rPr sz="1900" b="0" i="0">
                <a:solidFill>
                  <a:srgbClr val="1C1B19"/>
                </a:solidFill>
                <a:latin typeface="Source Serif 4"/>
              </a:rPr>
              <a:t>Black and Hispanic students</a:t>
            </a:r>
          </a:p>
          <a:p>
            <a:pPr algn="l">
              <a:spcAft>
                <a:spcPts val="855"/>
              </a:spcAft>
            </a:pPr>
            <a:r>
              <a:rPr sz="1900" b="0" i="0">
                <a:solidFill>
                  <a:srgbClr val="1C1B19"/>
                </a:solidFill>
                <a:latin typeface="Source Serif 4"/>
              </a:rPr>
              <a:t>Reaching the very top 1% of earners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REAL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help most?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CAMILA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Deferred from her early decision school the same night her close friend got in. Her friend wants to celebrate this weekend.</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DARNELL</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Wants to go to school three states away. His parents want him to commute to a state university to save money. Every talk turns into a fight.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HANA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Four APs, two sports, and a job. Sleeping five hours a night. Dropped the art class she loved because it "doesn't count."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YOURS, NOT YOURS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Where has your worry been going?</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YOURS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What you learn and how hard you work</a:t>
            </a:r>
          </a:p>
          <a:p>
            <a:pPr algn="l">
              <a:spcAft>
                <a:spcPts val="855"/>
              </a:spcAft>
            </a:pPr>
            <a:r>
              <a:rPr sz="1900" b="0" i="0">
                <a:solidFill>
                  <a:srgbClr val="1C1B19"/>
                </a:solidFill>
                <a:latin typeface="Source Serif 4"/>
              </a:rPr>
              <a:t>Which activities you keep, and why</a:t>
            </a:r>
          </a:p>
          <a:p>
            <a:pPr algn="l">
              <a:spcAft>
                <a:spcPts val="855"/>
              </a:spcAft>
            </a:pPr>
            <a:r>
              <a:rPr sz="1900" b="0" i="0">
                <a:solidFill>
                  <a:srgbClr val="1C1B19"/>
                </a:solidFill>
                <a:latin typeface="Source Serif 4"/>
              </a:rPr>
              <a:t>A list you can afford and would be glad to attend</a:t>
            </a:r>
          </a:p>
          <a:p>
            <a:pPr algn="l">
              <a:spcAft>
                <a:spcPts val="855"/>
              </a:spcAft>
            </a:pPr>
            <a:r>
              <a:rPr sz="1900" b="0" i="0">
                <a:solidFill>
                  <a:srgbClr val="1C1B19"/>
                </a:solidFill>
                <a:latin typeface="Source Serif 4"/>
              </a:rPr>
              <a:t>Asking for help with essays and forms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NOT YOURS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Admission rates</a:t>
            </a:r>
          </a:p>
          <a:p>
            <a:pPr algn="l">
              <a:spcAft>
                <a:spcPts val="855"/>
              </a:spcAft>
            </a:pPr>
            <a:r>
              <a:rPr sz="1900" b="0" i="0">
                <a:solidFill>
                  <a:srgbClr val="1C1B19"/>
                </a:solidFill>
                <a:latin typeface="Source Serif 4"/>
              </a:rPr>
              <a:t>What a committee decides this year</a:t>
            </a:r>
          </a:p>
          <a:p>
            <a:pPr algn="l">
              <a:spcAft>
                <a:spcPts val="855"/>
              </a:spcAft>
            </a:pPr>
            <a:r>
              <a:rPr sz="1900" b="0" i="0">
                <a:solidFill>
                  <a:srgbClr val="1C1B19"/>
                </a:solidFill>
                <a:latin typeface="Source Serif 4"/>
              </a:rPr>
              <a:t>Who else applies</a:t>
            </a:r>
          </a:p>
          <a:p>
            <a:pPr algn="l">
              <a:spcAft>
                <a:spcPts val="855"/>
              </a:spcAft>
            </a:pPr>
            <a:r>
              <a:rPr sz="1900" b="0" i="0">
                <a:solidFill>
                  <a:srgbClr val="1C1B19"/>
                </a:solidFill>
                <a:latin typeface="Source Serif 4"/>
              </a:rPr>
              <a:t>What other people post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thing you'll stop checking</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Keep the card. The student page has the research and the other paths.</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https://rmwtoolkit.github.io/bcds-toolkit/the-college-process-high-school.html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College Process Without Losing Your Mind</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see that the selective schools they hear most about are a narrow slice of colleges, learn what the research says about whether prestige pays off, sort what they can and can't control, and pick one worry to stop feeding. Nobody shares where they're applying or what they got.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A marker for the board</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What everyone tells you (popcorn)</a:t>
            </a:r>
          </a:p>
          <a:p>
            <a:pPr algn="l">
              <a:spcAft>
                <a:spcPts val="630"/>
              </a:spcAft>
            </a:pPr>
            <a:r>
              <a:rPr sz="1300" b="1" i="0">
                <a:solidFill>
                  <a:srgbClr val="F47B20"/>
                </a:solidFill>
                <a:latin typeface="Inter Tight"/>
              </a:rPr>
              <a:t>4 min   </a:t>
            </a:r>
            <a:r>
              <a:rPr sz="1400" b="0" i="0">
                <a:solidFill>
                  <a:srgbClr val="1C1B19"/>
                </a:solidFill>
                <a:latin typeface="Source Serif 4"/>
              </a:rPr>
              <a:t>The whole picture: most colleges admit most applicants</a:t>
            </a:r>
          </a:p>
          <a:p>
            <a:pPr algn="l">
              <a:spcAft>
                <a:spcPts val="630"/>
              </a:spcAft>
            </a:pPr>
            <a:r>
              <a:rPr sz="1300" b="1" i="0">
                <a:solidFill>
                  <a:srgbClr val="F47B20"/>
                </a:solidFill>
                <a:latin typeface="Inter Tight"/>
              </a:rPr>
              <a:t>4 min   </a:t>
            </a:r>
            <a:r>
              <a:rPr sz="1400" b="0" i="0">
                <a:solidFill>
                  <a:srgbClr val="1C1B19"/>
                </a:solidFill>
                <a:latin typeface="Source Serif 4"/>
              </a:rPr>
              <a:t>Does the name pay off? What the research says</a:t>
            </a:r>
          </a:p>
          <a:p>
            <a:pPr algn="l">
              <a:spcAft>
                <a:spcPts val="630"/>
              </a:spcAft>
            </a:pPr>
            <a:r>
              <a:rPr sz="1300" b="1" i="0">
                <a:solidFill>
                  <a:srgbClr val="F47B20"/>
                </a:solidFill>
                <a:latin typeface="Inter Tight"/>
              </a:rPr>
              <a:t>6 min   </a:t>
            </a:r>
            <a:r>
              <a:rPr sz="1400" b="0" i="0">
                <a:solidFill>
                  <a:srgbClr val="1C1B19"/>
                </a:solidFill>
                <a:latin typeface="Source Serif 4"/>
              </a:rPr>
              <a:t>Three moments: Camila, Darnell, Hana</a:t>
            </a:r>
          </a:p>
          <a:p>
            <a:pPr algn="l">
              <a:spcAft>
                <a:spcPts val="630"/>
              </a:spcAft>
            </a:pPr>
            <a:r>
              <a:rPr sz="1300" b="1" i="0">
                <a:solidFill>
                  <a:srgbClr val="F47B20"/>
                </a:solidFill>
                <a:latin typeface="Inter Tight"/>
              </a:rPr>
              <a:t>3 min   </a:t>
            </a:r>
            <a:r>
              <a:rPr sz="1400" b="0" i="0">
                <a:solidFill>
                  <a:srgbClr val="1C1B19"/>
                </a:solidFill>
                <a:latin typeface="Source Serif 4"/>
              </a:rPr>
              <a:t>Yours, not yours: one card, kept private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VERSION)</a:t>
            </a:r>
          </a:p>
          <a:p>
            <a:pPr algn="l">
              <a:spcAft>
                <a:spcPts val="630"/>
              </a:spcAft>
            </a:pPr>
            <a:r>
              <a:rPr sz="1400" b="0" i="0">
                <a:solidFill>
                  <a:srgbClr val="1C1B19"/>
                </a:solidFill>
                <a:latin typeface="Source Serif 4"/>
              </a:rPr>
              <a:t>The whole picture (3), does the name pay off (3), yours, not yours (4). Skip the scenarios or hand them out for later.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Results are private.</a:t>
            </a:r>
          </a:p>
          <a:p>
            <a:pPr algn="l">
              <a:spcAft>
                <a:spcPts val="585"/>
              </a:spcAft>
            </a:pPr>
            <a:r>
              <a:rPr sz="1300" b="0" i="0">
                <a:solidFill>
                  <a:srgbClr val="1C1B19"/>
                </a:solidFill>
                <a:latin typeface="Source Serif 4"/>
              </a:rPr>
              <a:t>Some students got in early, some were deferred or denied, some haven't applied anywhere, and some aren't going to college next year. Never ask for a show of hands about outcomes. Keep every example invented.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play admissions officer.</a:t>
            </a:r>
          </a:p>
          <a:p>
            <a:pPr algn="l">
              <a:spcAft>
                <a:spcPts val="585"/>
              </a:spcAft>
            </a:pPr>
            <a:r>
              <a:rPr sz="1300" b="0" i="0">
                <a:solidFill>
                  <a:srgbClr val="1C1B19"/>
                </a:solidFill>
                <a:latin typeface="Source Serif 4"/>
              </a:rPr>
              <a:t>If a student asks about their own list or chances, point them to their college counselor. Your job here is the stress and the perspective, not the strategy.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Hold both truths.</a:t>
            </a:r>
          </a:p>
          <a:p>
            <a:pPr algn="l">
              <a:spcAft>
                <a:spcPts val="585"/>
              </a:spcAft>
            </a:pPr>
            <a:r>
              <a:rPr sz="1300" b="0" i="0">
                <a:solidFill>
                  <a:srgbClr val="1C1B19"/>
                </a:solidFill>
                <a:latin typeface="Source Serif 4"/>
              </a:rPr>
              <a:t>The research says prestige matters less than most people think for most students, and it also finds real advantages at the very top, especially for students whose families lack those networks. Say both. Students trust a lesson that admits the complicated part.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Money is a quiet weight.</a:t>
            </a:r>
          </a:p>
          <a:p>
            <a:pPr algn="l">
              <a:spcAft>
                <a:spcPts val="585"/>
              </a:spcAft>
            </a:pPr>
            <a:r>
              <a:rPr sz="1300" b="0" i="0">
                <a:solidFill>
                  <a:srgbClr val="1C1B19"/>
                </a:solidFill>
                <a:latin typeface="Source Serif 4"/>
              </a:rPr>
              <a:t>For some students, the whole process is about what their family can afford, and nobody has said the number out loud. Name money as part of fit without asking anyone about theirs.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the student who's sinking.</a:t>
            </a:r>
          </a:p>
          <a:p>
            <a:pPr algn="l">
              <a:spcAft>
                <a:spcPts val="585"/>
              </a:spcAft>
            </a:pPr>
            <a:r>
              <a:rPr sz="1300" b="0" i="0">
                <a:solidFill>
                  <a:srgbClr val="1C1B19"/>
                </a:solidFill>
                <a:latin typeface="Source Serif 4"/>
              </a:rPr>
              <a:t>"My life is over because of one decision" is more than normal senior stress. If a student's sleep, eating or mood has been off for weeks, follow up one on one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Seniors can be cynical.</a:t>
            </a:r>
          </a:p>
          <a:p>
            <a:pPr algn="l">
              <a:spcAft>
                <a:spcPts val="585"/>
              </a:spcAft>
            </a:pPr>
            <a:r>
              <a:rPr sz="1300" b="0" i="0">
                <a:solidFill>
                  <a:srgbClr val="1C1B19"/>
                </a:solidFill>
                <a:latin typeface="Source Serif 4"/>
              </a:rPr>
              <a:t>Some will roll their eyes at "it doesn't matter where you go." Don't argue. Show them the Dale and Krueger finding and let them pick at it.</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First in the family.</a:t>
            </a:r>
          </a:p>
          <a:p>
            <a:pPr algn="l">
              <a:spcAft>
                <a:spcPts val="585"/>
              </a:spcAft>
            </a:pPr>
            <a:r>
              <a:rPr sz="1300" b="0" i="0">
                <a:solidFill>
                  <a:srgbClr val="1C1B19"/>
                </a:solidFill>
                <a:latin typeface="Source Serif 4"/>
              </a:rPr>
              <a:t>Students who'd be first to go to college often carry extra pressure and less inside information. Name first-generation programs and fee waivers as normal tools, not charity.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looks different from seat to seat.</a:t>
            </a:r>
          </a:p>
          <a:p>
            <a:pPr algn="l">
              <a:spcAft>
                <a:spcPts val="585"/>
              </a:spcAft>
            </a:pPr>
            <a:r>
              <a:rPr sz="1300" b="0" i="0">
                <a:solidFill>
                  <a:srgbClr val="1C1B19"/>
                </a:solidFill>
                <a:latin typeface="Source Serif 4"/>
              </a:rPr>
              <a:t>Net price, aid forms and loans mean very different things to different families. Talk about price as part of fit for everyone, and never use a student's family as an example.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Paths beyond the four-year campus.</a:t>
            </a:r>
          </a:p>
          <a:p>
            <a:pPr algn="l">
              <a:spcAft>
                <a:spcPts val="585"/>
              </a:spcAft>
            </a:pPr>
            <a:r>
              <a:rPr sz="1300" b="0" i="0">
                <a:solidFill>
                  <a:srgbClr val="1C1B19"/>
                </a:solidFill>
                <a:latin typeface="Source Serif 4"/>
              </a:rPr>
              <a:t>Community college, a gap year, the military, trades and apprenticeships are real plans. Treat them as choices, with the same respect as any acceptance.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expectations vary.</a:t>
            </a:r>
          </a:p>
          <a:p>
            <a:pPr algn="l">
              <a:spcAft>
                <a:spcPts val="585"/>
              </a:spcAft>
            </a:pPr>
            <a:r>
              <a:rPr sz="1300" b="0" i="0">
                <a:solidFill>
                  <a:srgbClr val="1C1B19"/>
                </a:solidFill>
                <a:latin typeface="Source Serif 4"/>
              </a:rPr>
              <a:t>In some families, staying close to home or contributing to the household is a value, not a failure to launch. In others, going far is the expectation. Present both as reasonable.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gets the advantage.</a:t>
            </a:r>
          </a:p>
          <a:p>
            <a:pPr algn="l">
              <a:spcAft>
                <a:spcPts val="585"/>
              </a:spcAft>
            </a:pPr>
            <a:r>
              <a:rPr sz="1300" b="0" i="0">
                <a:solidFill>
                  <a:srgbClr val="1C1B19"/>
                </a:solidFill>
                <a:latin typeface="Source Serif 4"/>
              </a:rPr>
              <a:t>The research finds selective colleges help Black and Hispanic students and students whose parents have less formal education more than others. Present it as a fact about networks and access, never as a comment on any student's ability.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Learning differences and disability.</a:t>
            </a:r>
          </a:p>
          <a:p>
            <a:pPr algn="l">
              <a:spcAft>
                <a:spcPts val="585"/>
              </a:spcAft>
            </a:pPr>
            <a:r>
              <a:rPr sz="1300" b="0" i="0">
                <a:solidFill>
                  <a:srgbClr val="1C1B19"/>
                </a:solidFill>
                <a:latin typeface="Source Serif 4"/>
              </a:rPr>
              <a:t>Students with learning plans, chronic illness or disabilities may also be weighing support services, distance from their doctors and testing accommodations. Mention that the right support is part of academic fit.</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Of 1,364 four-year colleges in a 2019 Pew analysis of federal data, more than half admitted at least two-thirds of applicants, and only 17 admitted fewer than 10%.</a:t>
            </a:r>
          </a:p>
          <a:p>
            <a:pPr algn="l">
              <a:spcAft>
                <a:spcPts val="585"/>
              </a:spcAft>
            </a:pPr>
            <a:r>
              <a:rPr sz="1050" b="0" i="0">
                <a:solidFill>
                  <a:srgbClr val="5D5A54"/>
                </a:solidFill>
                <a:latin typeface="Inter Tight"/>
              </a:rPr>
              <a:t>DeSilver, Pew Research Center, 2019</a:t>
            </a:r>
          </a:p>
          <a:p>
            <a:pPr algn="l">
              <a:spcAft>
                <a:spcPts val="585"/>
              </a:spcAft>
            </a:pPr>
            <a:r>
              <a:rPr sz="1300" b="0" i="0">
                <a:solidFill>
                  <a:srgbClr val="1C1B19"/>
                </a:solidFill>
                <a:latin typeface="Source Serif 4"/>
              </a:rPr>
              <a:t>Comparing students who got into similar colleges but chose differently, the average earnings boost from attending the more selective school mostly disappeared once researchers accounted for where students applied and were admitted.</a:t>
            </a:r>
          </a:p>
          <a:p>
            <a:pPr algn="l">
              <a:spcAft>
                <a:spcPts val="585"/>
              </a:spcAft>
            </a:pPr>
            <a:r>
              <a:rPr sz="1050" b="0" i="0">
                <a:solidFill>
                  <a:srgbClr val="5D5A54"/>
                </a:solidFill>
                <a:latin typeface="Inter Tight"/>
              </a:rPr>
              <a:t>Dale and Krueger, Quarterly Journal of Economics, 2002; Journal of Human Resources, 2014</a:t>
            </a:r>
          </a:p>
          <a:p>
            <a:pPr algn="l">
              <a:spcAft>
                <a:spcPts val="585"/>
              </a:spcAft>
            </a:pPr>
            <a:r>
              <a:rPr sz="1300" b="0" i="0">
                <a:solidFill>
                  <a:srgbClr val="1C1B19"/>
                </a:solidFill>
                <a:latin typeface="Source Serif 4"/>
              </a:rPr>
              <a:t>The same research found a real benefit for Black and Hispanic students and for students whose parents had less formal education.</a:t>
            </a:r>
          </a:p>
          <a:p>
            <a:pPr algn="l">
              <a:spcAft>
                <a:spcPts val="585"/>
              </a:spcAft>
            </a:pPr>
            <a:r>
              <a:rPr sz="1050" b="0" i="0">
                <a:solidFill>
                  <a:srgbClr val="5D5A54"/>
                </a:solidFill>
                <a:latin typeface="Inter Tight"/>
              </a:rPr>
              <a:t>Dale and Krueger, 2002 and 2014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Attending an Ivy-Plus college instead of a selective public flagship raised the chances of reaching the top 1% of earners and of working at elite firms. Effects on average earnings were much smaller.</a:t>
            </a:r>
          </a:p>
          <a:p>
            <a:pPr algn="l">
              <a:spcAft>
                <a:spcPts val="585"/>
              </a:spcAft>
            </a:pPr>
            <a:r>
              <a:rPr sz="1050" b="0" i="0">
                <a:solidFill>
                  <a:srgbClr val="5D5A54"/>
                </a:solidFill>
                <a:latin typeface="Inter Tight"/>
              </a:rPr>
              <a:t>Chetty, Deming and Friedman, NBER working paper, 2023</a:t>
            </a:r>
          </a:p>
          <a:p>
            <a:pPr algn="l">
              <a:spcAft>
                <a:spcPts val="585"/>
              </a:spcAft>
            </a:pPr>
            <a:r>
              <a:rPr sz="1300" b="0" i="0">
                <a:solidFill>
                  <a:srgbClr val="1C1B19"/>
                </a:solidFill>
                <a:latin typeface="Source Serif 4"/>
              </a:rPr>
              <a:t>In a survey of about 30,000 graduates, the type of college mattered little for later well-being and work engagement. Graduates who had a professor who cared about them, made them excited to learn and encouraged their goals had more than double the odds of thriving.</a:t>
            </a:r>
          </a:p>
          <a:p>
            <a:pPr algn="l">
              <a:spcAft>
                <a:spcPts val="585"/>
              </a:spcAft>
            </a:pPr>
            <a:r>
              <a:rPr sz="1050" b="0" i="0">
                <a:solidFill>
                  <a:srgbClr val="5D5A54"/>
                </a:solidFill>
                <a:latin typeface="Inter Tight"/>
              </a:rPr>
              <a:t>Gallup and Purdue University, 2014</a:t>
            </a:r>
          </a:p>
          <a:p>
            <a:pPr algn="l">
              <a:spcAft>
                <a:spcPts val="585"/>
              </a:spcAft>
            </a:pPr>
            <a:r>
              <a:rPr sz="1300" b="0" i="0">
                <a:solidFill>
                  <a:srgbClr val="1C1B19"/>
                </a:solidFill>
                <a:latin typeface="Source Serif 4"/>
              </a:rPr>
              <a:t>Students at high-achieving schools show higher rates of anxiety, depression and substance use than many people expect, tied partly to constant pressure to excel. Close, accepting relationships with adults and friends who value them apart from achievement are protective.</a:t>
            </a:r>
          </a:p>
          <a:p>
            <a:pPr algn="l">
              <a:spcAft>
                <a:spcPts val="585"/>
              </a:spcAft>
            </a:pPr>
            <a:r>
              <a:rPr sz="1050" b="0" i="0">
                <a:solidFill>
                  <a:srgbClr val="5D5A54"/>
                </a:solidFill>
                <a:latin typeface="Inter Tight"/>
              </a:rPr>
              <a:t>Luthar, Kumar and Zillmer, American Psychologist, 2020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