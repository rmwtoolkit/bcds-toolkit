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"You've heard weed is harmless and you've heard it ruins your life. The science is more specific than either one." Say nobody will be asked whether they 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Read each one; students stand for fact, sit for myth. Answers: 1, myth: THC gets you high and acts on CB1 receptors; CBD doesn't, and in one large study THC exposure was tied to worse memory while CBD wasn't. 2, fact: 30.6% in a national survey (Hasin, 2015). 3, mostly myth: low doses can feel calming, high doses trigger anxiety and paranoia, and regular use is linked with more anxiety over time. 4, myth: high-potency daily use carries the highest psychosis risk. 5, myth: delta-8 still gets you high, is loosely regulated, and the FDA has warned about poisonings and mislabeled products.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The brain makes its own cannabinoids, like anandamide, to fine-tune signals, then clears them fast. THC uses the same receptors but stays for hours. Walk through the busiest areas: hippocampus (memory; problems can last days after the last use in regular users and usually improve after several weeks without it), prefrontal cortex (still maturing into the mid-20s, the main reason researchers worry more about teens), striatum (habit and tolerance), amygdala (low doses calm, high doses can bring anxiety and paranoia), cerebellum (timing, part of why driving high is dangerous). Ask: "Why would a brain that's still pruning connections be more sensitive?"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Say plainly that these are links, not proof, and most teens who use won't develop psychosis. The risk rises with higher potency, daily use, a younger start, and a family history of psychosis or bipolar disorder. Nobody can tell ahead of time whose brain will react. Then the mixed part: the 2026 ABCD study of 11,036 kids found modest slowing of memory and attention gains after teens started; the Dunedin study found about 8 IQ points lost with heavy persistent use from adolescence; but twin studies suggest family and genetic factors explain part of that. Honest summary: a reason for caution, not panic.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Point to three spots in the room. Read a statement; everyone moves with no talking. Ask one person from each spot for a 30-second case. Then share the research and take a second vote. 1: the Ontario study found a strong link with psychosis for ages 12 to 19 and no clear link from 20 up; the brain keeps maturing into the mid-20s. Where to draw the line is a values question, but the biology isn't the same at 18 and 25. 2: grades are one measure; memory, motivation, sleep and mood can be hard to see from outside, and daily use is the pattern most linked to dependence and psychosis. 3: it depends on the risk. Cannabis doesn't stop breathing the way an alcohol overdose can; it carries other risks, and mixing makes both worse. Ask: "Did anyone move? What moved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IN PAIRS, THEN SHARE. Mateo: ask about what's keeping him up, and point him to a counselor or doctor. Nightly use builds tolerance, and stopping brings rough sleep and vivid dreams for a week or two, which is why it feels like the only thing that works. Kiara: "I'm good. It makes me paranoid." Dabs are concentrate, several times the strength of flower. Owen: find another ride and offer him one. THC slows reaction time and lane control, and driving high is OUI. Ask: "Which one would be hardest to say no to in real life?"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Private reflection: "If someone you know uses, what job is it doing for them?" No sharing. Mention heavy-use vomiting (cannabinoid hyperemesis syndrome): hot showers help for a while, and the only fix is stopping. Remind students that counselors and nurses help with this all the time, and they can ask about privacy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anonymously. Share the take-home link on the slide. It has the brain map, the research, the cutting-back plan, the signs that need 911, and who to talk to, including after hours.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Weed and Your Brain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how THC acts on the brain's own cannabinoid system, why stronger products and a younger start raise the risk, and where the research is still mixed. Clear space for three spots on the walls, keep questions about "people our age" rather than "you," and if a student says they can't stop, walk them to a counselor or the nurse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Some students have a family member who uses with a medical card or sees cannabis very differently than school does; present the science and leave room for every family's view.</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Myth or fact (4), the brain's cannabis system (5), one gray-area statement (6), exit card (3).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WEED AND YOUR BRAIN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Weed and Your Brain</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No scare stories. What the biggest studies found, and where they still disagree.</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Stand up if you think it's a fact.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CBD and THC do basically the same thing.</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About 3 in 10 past-year users had a use disorder.</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weed calms you down, it's treating your anxiety.</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Stronger weed is safer because you use less.</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Gas-station delta-8 is a tested, milder version.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IT WORKS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Your brain already has a cannabis system</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YOUR OWN CANNABINOIDS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Made on demand</a:t>
            </a:r>
          </a:p>
          <a:p>
            <a:pPr algn="l">
              <a:spcAft>
                <a:spcPts val="855"/>
              </a:spcAft>
            </a:pPr>
            <a:r>
              <a:rPr sz="1900" b="0" i="0">
                <a:solidFill>
                  <a:srgbClr val="1C1B19"/>
                </a:solidFill>
                <a:latin typeface="Source Serif 4"/>
              </a:rPr>
              <a:t>Fine-tune signals between neurons</a:t>
            </a:r>
          </a:p>
          <a:p>
            <a:pPr algn="l">
              <a:spcAft>
                <a:spcPts val="855"/>
              </a:spcAft>
            </a:pPr>
            <a:r>
              <a:rPr sz="1900" b="0" i="0">
                <a:solidFill>
                  <a:srgbClr val="1C1B19"/>
                </a:solidFill>
                <a:latin typeface="Source Serif 4"/>
              </a:rPr>
              <a:t>Broken down in seconds</a:t>
            </a:r>
          </a:p>
          <a:p>
            <a:pPr algn="l">
              <a:spcAft>
                <a:spcPts val="855"/>
              </a:spcAft>
            </a:pPr>
            <a:r>
              <a:rPr sz="1900" b="0" i="0">
                <a:solidFill>
                  <a:srgbClr val="1C1B19"/>
                </a:solidFill>
                <a:latin typeface="Source Serif 4"/>
              </a:rPr>
              <a:t>Help decide what gets trimmed in the teen years</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THC</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Fits the same CB1 receptors</a:t>
            </a:r>
          </a:p>
          <a:p>
            <a:pPr algn="l">
              <a:spcAft>
                <a:spcPts val="855"/>
              </a:spcAft>
            </a:pPr>
            <a:r>
              <a:rPr sz="1900" b="0" i="0">
                <a:solidFill>
                  <a:srgbClr val="1C1B19"/>
                </a:solidFill>
                <a:latin typeface="Source Serif 4"/>
              </a:rPr>
              <a:t>Lasts for hours</a:t>
            </a:r>
          </a:p>
          <a:p>
            <a:pPr algn="l">
              <a:spcAft>
                <a:spcPts val="855"/>
              </a:spcAft>
            </a:pPr>
            <a:r>
              <a:rPr sz="1900" b="0" i="0">
                <a:solidFill>
                  <a:srgbClr val="1C1B19"/>
                </a:solidFill>
                <a:latin typeface="Source Serif 4"/>
              </a:rPr>
              <a:t>Hits everywhere at once</a:t>
            </a:r>
          </a:p>
          <a:p>
            <a:pPr algn="l">
              <a:spcAft>
                <a:spcPts val="855"/>
              </a:spcAft>
            </a:pPr>
            <a:r>
              <a:rPr sz="1900" b="0" i="0">
                <a:solidFill>
                  <a:srgbClr val="1C1B19"/>
                </a:solidFill>
                <a:latin typeface="Source Serif 4"/>
              </a:rPr>
              <a:t>Blurs memory timing, trains habit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STRONGER THAN IT USED TO BE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Chandra et al., 2019  ·  Di Forti et al., 2019  ·  McDonald et al., 2024</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Potency and age change the risk.</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Average THC nearly doubled in ten years, 8.9% to 17.1%.</a:t>
            </a:r>
          </a:p>
          <a:p>
            <a:pPr algn="l">
              <a:spcAft>
                <a:spcPts val="855"/>
              </a:spcAft>
            </a:pPr>
            <a:r>
              <a:rPr sz="1900" b="0" i="0">
                <a:solidFill>
                  <a:srgbClr val="1C1B19"/>
                </a:solidFill>
                <a:latin typeface="Source Serif 4"/>
              </a:rPr>
              <a:t>•  Carts and dabs averaged 55.7% THC.</a:t>
            </a:r>
          </a:p>
          <a:p>
            <a:pPr algn="l">
              <a:spcAft>
                <a:spcPts val="855"/>
              </a:spcAft>
            </a:pPr>
            <a:r>
              <a:rPr sz="1900" b="0" i="0">
                <a:solidFill>
                  <a:srgbClr val="1C1B19"/>
                </a:solidFill>
                <a:latin typeface="Source Serif 4"/>
              </a:rPr>
              <a:t>•  Daily high-potency use: nearly 5 times the odds of psychosis.</a:t>
            </a:r>
          </a:p>
          <a:p>
            <a:pPr algn="l">
              <a:spcAft>
                <a:spcPts val="855"/>
              </a:spcAft>
            </a:pPr>
            <a:r>
              <a:rPr sz="1900" b="0" i="0">
                <a:solidFill>
                  <a:srgbClr val="1C1B19"/>
                </a:solidFill>
                <a:latin typeface="Source Serif 4"/>
              </a:rPr>
              <a:t>•  Teens 12 to 19 who used: about 11 times as likely. Ages 20 to 33: no clear link.</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Most teens who use won't develop psychosis. The risk climbs with potency, daily use and a younger start.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GRAY-AREA DEBATE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Agree, disagree, or it depends? Move first.</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it's legal at 21, it should be legal at 18.</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friend who uses daily but gets good grades is fine.</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Weed is safer than alcohol.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your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MATEO</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junior who uses a cart every night to fall asleep before big tests. "It's the only thing that works."</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KIARA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Offers you a hit from a dab pen before a party. You've tried flower once and it made you anxious.</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OWEN</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Smoked in the car before driving you to a concert. Says weed makes him a more careful driver.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HELPS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Know what it's doing for you</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Name the job you want it to do.</a:t>
            </a:r>
          </a:p>
          <a:p>
            <a:pPr algn="l">
              <a:spcAft>
                <a:spcPts val="945"/>
              </a:spcAft>
            </a:pPr>
            <a:r>
              <a:rPr sz="1600" b="0" i="0">
                <a:solidFill>
                  <a:srgbClr val="5D5A54"/>
                </a:solidFill>
                <a:latin typeface="Source Serif 4"/>
              </a:rPr>
              <a:t>Sleep, calm, fun, fitting in. What else does that job?</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Cutting back? Plan for week one.</a:t>
            </a:r>
          </a:p>
          <a:p>
            <a:pPr algn="l">
              <a:spcAft>
                <a:spcPts val="945"/>
              </a:spcAft>
            </a:pPr>
            <a:r>
              <a:rPr sz="1600" b="0" i="0">
                <a:solidFill>
                  <a:srgbClr val="5D5A54"/>
                </a:solidFill>
                <a:latin typeface="Source Serif 4"/>
              </a:rPr>
              <a:t>Irritability and rough sleep peak early, then fade.</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Edibles: wait the full two hours.</a:t>
            </a:r>
          </a:p>
          <a:p>
            <a:pPr algn="l">
              <a:spcAft>
                <a:spcPts val="945"/>
              </a:spcAft>
            </a:pPr>
            <a:r>
              <a:rPr sz="1600" b="0" i="0">
                <a:solidFill>
                  <a:srgbClr val="5D5A54"/>
                </a:solidFill>
                <a:latin typeface="Source Serif 4"/>
              </a:rPr>
              <a:t>"It's not working" plus a second dose is the classic bad night.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Looking after someone too high.</a:t>
            </a:r>
          </a:p>
          <a:p>
            <a:pPr algn="l">
              <a:spcAft>
                <a:spcPts val="945"/>
              </a:spcAft>
            </a:pPr>
            <a:r>
              <a:rPr sz="1600" b="0" i="0">
                <a:solidFill>
                  <a:srgbClr val="5D5A54"/>
                </a:solidFill>
                <a:latin typeface="Source Serif 4"/>
              </a:rPr>
              <a:t>Quiet spot, water, slow breathing, stay with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What would you want a younger sibling or cousin to know about weed?</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https://rmwtoolkit.github.io/bcds-toolkit/weed-and-your-brain-high-school.html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Weed and Your Brain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how THC uses the brain's own cannabinoid system, why potency and age change the risk, and where the research is strong and where it's still mixed. The tone is honest and specific. Nobody should have to say whether they use.</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Three signs or board spots labeled Agree, Disagree, It depends</a:t>
            </a:r>
          </a:p>
          <a:p>
            <a:pPr algn="l">
              <a:spcAft>
                <a:spcPts val="675"/>
              </a:spcAft>
            </a:pPr>
            <a:r>
              <a:rPr sz="1500" b="0" i="0">
                <a:solidFill>
                  <a:srgbClr val="1C1B19"/>
                </a:solidFill>
                <a:latin typeface="Source Serif 4"/>
              </a:rPr>
              <a:t>Index cards for the exit card</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Myth or fact (stand up, sit down)</a:t>
            </a:r>
          </a:p>
          <a:p>
            <a:pPr algn="l">
              <a:spcAft>
                <a:spcPts val="630"/>
              </a:spcAft>
            </a:pPr>
            <a:r>
              <a:rPr sz="1300" b="1" i="0">
                <a:solidFill>
                  <a:srgbClr val="F47B20"/>
                </a:solidFill>
                <a:latin typeface="Inter Tight"/>
              </a:rPr>
              <a:t>8 min   </a:t>
            </a:r>
            <a:r>
              <a:rPr sz="1400" b="0" i="0">
                <a:solidFill>
                  <a:srgbClr val="1C1B19"/>
                </a:solidFill>
                <a:latin typeface="Source Serif 4"/>
              </a:rPr>
              <a:t>Your brain already has a cannabis system</a:t>
            </a:r>
          </a:p>
          <a:p>
            <a:pPr algn="l">
              <a:spcAft>
                <a:spcPts val="630"/>
              </a:spcAft>
            </a:pPr>
            <a:r>
              <a:rPr sz="1300" b="1" i="0">
                <a:solidFill>
                  <a:srgbClr val="F47B20"/>
                </a:solidFill>
                <a:latin typeface="Inter Tight"/>
              </a:rPr>
              <a:t>7 min   </a:t>
            </a:r>
            <a:r>
              <a:rPr sz="1400" b="0" i="0">
                <a:solidFill>
                  <a:srgbClr val="1C1B19"/>
                </a:solidFill>
                <a:latin typeface="Source Serif 4"/>
              </a:rPr>
              <a:t>Stronger than it used to be</a:t>
            </a:r>
          </a:p>
          <a:p>
            <a:pPr algn="l">
              <a:spcAft>
                <a:spcPts val="630"/>
              </a:spcAft>
            </a:pPr>
            <a:r>
              <a:rPr sz="1300" b="1" i="0">
                <a:solidFill>
                  <a:srgbClr val="F47B20"/>
                </a:solidFill>
                <a:latin typeface="Inter Tight"/>
              </a:rPr>
              <a:t>10 min   </a:t>
            </a:r>
            <a:r>
              <a:rPr sz="1400" b="0" i="0">
                <a:solidFill>
                  <a:srgbClr val="1C1B19"/>
                </a:solidFill>
                <a:latin typeface="Source Serif 4"/>
              </a:rPr>
              <a:t>The gray-area debate (move to a spot)</a:t>
            </a:r>
          </a:p>
          <a:p>
            <a:pPr algn="l">
              <a:spcAft>
                <a:spcPts val="630"/>
              </a:spcAft>
            </a:pPr>
            <a:r>
              <a:rPr sz="1300" b="1" i="0">
                <a:solidFill>
                  <a:srgbClr val="F47B20"/>
                </a:solidFill>
                <a:latin typeface="Inter Tight"/>
              </a:rPr>
              <a:t>6 min   </a:t>
            </a:r>
            <a:r>
              <a:rPr sz="1400" b="0" i="0">
                <a:solidFill>
                  <a:srgbClr val="1C1B19"/>
                </a:solidFill>
                <a:latin typeface="Source Serif 4"/>
              </a:rPr>
              <a:t>Three moments (pairs)</a:t>
            </a:r>
          </a:p>
          <a:p>
            <a:pPr algn="l">
              <a:spcAft>
                <a:spcPts val="630"/>
              </a:spcAft>
            </a:pPr>
            <a:r>
              <a:rPr sz="1300" b="1" i="0">
                <a:solidFill>
                  <a:srgbClr val="F47B20"/>
                </a:solidFill>
                <a:latin typeface="Inter Tight"/>
              </a:rPr>
              <a:t>4 min   </a:t>
            </a:r>
            <a:r>
              <a:rPr sz="1400" b="0" i="0">
                <a:solidFill>
                  <a:srgbClr val="1C1B19"/>
                </a:solidFill>
                <a:latin typeface="Source Serif 4"/>
              </a:rPr>
              <a:t>What helps</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Myth or fact (4), the brain's cannabis system (5), one gray-area statement (6), exit card (3).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Assume every group is in the room.</a:t>
            </a:r>
          </a:p>
          <a:p>
            <a:pPr algn="l">
              <a:spcAft>
                <a:spcPts val="585"/>
              </a:spcAft>
            </a:pPr>
            <a:r>
              <a:rPr sz="1300" b="0" i="0">
                <a:solidFill>
                  <a:srgbClr val="1C1B19"/>
                </a:solidFill>
                <a:latin typeface="Source Serif 4"/>
              </a:rPr>
              <a:t>Students who've never tried it, students who use now and then, students who use daily, and students with a parent who uses. Don't ask for a show of hands about anyone's use.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Skip the scare stories.</a:t>
            </a:r>
          </a:p>
          <a:p>
            <a:pPr algn="l">
              <a:spcAft>
                <a:spcPts val="585"/>
              </a:spcAft>
            </a:pPr>
            <a:r>
              <a:rPr sz="1300" b="0" i="0">
                <a:solidFill>
                  <a:srgbClr val="1C1B19"/>
                </a:solidFill>
                <a:latin typeface="Source Serif 4"/>
              </a:rPr>
              <a:t>Students have heard both extremes. The honest version, with its uncertainty, earns more trust than any overstatement, and the strong findings still land.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Say "link, not proof" when it's true.</a:t>
            </a:r>
          </a:p>
          <a:p>
            <a:pPr algn="l">
              <a:spcAft>
                <a:spcPts val="585"/>
              </a:spcAft>
            </a:pPr>
            <a:r>
              <a:rPr sz="1300" b="0" i="0">
                <a:solidFill>
                  <a:srgbClr val="1C1B19"/>
                </a:solidFill>
                <a:latin typeface="Source Serif 4"/>
              </a:rPr>
              <a:t>The psychosis and memory studies show strong links. Most teens who use won't develop psychosis. Saying that out loud makes the rest more believable.</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If a student says "I can't stop."</a:t>
            </a:r>
          </a:p>
          <a:p>
            <a:pPr algn="l">
              <a:spcAft>
                <a:spcPts val="585"/>
              </a:spcAft>
            </a:pPr>
            <a:r>
              <a:rPr sz="1300" b="0" i="0">
                <a:solidFill>
                  <a:srgbClr val="1C1B19"/>
                </a:solidFill>
                <a:latin typeface="Source Serif 4"/>
              </a:rPr>
              <a:t>Thank them, say you want to get them help, and walk them to a counselor or the nurse that day. Withdrawal is real and usually eases after two to three weeks.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describes scary symptoms.</a:t>
            </a:r>
          </a:p>
          <a:p>
            <a:pPr algn="l">
              <a:spcAft>
                <a:spcPts val="585"/>
              </a:spcAft>
            </a:pPr>
            <a:r>
              <a:rPr sz="1300" b="0" i="0">
                <a:solidFill>
                  <a:srgbClr val="1C1B19"/>
                </a:solidFill>
                <a:latin typeface="Source Serif 4"/>
              </a:rPr>
              <a:t>Seeing or hearing things, severe paranoia, or vomiting that won't stop after heavy use need a doctor. Chest pain, fainting or a seizure is a 911 call. A young child who ate an edible: Poison Control, 1-800-222-1222.</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the debate friendly.</a:t>
            </a:r>
          </a:p>
          <a:p>
            <a:pPr algn="l">
              <a:spcAft>
                <a:spcPts val="585"/>
              </a:spcAft>
            </a:pPr>
            <a:r>
              <a:rPr sz="1300" b="0" i="0">
                <a:solidFill>
                  <a:srgbClr val="1C1B19"/>
                </a:solidFill>
                <a:latin typeface="Source Serif 4"/>
              </a:rPr>
              <a:t>In the gray-area activity, students argue positions, not confessions. If someone starts telling a personal story, thank them and steer back to "people our age."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Medical use at home.</a:t>
            </a:r>
          </a:p>
          <a:p>
            <a:pPr algn="l">
              <a:spcAft>
                <a:spcPts val="585"/>
              </a:spcAft>
            </a:pPr>
            <a:r>
              <a:rPr sz="1300" b="0" i="0">
                <a:solidFill>
                  <a:srgbClr val="1C1B19"/>
                </a:solidFill>
                <a:latin typeface="Source Serif 4"/>
              </a:rPr>
              <a:t>Some students have a parent or grandparent who uses cannabis with a medical card for pain or illness. Never make that adult sound like a bad example. Their choice and a teen's choice are different decisions.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Culture and faith.</a:t>
            </a:r>
          </a:p>
          <a:p>
            <a:pPr algn="l">
              <a:spcAft>
                <a:spcPts val="585"/>
              </a:spcAft>
            </a:pPr>
            <a:r>
              <a:rPr sz="1300" b="0" i="0">
                <a:solidFill>
                  <a:srgbClr val="1C1B19"/>
                </a:solidFill>
                <a:latin typeface="Source Serif 4"/>
              </a:rPr>
              <a:t>Families and faiths range from total prohibition to everyday acceptance. Present the brain science and leave the values to the student and their family.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Unequal consequences.</a:t>
            </a:r>
          </a:p>
          <a:p>
            <a:pPr algn="l">
              <a:spcAft>
                <a:spcPts val="585"/>
              </a:spcAft>
            </a:pPr>
            <a:r>
              <a:rPr sz="1300" b="0" i="0">
                <a:solidFill>
                  <a:srgbClr val="1C1B19"/>
                </a:solidFill>
                <a:latin typeface="Source Serif 4"/>
              </a:rPr>
              <a:t>Students may raise how cannabis laws have been enforced differently in different communities. Take it seriously and let it be part of the conversation without turning the lesson into a debate about policing.</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Who drug tests.</a:t>
            </a:r>
          </a:p>
          <a:p>
            <a:pPr algn="l">
              <a:spcAft>
                <a:spcPts val="585"/>
              </a:spcAft>
            </a:pPr>
            <a:r>
              <a:rPr sz="1300" b="0" i="0">
                <a:solidFill>
                  <a:srgbClr val="1C1B19"/>
                </a:solidFill>
                <a:latin typeface="Source Serif 4"/>
              </a:rPr>
              <a:t>Summer jobs, teams and some programs test. For students who depend on that job to help their family, the stakes are higher. Mention testing as a practical fact, not a threat.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Neurodivergent students.</a:t>
            </a:r>
          </a:p>
          <a:p>
            <a:pPr algn="l">
              <a:spcAft>
                <a:spcPts val="585"/>
              </a:spcAft>
            </a:pPr>
            <a:r>
              <a:rPr sz="1300" b="0" i="0">
                <a:solidFill>
                  <a:srgbClr val="1C1B19"/>
                </a:solidFill>
                <a:latin typeface="Source Serif 4"/>
              </a:rPr>
              <a:t>Some students with ADHD or anxiety hear that weed helps them focus or calm down. Take the claim seriously and point to the research on anxiety and withdrawal, then to a doctor or counselor for real options.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Mixed names and situations.</a:t>
            </a:r>
          </a:p>
          <a:p>
            <a:pPr algn="l">
              <a:spcAft>
                <a:spcPts val="585"/>
              </a:spcAft>
            </a:pPr>
            <a:r>
              <a:rPr sz="1300" b="0" i="0">
                <a:solidFill>
                  <a:srgbClr val="1C1B19"/>
                </a:solidFill>
                <a:latin typeface="Source Serif 4"/>
              </a:rPr>
              <a:t>Use the scenario names as written and add your own from many backgrounds. Keep any LGBTQ+ student in the examples as an ordinary part of the group.</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74% of U.S. seniors and 84% of 10th graders did not use cannabis in the past year.</a:t>
            </a:r>
          </a:p>
          <a:p>
            <a:pPr algn="l">
              <a:spcAft>
                <a:spcPts val="585"/>
              </a:spcAft>
            </a:pPr>
            <a:r>
              <a:rPr sz="1050" b="0" i="0">
                <a:solidFill>
                  <a:srgbClr val="5D5A54"/>
                </a:solidFill>
                <a:latin typeface="Inter Tight"/>
              </a:rPr>
              <a:t>Monitoring the Future, 2025</a:t>
            </a:r>
          </a:p>
          <a:p>
            <a:pPr algn="l">
              <a:spcAft>
                <a:spcPts val="585"/>
              </a:spcAft>
            </a:pPr>
            <a:r>
              <a:rPr sz="1300" b="0" i="0">
                <a:solidFill>
                  <a:srgbClr val="1C1B19"/>
                </a:solidFill>
                <a:latin typeface="Source Serif 4"/>
              </a:rPr>
              <a:t>Average THC in cannabis seized in the U.S. rose from 8.9% in 2008 to 17.1% in 2017. Concentrates averaged 55.7% THC.</a:t>
            </a:r>
          </a:p>
          <a:p>
            <a:pPr algn="l">
              <a:spcAft>
                <a:spcPts val="585"/>
              </a:spcAft>
            </a:pPr>
            <a:r>
              <a:rPr sz="1050" b="0" i="0">
                <a:solidFill>
                  <a:srgbClr val="5D5A54"/>
                </a:solidFill>
                <a:latin typeface="Inter Tight"/>
              </a:rPr>
              <a:t>Chandra et al., European Archives of Psychiatry and Clinical Neuroscience, 2019</a:t>
            </a:r>
          </a:p>
          <a:p>
            <a:pPr algn="l">
              <a:spcAft>
                <a:spcPts val="585"/>
              </a:spcAft>
            </a:pPr>
            <a:r>
              <a:rPr sz="1300" b="0" i="0">
                <a:solidFill>
                  <a:srgbClr val="1C1B19"/>
                </a:solidFill>
                <a:latin typeface="Source Serif 4"/>
              </a:rPr>
              <a:t>Across 11 cities, daily cannabis users had about 3 times the odds of a first psychotic episode, and daily users of high-potency cannabis had nearly 5 times the odds.</a:t>
            </a:r>
          </a:p>
          <a:p>
            <a:pPr algn="l">
              <a:spcAft>
                <a:spcPts val="585"/>
              </a:spcAft>
            </a:pPr>
            <a:r>
              <a:rPr sz="1050" b="0" i="0">
                <a:solidFill>
                  <a:srgbClr val="5D5A54"/>
                </a:solidFill>
                <a:latin typeface="Inter Tight"/>
              </a:rPr>
              <a:t>Di Forti et al., The Lancet Psychiatry, 2019</a:t>
            </a:r>
          </a:p>
          <a:p>
            <a:pPr algn="l">
              <a:spcAft>
                <a:spcPts val="585"/>
              </a:spcAft>
            </a:pPr>
            <a:r>
              <a:rPr sz="1300" b="0" i="0">
                <a:solidFill>
                  <a:srgbClr val="1C1B19"/>
                </a:solidFill>
                <a:latin typeface="Source Serif 4"/>
              </a:rPr>
              <a:t>In 11,363 young people in Ontario, teens aged 12 to 19 who used cannabis were about 11 times as likely to be diagnosed with a psychotic disorder. There was no clear link for ages 20 to 33.</a:t>
            </a:r>
          </a:p>
          <a:p>
            <a:pPr algn="l">
              <a:spcAft>
                <a:spcPts val="585"/>
              </a:spcAft>
            </a:pPr>
            <a:r>
              <a:rPr sz="1050" b="0" i="0">
                <a:solidFill>
                  <a:srgbClr val="5D5A54"/>
                </a:solidFill>
                <a:latin typeface="Inter Tight"/>
              </a:rPr>
              <a:t>McDonald et al., Psychological Medicine, 2024</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Following 11,036 U.S. kids from age 9 or 10, gains in memory, attention, language and processing speed slowed modestly after teens started using. THC exposure was tied to worse memory; CBD was not.</a:t>
            </a:r>
          </a:p>
          <a:p>
            <a:pPr algn="l">
              <a:spcAft>
                <a:spcPts val="585"/>
              </a:spcAft>
            </a:pPr>
            <a:r>
              <a:rPr sz="1050" b="0" i="0">
                <a:solidFill>
                  <a:srgbClr val="5D5A54"/>
                </a:solidFill>
                <a:latin typeface="Inter Tight"/>
              </a:rPr>
              <a:t>Wade et al., Neuropsychopharmacology, 2026 (ABCD Study)</a:t>
            </a:r>
          </a:p>
          <a:p>
            <a:pPr algn="l">
              <a:spcAft>
                <a:spcPts val="585"/>
              </a:spcAft>
            </a:pPr>
            <a:r>
              <a:rPr sz="1300" b="0" i="0">
                <a:solidFill>
                  <a:srgbClr val="1C1B19"/>
                </a:solidFill>
                <a:latin typeface="Source Serif 4"/>
              </a:rPr>
              <a:t>People who used heavily and persistently starting in adolescence lost about 8 IQ points between ages 13 and 38.</a:t>
            </a:r>
          </a:p>
          <a:p>
            <a:pPr algn="l">
              <a:spcAft>
                <a:spcPts val="585"/>
              </a:spcAft>
            </a:pPr>
            <a:r>
              <a:rPr sz="1050" b="0" i="0">
                <a:solidFill>
                  <a:srgbClr val="5D5A54"/>
                </a:solidFill>
                <a:latin typeface="Inter Tight"/>
              </a:rPr>
              <a:t>Meier et al., PNAS, 2012 (Dunedin Study)</a:t>
            </a:r>
          </a:p>
          <a:p>
            <a:pPr algn="l">
              <a:spcAft>
                <a:spcPts val="585"/>
              </a:spcAft>
            </a:pPr>
            <a:r>
              <a:rPr sz="1300" b="0" i="0">
                <a:solidFill>
                  <a:srgbClr val="1C1B19"/>
                </a:solidFill>
                <a:latin typeface="Source Serif 4"/>
              </a:rPr>
              <a:t>In two twin samples, teens who used cannabis scored lower over time, but so did their twins who didn't use, pointing to shared family or genetic factors.</a:t>
            </a:r>
          </a:p>
          <a:p>
            <a:pPr algn="l">
              <a:spcAft>
                <a:spcPts val="585"/>
              </a:spcAft>
            </a:pPr>
            <a:r>
              <a:rPr sz="1050" b="0" i="0">
                <a:solidFill>
                  <a:srgbClr val="5D5A54"/>
                </a:solidFill>
                <a:latin typeface="Inter Tight"/>
              </a:rPr>
              <a:t>Jackson et al., PNAS, 2016</a:t>
            </a:r>
          </a:p>
          <a:p>
            <a:pPr algn="l">
              <a:spcAft>
                <a:spcPts val="585"/>
              </a:spcAft>
            </a:pPr>
            <a:r>
              <a:rPr sz="1300" b="0" i="0">
                <a:solidFill>
                  <a:srgbClr val="1C1B19"/>
                </a:solidFill>
                <a:latin typeface="Source Serif 4"/>
              </a:rPr>
              <a:t>30.6% of U.S. adults who used cannabis in the past year met criteria for a cannabis use disorder.</a:t>
            </a:r>
          </a:p>
          <a:p>
            <a:pPr algn="l">
              <a:spcAft>
                <a:spcPts val="585"/>
              </a:spcAft>
            </a:pPr>
            <a:r>
              <a:rPr sz="1050" b="0" i="0">
                <a:solidFill>
                  <a:srgbClr val="5D5A54"/>
                </a:solidFill>
                <a:latin typeface="Inter Tight"/>
              </a:rPr>
              <a:t>Hasin et al., JAMA Psychiatry, 2015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