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"Everybody gets angry. Today is about what anger is telling you, and what to do in the first few minutes so you don't spend two days cleaning up." Say up front that nobody will be asked to share a real blowup.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with the title. Read each one and let hands go up and down quickly. Most hands go up for at least one. Point that out: "So this is all of us." The last one is worth a sentence: a lot of people hold it together all day and let go where they feel safest. That's common, and it can still cost something at home. Don't ask anyone to tell the story behind their hand.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Neuroscientist James Blair (2012) calls a set of deep brain areas the "basic threat system": the amygdala spots the provocation, the hypothalamus turns it into a body state (adrenaline, faster heart, heat in your face), and the periaqueductal gray readies the response. The brakes are in the prefrontal cortex, which reads context and thinks about cost. It catches up later, and it keeps maturing into your mid-20s. Ask: "What makes your fuse shorter?" Expect: no sleep, hunger, a bad day, pain, stress. The student page says it well: if you're snapping at everyone, check sleep and food before you decide something is wrong with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Everyone votes at once. Many students will vote yes, since "get it out" is common advice. Then the reveal: in a classic experiment, angry college students who hit a punching bag while thinking about the person who made them mad ended up angrier and more aggressive than students who did nothing at all (Bushman, 2002). A 2024 review of 154 studies found the same pattern: things that lower your arousal (slow breathing, muscle relaxation, mindfulness, slow yoga, a time-out) reduced anger, and things that rev you up, like running or boxing, generally didn't and sometimes made it worse. Exercise is great for you. It just isn't the best tool in the heated moment. Rage rooms and screaming into a pillow work the same way: body revved, mind on the other person. If a student pushes back ("running helps me"), that's fair: a run later in the day is different from boxing while you're boiling.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Walk the four steps. Catch it early: jaw, shoulders, heat in your face, typing faster. At a 4 out of 10 you still have options; at a 9 you mostly don't. Ask: "What's your first sign?" Bring it down: long exhales (in for 4, out for 6), cold water on your face or hands, a slow walk with your phone in your pocket. Zoom out: replay it as if you were watching from across the room. People who did this "fly on the wall" replay felt less angry than people who relived it from the inside (Kross, Ayduk and Mischel, 2005). Then decide, once you're back to a 3 or 4: what line got crossed, what do I want, and is it worth raising? Sometimes you let it go and sometimes you speak up. Both can be the right call. Mention the out-loud time-out: "I'm too heated to talk well. Give me 20 minutes." Then come back. Coming back is the part that makes it 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Pairs or threes, one card each, then a quick report back. Ask: "What's the information? What would you do once the energy drops?" Ines: quitting by text right now is the heat talking, and her family may count on that paycheck. Saying nothing lets it happen again. A good move after cooling off: "I requested this day off on the 3rd. Can we find someone to cover?" Kofi: he can say evenly, "That's not accurate, and it's not funny," and keep going, or talk to the teacher after class. Posting about it later and tagging the classmate usually makes it bigger. Kofi's anger is right about the problem. Sam: locking her out of everything and going silent, or yelling now and apologizing later, both skip the useful part. Cool down, then ask for a real conversation about privacy and trust. A clear script from the student page fits: what happened, how it landed, what you want. There's usually more than one good answer. The best one is the one you'd actually do. If a student says something like Sam's situation is happening at home in a way that feels unsafe, follow up privately and loop in a counselor.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Private. Nobody shares. Anger often sits on top of a second feeling, and the second feeling usually tells you what you need. Someone who's embarrassed needs something different from someone who's exhausted. If students finish early, offer a second private question: "What are the anger rules in your family? Which ones do you want to keep?" Some homes are loud and quick to forgive, some see anger at an elder as a serious line, and lots of people switch rules between home, school and friends. None of these is the right one. You might also mention that holding everything in has costs: in one study, people who hid their emotions in a conversation came across as less responsive to their partner, though that cost was smaller where restraint is the cultural norm (Butler, Lee and Gross, 2007). Choosing when to speak is a skill.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Students can say theirs out loud or keep it to themselves. Share the student page link (post it on your class page too). It has the tools, the myths, a private check-in, and who to talk to. Close with the reminder that anger that's there most of the time, or that has led to someone getting hurt, is worth bringing to a counselor, and so is anyone else's anger that makes a student feel unsafe.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Anger Is Information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that anger moves faster than judgment, that venting tends to feed it, and to let the energy drop before they act on what it's telling them. Bring index cards, keep real names and real blowups out of it, and pass anything about feeling unsafe to a counselor that day.</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When the research slide comes up, present who gets called aggressive as bias in the people watching, and remember that some students, like Ines, can't simply walk away from the situation.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ANGER IS INFORMATION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Anger Is Information</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Usually right about the problem. Often wrong about the response.</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SOUND FAMILIAR?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Hand up if this has happened to you.</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Your voice came out louder than you meant.</a:t>
            </a:r>
          </a:p>
          <a:p>
            <a:pPr algn="l">
              <a:spcAft>
                <a:spcPts val="945"/>
              </a:spcAft>
            </a:pPr>
            <a:r>
              <a:rPr sz="1600" b="0" i="0">
                <a:solidFill>
                  <a:srgbClr val="5D5A54"/>
                </a:solidFill>
                <a:latin typeface="Source Serif 4"/>
              </a:rPr>
              <a:t>Marked late when you weren't, for example.</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 sent a reply in 40 seconds.</a:t>
            </a:r>
          </a:p>
          <a:p>
            <a:pPr algn="l">
              <a:spcAft>
                <a:spcPts val="945"/>
              </a:spcAft>
            </a:pPr>
            <a:r>
              <a:rPr sz="1600" b="0" i="0">
                <a:solidFill>
                  <a:srgbClr val="5D5A54"/>
                </a:solidFill>
                <a:latin typeface="Source Serif 4"/>
              </a:rPr>
              <a:t>Then spent two days cleaning it up.</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"Watch your tone."</a:t>
            </a:r>
          </a:p>
          <a:p>
            <a:pPr algn="l">
              <a:spcAft>
                <a:spcPts val="945"/>
              </a:spcAft>
            </a:pPr>
            <a:r>
              <a:rPr sz="1600" b="0" i="0">
                <a:solidFill>
                  <a:srgbClr val="5D5A54"/>
                </a:solidFill>
                <a:latin typeface="Source Serif 4"/>
              </a:rPr>
              <a:t>Now the argument is about your tone, not the curfew.</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clip built to make people furious worked.</a:t>
            </a:r>
          </a:p>
          <a:p>
            <a:pPr algn="l">
              <a:spcAft>
                <a:spcPts val="945"/>
              </a:spcAft>
            </a:pPr>
            <a:r>
              <a:rPr sz="1600" b="0" i="0">
                <a:solidFill>
                  <a:srgbClr val="5D5A54"/>
                </a:solidFill>
                <a:latin typeface="Source Serif 4"/>
              </a:rPr>
              <a:t>For an hour.</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Calm all day at school, then you come apart at home.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HAPPENS IN YOUR BRAIN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A fast alarm, and slower brakes</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ALARM (FAST)</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Spots an insult or something unfair</a:t>
            </a:r>
          </a:p>
          <a:p>
            <a:pPr algn="l">
              <a:spcAft>
                <a:spcPts val="855"/>
              </a:spcAft>
            </a:pPr>
            <a:r>
              <a:rPr sz="1900" b="0" i="0">
                <a:solidFill>
                  <a:srgbClr val="1C1B19"/>
                </a:solidFill>
                <a:latin typeface="Source Serif 4"/>
              </a:rPr>
              <a:t>Heart speeds up, face gets hot</a:t>
            </a:r>
          </a:p>
          <a:p>
            <a:pPr algn="l">
              <a:spcAft>
                <a:spcPts val="855"/>
              </a:spcAft>
            </a:pPr>
            <a:r>
              <a:rPr sz="1900" b="0" i="0">
                <a:solidFill>
                  <a:srgbClr val="1C1B19"/>
                </a:solidFill>
                <a:latin typeface="Source Serif 4"/>
              </a:rPr>
              <a:t>Muscles tighten, ready to push back</a:t>
            </a:r>
          </a:p>
          <a:p>
            <a:pPr algn="l">
              <a:spcAft>
                <a:spcPts val="855"/>
              </a:spcAft>
            </a:pPr>
            <a:r>
              <a:rPr sz="1900" b="0" i="0">
                <a:solidFill>
                  <a:srgbClr val="1C1B19"/>
                </a:solidFill>
                <a:latin typeface="Source Serif 4"/>
              </a:rPr>
              <a:t>Often before you've thought it through</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BRAKES (SLOWER)</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Reads context: is this a real threat?</a:t>
            </a:r>
          </a:p>
          <a:p>
            <a:pPr algn="l">
              <a:spcAft>
                <a:spcPts val="855"/>
              </a:spcAft>
            </a:pPr>
            <a:r>
              <a:rPr sz="1900" b="0" i="0">
                <a:solidFill>
                  <a:srgbClr val="1C1B19"/>
                </a:solidFill>
                <a:latin typeface="Source Serif 4"/>
              </a:rPr>
              <a:t>Asks what reacting will cost</a:t>
            </a:r>
          </a:p>
          <a:p>
            <a:pPr algn="l">
              <a:spcAft>
                <a:spcPts val="855"/>
              </a:spcAft>
            </a:pPr>
            <a:r>
              <a:rPr sz="1900" b="0" i="0">
                <a:solidFill>
                  <a:srgbClr val="1C1B19"/>
                </a:solidFill>
                <a:latin typeface="Source Serif 4"/>
              </a:rPr>
              <a:t>Can turn the alarm down</a:t>
            </a:r>
          </a:p>
          <a:p>
            <a:pPr algn="l">
              <a:spcAft>
                <a:spcPts val="855"/>
              </a:spcAft>
            </a:pPr>
            <a:r>
              <a:rPr sz="1900" b="0" i="0">
                <a:solidFill>
                  <a:srgbClr val="1C1B19"/>
                </a:solidFill>
                <a:latin typeface="Source Serif 4"/>
              </a:rPr>
              <a:t>Weaker when tired, hungry or flooded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QUICK VOTE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Does hitting a punching bag help anger drain out?</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Thumbs up for yes, down for no, sideways if you're not sure.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CORE SKILL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Two things arrive at once. Handle them in order.</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Catch it early</a:t>
            </a:r>
          </a:p>
        </p:txBody>
      </p:sp>
      <p:cxnSp>
        <p:nvCxnSpPr>
          <p:cNvPr id="8" name="Connector 7"/>
          <p:cNvCxnSpPr/>
          <p:nvPr/>
        </p:nvCxnSpPr>
        <p:spPr>
          <a:xfrm>
            <a:off x="275234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70332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Bring it down</a:t>
            </a:r>
          </a:p>
        </p:txBody>
      </p:sp>
      <p:cxnSp>
        <p:nvCxnSpPr>
          <p:cNvPr id="11" name="Connector 10"/>
          <p:cNvCxnSpPr/>
          <p:nvPr/>
        </p:nvCxnSpPr>
        <p:spPr>
          <a:xfrm>
            <a:off x="563270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58368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Zoom out</a:t>
            </a:r>
          </a:p>
        </p:txBody>
      </p:sp>
      <p:cxnSp>
        <p:nvCxnSpPr>
          <p:cNvPr id="14" name="Connector 13"/>
          <p:cNvCxnSpPr/>
          <p:nvPr/>
        </p:nvCxnSpPr>
        <p:spPr>
          <a:xfrm>
            <a:off x="851306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Then decide</a:t>
            </a:r>
          </a:p>
        </p:txBody>
      </p:sp>
      <p:sp>
        <p:nvSpPr>
          <p:cNvPr id="17" name="TextBox 16"/>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and around again</a:t>
            </a:r>
          </a:p>
        </p:txBody>
      </p:sp>
      <p:sp>
        <p:nvSpPr>
          <p:cNvPr id="18" name="TextBox 17"/>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Anger brings information (a line got crossed) and energy (a body ready to fight).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SITUATIONS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Stand up without blowing up.</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INES</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Asked off from her weekend job weeks ago. Her manager scheduled her anyway, then said, "You should have reminded me."</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KOFI</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In a class discussion, a classmate makes a comment about his neighborhood. A few people laugh.</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SAM</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Finds out his grandmother, who he lives with, has been reading his messages without asking. He's furious.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PRIVATE REFLECTION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Your last big blowup: what was underneath?</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Hurt, embarrassed, left out, scared, controlled, exhausted? On your card, just for you.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One move</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Next time it hits a 7, what will you try first? Long exhales, cold water, a walk, a time-out, or the fly on the wall.</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https://rmwtoolkit.github.io/bcds-toolkit/anger-is-information-high-school.html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Anger Is Information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anger moves faster than judgment (a fast alarm, slower brakes), why venting tends to feed anger, and how to handle anger in order: let the energy drop, then use the information. Each student leaves with one move they'd like to try. Nobody has to share a real blowup.</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private reflection</a:t>
            </a:r>
          </a:p>
          <a:p>
            <a:pPr algn="l">
              <a:spcAft>
                <a:spcPts val="675"/>
              </a:spcAft>
            </a:pPr>
            <a:r>
              <a:rPr sz="1500" b="0" i="0">
                <a:solidFill>
                  <a:srgbClr val="1C1B19"/>
                </a:solidFill>
                <a:latin typeface="Source Serif 4"/>
              </a:rPr>
              <a:t>Optional: a board to note the vote and first signs</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Sound familiar? (hands up)</a:t>
            </a:r>
          </a:p>
          <a:p>
            <a:pPr algn="l">
              <a:spcAft>
                <a:spcPts val="630"/>
              </a:spcAft>
            </a:pPr>
            <a:r>
              <a:rPr sz="1300" b="1" i="0">
                <a:solidFill>
                  <a:srgbClr val="F47B20"/>
                </a:solidFill>
                <a:latin typeface="Inter Tight"/>
              </a:rPr>
              <a:t>3 min   </a:t>
            </a:r>
            <a:r>
              <a:rPr sz="1400" b="0" i="0">
                <a:solidFill>
                  <a:srgbClr val="1C1B19"/>
                </a:solidFill>
                <a:latin typeface="Source Serif 4"/>
              </a:rPr>
              <a:t>A fast alarm, slower brakes</a:t>
            </a:r>
          </a:p>
          <a:p>
            <a:pPr algn="l">
              <a:spcAft>
                <a:spcPts val="630"/>
              </a:spcAft>
            </a:pPr>
            <a:r>
              <a:rPr sz="1300" b="1" i="0">
                <a:solidFill>
                  <a:srgbClr val="F47B20"/>
                </a:solidFill>
                <a:latin typeface="Inter Tight"/>
              </a:rPr>
              <a:t>3 min   </a:t>
            </a:r>
            <a:r>
              <a:rPr sz="1400" b="0" i="0">
                <a:solidFill>
                  <a:srgbClr val="1C1B19"/>
                </a:solidFill>
                <a:latin typeface="Source Serif 4"/>
              </a:rPr>
              <a:t>Quick vote: does venting help?</a:t>
            </a:r>
          </a:p>
          <a:p>
            <a:pPr algn="l">
              <a:spcAft>
                <a:spcPts val="630"/>
              </a:spcAft>
            </a:pPr>
            <a:r>
              <a:rPr sz="1300" b="1" i="0">
                <a:solidFill>
                  <a:srgbClr val="F47B20"/>
                </a:solidFill>
                <a:latin typeface="Inter Tight"/>
              </a:rPr>
              <a:t>3 min   </a:t>
            </a:r>
            <a:r>
              <a:rPr sz="1400" b="0" i="0">
                <a:solidFill>
                  <a:srgbClr val="1C1B19"/>
                </a:solidFill>
                <a:latin typeface="Source Serif 4"/>
              </a:rPr>
              <a:t>Two things at once: handle them in order</a:t>
            </a:r>
          </a:p>
          <a:p>
            <a:pPr algn="l">
              <a:spcAft>
                <a:spcPts val="630"/>
              </a:spcAft>
            </a:pPr>
            <a:r>
              <a:rPr sz="1300" b="1" i="0">
                <a:solidFill>
                  <a:srgbClr val="F47B20"/>
                </a:solidFill>
                <a:latin typeface="Inter Tight"/>
              </a:rPr>
              <a:t>5 min   </a:t>
            </a:r>
            <a:r>
              <a:rPr sz="1400" b="0" i="0">
                <a:solidFill>
                  <a:srgbClr val="1C1B19"/>
                </a:solidFill>
                <a:latin typeface="Source Serif 4"/>
              </a:rPr>
              <a:t>Three situations (pairs)</a:t>
            </a:r>
          </a:p>
          <a:p>
            <a:pPr algn="l">
              <a:spcAft>
                <a:spcPts val="630"/>
              </a:spcAft>
            </a:pPr>
            <a:r>
              <a:rPr sz="1300" b="1" i="0">
                <a:solidFill>
                  <a:srgbClr val="F47B20"/>
                </a:solidFill>
                <a:latin typeface="Inter Tight"/>
              </a:rPr>
              <a:t>2 min   </a:t>
            </a:r>
            <a:r>
              <a:rPr sz="1400" b="0" i="0">
                <a:solidFill>
                  <a:srgbClr val="1C1B19"/>
                </a:solidFill>
                <a:latin typeface="Source Serif 4"/>
              </a:rPr>
              <a:t>What was under it? (private reflection)</a:t>
            </a:r>
          </a:p>
          <a:p>
            <a:pPr algn="l">
              <a:spcAft>
                <a:spcPts val="630"/>
              </a:spcAft>
            </a:pPr>
            <a:r>
              <a:rPr sz="1300" b="1" i="0">
                <a:solidFill>
                  <a:srgbClr val="F47B20"/>
                </a:solidFill>
                <a:latin typeface="Inter Tight"/>
              </a:rPr>
              <a:t>1 min   </a:t>
            </a:r>
            <a:r>
              <a:rPr sz="1400" b="0" i="0">
                <a:solidFill>
                  <a:srgbClr val="1C1B19"/>
                </a:solidFill>
                <a:latin typeface="Source Serif 4"/>
              </a:rPr>
              <a:t>One move, and the student page</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Quick vote on venting (3), two things at once (3), one of the three situations as a whole group (3), one move and the student page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Keep it off real people in the room.</a:t>
            </a:r>
          </a:p>
          <a:p>
            <a:pPr algn="l">
              <a:spcAft>
                <a:spcPts val="585"/>
              </a:spcAft>
            </a:pPr>
            <a:r>
              <a:rPr sz="1300" b="0" i="0">
                <a:solidFill>
                  <a:srgbClr val="1C1B19"/>
                </a:solidFill>
                <a:latin typeface="Source Serif 4"/>
              </a:rPr>
              <a:t>Anger talk can slide into naming a teacher, a teammate or a sibling. Steer back gently: "Let's keep names out of it. What would help in a moment like that?" The scenarios are there so nobody has to use their own story.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Nobody shares their own blowup.</a:t>
            </a:r>
          </a:p>
          <a:p>
            <a:pPr algn="l">
              <a:spcAft>
                <a:spcPts val="585"/>
              </a:spcAft>
            </a:pPr>
            <a:r>
              <a:rPr sz="1300" b="0" i="0">
                <a:solidFill>
                  <a:srgbClr val="1C1B19"/>
                </a:solidFill>
                <a:latin typeface="Source Serif 4"/>
              </a:rPr>
              <a:t>The reflection card is private and goes home with the student. Passing is always fine in the circle.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someone else's anger feels unsafe.</a:t>
            </a:r>
          </a:p>
          <a:p>
            <a:pPr algn="l">
              <a:spcAft>
                <a:spcPts val="585"/>
              </a:spcAft>
            </a:pPr>
            <a:r>
              <a:rPr sz="1300" b="0" i="0">
                <a:solidFill>
                  <a:srgbClr val="1C1B19"/>
                </a:solidFill>
                <a:latin typeface="Source Serif 4"/>
              </a:rPr>
              <a:t>If a student says anger at home, in a relationship or at school makes them feel unsafe, thank them, don't dig for details in the group, and connect them with a counselor that day. The student page says plainly that this isn't theirs to handle alone.</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If a student has hurt someone or themselves when angry.</a:t>
            </a:r>
          </a:p>
          <a:p>
            <a:pPr algn="l">
              <a:spcAft>
                <a:spcPts val="585"/>
              </a:spcAft>
            </a:pPr>
            <a:r>
              <a:rPr sz="1300" b="0" i="0">
                <a:solidFill>
                  <a:srgbClr val="1C1B19"/>
                </a:solidFill>
                <a:latin typeface="Source Serif 4"/>
              </a:rPr>
              <a:t>That's a counselor conversation, not a discussion topic. Don't ask screening questions in advisory. Walk them over or let the counselor know after.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Who gets read as angry is a real topic.</a:t>
            </a:r>
          </a:p>
          <a:p>
            <a:pPr algn="l">
              <a:spcAft>
                <a:spcPts val="585"/>
              </a:spcAft>
            </a:pPr>
            <a:r>
              <a:rPr sz="1300" b="0" i="0">
                <a:solidFill>
                  <a:srgbClr val="1C1B19"/>
                </a:solidFill>
                <a:latin typeface="Source Serif 4"/>
              </a:rPr>
              <a:t>Some students, often Black students and students of color, have been called aggressive when they were being firm. If it comes up, believe them and name it as unfair. Don't ask anyone to prove it or explain it for the group.</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Model the skill you're teaching.</a:t>
            </a:r>
          </a:p>
          <a:p>
            <a:pPr algn="l">
              <a:spcAft>
                <a:spcPts val="585"/>
              </a:spcAft>
            </a:pPr>
            <a:r>
              <a:rPr sz="1300" b="0" i="0">
                <a:solidFill>
                  <a:srgbClr val="1C1B19"/>
                </a:solidFill>
                <a:latin typeface="Source Serif 4"/>
              </a:rPr>
              <a:t>If the room gets heated, you can say it out loud: "I'm going to slow this down for a second." Students learn the time-out from watching an adult use one.</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Race and who gets called aggressive.</a:t>
            </a:r>
          </a:p>
          <a:p>
            <a:pPr algn="l">
              <a:spcAft>
                <a:spcPts val="585"/>
              </a:spcAft>
            </a:pPr>
            <a:r>
              <a:rPr sz="1300" b="0" i="0">
                <a:solidFill>
                  <a:srgbClr val="1C1B19"/>
                </a:solidFill>
                <a:latin typeface="Source Serif 4"/>
              </a:rPr>
              <a:t>The Hugenberg study is on the slide on purpose. Present it as bias in the people watching, and keep the focus on what a student can do if they've been misread: talk it through with someone they trust. Avoid using any student's experience as the example.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anger rules differ.</a:t>
            </a:r>
          </a:p>
          <a:p>
            <a:pPr algn="l">
              <a:spcAft>
                <a:spcPts val="585"/>
              </a:spcAft>
            </a:pPr>
            <a:r>
              <a:rPr sz="1300" b="0" i="0">
                <a:solidFill>
                  <a:srgbClr val="1C1B19"/>
                </a:solidFill>
                <a:latin typeface="Source Serif 4"/>
              </a:rPr>
              <a:t>In some homes raised voices blow over in minutes. In others, anger at an elder crosses a serious line. Present both as normal, avoid "In X families" generalizations, and keep the family-rules question private. Say "parent or caregiver": Sam's scenario uses a grandmother.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Girls get angry. Boys get hurt.</a:t>
            </a:r>
          </a:p>
          <a:p>
            <a:pPr algn="l">
              <a:spcAft>
                <a:spcPts val="585"/>
              </a:spcAft>
            </a:pPr>
            <a:r>
              <a:rPr sz="1300" b="0" i="0">
                <a:solidFill>
                  <a:srgbClr val="1C1B19"/>
                </a:solidFill>
                <a:latin typeface="Source Serif 4"/>
              </a:rPr>
              <a:t>Students hear early on that anger is unattractive in girls and that boys should only show anger. Mix genders in your examples, and when naming what's under anger, say clearly that anyone can be hurt, scared or embarrassed.</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Bodies and brains signal differently.</a:t>
            </a:r>
          </a:p>
          <a:p>
            <a:pPr algn="l">
              <a:spcAft>
                <a:spcPts val="585"/>
              </a:spcAft>
            </a:pPr>
            <a:r>
              <a:rPr sz="1300" b="0" i="0">
                <a:solidFill>
                  <a:srgbClr val="1C1B19"/>
                </a:solidFill>
                <a:latin typeface="Source Serif 4"/>
              </a:rPr>
              <a:t>Some students, including autistic students and students with ADHD, notice body signals late, or get flooded by noise, crowds or sensory overload before anger shows. "Catch it early" can mean noticing the room, too. Don't treat eye contact or staying seated as signs of calm, and never use "psycho" or "crazy" as shorthand.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everyone can walk away.</a:t>
            </a:r>
          </a:p>
          <a:p>
            <a:pPr algn="l">
              <a:spcAft>
                <a:spcPts val="585"/>
              </a:spcAft>
            </a:pPr>
            <a:r>
              <a:rPr sz="1300" b="0" i="0">
                <a:solidFill>
                  <a:srgbClr val="1C1B19"/>
                </a:solidFill>
                <a:latin typeface="Source Serif 4"/>
              </a:rPr>
              <a:t>Ines may not be able to quit a job her family counts on, and some students can't leave a room at work or at home. Breathing out slowly and cold water on the hands work anywhere and cost nothing. Name those first.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Faith can be a tool.</a:t>
            </a:r>
          </a:p>
          <a:p>
            <a:pPr algn="l">
              <a:spcAft>
                <a:spcPts val="585"/>
              </a:spcAft>
            </a:pPr>
            <a:r>
              <a:rPr sz="1300" b="0" i="0">
                <a:solidFill>
                  <a:srgbClr val="1C1B19"/>
                </a:solidFill>
                <a:latin typeface="Source Serif 4"/>
              </a:rPr>
              <a:t>For some students, prayer, a verse or a moment of quiet is how they cool down. For others it's music or a walk. "Whatever brings your body down" covers all of it.</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Neuroscientist James Blair calls the amygdala, hypothalamus and periaqueductal gray the brain's "basic threat system" and links it to both anger and reactive aggression. The prefrontal cortex reads context and can turn the alarm down.</a:t>
            </a:r>
          </a:p>
          <a:p>
            <a:pPr algn="l">
              <a:spcAft>
                <a:spcPts val="585"/>
              </a:spcAft>
            </a:pPr>
            <a:r>
              <a:rPr sz="1050" b="0" i="0">
                <a:solidFill>
                  <a:srgbClr val="5D5A54"/>
                </a:solidFill>
                <a:latin typeface="Inter Tight"/>
              </a:rPr>
              <a:t>Blair, 2012, WIREs Cognitive Science</a:t>
            </a:r>
          </a:p>
          <a:p>
            <a:pPr algn="l">
              <a:spcAft>
                <a:spcPts val="585"/>
              </a:spcAft>
            </a:pPr>
            <a:r>
              <a:rPr sz="1300" b="0" i="0">
                <a:solidFill>
                  <a:srgbClr val="1C1B19"/>
                </a:solidFill>
                <a:latin typeface="Source Serif 4"/>
              </a:rPr>
              <a:t>Angry college students who hit a punching bag while thinking about the person who angered them ended up angrier and more aggressive than students who did nothing at all.</a:t>
            </a:r>
          </a:p>
          <a:p>
            <a:pPr algn="l">
              <a:spcAft>
                <a:spcPts val="585"/>
              </a:spcAft>
            </a:pPr>
            <a:r>
              <a:rPr sz="1050" b="0" i="0">
                <a:solidFill>
                  <a:srgbClr val="5D5A54"/>
                </a:solidFill>
                <a:latin typeface="Inter Tight"/>
              </a:rPr>
              <a:t>Bushman, 2002, Personality and Social Psychology Bulletin</a:t>
            </a:r>
          </a:p>
          <a:p>
            <a:pPr algn="l">
              <a:spcAft>
                <a:spcPts val="585"/>
              </a:spcAft>
            </a:pPr>
            <a:r>
              <a:rPr sz="1300" b="0" i="0">
                <a:solidFill>
                  <a:srgbClr val="1C1B19"/>
                </a:solidFill>
                <a:latin typeface="Source Serif 4"/>
              </a:rPr>
              <a:t>A review of 154 studies found that activities that lower arousal (slow breathing, muscle relaxation, mindfulness, slow yoga, a time-out) reduced anger. Activities that raise it, like running or boxing, generally did not, and sometimes made it worse.</a:t>
            </a:r>
          </a:p>
          <a:p>
            <a:pPr algn="l">
              <a:spcAft>
                <a:spcPts val="585"/>
              </a:spcAft>
            </a:pPr>
            <a:r>
              <a:rPr sz="1050" b="0" i="0">
                <a:solidFill>
                  <a:srgbClr val="5D5A54"/>
                </a:solidFill>
                <a:latin typeface="Inter Tight"/>
              </a:rPr>
              <a:t>Kjærvik and Bushman, 2024, Clinical Psychology Review</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People who looked back on an angering memory from a "fly on the wall" view felt less angry than people who relived it from the inside.</a:t>
            </a:r>
          </a:p>
          <a:p>
            <a:pPr algn="l">
              <a:spcAft>
                <a:spcPts val="585"/>
              </a:spcAft>
            </a:pPr>
            <a:r>
              <a:rPr sz="1050" b="0" i="0">
                <a:solidFill>
                  <a:srgbClr val="5D5A54"/>
                </a:solidFill>
                <a:latin typeface="Inter Tight"/>
              </a:rPr>
              <a:t>Kross, Ayduk and Mischel, 2005, Psychological Science</a:t>
            </a:r>
          </a:p>
          <a:p>
            <a:pPr algn="l">
              <a:spcAft>
                <a:spcPts val="585"/>
              </a:spcAft>
            </a:pPr>
            <a:r>
              <a:rPr sz="1300" b="0" i="0">
                <a:solidFill>
                  <a:srgbClr val="1C1B19"/>
                </a:solidFill>
                <a:latin typeface="Source Serif 4"/>
              </a:rPr>
              <a:t>White participants with more implicit racial bias were quicker to see anger in Black faces than in white faces.</a:t>
            </a:r>
          </a:p>
          <a:p>
            <a:pPr algn="l">
              <a:spcAft>
                <a:spcPts val="585"/>
              </a:spcAft>
            </a:pPr>
            <a:r>
              <a:rPr sz="1050" b="0" i="0">
                <a:solidFill>
                  <a:srgbClr val="5D5A54"/>
                </a:solidFill>
                <a:latin typeface="Inter Tight"/>
              </a:rPr>
              <a:t>Hugenberg and Bodenhausen, 2003, Psychological Science</a:t>
            </a:r>
          </a:p>
          <a:p>
            <a:pPr algn="l">
              <a:spcAft>
                <a:spcPts val="585"/>
              </a:spcAft>
            </a:pPr>
            <a:r>
              <a:rPr sz="1300" b="0" i="0">
                <a:solidFill>
                  <a:srgbClr val="1C1B19"/>
                </a:solidFill>
                <a:latin typeface="Source Serif 4"/>
              </a:rPr>
              <a:t>People who suppressed their emotions during a conversation came across as less responsive, and their partners formed more negative impressions. The cost was smaller for people with more Asian cultural values, where restraint is expected.</a:t>
            </a:r>
          </a:p>
          <a:p>
            <a:pPr algn="l">
              <a:spcAft>
                <a:spcPts val="585"/>
              </a:spcAft>
            </a:pPr>
            <a:r>
              <a:rPr sz="1050" b="0" i="0">
                <a:solidFill>
                  <a:srgbClr val="5D5A54"/>
                </a:solidFill>
                <a:latin typeface="Inter Tight"/>
              </a:rPr>
              <a:t>Butler, Lee and Gross, 2007, Emotion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