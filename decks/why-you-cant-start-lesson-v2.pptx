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Something like: "Everyone in here has had a doc open with a title and nothing else. Today isn't about trying harder. It's about why your brain does this, and how to work with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(with the next slide). Read each one; students stand for fact, sit for myth. Don't reveal yet, just notice where the room splits. Answers are on the next slide. Option: let a student read the statements.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the one the room split on most. On #3, expect surprise. Wohl and colleagues found that college students who forgave themselves for putting off studying for one exam procrastinated less before the next. Guilt adds one more bad feeling to the task, which feeds the avoidance. On #4: in Ward's 2017 study, students did worse on attention and memory tasks with the phone on the desk, even face down and silent, than with it in another room.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Draw it on the board as you talk. Psychologists Fuschia Sirois and Tim Pychyl describe procrastination as short-term mood repair: you're avoiding how the work makes you feel. Three parts of the brain are in a negotiation. The amygdala flags a hard or uncertain task as a threat to your grade, your image or your sense of being smart. The reward system offers an exit, and in the teen years it's more sensitive than it will ever be; phones are built to hit it. The prefrontal cortex, the planner, holds the long game, and it keeps developing into your mid-20s, so it often loses the tug-of-war. One more piece: in brain scans, thinking about yourself ten years from now looks more like thinking about another person. That makes it easy to hand the stress to "future me." Ask: "What's the easy exit for most people in this room?" Expect: phone, snacks, the easy homework, cleaning. Point out that doing the easy homework first counts as an exit too.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Anonymous cards, collected face down. Read several aloud and stick them next to "Bad feeling" on the loop. Expect: bored, overwhelmed, "I don't know where to start," afraid it won't be good enough, confused by the assignment, tired. Push gently toward specific: "I don't want to" is vague; "I'm afraid this essay will show I'm not as good a writer as people think" is something you can work with. If a card mentions feeling hopeless or worthless, don't read it aloud. Note it and check in with a counselor after class about following up with the group.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Tice and Baumeister, 1997, college students tracked across a semester. Early on, the procrastinators were less stressed than everyone else. By the end they were more stressed, got sick more often and earned lower grades. Ask: "Why does it feel like you work better at midnight?" Good answers: the fear finally beats the avoidance; there's no time left to worry about it being perfect. The deadline does work as a starter. The fix is borrowing that by setting your own earlier one, which is one of the levers on the next slide. Be honest that this was college students; some students will say "that's not me." Let them hold that and test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These come from Piers Steel's 2007 review, which combined hundreds of studies into one simplified model: motivation goes up with confidence and value, and down with impulsiveness and delay. You don't need the equation; you need the four places to push. More tools from the same lesson: name the feeling specifically, work in 25-minute sprints with a 5-minute break, write a bad first draft on purpose (editing is easier than creating), and work next to a friend who's also working. Ask: "Which lever have you already used without knowing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One card per group, then report back. Jordan: raise confidence. He's stuck on perfect. A rough draft on purpose, one ugly paragraph, then fix it later. Priya: add friction (phone in a bag or across the room, app timer) plus an if-then plan: "If my aunt's car pulls in, then I open the project for 25 minutes." Her time is tight, and short sprints fit it. She doesn't need to care more about history. Marcus: shrink the delay. Set his own deadline two days early and tell a teammate who'll ask. His grades and sleep are already telling him the night-before plan isn't working. There's usually more than one good answer. The best one is the one they'll actually 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Private. Example: "If it's 4:00 and I'm at the kitchen table, then I write the first paragraph." A review of 94 studies (Gollwitzer and Sheeran) found these plans meaningfully increase follow-through, because the decision is already made when the moment comes. Then pair-share only the when and where, never the task: "Tuesday, 7:30, library." A partner who knows the time is someone who can ask. If a student can't think of anything, any homework due this week works. If there's time, start a 10-minute timer and let them begin right now.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Collect anonymously, or let students keep it. Before they go, name when to ask for more help: can't start things in most classes no matter what they try; losing track of time or finishing little for as long as they can remember; avoiding work comes with feeling anxious, flat or hopeless most days; so far behind that catching up feels impossible. A counselor can help sort it out and talk with teachers about a plan. Share the BVR Diner link on the slide (post it on your class page too). It has the four levers, the if-then plan, a private check-in and who to talk to.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Why You Can't Start (and How to Start Anyway)</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9th grade advisory, health class, or a counselor-led group</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learn that procrastination is avoiding a feeling, why "I work better under pressure" backfires, and leave with one if-then plan. Bring index cards, treat it as a feeling problem, and keep what each student is avoiding private.</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For students with ADHD willpower talk makes it worse, and "put the phone in another room" assumes another room, so a bag or a drawer works too.</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Myth or fact (4), the avoidance loop (6), the if-then plan (6), exit card and link (4). Share the BVR Diner link so students get the four levers and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WHY YOU CAN'T START (AND HOW TO START ANYWAY)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Why You Can't Start</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And how to start anyway.</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MYTH OR FACT?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Stand up if you think it's a fact.</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You need to feel motivated before you can start.</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Some people really do work better under pressure.</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Being hard on yourself helps you procrastinate less.</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 phone face down on your desk still costs you focus.</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Deciding when and where you'll start makes you likelier to do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MYTH OR FACT?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The answers</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a:t>
            </a:r>
          </a:p>
          <a:p>
            <a:pPr algn="l">
              <a:spcAft>
                <a:spcPts val="945"/>
              </a:spcAft>
            </a:pPr>
            <a:r>
              <a:rPr sz="1600" b="0" i="0">
                <a:solidFill>
                  <a:srgbClr val="5D5A54"/>
                </a:solidFill>
                <a:latin typeface="Source Serif 4"/>
              </a:rPr>
              <a:t>Motivation usually follows action. Starting brings the feeling.</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Mostly myth.</a:t>
            </a:r>
          </a:p>
          <a:p>
            <a:pPr algn="l">
              <a:spcAft>
                <a:spcPts val="945"/>
              </a:spcAft>
            </a:pPr>
            <a:r>
              <a:rPr sz="1600" b="0" i="0">
                <a:solidFill>
                  <a:srgbClr val="5D5A54"/>
                </a:solidFill>
                <a:latin typeface="Source Serif 4"/>
              </a:rPr>
              <a:t>Pressure feels productive. We'll look at what happened.</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a:t>
            </a:r>
          </a:p>
          <a:p>
            <a:pPr algn="l">
              <a:spcAft>
                <a:spcPts val="945"/>
              </a:spcAft>
            </a:pPr>
            <a:r>
              <a:rPr sz="1600" b="0" i="0">
                <a:solidFill>
                  <a:srgbClr val="5D5A54"/>
                </a:solidFill>
                <a:latin typeface="Source Serif 4"/>
              </a:rPr>
              <a:t>Students who forgave themselves procrastinated less next time.</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Fact.</a:t>
            </a:r>
          </a:p>
          <a:p>
            <a:pPr algn="l">
              <a:spcAft>
                <a:spcPts val="945"/>
              </a:spcAft>
            </a:pPr>
            <a:r>
              <a:rPr sz="1600" b="0" i="0">
                <a:solidFill>
                  <a:srgbClr val="5D5A54"/>
                </a:solidFill>
                <a:latin typeface="Source Serif 4"/>
              </a:rPr>
              <a:t>Part of your brain spends effort not checking it.</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Fact.</a:t>
            </a:r>
          </a:p>
          <a:p>
            <a:pPr algn="l">
              <a:spcAft>
                <a:spcPts val="945"/>
              </a:spcAft>
            </a:pPr>
            <a:r>
              <a:rPr sz="1600" b="0" i="0">
                <a:solidFill>
                  <a:srgbClr val="5D5A54"/>
                </a:solidFill>
                <a:latin typeface="Source Serif 4"/>
              </a:rPr>
              <a:t>A review of 94 studies backs it. More on this later.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WHAT'S GOING ON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avoidance loop</a:t>
            </a:r>
          </a:p>
        </p:txBody>
      </p:sp>
      <p:sp>
        <p:nvSpPr>
          <p:cNvPr id="6" name="Rectangle 5"/>
          <p:cNvSpPr/>
          <p:nvPr/>
        </p:nvSpPr>
        <p:spPr>
          <a:xfrm>
            <a:off x="82296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Hard task</a:t>
            </a:r>
          </a:p>
        </p:txBody>
      </p:sp>
      <p:cxnSp>
        <p:nvCxnSpPr>
          <p:cNvPr id="8" name="Connector 7"/>
          <p:cNvCxnSpPr/>
          <p:nvPr/>
        </p:nvCxnSpPr>
        <p:spPr>
          <a:xfrm>
            <a:off x="2752344" y="3246120"/>
            <a:ext cx="176021"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983229"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3229"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Bad feeling</a:t>
            </a:r>
          </a:p>
        </p:txBody>
      </p:sp>
      <p:cxnSp>
        <p:nvCxnSpPr>
          <p:cNvPr id="11" name="Connector 10"/>
          <p:cNvCxnSpPr/>
          <p:nvPr/>
        </p:nvCxnSpPr>
        <p:spPr>
          <a:xfrm>
            <a:off x="491261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14350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350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Easy exit</a:t>
            </a:r>
          </a:p>
        </p:txBody>
      </p:sp>
      <p:cxnSp>
        <p:nvCxnSpPr>
          <p:cNvPr id="14" name="Connector 13"/>
          <p:cNvCxnSpPr/>
          <p:nvPr/>
        </p:nvCxnSpPr>
        <p:spPr>
          <a:xfrm>
            <a:off x="7072883" y="3246120"/>
            <a:ext cx="176023"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30377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0377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Quick relief</a:t>
            </a:r>
          </a:p>
        </p:txBody>
      </p:sp>
      <p:cxnSp>
        <p:nvCxnSpPr>
          <p:cNvPr id="17" name="Connector 16"/>
          <p:cNvCxnSpPr/>
          <p:nvPr/>
        </p:nvCxnSpPr>
        <p:spPr>
          <a:xfrm>
            <a:off x="923315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946404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404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Task still there</a:t>
            </a:r>
          </a:p>
        </p:txBody>
      </p:sp>
      <p:sp>
        <p:nvSpPr>
          <p:cNvPr id="20" name="TextBox 19"/>
          <p:cNvSpPr txBox="1"/>
          <p:nvPr/>
        </p:nvSpPr>
        <p:spPr>
          <a:xfrm>
            <a:off x="822960" y="4160520"/>
            <a:ext cx="10515600" cy="457200"/>
          </a:xfrm>
          <a:prstGeom prst="rect">
            <a:avLst/>
          </a:prstGeom>
          <a:noFill/>
        </p:spPr>
        <p:txBody>
          <a:bodyPr wrap="square" anchor="t" lIns="0" rIns="0" tIns="0" bIns="0">
            <a:spAutoFit/>
          </a:bodyPr>
          <a:lstStyle/>
          <a:p>
            <a:pPr algn="ctr">
              <a:spcAft>
                <a:spcPts val="810"/>
              </a:spcAft>
            </a:pPr>
            <a:r>
              <a:rPr sz="1800" b="1" i="0">
                <a:solidFill>
                  <a:srgbClr val="F47B20"/>
                </a:solidFill>
                <a:latin typeface="Inter Tight"/>
              </a:rPr>
              <a:t>↺  and around again</a:t>
            </a:r>
          </a:p>
        </p:txBody>
      </p:sp>
      <p:sp>
        <p:nvSpPr>
          <p:cNvPr id="21" name="TextBox 20"/>
          <p:cNvSpPr txBox="1"/>
          <p:nvPr/>
        </p:nvSpPr>
        <p:spPr>
          <a:xfrm>
            <a:off x="822960" y="4846320"/>
            <a:ext cx="10515600" cy="1188720"/>
          </a:xfrm>
          <a:prstGeom prst="rect">
            <a:avLst/>
          </a:prstGeom>
          <a:noFill/>
        </p:spPr>
        <p:txBody>
          <a:bodyPr wrap="square" anchor="t" lIns="0" rIns="0" tIns="0" bIns="0">
            <a:spAutoFit/>
          </a:bodyPr>
          <a:lstStyle/>
          <a:p>
            <a:pPr algn="ctr">
              <a:spcAft>
                <a:spcPts val="900"/>
              </a:spcAft>
            </a:pPr>
            <a:r>
              <a:rPr sz="2000" b="0" i="1">
                <a:solidFill>
                  <a:srgbClr val="5D5A54"/>
                </a:solidFill>
                <a:latin typeface="Source Serif 4"/>
              </a:rPr>
              <a:t>Putting it off fixes the feeling for now. The stress comes back later, with interest.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YOUR TURN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What feeling shows up right before you put something off?</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One per card. No names. Be specific.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"I WORK BETTER UNDER PRESSURE"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The pressure felt productive. It wasn't.</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Procrastinators felt less stressed early in the semester. By the end they were more stressed, sicker, and had lower grades.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FOUR LEVERS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Where to push when you're stuck</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Raise confidence.</a:t>
            </a:r>
          </a:p>
          <a:p>
            <a:pPr algn="l">
              <a:spcAft>
                <a:spcPts val="945"/>
              </a:spcAft>
            </a:pPr>
            <a:r>
              <a:rPr sz="1600" b="0" i="0">
                <a:solidFill>
                  <a:srgbClr val="5D5A54"/>
                </a:solidFill>
                <a:latin typeface="Source Serif 4"/>
              </a:rPr>
              <a:t>Make step one tiny: open the doc, one ugly sentence.</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Raise value.</a:t>
            </a:r>
          </a:p>
          <a:p>
            <a:pPr algn="l">
              <a:spcAft>
                <a:spcPts val="945"/>
              </a:spcAft>
            </a:pPr>
            <a:r>
              <a:rPr sz="1600" b="0" i="0">
                <a:solidFill>
                  <a:srgbClr val="5D5A54"/>
                </a:solidFill>
                <a:latin typeface="Source Serif 4"/>
              </a:rPr>
              <a:t>Tie it to something you care about. Good playlist only while working.</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Add friction to the exit.</a:t>
            </a:r>
          </a:p>
          <a:p>
            <a:pPr algn="l">
              <a:spcAft>
                <a:spcPts val="945"/>
              </a:spcAft>
            </a:pPr>
            <a:r>
              <a:rPr sz="1600" b="0" i="0">
                <a:solidFill>
                  <a:srgbClr val="5D5A54"/>
                </a:solidFill>
                <a:latin typeface="Source Serif 4"/>
              </a:rPr>
              <a:t>Phone in another room, app timers on, one tab open.</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Shrink the delay.</a:t>
            </a:r>
          </a:p>
          <a:p>
            <a:pPr algn="l">
              <a:spcAft>
                <a:spcPts val="945"/>
              </a:spcAft>
            </a:pPr>
            <a:r>
              <a:rPr sz="1600" b="0" i="0">
                <a:solidFill>
                  <a:srgbClr val="5D5A54"/>
                </a:solidFill>
                <a:latin typeface="Source Serif 4"/>
              </a:rPr>
              <a:t>Your own deadline days early. Tell someone who'll ask.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STUCK STUDENTS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Which lever would help most?</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JORDAN</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His first big English essay is due Monday. He keeps rewriting the first sentence, then closing the laptop.</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PRIYA</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Watches her little cousins until her aunt gets home. She means to start her history project every night but scrolls until midnight.</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MARCUS</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Says he works best the night before. His last three lab report grades dropped, and he's dragging at morning practice.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TRY IT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If it's ___ and I'm at ___, then I'll ___.</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Pick one thing you've been putting off. Write the plan. Make the first step tiny.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Exit card</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Which lever will you pull this week, and on what?</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ON THE BVR DINER MENU</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https://rmwtoolkit.github.io/bcds-toolkit/why-you-cant-start-high-school.html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Why You Can't Start (and How to Start Anyway)</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9th grade advisory, health class,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procrastination as avoiding a feeling (short-term mood repair), see why "I work better under pressure" backfires, and leave with one if-then plan for a real task they've been putting off. The aim is a method. Nobody should leave thinking they're lazy.</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for the anonymous feelings round and the exit card</a:t>
            </a:r>
          </a:p>
          <a:p>
            <a:pPr algn="l">
              <a:spcAft>
                <a:spcPts val="675"/>
              </a:spcAft>
            </a:pPr>
            <a:r>
              <a:rPr sz="1500" b="0" i="0">
                <a:solidFill>
                  <a:srgbClr val="1C1B19"/>
                </a:solidFill>
                <a:latin typeface="Source Serif 4"/>
              </a:rPr>
              <a:t>Scrap paper for the private if-then plan</a:t>
            </a:r>
          </a:p>
          <a:p>
            <a:pPr algn="l">
              <a:spcAft>
                <a:spcPts val="675"/>
              </a:spcAft>
            </a:pPr>
            <a:r>
              <a:rPr sz="1500" b="0" i="0">
                <a:solidFill>
                  <a:srgbClr val="1C1B19"/>
                </a:solidFill>
                <a:latin typeface="Source Serif 4"/>
              </a:rPr>
              <a:t>The BVR Diner page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Myth or fact (stand up, sit down)</a:t>
            </a:r>
          </a:p>
          <a:p>
            <a:pPr algn="l">
              <a:spcAft>
                <a:spcPts val="630"/>
              </a:spcAft>
            </a:pPr>
            <a:r>
              <a:rPr sz="1300" b="1" i="0">
                <a:solidFill>
                  <a:srgbClr val="F47B20"/>
                </a:solidFill>
                <a:latin typeface="Inter Tight"/>
              </a:rPr>
              <a:t>8 min   </a:t>
            </a:r>
            <a:r>
              <a:rPr sz="1400" b="0" i="0">
                <a:solidFill>
                  <a:srgbClr val="1C1B19"/>
                </a:solidFill>
                <a:latin typeface="Source Serif 4"/>
              </a:rPr>
              <a:t>The avoidance loop</a:t>
            </a:r>
          </a:p>
          <a:p>
            <a:pPr algn="l">
              <a:spcAft>
                <a:spcPts val="630"/>
              </a:spcAft>
            </a:pPr>
            <a:r>
              <a:rPr sz="1300" b="1" i="0">
                <a:solidFill>
                  <a:srgbClr val="F47B20"/>
                </a:solidFill>
                <a:latin typeface="Inter Tight"/>
              </a:rPr>
              <a:t>5 min   </a:t>
            </a:r>
            <a:r>
              <a:rPr sz="1400" b="0" i="0">
                <a:solidFill>
                  <a:srgbClr val="1C1B19"/>
                </a:solidFill>
                <a:latin typeface="Source Serif 4"/>
              </a:rPr>
              <a:t>The feeling underneath (anonymous cards)</a:t>
            </a:r>
          </a:p>
          <a:p>
            <a:pPr algn="l">
              <a:spcAft>
                <a:spcPts val="630"/>
              </a:spcAft>
            </a:pPr>
            <a:r>
              <a:rPr sz="1300" b="1" i="0">
                <a:solidFill>
                  <a:srgbClr val="F47B20"/>
                </a:solidFill>
                <a:latin typeface="Inter Tight"/>
              </a:rPr>
              <a:t>4 min   </a:t>
            </a:r>
            <a:r>
              <a:rPr sz="1400" b="0" i="0">
                <a:solidFill>
                  <a:srgbClr val="1C1B19"/>
                </a:solidFill>
                <a:latin typeface="Source Serif 4"/>
              </a:rPr>
              <a:t>"I work better under pressure"</a:t>
            </a:r>
          </a:p>
          <a:p>
            <a:pPr algn="l">
              <a:spcAft>
                <a:spcPts val="630"/>
              </a:spcAft>
            </a:pPr>
            <a:r>
              <a:rPr sz="1300" b="1" i="0">
                <a:solidFill>
                  <a:srgbClr val="F47B20"/>
                </a:solidFill>
                <a:latin typeface="Inter Tight"/>
              </a:rPr>
              <a:t>7 min   </a:t>
            </a:r>
            <a:r>
              <a:rPr sz="1400" b="0" i="0">
                <a:solidFill>
                  <a:srgbClr val="1C1B19"/>
                </a:solidFill>
                <a:latin typeface="Source Serif 4"/>
              </a:rPr>
              <a:t>Four levers you can pull</a:t>
            </a:r>
          </a:p>
          <a:p>
            <a:pPr algn="l">
              <a:spcAft>
                <a:spcPts val="630"/>
              </a:spcAft>
            </a:pPr>
            <a:r>
              <a:rPr sz="1300" b="1" i="0">
                <a:solidFill>
                  <a:srgbClr val="F47B20"/>
                </a:solidFill>
                <a:latin typeface="Inter Tight"/>
              </a:rPr>
              <a:t>8 min   </a:t>
            </a:r>
            <a:r>
              <a:rPr sz="1400" b="0" i="0">
                <a:solidFill>
                  <a:srgbClr val="1C1B19"/>
                </a:solidFill>
                <a:latin typeface="Source Serif 4"/>
              </a:rPr>
              <a:t>Three stuck students (small groups)</a:t>
            </a:r>
          </a:p>
          <a:p>
            <a:pPr algn="l">
              <a:spcAft>
                <a:spcPts val="630"/>
              </a:spcAft>
            </a:pPr>
            <a:r>
              <a:rPr sz="1300" b="1" i="0">
                <a:solidFill>
                  <a:srgbClr val="F47B20"/>
                </a:solidFill>
                <a:latin typeface="Inter Tight"/>
              </a:rPr>
              <a:t>5 min   </a:t>
            </a:r>
            <a:r>
              <a:rPr sz="1400" b="0" i="0">
                <a:solidFill>
                  <a:srgbClr val="1C1B19"/>
                </a:solidFill>
                <a:latin typeface="Source Serif 4"/>
              </a:rPr>
              <a:t>My if-then plan (private, then pair-share)</a:t>
            </a:r>
          </a:p>
          <a:p>
            <a:pPr algn="l">
              <a:spcAft>
                <a:spcPts val="630"/>
              </a:spcAft>
            </a:pPr>
            <a:r>
              <a:rPr sz="1300" b="1" i="0">
                <a:solidFill>
                  <a:srgbClr val="F47B20"/>
                </a:solidFill>
                <a:latin typeface="Inter Tight"/>
              </a:rPr>
              <a:t>3 min   </a:t>
            </a:r>
            <a:r>
              <a:rPr sz="1400" b="0" i="0">
                <a:solidFill>
                  <a:srgbClr val="1C1B19"/>
                </a:solidFill>
                <a:latin typeface="Source Serif 4"/>
              </a:rPr>
              <a:t>Exit card and the BVR Diner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Myth or fact (4), the avoidance loop (6), the if-then plan (6), exit card and link (4). Share the BVR Diner link so students get the four levers and the rest.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Treat it as a feeling problem.</a:t>
            </a:r>
          </a:p>
          <a:p>
            <a:pPr algn="l">
              <a:spcAft>
                <a:spcPts val="585"/>
              </a:spcAft>
            </a:pPr>
            <a:r>
              <a:rPr sz="1300" b="0" i="0">
                <a:solidFill>
                  <a:srgbClr val="1C1B19"/>
                </a:solidFill>
                <a:latin typeface="Source Serif 4"/>
              </a:rPr>
              <a:t>Most students have been told procrastination means they're lazy or don't care. Start from the research: people put things off to escape a bad feeling. Students who feel seen will listen. Students who feel judged will tune out.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what they're avoiding private.</a:t>
            </a:r>
          </a:p>
          <a:p>
            <a:pPr algn="l">
              <a:spcAft>
                <a:spcPts val="585"/>
              </a:spcAft>
            </a:pPr>
            <a:r>
              <a:rPr sz="1300" b="0" i="0">
                <a:solidFill>
                  <a:srgbClr val="1C1B19"/>
                </a:solidFill>
                <a:latin typeface="Source Serif 4"/>
              </a:rPr>
              <a:t>Don't ask anyone to say what they've put off, how far behind they are, or what grade they got. The if-then plan stays with the student. The pair-share is only the time and place, never the task.</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Skip the phone lecture.</a:t>
            </a:r>
          </a:p>
          <a:p>
            <a:pPr algn="l">
              <a:spcAft>
                <a:spcPts val="585"/>
              </a:spcAft>
            </a:pPr>
            <a:r>
              <a:rPr sz="1300" b="0" i="0">
                <a:solidFill>
                  <a:srgbClr val="1C1B19"/>
                </a:solidFill>
                <a:latin typeface="Source Serif 4"/>
              </a:rPr>
              <a:t>The phone study is useful. A sermon about screens costs you the room. Keep it to friction: where the phone sits while you work.</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Be honest about the research.</a:t>
            </a:r>
          </a:p>
          <a:p>
            <a:pPr algn="l">
              <a:spcAft>
                <a:spcPts val="585"/>
              </a:spcAft>
            </a:pPr>
            <a:r>
              <a:rPr sz="1300" b="0" i="0">
                <a:solidFill>
                  <a:srgbClr val="1C1B19"/>
                </a:solidFill>
                <a:latin typeface="Source Serif 4"/>
              </a:rPr>
              <a:t>Most of these studies were with college students, and Steel's motivation equation is a simplified model. Say so. Students trust you more for it.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When it's more than procrastination.</a:t>
            </a:r>
          </a:p>
          <a:p>
            <a:pPr algn="l">
              <a:spcAft>
                <a:spcPts val="585"/>
              </a:spcAft>
            </a:pPr>
            <a:r>
              <a:rPr sz="1300" b="0" i="0">
                <a:solidFill>
                  <a:srgbClr val="1C1B19"/>
                </a:solidFill>
                <a:latin typeface="Source Serif 4"/>
              </a:rPr>
              <a:t>A student who can't start things in most classes, no matter what they try, or who has always struggled with time and finishing, may have ADHD or another learning difference. Connect them with the learning specialist or a counselor.</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When mood is the bigger problem.</a:t>
            </a:r>
          </a:p>
          <a:p>
            <a:pPr algn="l">
              <a:spcAft>
                <a:spcPts val="585"/>
              </a:spcAft>
            </a:pPr>
            <a:r>
              <a:rPr sz="1300" b="0" i="0">
                <a:solidFill>
                  <a:srgbClr val="1C1B19"/>
                </a:solidFill>
                <a:latin typeface="Source Serif 4"/>
              </a:rPr>
              <a:t>If a student says avoiding work comes with feeling anxious, flat or hopeless most days, or that they're so far behind catching up feels impossible, thank them and walk them to a counselor that day. Don't work through it in front of the class.</a:t>
            </a:r>
          </a:p>
          <a:p>
            <a:pPr algn="l">
              <a:spcAft>
                <a:spcPts val="585"/>
              </a:spcAft>
            </a:pPr>
            <a:r>
              <a:rPr sz="1300" b="0" i="0">
                <a:solidFill>
                  <a:srgbClr val="1C1B19"/>
                </a:solidFill>
                <a:latin typeface="Source Serif 4"/>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ADHD and executive function.</a:t>
            </a:r>
          </a:p>
          <a:p>
            <a:pPr algn="l">
              <a:spcAft>
                <a:spcPts val="585"/>
              </a:spcAft>
            </a:pPr>
            <a:r>
              <a:rPr sz="1300" b="0" i="0">
                <a:solidFill>
                  <a:srgbClr val="1C1B19"/>
                </a:solidFill>
                <a:latin typeface="Source Serif 4"/>
              </a:rPr>
              <a:t>For students with ADHD, starting is often the hardest part, and willpower talk makes it worse. If-then plans, timers and adding friction are the same tools that help them most. Avoid diagnoses as casual adjectives ("I'm so ADHD today") in your own examples.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Time after school isn't equal.</a:t>
            </a:r>
          </a:p>
          <a:p>
            <a:pPr algn="l">
              <a:spcAft>
                <a:spcPts val="585"/>
              </a:spcAft>
            </a:pPr>
            <a:r>
              <a:rPr sz="1300" b="0" i="0">
                <a:solidFill>
                  <a:srgbClr val="1C1B19"/>
                </a:solidFill>
                <a:latin typeface="Source Serif 4"/>
              </a:rPr>
              <a:t>Some students work, ride a long bus, or watch younger siblings or cousins until an adult gets home. Priya's scenario has this in it. Short sprints and a 10-minute first step fit a tight evening. Every tool in this lesson is free.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"Put the phone in another room" assumes another room.</a:t>
            </a:r>
          </a:p>
          <a:p>
            <a:pPr algn="l">
              <a:spcAft>
                <a:spcPts val="585"/>
              </a:spcAft>
            </a:pPr>
            <a:r>
              <a:rPr sz="1300" b="0" i="0">
                <a:solidFill>
                  <a:srgbClr val="1C1B19"/>
                </a:solidFill>
                <a:latin typeface="Source Serif 4"/>
              </a:rPr>
              <a:t>Some students share a bedroom or study at the kitchen table. A bag, a drawer, a friend holding it, or app timers all add the same friction.</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The person who asks can be anyone.</a:t>
            </a:r>
          </a:p>
          <a:p>
            <a:pPr algn="l">
              <a:spcAft>
                <a:spcPts val="585"/>
              </a:spcAft>
            </a:pPr>
            <a:r>
              <a:rPr sz="1300" b="0" i="0">
                <a:solidFill>
                  <a:srgbClr val="1C1B19"/>
                </a:solidFill>
                <a:latin typeface="Source Serif 4"/>
              </a:rPr>
              <a:t>"Tell someone who'll ask about it" works with a grandparent, an older sibling, a coach, a friend on a call, or a foster parent. Don't assume a parent is home to check.</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Some students carry extra weight on a hard task.</a:t>
            </a:r>
          </a:p>
          <a:p>
            <a:pPr algn="l">
              <a:spcAft>
                <a:spcPts val="585"/>
              </a:spcAft>
            </a:pPr>
            <a:r>
              <a:rPr sz="1300" b="0" i="0">
                <a:solidFill>
                  <a:srgbClr val="1C1B19"/>
                </a:solidFill>
                <a:latin typeface="Source Serif 4"/>
              </a:rPr>
              <a:t>The brain flags a hard task as a threat to your image or your sense of being smart. A student who is first in their family at a school like this, or new to it, may feel that threat more. Name it as common and keep the reflection private.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Language and "I don't get the assignment."</a:t>
            </a:r>
          </a:p>
          <a:p>
            <a:pPr algn="l">
              <a:spcAft>
                <a:spcPts val="585"/>
              </a:spcAft>
            </a:pPr>
            <a:r>
              <a:rPr sz="1300" b="0" i="0">
                <a:solidFill>
                  <a:srgbClr val="1C1B19"/>
                </a:solidFill>
                <a:latin typeface="Source Serif 4"/>
              </a:rPr>
              <a:t>For a student learning English, "I don't understand what they want" is a real reason a task feels impossible to start. Asking the teacher counts as a first step. A bad first draft can start in any language.</a:t>
            </a:r>
          </a:p>
          <a:p>
            <a:pPr algn="l">
              <a:spcAft>
                <a:spcPts val="585"/>
              </a:spcAft>
            </a:pPr>
            <a:r>
              <a:rPr sz="1300" b="0" i="0">
                <a:solidFill>
                  <a:srgbClr val="1C1B19"/>
                </a:solidFill>
                <a:latin typeface="Source Serif 4"/>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Procrastination is choosing short-term mood repair over long-term goals: avoiding how the task makes you feel.</a:t>
            </a:r>
          </a:p>
          <a:p>
            <a:pPr algn="l">
              <a:spcAft>
                <a:spcPts val="585"/>
              </a:spcAft>
            </a:pPr>
            <a:r>
              <a:rPr sz="1050" b="0" i="0">
                <a:solidFill>
                  <a:srgbClr val="5D5A54"/>
                </a:solidFill>
                <a:latin typeface="Inter Tight"/>
              </a:rPr>
              <a:t>Sirois and Pychyl, Social and Personality Psychology Compass, 2013</a:t>
            </a:r>
          </a:p>
          <a:p>
            <a:pPr algn="l">
              <a:spcAft>
                <a:spcPts val="585"/>
              </a:spcAft>
            </a:pPr>
            <a:r>
              <a:rPr sz="1300" b="0" i="0">
                <a:solidFill>
                  <a:srgbClr val="1C1B19"/>
                </a:solidFill>
                <a:latin typeface="Source Serif 4"/>
              </a:rPr>
              <a:t>Combining hundreds of studies, one model of motivation: confidence times value, divided by impulsiveness times delay. Simplified, it shows four places to push.</a:t>
            </a:r>
          </a:p>
          <a:p>
            <a:pPr algn="l">
              <a:spcAft>
                <a:spcPts val="585"/>
              </a:spcAft>
            </a:pPr>
            <a:r>
              <a:rPr sz="1050" b="0" i="0">
                <a:solidFill>
                  <a:srgbClr val="5D5A54"/>
                </a:solidFill>
                <a:latin typeface="Inter Tight"/>
              </a:rPr>
              <a:t>Steel, Psychological Bulletin, 2007</a:t>
            </a:r>
          </a:p>
          <a:p>
            <a:pPr algn="l">
              <a:spcAft>
                <a:spcPts val="585"/>
              </a:spcAft>
            </a:pPr>
            <a:r>
              <a:rPr sz="1300" b="0" i="0">
                <a:solidFill>
                  <a:srgbClr val="1C1B19"/>
                </a:solidFill>
                <a:latin typeface="Source Serif 4"/>
              </a:rPr>
              <a:t>College procrastinators felt less stressed early in the semester. By the end they were more stressed, got sick more often and earned lower grades.</a:t>
            </a:r>
          </a:p>
          <a:p>
            <a:pPr algn="l">
              <a:spcAft>
                <a:spcPts val="585"/>
              </a:spcAft>
            </a:pPr>
            <a:r>
              <a:rPr sz="1050" b="0" i="0">
                <a:solidFill>
                  <a:srgbClr val="5D5A54"/>
                </a:solidFill>
                <a:latin typeface="Inter Tight"/>
              </a:rPr>
              <a:t>Tice and Baumeister, Psychological Science, 1997</a:t>
            </a:r>
          </a:p>
          <a:p>
            <a:pPr algn="l">
              <a:spcAft>
                <a:spcPts val="585"/>
              </a:spcAft>
            </a:pPr>
            <a:r>
              <a:rPr sz="1300" b="0" i="0">
                <a:solidFill>
                  <a:srgbClr val="1C1B19"/>
                </a:solidFill>
                <a:latin typeface="Source Serif 4"/>
              </a:rPr>
              <a:t>Students who forgave themselves for procrastinating before one exam procrastinated less before the next.</a:t>
            </a:r>
          </a:p>
          <a:p>
            <a:pPr algn="l">
              <a:spcAft>
                <a:spcPts val="585"/>
              </a:spcAft>
            </a:pPr>
            <a:r>
              <a:rPr sz="1050" b="0" i="0">
                <a:solidFill>
                  <a:srgbClr val="5D5A54"/>
                </a:solidFill>
                <a:latin typeface="Inter Tight"/>
              </a:rPr>
              <a:t>Wohl, Pychyl and Bennett, Personality and Individual Differences, 2010</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A review of 94 studies found if-then plans (when, where and what, decided ahead) meaningfully increase follow-through.</a:t>
            </a:r>
          </a:p>
          <a:p>
            <a:pPr algn="l">
              <a:spcAft>
                <a:spcPts val="585"/>
              </a:spcAft>
            </a:pPr>
            <a:r>
              <a:rPr sz="1050" b="0" i="0">
                <a:solidFill>
                  <a:srgbClr val="5D5A54"/>
                </a:solidFill>
                <a:latin typeface="Inter Tight"/>
              </a:rPr>
              <a:t>Gollwitzer and Sheeran, Advances in Experimental Social Psychology, 2006</a:t>
            </a:r>
          </a:p>
          <a:p>
            <a:pPr algn="l">
              <a:spcAft>
                <a:spcPts val="585"/>
              </a:spcAft>
            </a:pPr>
            <a:r>
              <a:rPr sz="1300" b="0" i="0">
                <a:solidFill>
                  <a:srgbClr val="1C1B19"/>
                </a:solidFill>
                <a:latin typeface="Source Serif 4"/>
              </a:rPr>
              <a:t>Students did worse on attention and memory tasks with their phone on the desk, face down and silent, than with it in another room.</a:t>
            </a:r>
          </a:p>
          <a:p>
            <a:pPr algn="l">
              <a:spcAft>
                <a:spcPts val="585"/>
              </a:spcAft>
            </a:pPr>
            <a:r>
              <a:rPr sz="1050" b="0" i="0">
                <a:solidFill>
                  <a:srgbClr val="5D5A54"/>
                </a:solidFill>
                <a:latin typeface="Inter Tight"/>
              </a:rPr>
              <a:t>Ward et al., Journal of the Association for Consumer Research, 2017</a:t>
            </a:r>
          </a:p>
          <a:p>
            <a:pPr algn="l">
              <a:spcAft>
                <a:spcPts val="585"/>
              </a:spcAft>
            </a:pPr>
            <a:r>
              <a:rPr sz="1300" b="0" i="0">
                <a:solidFill>
                  <a:srgbClr val="1C1B19"/>
                </a:solidFill>
                <a:latin typeface="Source Serif 4"/>
              </a:rPr>
              <a:t>In brain scans, thinking about yourself ten years from now looks more like thinking about another person than about yourself.</a:t>
            </a:r>
          </a:p>
          <a:p>
            <a:pPr algn="l">
              <a:spcAft>
                <a:spcPts val="585"/>
              </a:spcAft>
            </a:pPr>
            <a:r>
              <a:rPr sz="1050" b="0" i="0">
                <a:solidFill>
                  <a:srgbClr val="5D5A54"/>
                </a:solidFill>
                <a:latin typeface="Inter Tight"/>
              </a:rPr>
              <a:t>Ersner-Hershfield et al., Social Cognitive and Affective Neuroscience, 2009</a:t>
            </a:r>
          </a:p>
          <a:p>
            <a:pPr algn="l">
              <a:spcAft>
                <a:spcPts val="585"/>
              </a:spcAft>
            </a:pPr>
            <a:r>
              <a:rPr sz="1300" b="0" i="0">
                <a:solidFill>
                  <a:srgbClr val="1C1B19"/>
                </a:solidFill>
                <a:latin typeface="Source Serif 4"/>
              </a:rPr>
              <a:t>People who struggle most to act on their intentions showed weaker links between the amygdala and the anterior cingulate, which helps the planner step in.</a:t>
            </a:r>
          </a:p>
          <a:p>
            <a:pPr algn="l">
              <a:spcAft>
                <a:spcPts val="585"/>
              </a:spcAft>
            </a:pPr>
            <a:r>
              <a:rPr sz="1050" b="0" i="0">
                <a:solidFill>
                  <a:srgbClr val="5D5A54"/>
                </a:solidFill>
                <a:latin typeface="Inter Tight"/>
              </a:rPr>
              <a:t>Schlüter et al., Psychological Science, 2018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